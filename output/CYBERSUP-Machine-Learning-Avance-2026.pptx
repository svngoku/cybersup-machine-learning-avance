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6.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7.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slides/charts/chart8.xml" ContentType="application/vnd.openxmlformats-officedocument.drawingml.chart+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slides/charts/chart9.xml" ContentType="application/vnd.openxmlformats-officedocument.drawingml.chart+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slides/charts/chart10.xml" ContentType="application/vnd.openxmlformats-officedocument.drawingml.chart+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slides/charts/chart11.xml" ContentType="application/vnd.openxmlformats-officedocument.drawingml.chart+xml"/>
  <Override PartName="/ppt/notesSlides/notesSlide84.xml" ContentType="application/vnd.openxmlformats-officedocument.presentationml.notesSlide+xml"/>
  <Override PartName="/ppt/slides/slide85.xml" ContentType="application/vnd.openxmlformats-officedocument.presentationml.slide+xml"/>
  <Override PartName="/ppt/slides/charts/chart12.xml" ContentType="application/vnd.openxmlformats-officedocument.drawingml.chart+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slides/charts/chart13.xml" ContentType="application/vnd.openxmlformats-officedocument.drawingml.chart+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slides/charts/chart14.xml" ContentType="application/vnd.openxmlformats-officedocument.drawingml.chart+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slides/charts/chart15.xml" ContentType="application/vnd.openxmlformats-officedocument.drawingml.chart+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slides/charts/chart16.xml" ContentType="application/vnd.openxmlformats-officedocument.drawingml.chart+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d2205a7cb2f4db7" /><Relationship Type="http://schemas.openxmlformats.org/officeDocument/2006/relationships/extended-properties" Target="/docProps/app.xml" Id="R891487b8d63a4368" /><Relationship Type="http://schemas.openxmlformats.org/officeDocument/2006/relationships/officeDocument" Target="/ppt/presentation.xml" Id="R0085175a672a4d7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24adc716c244c7f"/>
  </p:sldMasterIdLst>
  <p:notesMasterIdLst>
    <p:notesMasterId xmlns:r="http://schemas.openxmlformats.org/officeDocument/2006/relationships" r:id="R69547fbde24e4f99"/>
  </p:notesMasterIdLst>
  <p:sldIdLst>
    <p:sldId xmlns:r="http://schemas.openxmlformats.org/officeDocument/2006/relationships" id="256" r:id="R4eb6e9709bd84adb"/>
    <p:sldId xmlns:r="http://schemas.openxmlformats.org/officeDocument/2006/relationships" id="257" r:id="Rd9bd7df97e1b444e"/>
    <p:sldId xmlns:r="http://schemas.openxmlformats.org/officeDocument/2006/relationships" id="258" r:id="R1b16ffd504ff4686"/>
    <p:sldId xmlns:r="http://schemas.openxmlformats.org/officeDocument/2006/relationships" id="259" r:id="R3b05f453d10b47aa"/>
    <p:sldId xmlns:r="http://schemas.openxmlformats.org/officeDocument/2006/relationships" id="260" r:id="R04375759c0a84504"/>
    <p:sldId xmlns:r="http://schemas.openxmlformats.org/officeDocument/2006/relationships" id="261" r:id="R44778488fc8249ef"/>
    <p:sldId xmlns:r="http://schemas.openxmlformats.org/officeDocument/2006/relationships" id="262" r:id="Rf3173c2b33534a48"/>
    <p:sldId xmlns:r="http://schemas.openxmlformats.org/officeDocument/2006/relationships" id="263" r:id="R29e0f25d478841d1"/>
    <p:sldId xmlns:r="http://schemas.openxmlformats.org/officeDocument/2006/relationships" id="264" r:id="R16a60977f88341f9"/>
    <p:sldId xmlns:r="http://schemas.openxmlformats.org/officeDocument/2006/relationships" id="265" r:id="R99ff06152c614de9"/>
    <p:sldId xmlns:r="http://schemas.openxmlformats.org/officeDocument/2006/relationships" id="266" r:id="R9cbe2ae85b504ee6"/>
    <p:sldId xmlns:r="http://schemas.openxmlformats.org/officeDocument/2006/relationships" id="267" r:id="R5d3cf38572c74a26"/>
    <p:sldId xmlns:r="http://schemas.openxmlformats.org/officeDocument/2006/relationships" id="268" r:id="Rd6e7c2b7a8814773"/>
    <p:sldId xmlns:r="http://schemas.openxmlformats.org/officeDocument/2006/relationships" id="269" r:id="Rd9a8cf7e053b4bb5"/>
    <p:sldId xmlns:r="http://schemas.openxmlformats.org/officeDocument/2006/relationships" id="270" r:id="Ra18a2a312aff4c4e"/>
    <p:sldId xmlns:r="http://schemas.openxmlformats.org/officeDocument/2006/relationships" id="271" r:id="R910f46baedb94e82"/>
    <p:sldId xmlns:r="http://schemas.openxmlformats.org/officeDocument/2006/relationships" id="272" r:id="R25b5b3e68c4f421a"/>
    <p:sldId xmlns:r="http://schemas.openxmlformats.org/officeDocument/2006/relationships" id="273" r:id="Rd319edf5376b466c"/>
    <p:sldId xmlns:r="http://schemas.openxmlformats.org/officeDocument/2006/relationships" id="274" r:id="Rabf9b5988e5546d3"/>
    <p:sldId xmlns:r="http://schemas.openxmlformats.org/officeDocument/2006/relationships" id="275" r:id="R80e7447afda349a7"/>
    <p:sldId xmlns:r="http://schemas.openxmlformats.org/officeDocument/2006/relationships" id="276" r:id="Re120dbcf97294d7e"/>
    <p:sldId xmlns:r="http://schemas.openxmlformats.org/officeDocument/2006/relationships" id="277" r:id="R2f225fd24d044bca"/>
    <p:sldId xmlns:r="http://schemas.openxmlformats.org/officeDocument/2006/relationships" id="278" r:id="R50818f9452804456"/>
    <p:sldId xmlns:r="http://schemas.openxmlformats.org/officeDocument/2006/relationships" id="279" r:id="R6ab9d93dede644e3"/>
    <p:sldId xmlns:r="http://schemas.openxmlformats.org/officeDocument/2006/relationships" id="280" r:id="Rae3d29aeba9e4b73"/>
    <p:sldId xmlns:r="http://schemas.openxmlformats.org/officeDocument/2006/relationships" id="281" r:id="Rec99255210834f6b"/>
    <p:sldId xmlns:r="http://schemas.openxmlformats.org/officeDocument/2006/relationships" id="282" r:id="Rf86ea49e804744e4"/>
    <p:sldId xmlns:r="http://schemas.openxmlformats.org/officeDocument/2006/relationships" id="283" r:id="Rab9394c7da2f4fa1"/>
    <p:sldId xmlns:r="http://schemas.openxmlformats.org/officeDocument/2006/relationships" id="284" r:id="R8370c2346fb44a8f"/>
    <p:sldId xmlns:r="http://schemas.openxmlformats.org/officeDocument/2006/relationships" id="285" r:id="R761c9e75ddc842b6"/>
    <p:sldId xmlns:r="http://schemas.openxmlformats.org/officeDocument/2006/relationships" id="286" r:id="R466cc82811354243"/>
    <p:sldId xmlns:r="http://schemas.openxmlformats.org/officeDocument/2006/relationships" id="287" r:id="R97cc50694b5c45e2"/>
    <p:sldId xmlns:r="http://schemas.openxmlformats.org/officeDocument/2006/relationships" id="288" r:id="R2993620e927048aa"/>
    <p:sldId xmlns:r="http://schemas.openxmlformats.org/officeDocument/2006/relationships" id="289" r:id="R9a4dfcdd86474a3f"/>
    <p:sldId xmlns:r="http://schemas.openxmlformats.org/officeDocument/2006/relationships" id="290" r:id="R598d8a7ce2ae42ab"/>
    <p:sldId xmlns:r="http://schemas.openxmlformats.org/officeDocument/2006/relationships" id="291" r:id="R548f3d8e503f426f"/>
    <p:sldId xmlns:r="http://schemas.openxmlformats.org/officeDocument/2006/relationships" id="292" r:id="R8f8309b696ea4c25"/>
    <p:sldId xmlns:r="http://schemas.openxmlformats.org/officeDocument/2006/relationships" id="293" r:id="R2af650c430914dbb"/>
    <p:sldId xmlns:r="http://schemas.openxmlformats.org/officeDocument/2006/relationships" id="294" r:id="R10f5e23c568341e4"/>
    <p:sldId xmlns:r="http://schemas.openxmlformats.org/officeDocument/2006/relationships" id="295" r:id="R087187843f6b4576"/>
    <p:sldId xmlns:r="http://schemas.openxmlformats.org/officeDocument/2006/relationships" id="296" r:id="R1a07bfe87e244b70"/>
    <p:sldId xmlns:r="http://schemas.openxmlformats.org/officeDocument/2006/relationships" id="297" r:id="Raca11c27b6874bc4"/>
    <p:sldId xmlns:r="http://schemas.openxmlformats.org/officeDocument/2006/relationships" id="298" r:id="Ra7c9d68cd11844c1"/>
    <p:sldId xmlns:r="http://schemas.openxmlformats.org/officeDocument/2006/relationships" id="299" r:id="Ra7f62f5527bc4236"/>
    <p:sldId xmlns:r="http://schemas.openxmlformats.org/officeDocument/2006/relationships" id="300" r:id="R74e38145ffd64641"/>
    <p:sldId xmlns:r="http://schemas.openxmlformats.org/officeDocument/2006/relationships" id="301" r:id="R9b1385e43d4c4f01"/>
    <p:sldId xmlns:r="http://schemas.openxmlformats.org/officeDocument/2006/relationships" id="302" r:id="R25f1f6d940dc42e9"/>
    <p:sldId xmlns:r="http://schemas.openxmlformats.org/officeDocument/2006/relationships" id="303" r:id="Rdd3206ed05ae4308"/>
    <p:sldId xmlns:r="http://schemas.openxmlformats.org/officeDocument/2006/relationships" id="304" r:id="R35a5b57015574774"/>
    <p:sldId xmlns:r="http://schemas.openxmlformats.org/officeDocument/2006/relationships" id="305" r:id="R3aa86e5ec56241f1"/>
    <p:sldId xmlns:r="http://schemas.openxmlformats.org/officeDocument/2006/relationships" id="306" r:id="Rea8e1bcf1b004814"/>
    <p:sldId xmlns:r="http://schemas.openxmlformats.org/officeDocument/2006/relationships" id="307" r:id="R251517a4dd8c4c6d"/>
    <p:sldId xmlns:r="http://schemas.openxmlformats.org/officeDocument/2006/relationships" id="308" r:id="R980e45559497496f"/>
    <p:sldId xmlns:r="http://schemas.openxmlformats.org/officeDocument/2006/relationships" id="309" r:id="Rf8623eef8d1442e0"/>
    <p:sldId xmlns:r="http://schemas.openxmlformats.org/officeDocument/2006/relationships" id="310" r:id="Rc8ea0d82c32b4ae5"/>
    <p:sldId xmlns:r="http://schemas.openxmlformats.org/officeDocument/2006/relationships" id="311" r:id="R8618d4c1b25849c3"/>
    <p:sldId xmlns:r="http://schemas.openxmlformats.org/officeDocument/2006/relationships" id="312" r:id="Rccb749c49f6f405b"/>
    <p:sldId xmlns:r="http://schemas.openxmlformats.org/officeDocument/2006/relationships" id="313" r:id="R5b187a65e7f9481c"/>
    <p:sldId xmlns:r="http://schemas.openxmlformats.org/officeDocument/2006/relationships" id="314" r:id="Rce5afb65f3cf412e"/>
    <p:sldId xmlns:r="http://schemas.openxmlformats.org/officeDocument/2006/relationships" id="315" r:id="Raab4144fd66944b7"/>
    <p:sldId xmlns:r="http://schemas.openxmlformats.org/officeDocument/2006/relationships" id="316" r:id="R1ed1928a5feb4fa9"/>
    <p:sldId xmlns:r="http://schemas.openxmlformats.org/officeDocument/2006/relationships" id="317" r:id="Rc8199834d70b4cd3"/>
    <p:sldId xmlns:r="http://schemas.openxmlformats.org/officeDocument/2006/relationships" id="318" r:id="R7054d47223d94a44"/>
    <p:sldId xmlns:r="http://schemas.openxmlformats.org/officeDocument/2006/relationships" id="319" r:id="Rc0a35c45c4724c5c"/>
    <p:sldId xmlns:r="http://schemas.openxmlformats.org/officeDocument/2006/relationships" id="320" r:id="Rd4bffd93902140ea"/>
    <p:sldId xmlns:r="http://schemas.openxmlformats.org/officeDocument/2006/relationships" id="321" r:id="Ra9620d6d6f8b4a0a"/>
    <p:sldId xmlns:r="http://schemas.openxmlformats.org/officeDocument/2006/relationships" id="322" r:id="R9b84ed6850054638"/>
    <p:sldId xmlns:r="http://schemas.openxmlformats.org/officeDocument/2006/relationships" id="323" r:id="R4a0c69d49ec64be6"/>
    <p:sldId xmlns:r="http://schemas.openxmlformats.org/officeDocument/2006/relationships" id="324" r:id="R8f18b20982664ac0"/>
    <p:sldId xmlns:r="http://schemas.openxmlformats.org/officeDocument/2006/relationships" id="325" r:id="R65b6940e72994e48"/>
    <p:sldId xmlns:r="http://schemas.openxmlformats.org/officeDocument/2006/relationships" id="326" r:id="Rf456b75ddb1b4984"/>
    <p:sldId xmlns:r="http://schemas.openxmlformats.org/officeDocument/2006/relationships" id="327" r:id="R6ec55f7276984ac7"/>
    <p:sldId xmlns:r="http://schemas.openxmlformats.org/officeDocument/2006/relationships" id="328" r:id="R9af1a28ffdb6414f"/>
    <p:sldId xmlns:r="http://schemas.openxmlformats.org/officeDocument/2006/relationships" id="329" r:id="Rdfda43619d364a35"/>
    <p:sldId xmlns:r="http://schemas.openxmlformats.org/officeDocument/2006/relationships" id="330" r:id="R83ed39aeca164fb5"/>
    <p:sldId xmlns:r="http://schemas.openxmlformats.org/officeDocument/2006/relationships" id="331" r:id="R4364a2457b174aec"/>
    <p:sldId xmlns:r="http://schemas.openxmlformats.org/officeDocument/2006/relationships" id="332" r:id="R1bb7fb8054b64093"/>
    <p:sldId xmlns:r="http://schemas.openxmlformats.org/officeDocument/2006/relationships" id="333" r:id="R919871bfd965409e"/>
    <p:sldId xmlns:r="http://schemas.openxmlformats.org/officeDocument/2006/relationships" id="334" r:id="R2e408769b5cc466b"/>
    <p:sldId xmlns:r="http://schemas.openxmlformats.org/officeDocument/2006/relationships" id="335" r:id="Rd7856e3c09874e38"/>
    <p:sldId xmlns:r="http://schemas.openxmlformats.org/officeDocument/2006/relationships" id="336" r:id="R4d47584068984876"/>
    <p:sldId xmlns:r="http://schemas.openxmlformats.org/officeDocument/2006/relationships" id="337" r:id="Re69499f5d62e4add"/>
    <p:sldId xmlns:r="http://schemas.openxmlformats.org/officeDocument/2006/relationships" id="338" r:id="R2b6a4c425f6b4d2c"/>
    <p:sldId xmlns:r="http://schemas.openxmlformats.org/officeDocument/2006/relationships" id="339" r:id="R36f0a65cef244198"/>
    <p:sldId xmlns:r="http://schemas.openxmlformats.org/officeDocument/2006/relationships" id="340" r:id="Rc8cb76c291ee432f"/>
    <p:sldId xmlns:r="http://schemas.openxmlformats.org/officeDocument/2006/relationships" id="341" r:id="R99bfc79a44f9485b"/>
    <p:sldId xmlns:r="http://schemas.openxmlformats.org/officeDocument/2006/relationships" id="342" r:id="R258862c85f8f4cf8"/>
    <p:sldId xmlns:r="http://schemas.openxmlformats.org/officeDocument/2006/relationships" id="343" r:id="R51cbe70753cb45ba"/>
    <p:sldId xmlns:r="http://schemas.openxmlformats.org/officeDocument/2006/relationships" id="344" r:id="R740aec86777f42ac"/>
    <p:sldId xmlns:r="http://schemas.openxmlformats.org/officeDocument/2006/relationships" id="345" r:id="Rc97241d02df84d33"/>
    <p:sldId xmlns:r="http://schemas.openxmlformats.org/officeDocument/2006/relationships" id="346" r:id="Rd932131c8a5746d8"/>
    <p:sldId xmlns:r="http://schemas.openxmlformats.org/officeDocument/2006/relationships" id="347" r:id="Re3a27fe78e5141f6"/>
    <p:sldId xmlns:r="http://schemas.openxmlformats.org/officeDocument/2006/relationships" id="348" r:id="R304f22bf18c64558"/>
    <p:sldId xmlns:r="http://schemas.openxmlformats.org/officeDocument/2006/relationships" id="349" r:id="Rf0d81b2d138942e7"/>
    <p:sldId xmlns:r="http://schemas.openxmlformats.org/officeDocument/2006/relationships" id="350" r:id="Re5953583db4449e7"/>
    <p:sldId xmlns:r="http://schemas.openxmlformats.org/officeDocument/2006/relationships" id="351" r:id="R823ac755bd7b44c7"/>
    <p:sldId xmlns:r="http://schemas.openxmlformats.org/officeDocument/2006/relationships" id="352" r:id="Re949fb1b6d2c4d39"/>
    <p:sldId xmlns:r="http://schemas.openxmlformats.org/officeDocument/2006/relationships" id="353" r:id="R158373ed79d84d51"/>
    <p:sldId xmlns:r="http://schemas.openxmlformats.org/officeDocument/2006/relationships" id="354" r:id="R3cbee1c31ad14105"/>
    <p:sldId xmlns:r="http://schemas.openxmlformats.org/officeDocument/2006/relationships" id="355" r:id="R3114b24b72bb4ad3"/>
    <p:sldId xmlns:r="http://schemas.openxmlformats.org/officeDocument/2006/relationships" id="356" r:id="Re32d18cd57df4f66"/>
    <p:sldId xmlns:r="http://schemas.openxmlformats.org/officeDocument/2006/relationships" id="357" r:id="Raf72800fc41f43da"/>
    <p:sldId xmlns:r="http://schemas.openxmlformats.org/officeDocument/2006/relationships" id="358" r:id="Rbcd20b733a0a43ba"/>
    <p:sldId xmlns:r="http://schemas.openxmlformats.org/officeDocument/2006/relationships" id="359" r:id="R279c8d8f683c438a"/>
    <p:sldId xmlns:r="http://schemas.openxmlformats.org/officeDocument/2006/relationships" id="360" r:id="R9832cedc00cf4431"/>
    <p:sldId xmlns:r="http://schemas.openxmlformats.org/officeDocument/2006/relationships" id="361" r:id="R3f189c5387d24ea7"/>
    <p:sldId xmlns:r="http://schemas.openxmlformats.org/officeDocument/2006/relationships" id="362" r:id="R9e7426129cb04ab0"/>
    <p:sldId xmlns:r="http://schemas.openxmlformats.org/officeDocument/2006/relationships" id="363" r:id="Rb8cad3ccda0c4806"/>
    <p:sldId xmlns:r="http://schemas.openxmlformats.org/officeDocument/2006/relationships" id="364" r:id="Rae5b0bc31bc34c6a"/>
    <p:sldId xmlns:r="http://schemas.openxmlformats.org/officeDocument/2006/relationships" id="365" r:id="R18a9b7e7a2514bff"/>
    <p:sldId xmlns:r="http://schemas.openxmlformats.org/officeDocument/2006/relationships" id="366" r:id="R14ff9a4821824a49"/>
    <p:sldId xmlns:r="http://schemas.openxmlformats.org/officeDocument/2006/relationships" id="367" r:id="R6c2ff607e4bd446f"/>
    <p:sldId xmlns:r="http://schemas.openxmlformats.org/officeDocument/2006/relationships" id="368" r:id="R95f35101135748cb"/>
    <p:sldId xmlns:r="http://schemas.openxmlformats.org/officeDocument/2006/relationships" id="369" r:id="Ra62fa2058fa74d35"/>
    <p:sldId xmlns:r="http://schemas.openxmlformats.org/officeDocument/2006/relationships" id="370" r:id="R9982811203864134"/>
    <p:sldId xmlns:r="http://schemas.openxmlformats.org/officeDocument/2006/relationships" id="371" r:id="Rfa34a02ec8f44ca7"/>
    <p:sldId xmlns:r="http://schemas.openxmlformats.org/officeDocument/2006/relationships" id="372" r:id="Rd23c666f6a834279"/>
    <p:sldId xmlns:r="http://schemas.openxmlformats.org/officeDocument/2006/relationships" id="373" r:id="Rc883f79efa644878"/>
    <p:sldId xmlns:r="http://schemas.openxmlformats.org/officeDocument/2006/relationships" id="374" r:id="R677bd1b67f7145fe"/>
    <p:sldId xmlns:r="http://schemas.openxmlformats.org/officeDocument/2006/relationships" id="375" r:id="R7fadf4a27d2f400b"/>
    <p:sldId xmlns:r="http://schemas.openxmlformats.org/officeDocument/2006/relationships" id="376" r:id="Red5e39aec58542db"/>
    <p:sldId xmlns:r="http://schemas.openxmlformats.org/officeDocument/2006/relationships" id="377" r:id="R8575cce5d7ca49ae"/>
    <p:sldId xmlns:r="http://schemas.openxmlformats.org/officeDocument/2006/relationships" id="378" r:id="R9f1d085f3ef04103"/>
    <p:sldId xmlns:r="http://schemas.openxmlformats.org/officeDocument/2006/relationships" id="379" r:id="R652b09959a3d4cfd"/>
    <p:sldId xmlns:r="http://schemas.openxmlformats.org/officeDocument/2006/relationships" id="380" r:id="Rcddf29083e8b4ca6"/>
    <p:sldId xmlns:r="http://schemas.openxmlformats.org/officeDocument/2006/relationships" id="381" r:id="Rfb29b603a57f4d87"/>
  </p:sldIdLst>
  <p:sldSz cx="12192000" cy="6858000"/>
  <p:notesSz cx="6858000" cy="9144000"/>
  <p:embeddedFontLst>
    <p:embeddedFont>
      <p:font typeface="Roboto Mono"/>
      <p:regular xmlns:r="http://schemas.openxmlformats.org/officeDocument/2006/relationships" r:id="R51c81ad267f34fec"/>
      <p:bold xmlns:r="http://schemas.openxmlformats.org/officeDocument/2006/relationships" r:id="R0e32b7c2243e4516"/>
      <p:italic xmlns:r="http://schemas.openxmlformats.org/officeDocument/2006/relationships" r:id="R3fba7a44e2e04fa4"/>
      <p:boldItalic xmlns:r="http://schemas.openxmlformats.org/officeDocument/2006/relationships" r:id="Re7747e7dd42a4476"/>
    </p:embeddedFont>
    <p:embeddedFont>
      <p:font typeface="Archivo Black"/>
      <p:regular xmlns:r="http://schemas.openxmlformats.org/officeDocument/2006/relationships" r:id="R0224a216f30743b0"/>
    </p:embeddedFont>
    <p:embeddedFont>
      <p:font typeface="DM Sans"/>
      <p:regular xmlns:r="http://schemas.openxmlformats.org/officeDocument/2006/relationships" r:id="Rd85cfa020b0443dc"/>
      <p:bold xmlns:r="http://schemas.openxmlformats.org/officeDocument/2006/relationships" r:id="Rdd3c6db8522f4cc0"/>
      <p:italic xmlns:r="http://schemas.openxmlformats.org/officeDocument/2006/relationships" r:id="Rcea65a7889c5468f"/>
      <p:boldItalic xmlns:r="http://schemas.openxmlformats.org/officeDocument/2006/relationships" r:id="Rd9415a5fe0ce412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a5d4e205834d89" /><Relationship Type="http://schemas.openxmlformats.org/officeDocument/2006/relationships/slideMaster" Target="/ppt/slideMasters/slideMaster1.xml" Id="R424adc716c244c7f" /><Relationship Type="http://schemas.openxmlformats.org/officeDocument/2006/relationships/notesMaster" Target="/ppt/notesMasters/notesMaster1.xml" Id="R69547fbde24e4f99" /><Relationship Type="http://schemas.openxmlformats.org/officeDocument/2006/relationships/presProps" Target="/ppt/presProps.xml" Id="Ra9ae8901d101437f" /><Relationship Type="http://schemas.openxmlformats.org/officeDocument/2006/relationships/tableStyles" Target="/ppt/tableStyles.xml" Id="R917bb728ea774491" /><Relationship Type="http://schemas.openxmlformats.org/officeDocument/2006/relationships/font" Target="/ppt/fonts/font.dat" Id="R51c81ad267f34fec" /><Relationship Type="http://schemas.openxmlformats.org/officeDocument/2006/relationships/font" Target="/ppt/fonts/font2.dat" Id="R0e32b7c2243e4516" /><Relationship Type="http://schemas.openxmlformats.org/officeDocument/2006/relationships/font" Target="/ppt/fonts/font3.dat" Id="R3fba7a44e2e04fa4" /><Relationship Type="http://schemas.openxmlformats.org/officeDocument/2006/relationships/font" Target="/ppt/fonts/font4.dat" Id="Re7747e7dd42a4476" /><Relationship Type="http://schemas.openxmlformats.org/officeDocument/2006/relationships/font" Target="/ppt/fonts/font5.dat" Id="R0224a216f30743b0" /><Relationship Type="http://schemas.openxmlformats.org/officeDocument/2006/relationships/font" Target="/ppt/fonts/font6.dat" Id="Rd85cfa020b0443dc" /><Relationship Type="http://schemas.openxmlformats.org/officeDocument/2006/relationships/font" Target="/ppt/fonts/font7.dat" Id="Rdd3c6db8522f4cc0" /><Relationship Type="http://schemas.openxmlformats.org/officeDocument/2006/relationships/font" Target="/ppt/fonts/font8.dat" Id="Rcea65a7889c5468f" /><Relationship Type="http://schemas.openxmlformats.org/officeDocument/2006/relationships/font" Target="/ppt/fonts/font9.dat" Id="Rd9415a5fe0ce412a" /><Relationship Type="http://schemas.openxmlformats.org/officeDocument/2006/relationships/slide" Target="/ppt/slides/slide1.xml" Id="R4eb6e9709bd84adb" /><Relationship Type="http://schemas.openxmlformats.org/officeDocument/2006/relationships/slide" Target="/ppt/slides/slide2.xml" Id="Rd9bd7df97e1b444e" /><Relationship Type="http://schemas.openxmlformats.org/officeDocument/2006/relationships/slide" Target="/ppt/slides/slide3.xml" Id="R1b16ffd504ff4686" /><Relationship Type="http://schemas.openxmlformats.org/officeDocument/2006/relationships/slide" Target="/ppt/slides/slide4.xml" Id="R3b05f453d10b47aa" /><Relationship Type="http://schemas.openxmlformats.org/officeDocument/2006/relationships/slide" Target="/ppt/slides/slide5.xml" Id="R04375759c0a84504" /><Relationship Type="http://schemas.openxmlformats.org/officeDocument/2006/relationships/slide" Target="/ppt/slides/slide6.xml" Id="R44778488fc8249ef" /><Relationship Type="http://schemas.openxmlformats.org/officeDocument/2006/relationships/slide" Target="/ppt/slides/slide7.xml" Id="Rf3173c2b33534a48" /><Relationship Type="http://schemas.openxmlformats.org/officeDocument/2006/relationships/slide" Target="/ppt/slides/slide8.xml" Id="R29e0f25d478841d1" /><Relationship Type="http://schemas.openxmlformats.org/officeDocument/2006/relationships/slide" Target="/ppt/slides/slide9.xml" Id="R16a60977f88341f9" /><Relationship Type="http://schemas.openxmlformats.org/officeDocument/2006/relationships/slide" Target="/ppt/slides/slide10.xml" Id="R99ff06152c614de9" /><Relationship Type="http://schemas.openxmlformats.org/officeDocument/2006/relationships/slide" Target="/ppt/slides/slide11.xml" Id="R9cbe2ae85b504ee6" /><Relationship Type="http://schemas.openxmlformats.org/officeDocument/2006/relationships/slide" Target="/ppt/slides/slide12.xml" Id="R5d3cf38572c74a26" /><Relationship Type="http://schemas.openxmlformats.org/officeDocument/2006/relationships/slide" Target="/ppt/slides/slide13.xml" Id="Rd6e7c2b7a8814773" /><Relationship Type="http://schemas.openxmlformats.org/officeDocument/2006/relationships/slide" Target="/ppt/slides/slide14.xml" Id="Rd9a8cf7e053b4bb5" /><Relationship Type="http://schemas.openxmlformats.org/officeDocument/2006/relationships/slide" Target="/ppt/slides/slide15.xml" Id="Ra18a2a312aff4c4e" /><Relationship Type="http://schemas.openxmlformats.org/officeDocument/2006/relationships/slide" Target="/ppt/slides/slide16.xml" Id="R910f46baedb94e82" /><Relationship Type="http://schemas.openxmlformats.org/officeDocument/2006/relationships/slide" Target="/ppt/slides/slide17.xml" Id="R25b5b3e68c4f421a" /><Relationship Type="http://schemas.openxmlformats.org/officeDocument/2006/relationships/slide" Target="/ppt/slides/slide18.xml" Id="Rd319edf5376b466c" /><Relationship Type="http://schemas.openxmlformats.org/officeDocument/2006/relationships/slide" Target="/ppt/slides/slide19.xml" Id="Rabf9b5988e5546d3" /><Relationship Type="http://schemas.openxmlformats.org/officeDocument/2006/relationships/slide" Target="/ppt/slides/slide20.xml" Id="R80e7447afda349a7" /><Relationship Type="http://schemas.openxmlformats.org/officeDocument/2006/relationships/slide" Target="/ppt/slides/slide21.xml" Id="Re120dbcf97294d7e" /><Relationship Type="http://schemas.openxmlformats.org/officeDocument/2006/relationships/slide" Target="/ppt/slides/slide22.xml" Id="R2f225fd24d044bca" /><Relationship Type="http://schemas.openxmlformats.org/officeDocument/2006/relationships/slide" Target="/ppt/slides/slide23.xml" Id="R50818f9452804456" /><Relationship Type="http://schemas.openxmlformats.org/officeDocument/2006/relationships/slide" Target="/ppt/slides/slide24.xml" Id="R6ab9d93dede644e3" /><Relationship Type="http://schemas.openxmlformats.org/officeDocument/2006/relationships/slide" Target="/ppt/slides/slide25.xml" Id="Rae3d29aeba9e4b73" /><Relationship Type="http://schemas.openxmlformats.org/officeDocument/2006/relationships/slide" Target="/ppt/slides/slide26.xml" Id="Rec99255210834f6b" /><Relationship Type="http://schemas.openxmlformats.org/officeDocument/2006/relationships/slide" Target="/ppt/slides/slide27.xml" Id="Rf86ea49e804744e4" /><Relationship Type="http://schemas.openxmlformats.org/officeDocument/2006/relationships/slide" Target="/ppt/slides/slide28.xml" Id="Rab9394c7da2f4fa1" /><Relationship Type="http://schemas.openxmlformats.org/officeDocument/2006/relationships/slide" Target="/ppt/slides/slide29.xml" Id="R8370c2346fb44a8f" /><Relationship Type="http://schemas.openxmlformats.org/officeDocument/2006/relationships/slide" Target="/ppt/slides/slide30.xml" Id="R761c9e75ddc842b6" /><Relationship Type="http://schemas.openxmlformats.org/officeDocument/2006/relationships/slide" Target="/ppt/slides/slide31.xml" Id="R466cc82811354243" /><Relationship Type="http://schemas.openxmlformats.org/officeDocument/2006/relationships/slide" Target="/ppt/slides/slide32.xml" Id="R97cc50694b5c45e2" /><Relationship Type="http://schemas.openxmlformats.org/officeDocument/2006/relationships/slide" Target="/ppt/slides/slide33.xml" Id="R2993620e927048aa" /><Relationship Type="http://schemas.openxmlformats.org/officeDocument/2006/relationships/slide" Target="/ppt/slides/slide34.xml" Id="R9a4dfcdd86474a3f" /><Relationship Type="http://schemas.openxmlformats.org/officeDocument/2006/relationships/slide" Target="/ppt/slides/slide35.xml" Id="R598d8a7ce2ae42ab" /><Relationship Type="http://schemas.openxmlformats.org/officeDocument/2006/relationships/slide" Target="/ppt/slides/slide36.xml" Id="R548f3d8e503f426f" /><Relationship Type="http://schemas.openxmlformats.org/officeDocument/2006/relationships/slide" Target="/ppt/slides/slide37.xml" Id="R8f8309b696ea4c25" /><Relationship Type="http://schemas.openxmlformats.org/officeDocument/2006/relationships/slide" Target="/ppt/slides/slide38.xml" Id="R2af650c430914dbb" /><Relationship Type="http://schemas.openxmlformats.org/officeDocument/2006/relationships/slide" Target="/ppt/slides/slide39.xml" Id="R10f5e23c568341e4" /><Relationship Type="http://schemas.openxmlformats.org/officeDocument/2006/relationships/slide" Target="/ppt/slides/slide40.xml" Id="R087187843f6b4576" /><Relationship Type="http://schemas.openxmlformats.org/officeDocument/2006/relationships/slide" Target="/ppt/slides/slide41.xml" Id="R1a07bfe87e244b70" /><Relationship Type="http://schemas.openxmlformats.org/officeDocument/2006/relationships/slide" Target="/ppt/slides/slide42.xml" Id="Raca11c27b6874bc4" /><Relationship Type="http://schemas.openxmlformats.org/officeDocument/2006/relationships/slide" Target="/ppt/slides/slide43.xml" Id="Ra7c9d68cd11844c1" /><Relationship Type="http://schemas.openxmlformats.org/officeDocument/2006/relationships/slide" Target="/ppt/slides/slide44.xml" Id="Ra7f62f5527bc4236" /><Relationship Type="http://schemas.openxmlformats.org/officeDocument/2006/relationships/slide" Target="/ppt/slides/slide45.xml" Id="R74e38145ffd64641" /><Relationship Type="http://schemas.openxmlformats.org/officeDocument/2006/relationships/slide" Target="/ppt/slides/slide46.xml" Id="R9b1385e43d4c4f01" /><Relationship Type="http://schemas.openxmlformats.org/officeDocument/2006/relationships/slide" Target="/ppt/slides/slide47.xml" Id="R25f1f6d940dc42e9" /><Relationship Type="http://schemas.openxmlformats.org/officeDocument/2006/relationships/slide" Target="/ppt/slides/slide48.xml" Id="Rdd3206ed05ae4308" /><Relationship Type="http://schemas.openxmlformats.org/officeDocument/2006/relationships/slide" Target="/ppt/slides/slide49.xml" Id="R35a5b57015574774" /><Relationship Type="http://schemas.openxmlformats.org/officeDocument/2006/relationships/slide" Target="/ppt/slides/slide50.xml" Id="R3aa86e5ec56241f1" /><Relationship Type="http://schemas.openxmlformats.org/officeDocument/2006/relationships/slide" Target="/ppt/slides/slide51.xml" Id="Rea8e1bcf1b004814" /><Relationship Type="http://schemas.openxmlformats.org/officeDocument/2006/relationships/slide" Target="/ppt/slides/slide52.xml" Id="R251517a4dd8c4c6d" /><Relationship Type="http://schemas.openxmlformats.org/officeDocument/2006/relationships/slide" Target="/ppt/slides/slide53.xml" Id="R980e45559497496f" /><Relationship Type="http://schemas.openxmlformats.org/officeDocument/2006/relationships/slide" Target="/ppt/slides/slide54.xml" Id="Rf8623eef8d1442e0" /><Relationship Type="http://schemas.openxmlformats.org/officeDocument/2006/relationships/slide" Target="/ppt/slides/slide55.xml" Id="Rc8ea0d82c32b4ae5" /><Relationship Type="http://schemas.openxmlformats.org/officeDocument/2006/relationships/slide" Target="/ppt/slides/slide56.xml" Id="R8618d4c1b25849c3" /><Relationship Type="http://schemas.openxmlformats.org/officeDocument/2006/relationships/slide" Target="/ppt/slides/slide57.xml" Id="Rccb749c49f6f405b" /><Relationship Type="http://schemas.openxmlformats.org/officeDocument/2006/relationships/slide" Target="/ppt/slides/slide58.xml" Id="R5b187a65e7f9481c" /><Relationship Type="http://schemas.openxmlformats.org/officeDocument/2006/relationships/slide" Target="/ppt/slides/slide59.xml" Id="Rce5afb65f3cf412e" /><Relationship Type="http://schemas.openxmlformats.org/officeDocument/2006/relationships/slide" Target="/ppt/slides/slide60.xml" Id="Raab4144fd66944b7" /><Relationship Type="http://schemas.openxmlformats.org/officeDocument/2006/relationships/slide" Target="/ppt/slides/slide61.xml" Id="R1ed1928a5feb4fa9" /><Relationship Type="http://schemas.openxmlformats.org/officeDocument/2006/relationships/slide" Target="/ppt/slides/slide62.xml" Id="Rc8199834d70b4cd3" /><Relationship Type="http://schemas.openxmlformats.org/officeDocument/2006/relationships/slide" Target="/ppt/slides/slide63.xml" Id="R7054d47223d94a44" /><Relationship Type="http://schemas.openxmlformats.org/officeDocument/2006/relationships/slide" Target="/ppt/slides/slide64.xml" Id="Rc0a35c45c4724c5c" /><Relationship Type="http://schemas.openxmlformats.org/officeDocument/2006/relationships/slide" Target="/ppt/slides/slide65.xml" Id="Rd4bffd93902140ea" /><Relationship Type="http://schemas.openxmlformats.org/officeDocument/2006/relationships/slide" Target="/ppt/slides/slide66.xml" Id="Ra9620d6d6f8b4a0a" /><Relationship Type="http://schemas.openxmlformats.org/officeDocument/2006/relationships/slide" Target="/ppt/slides/slide67.xml" Id="R9b84ed6850054638" /><Relationship Type="http://schemas.openxmlformats.org/officeDocument/2006/relationships/slide" Target="/ppt/slides/slide68.xml" Id="R4a0c69d49ec64be6" /><Relationship Type="http://schemas.openxmlformats.org/officeDocument/2006/relationships/slide" Target="/ppt/slides/slide69.xml" Id="R8f18b20982664ac0" /><Relationship Type="http://schemas.openxmlformats.org/officeDocument/2006/relationships/slide" Target="/ppt/slides/slide70.xml" Id="R65b6940e72994e48" /><Relationship Type="http://schemas.openxmlformats.org/officeDocument/2006/relationships/slide" Target="/ppt/slides/slide71.xml" Id="Rf456b75ddb1b4984" /><Relationship Type="http://schemas.openxmlformats.org/officeDocument/2006/relationships/slide" Target="/ppt/slides/slide72.xml" Id="R6ec55f7276984ac7" /><Relationship Type="http://schemas.openxmlformats.org/officeDocument/2006/relationships/slide" Target="/ppt/slides/slide73.xml" Id="R9af1a28ffdb6414f" /><Relationship Type="http://schemas.openxmlformats.org/officeDocument/2006/relationships/slide" Target="/ppt/slides/slide74.xml" Id="Rdfda43619d364a35" /><Relationship Type="http://schemas.openxmlformats.org/officeDocument/2006/relationships/slide" Target="/ppt/slides/slide75.xml" Id="R83ed39aeca164fb5" /><Relationship Type="http://schemas.openxmlformats.org/officeDocument/2006/relationships/slide" Target="/ppt/slides/slide76.xml" Id="R4364a2457b174aec" /><Relationship Type="http://schemas.openxmlformats.org/officeDocument/2006/relationships/slide" Target="/ppt/slides/slide77.xml" Id="R1bb7fb8054b64093" /><Relationship Type="http://schemas.openxmlformats.org/officeDocument/2006/relationships/slide" Target="/ppt/slides/slide78.xml" Id="R919871bfd965409e" /><Relationship Type="http://schemas.openxmlformats.org/officeDocument/2006/relationships/slide" Target="/ppt/slides/slide79.xml" Id="R2e408769b5cc466b" /><Relationship Type="http://schemas.openxmlformats.org/officeDocument/2006/relationships/slide" Target="/ppt/slides/slide80.xml" Id="Rd7856e3c09874e38" /><Relationship Type="http://schemas.openxmlformats.org/officeDocument/2006/relationships/slide" Target="/ppt/slides/slide81.xml" Id="R4d47584068984876" /><Relationship Type="http://schemas.openxmlformats.org/officeDocument/2006/relationships/slide" Target="/ppt/slides/slide82.xml" Id="Re69499f5d62e4add" /><Relationship Type="http://schemas.openxmlformats.org/officeDocument/2006/relationships/slide" Target="/ppt/slides/slide83.xml" Id="R2b6a4c425f6b4d2c" /><Relationship Type="http://schemas.openxmlformats.org/officeDocument/2006/relationships/slide" Target="/ppt/slides/slide84.xml" Id="R36f0a65cef244198" /><Relationship Type="http://schemas.openxmlformats.org/officeDocument/2006/relationships/slide" Target="/ppt/slides/slide85.xml" Id="Rc8cb76c291ee432f" /><Relationship Type="http://schemas.openxmlformats.org/officeDocument/2006/relationships/slide" Target="/ppt/slides/slide86.xml" Id="R99bfc79a44f9485b" /><Relationship Type="http://schemas.openxmlformats.org/officeDocument/2006/relationships/slide" Target="/ppt/slides/slide87.xml" Id="R258862c85f8f4cf8" /><Relationship Type="http://schemas.openxmlformats.org/officeDocument/2006/relationships/slide" Target="/ppt/slides/slide88.xml" Id="R51cbe70753cb45ba" /><Relationship Type="http://schemas.openxmlformats.org/officeDocument/2006/relationships/slide" Target="/ppt/slides/slide89.xml" Id="R740aec86777f42ac" /><Relationship Type="http://schemas.openxmlformats.org/officeDocument/2006/relationships/slide" Target="/ppt/slides/slide90.xml" Id="Rc97241d02df84d33" /><Relationship Type="http://schemas.openxmlformats.org/officeDocument/2006/relationships/slide" Target="/ppt/slides/slide91.xml" Id="Rd932131c8a5746d8" /><Relationship Type="http://schemas.openxmlformats.org/officeDocument/2006/relationships/slide" Target="/ppt/slides/slide92.xml" Id="Re3a27fe78e5141f6" /><Relationship Type="http://schemas.openxmlformats.org/officeDocument/2006/relationships/slide" Target="/ppt/slides/slide93.xml" Id="R304f22bf18c64558" /><Relationship Type="http://schemas.openxmlformats.org/officeDocument/2006/relationships/slide" Target="/ppt/slides/slide94.xml" Id="Rf0d81b2d138942e7" /><Relationship Type="http://schemas.openxmlformats.org/officeDocument/2006/relationships/slide" Target="/ppt/slides/slide95.xml" Id="Re5953583db4449e7" /><Relationship Type="http://schemas.openxmlformats.org/officeDocument/2006/relationships/slide" Target="/ppt/slides/slide96.xml" Id="R823ac755bd7b44c7" /><Relationship Type="http://schemas.openxmlformats.org/officeDocument/2006/relationships/slide" Target="/ppt/slides/slide97.xml" Id="Re949fb1b6d2c4d39" /><Relationship Type="http://schemas.openxmlformats.org/officeDocument/2006/relationships/slide" Target="/ppt/slides/slide98.xml" Id="R158373ed79d84d51" /><Relationship Type="http://schemas.openxmlformats.org/officeDocument/2006/relationships/slide" Target="/ppt/slides/slide99.xml" Id="R3cbee1c31ad14105" /><Relationship Type="http://schemas.openxmlformats.org/officeDocument/2006/relationships/slide" Target="/ppt/slides/slide100.xml" Id="R3114b24b72bb4ad3" /><Relationship Type="http://schemas.openxmlformats.org/officeDocument/2006/relationships/slide" Target="/ppt/slides/slide101.xml" Id="Re32d18cd57df4f66" /><Relationship Type="http://schemas.openxmlformats.org/officeDocument/2006/relationships/slide" Target="/ppt/slides/slide102.xml" Id="Raf72800fc41f43da" /><Relationship Type="http://schemas.openxmlformats.org/officeDocument/2006/relationships/slide" Target="/ppt/slides/slide103.xml" Id="Rbcd20b733a0a43ba" /><Relationship Type="http://schemas.openxmlformats.org/officeDocument/2006/relationships/slide" Target="/ppt/slides/slide104.xml" Id="R279c8d8f683c438a" /><Relationship Type="http://schemas.openxmlformats.org/officeDocument/2006/relationships/slide" Target="/ppt/slides/slide105.xml" Id="R9832cedc00cf4431" /><Relationship Type="http://schemas.openxmlformats.org/officeDocument/2006/relationships/slide" Target="/ppt/slides/slide106.xml" Id="R3f189c5387d24ea7" /><Relationship Type="http://schemas.openxmlformats.org/officeDocument/2006/relationships/slide" Target="/ppt/slides/slide107.xml" Id="R9e7426129cb04ab0" /><Relationship Type="http://schemas.openxmlformats.org/officeDocument/2006/relationships/slide" Target="/ppt/slides/slide108.xml" Id="Rb8cad3ccda0c4806" /><Relationship Type="http://schemas.openxmlformats.org/officeDocument/2006/relationships/slide" Target="/ppt/slides/slide109.xml" Id="Rae5b0bc31bc34c6a" /><Relationship Type="http://schemas.openxmlformats.org/officeDocument/2006/relationships/slide" Target="/ppt/slides/slide110.xml" Id="R18a9b7e7a2514bff" /><Relationship Type="http://schemas.openxmlformats.org/officeDocument/2006/relationships/slide" Target="/ppt/slides/slide111.xml" Id="R14ff9a4821824a49" /><Relationship Type="http://schemas.openxmlformats.org/officeDocument/2006/relationships/slide" Target="/ppt/slides/slide112.xml" Id="R6c2ff607e4bd446f" /><Relationship Type="http://schemas.openxmlformats.org/officeDocument/2006/relationships/slide" Target="/ppt/slides/slide113.xml" Id="R95f35101135748cb" /><Relationship Type="http://schemas.openxmlformats.org/officeDocument/2006/relationships/slide" Target="/ppt/slides/slide114.xml" Id="Ra62fa2058fa74d35" /><Relationship Type="http://schemas.openxmlformats.org/officeDocument/2006/relationships/slide" Target="/ppt/slides/slide115.xml" Id="R9982811203864134" /><Relationship Type="http://schemas.openxmlformats.org/officeDocument/2006/relationships/slide" Target="/ppt/slides/slide116.xml" Id="Rfa34a02ec8f44ca7" /><Relationship Type="http://schemas.openxmlformats.org/officeDocument/2006/relationships/slide" Target="/ppt/slides/slide117.xml" Id="Rd23c666f6a834279" /><Relationship Type="http://schemas.openxmlformats.org/officeDocument/2006/relationships/slide" Target="/ppt/slides/slide118.xml" Id="Rc883f79efa644878" /><Relationship Type="http://schemas.openxmlformats.org/officeDocument/2006/relationships/slide" Target="/ppt/slides/slide119.xml" Id="R677bd1b67f7145fe" /><Relationship Type="http://schemas.openxmlformats.org/officeDocument/2006/relationships/slide" Target="/ppt/slides/slide120.xml" Id="R7fadf4a27d2f400b" /><Relationship Type="http://schemas.openxmlformats.org/officeDocument/2006/relationships/slide" Target="/ppt/slides/slide121.xml" Id="Red5e39aec58542db" /><Relationship Type="http://schemas.openxmlformats.org/officeDocument/2006/relationships/slide" Target="/ppt/slides/slide122.xml" Id="R8575cce5d7ca49ae" /><Relationship Type="http://schemas.openxmlformats.org/officeDocument/2006/relationships/slide" Target="/ppt/slides/slide123.xml" Id="R9f1d085f3ef04103" /><Relationship Type="http://schemas.openxmlformats.org/officeDocument/2006/relationships/slide" Target="/ppt/slides/slide124.xml" Id="R652b09959a3d4cfd" /><Relationship Type="http://schemas.openxmlformats.org/officeDocument/2006/relationships/slide" Target="/ppt/slides/slide125.xml" Id="Rcddf29083e8b4ca6" /><Relationship Type="http://schemas.openxmlformats.org/officeDocument/2006/relationships/slide" Target="/ppt/slides/slide126.xml" Id="Rfb29b603a57f4d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e0fdd5fe8049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933dfc6b664955" /><Relationship Type="http://schemas.openxmlformats.org/officeDocument/2006/relationships/notesMaster" Target="/ppt/notesMasters/notesMaster1.xml" Id="Rbdb2973af52c4a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91d9be1689480f" /><Relationship Type="http://schemas.openxmlformats.org/officeDocument/2006/relationships/notesMaster" Target="/ppt/notesMasters/notesMaster1.xml" Id="R5d110428af1044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28ff8dde2c4ed7" /><Relationship Type="http://schemas.openxmlformats.org/officeDocument/2006/relationships/notesMaster" Target="/ppt/notesMasters/notesMaster1.xml" Id="Ra493dd1e35c34f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d525f3b3b04f27" /><Relationship Type="http://schemas.openxmlformats.org/officeDocument/2006/relationships/notesMaster" Target="/ppt/notesMasters/notesMaster1.xml" Id="R5c213b0f92094f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19e96604244b5d" /><Relationship Type="http://schemas.openxmlformats.org/officeDocument/2006/relationships/notesMaster" Target="/ppt/notesMasters/notesMaster1.xml" Id="Re3b8b1ce15204b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27e7bf50684f42" /><Relationship Type="http://schemas.openxmlformats.org/officeDocument/2006/relationships/notesMaster" Target="/ppt/notesMasters/notesMaster1.xml" Id="R6c6d92ed0b7c4f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ea49d2c8e54862" /><Relationship Type="http://schemas.openxmlformats.org/officeDocument/2006/relationships/notesMaster" Target="/ppt/notesMasters/notesMaster1.xml" Id="R512d8796aa3940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4eb1b5ee474c65" /><Relationship Type="http://schemas.openxmlformats.org/officeDocument/2006/relationships/notesMaster" Target="/ppt/notesMasters/notesMaster1.xml" Id="R611f3c258a1349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b7c23bd0844fd2" /><Relationship Type="http://schemas.openxmlformats.org/officeDocument/2006/relationships/notesMaster" Target="/ppt/notesMasters/notesMaster1.xml" Id="Rf5ad35809bb94e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2c93f46064e09" /><Relationship Type="http://schemas.openxmlformats.org/officeDocument/2006/relationships/notesMaster" Target="/ppt/notesMasters/notesMaster1.xml" Id="R22f2c128ba714a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07d604a4d54d9b" /><Relationship Type="http://schemas.openxmlformats.org/officeDocument/2006/relationships/notesMaster" Target="/ppt/notesMasters/notesMaster1.xml" Id="Ra3a1abd979f349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c9f3d4e18d45c1" /><Relationship Type="http://schemas.openxmlformats.org/officeDocument/2006/relationships/notesMaster" Target="/ppt/notesMasters/notesMaster1.xml" Id="Rc53203b622a64f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73495178d745b7" /><Relationship Type="http://schemas.openxmlformats.org/officeDocument/2006/relationships/notesMaster" Target="/ppt/notesMasters/notesMaster1.xml" Id="R7e120003abf04f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7808cdaf0f47a5" /><Relationship Type="http://schemas.openxmlformats.org/officeDocument/2006/relationships/notesMaster" Target="/ppt/notesMasters/notesMaster1.xml" Id="Ra5564255539648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0ba9d8b738491d" /><Relationship Type="http://schemas.openxmlformats.org/officeDocument/2006/relationships/notesMaster" Target="/ppt/notesMasters/notesMaster1.xml" Id="Rd334c77e7d0b4d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666de1c10d473e" /><Relationship Type="http://schemas.openxmlformats.org/officeDocument/2006/relationships/notesMaster" Target="/ppt/notesMasters/notesMaster1.xml" Id="R577ca8bb58454a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949d7333fd4b08" /><Relationship Type="http://schemas.openxmlformats.org/officeDocument/2006/relationships/notesMaster" Target="/ppt/notesMasters/notesMaster1.xml" Id="R70a3b3bc4b6e4f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b2a18449be94408" /><Relationship Type="http://schemas.openxmlformats.org/officeDocument/2006/relationships/notesMaster" Target="/ppt/notesMasters/notesMaster1.xml" Id="Rb869ef84ad6e46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72a65fbf854250" /><Relationship Type="http://schemas.openxmlformats.org/officeDocument/2006/relationships/notesMaster" Target="/ppt/notesMasters/notesMaster1.xml" Id="Rad9db5a7073346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f0d59def854e78" /><Relationship Type="http://schemas.openxmlformats.org/officeDocument/2006/relationships/notesMaster" Target="/ppt/notesMasters/notesMaster1.xml" Id="Raec7af6aebb946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96b388a8224b8d" /><Relationship Type="http://schemas.openxmlformats.org/officeDocument/2006/relationships/notesMaster" Target="/ppt/notesMasters/notesMaster1.xml" Id="Rd45ab690bbf748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973485d78664629" /><Relationship Type="http://schemas.openxmlformats.org/officeDocument/2006/relationships/notesMaster" Target="/ppt/notesMasters/notesMaster1.xml" Id="Rbf66035c678646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959e0d92fe43a7" /><Relationship Type="http://schemas.openxmlformats.org/officeDocument/2006/relationships/notesMaster" Target="/ppt/notesMasters/notesMaster1.xml" Id="R08dbc9c8ea284c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9b24805b034606" /><Relationship Type="http://schemas.openxmlformats.org/officeDocument/2006/relationships/notesMaster" Target="/ppt/notesMasters/notesMaster1.xml" Id="R0a165d8a250145e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13b9299dc24d08" /><Relationship Type="http://schemas.openxmlformats.org/officeDocument/2006/relationships/notesMaster" Target="/ppt/notesMasters/notesMaster1.xml" Id="Rcba37cdbed8f41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a5d861f91264a58" /><Relationship Type="http://schemas.openxmlformats.org/officeDocument/2006/relationships/notesMaster" Target="/ppt/notesMasters/notesMaster1.xml" Id="R8a90e716be91407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180541db5d4c48" /><Relationship Type="http://schemas.openxmlformats.org/officeDocument/2006/relationships/notesMaster" Target="/ppt/notesMasters/notesMaster1.xml" Id="Re314d2e3d9e441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44fe87957848f4" /><Relationship Type="http://schemas.openxmlformats.org/officeDocument/2006/relationships/notesMaster" Target="/ppt/notesMasters/notesMaster1.xml" Id="R00803ba6bd21466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0b9168d25b44ff9" /><Relationship Type="http://schemas.openxmlformats.org/officeDocument/2006/relationships/notesMaster" Target="/ppt/notesMasters/notesMaster1.xml" Id="R9c40ad8ca44d496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1405a0787840a3" /><Relationship Type="http://schemas.openxmlformats.org/officeDocument/2006/relationships/notesMaster" Target="/ppt/notesMasters/notesMaster1.xml" Id="Rbdd7d53d43c249a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f7094d88f5437b" /><Relationship Type="http://schemas.openxmlformats.org/officeDocument/2006/relationships/notesMaster" Target="/ppt/notesMasters/notesMaster1.xml" Id="R3fdfb88655ae459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91758974d1e4d67" /><Relationship Type="http://schemas.openxmlformats.org/officeDocument/2006/relationships/notesMaster" Target="/ppt/notesMasters/notesMaster1.xml" Id="R4362ac8888f349d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7ea5716b6194807" /><Relationship Type="http://schemas.openxmlformats.org/officeDocument/2006/relationships/notesMaster" Target="/ppt/notesMasters/notesMaster1.xml" Id="Rcdf3206068864ac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4f22796c0f74e71" /><Relationship Type="http://schemas.openxmlformats.org/officeDocument/2006/relationships/notesMaster" Target="/ppt/notesMasters/notesMaster1.xml" Id="R58adc801bf534a9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58b6db1cfaf4059" /><Relationship Type="http://schemas.openxmlformats.org/officeDocument/2006/relationships/notesMaster" Target="/ppt/notesMasters/notesMaster1.xml" Id="R25a81ce9b25e434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e357fe4b53f4729" /><Relationship Type="http://schemas.openxmlformats.org/officeDocument/2006/relationships/notesMaster" Target="/ppt/notesMasters/notesMaster1.xml" Id="R6f2611fab4b3418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44550ccbc254c2b" /><Relationship Type="http://schemas.openxmlformats.org/officeDocument/2006/relationships/notesMaster" Target="/ppt/notesMasters/notesMaster1.xml" Id="Rf687950a6469483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6e456f3044649f7" /><Relationship Type="http://schemas.openxmlformats.org/officeDocument/2006/relationships/notesMaster" Target="/ppt/notesMasters/notesMaster1.xml" Id="R8227405b8ca1482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cc6b4ab9c3142dc" /><Relationship Type="http://schemas.openxmlformats.org/officeDocument/2006/relationships/notesMaster" Target="/ppt/notesMasters/notesMaster1.xml" Id="R783b471f46414b0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09052ed527e46f9" /><Relationship Type="http://schemas.openxmlformats.org/officeDocument/2006/relationships/notesMaster" Target="/ppt/notesMasters/notesMaster1.xml" Id="R91eaf951578f41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ae160cffbcf4f8d" /><Relationship Type="http://schemas.openxmlformats.org/officeDocument/2006/relationships/notesMaster" Target="/ppt/notesMasters/notesMaster1.xml" Id="R16c33f07014648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09cb28ab2384d64" /><Relationship Type="http://schemas.openxmlformats.org/officeDocument/2006/relationships/notesMaster" Target="/ppt/notesMasters/notesMaster1.xml" Id="R3db519e634f744f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1c12cd8a9a34f1a" /><Relationship Type="http://schemas.openxmlformats.org/officeDocument/2006/relationships/notesMaster" Target="/ppt/notesMasters/notesMaster1.xml" Id="R335b6ec615f0476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f89518f8ac462a" /><Relationship Type="http://schemas.openxmlformats.org/officeDocument/2006/relationships/notesMaster" Target="/ppt/notesMasters/notesMaster1.xml" Id="R7b3bb0fb40994dc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f3346e3ff224772" /><Relationship Type="http://schemas.openxmlformats.org/officeDocument/2006/relationships/notesMaster" Target="/ppt/notesMasters/notesMaster1.xml" Id="R43ac58aea9ea429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d79fb9284a745a0" /><Relationship Type="http://schemas.openxmlformats.org/officeDocument/2006/relationships/notesMaster" Target="/ppt/notesMasters/notesMaster1.xml" Id="Rac1f627b768242a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6ac4d437424461b" /><Relationship Type="http://schemas.openxmlformats.org/officeDocument/2006/relationships/notesMaster" Target="/ppt/notesMasters/notesMaster1.xml" Id="R610bef317ab341b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9af515dbfa945e4" /><Relationship Type="http://schemas.openxmlformats.org/officeDocument/2006/relationships/notesMaster" Target="/ppt/notesMasters/notesMaster1.xml" Id="R77289662f4ec496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9bf4c52277e4a69" /><Relationship Type="http://schemas.openxmlformats.org/officeDocument/2006/relationships/notesMaster" Target="/ppt/notesMasters/notesMaster1.xml" Id="R88c9802b1e5b452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86e99e7ecd4432f" /><Relationship Type="http://schemas.openxmlformats.org/officeDocument/2006/relationships/notesMaster" Target="/ppt/notesMasters/notesMaster1.xml" Id="Rb62b8f1c7ed6408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79fc9745244453f" /><Relationship Type="http://schemas.openxmlformats.org/officeDocument/2006/relationships/notesMaster" Target="/ppt/notesMasters/notesMaster1.xml" Id="Ra17fbe032c4e419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da183d4bc5e427e" /><Relationship Type="http://schemas.openxmlformats.org/officeDocument/2006/relationships/notesMaster" Target="/ppt/notesMasters/notesMaster1.xml" Id="R465c88277a5a486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2c83359b96f43b6" /><Relationship Type="http://schemas.openxmlformats.org/officeDocument/2006/relationships/notesMaster" Target="/ppt/notesMasters/notesMaster1.xml" Id="Re5e3550597a845f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7b4a29b0bc4462e" /><Relationship Type="http://schemas.openxmlformats.org/officeDocument/2006/relationships/notesMaster" Target="/ppt/notesMasters/notesMaster1.xml" Id="Ra1fd83a44ca341c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0ecf8e45ed04a08" /><Relationship Type="http://schemas.openxmlformats.org/officeDocument/2006/relationships/notesMaster" Target="/ppt/notesMasters/notesMaster1.xml" Id="R202c82a229f3455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e47657aaada4c11" /><Relationship Type="http://schemas.openxmlformats.org/officeDocument/2006/relationships/notesMaster" Target="/ppt/notesMasters/notesMaster1.xml" Id="Rf32dfcb9b72d41c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6573a3fbd214549" /><Relationship Type="http://schemas.openxmlformats.org/officeDocument/2006/relationships/notesMaster" Target="/ppt/notesMasters/notesMaster1.xml" Id="R5ce2e68fdd35417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23f89a9a65341a5" /><Relationship Type="http://schemas.openxmlformats.org/officeDocument/2006/relationships/notesMaster" Target="/ppt/notesMasters/notesMaster1.xml" Id="R0133d3706e3f44c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01d4e6d06554aee" /><Relationship Type="http://schemas.openxmlformats.org/officeDocument/2006/relationships/notesMaster" Target="/ppt/notesMasters/notesMaster1.xml" Id="Rb5c7e68898624bb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c5b0e1a01884706" /><Relationship Type="http://schemas.openxmlformats.org/officeDocument/2006/relationships/notesMaster" Target="/ppt/notesMasters/notesMaster1.xml" Id="R53a007a07a394af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ca0a09201f04fec" /><Relationship Type="http://schemas.openxmlformats.org/officeDocument/2006/relationships/notesMaster" Target="/ppt/notesMasters/notesMaster1.xml" Id="Rd1ed1996a9e049e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7b7d0465b8a4208" /><Relationship Type="http://schemas.openxmlformats.org/officeDocument/2006/relationships/notesMaster" Target="/ppt/notesMasters/notesMaster1.xml" Id="R7bf13bc3ff524f6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4cdbef21ca64708" /><Relationship Type="http://schemas.openxmlformats.org/officeDocument/2006/relationships/notesMaster" Target="/ppt/notesMasters/notesMaster1.xml" Id="R13ff5abf65b74a3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27074a736c74777" /><Relationship Type="http://schemas.openxmlformats.org/officeDocument/2006/relationships/notesMaster" Target="/ppt/notesMasters/notesMaster1.xml" Id="Re7d4bde3a1924ed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45ef14c8f714edc" /><Relationship Type="http://schemas.openxmlformats.org/officeDocument/2006/relationships/notesMaster" Target="/ppt/notesMasters/notesMaster1.xml" Id="R3165cc50dd324a3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83027f8172447e4" /><Relationship Type="http://schemas.openxmlformats.org/officeDocument/2006/relationships/notesMaster" Target="/ppt/notesMasters/notesMaster1.xml" Id="R34be59040f174a2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5553b589b0048ff" /><Relationship Type="http://schemas.openxmlformats.org/officeDocument/2006/relationships/notesMaster" Target="/ppt/notesMasters/notesMaster1.xml" Id="R740e15e260284630"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885696cec844a0d" /><Relationship Type="http://schemas.openxmlformats.org/officeDocument/2006/relationships/notesMaster" Target="/ppt/notesMasters/notesMaster1.xml" Id="Raa65f4ff959e480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6f74e0af6404298" /><Relationship Type="http://schemas.openxmlformats.org/officeDocument/2006/relationships/notesMaster" Target="/ppt/notesMasters/notesMaster1.xml" Id="Rd92e5a7e6c76499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feeae2b1fd74b91" /><Relationship Type="http://schemas.openxmlformats.org/officeDocument/2006/relationships/notesMaster" Target="/ppt/notesMasters/notesMaster1.xml" Id="R082ad7466e314f7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fd2cc7417524337" /><Relationship Type="http://schemas.openxmlformats.org/officeDocument/2006/relationships/notesMaster" Target="/ppt/notesMasters/notesMaster1.xml" Id="Rc3243d4f2aeb4e3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0a490491fe5483a" /><Relationship Type="http://schemas.openxmlformats.org/officeDocument/2006/relationships/notesMaster" Target="/ppt/notesMasters/notesMaster1.xml" Id="R760830e2b6e3496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9daf5925cef446c" /><Relationship Type="http://schemas.openxmlformats.org/officeDocument/2006/relationships/notesMaster" Target="/ppt/notesMasters/notesMaster1.xml" Id="Rbd4e7d9867c7492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80de87de9134b3f" /><Relationship Type="http://schemas.openxmlformats.org/officeDocument/2006/relationships/notesMaster" Target="/ppt/notesMasters/notesMaster1.xml" Id="Rf67159337f94443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214e956828254eb7" /><Relationship Type="http://schemas.openxmlformats.org/officeDocument/2006/relationships/notesMaster" Target="/ppt/notesMasters/notesMaster1.xml" Id="R2e1db1cdf101484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651149abde6440d" /><Relationship Type="http://schemas.openxmlformats.org/officeDocument/2006/relationships/notesMaster" Target="/ppt/notesMasters/notesMaster1.xml" Id="Rd102aca43ac84ccc"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942a3eef1a44168" /><Relationship Type="http://schemas.openxmlformats.org/officeDocument/2006/relationships/notesMaster" Target="/ppt/notesMasters/notesMaster1.xml" Id="R01734b81d2d54d5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f0b098f01024b02" /><Relationship Type="http://schemas.openxmlformats.org/officeDocument/2006/relationships/notesMaster" Target="/ppt/notesMasters/notesMaster1.xml" Id="Rd1ec8cdc2dce415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c1ed5956de7c4efe" /><Relationship Type="http://schemas.openxmlformats.org/officeDocument/2006/relationships/notesMaster" Target="/ppt/notesMasters/notesMaster1.xml" Id="Rb977966ead394ad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f8d114a3e3041a4" /><Relationship Type="http://schemas.openxmlformats.org/officeDocument/2006/relationships/notesMaster" Target="/ppt/notesMasters/notesMaster1.xml" Id="Rf592f346b6094976"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a73a5c21daa4583" /><Relationship Type="http://schemas.openxmlformats.org/officeDocument/2006/relationships/notesMaster" Target="/ppt/notesMasters/notesMaster1.xml" Id="R39d94adec9844d9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7d9e6506009487a" /><Relationship Type="http://schemas.openxmlformats.org/officeDocument/2006/relationships/notesMaster" Target="/ppt/notesMasters/notesMaster1.xml" Id="Rccc352e42cf74d5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676b898396f4fa5" /><Relationship Type="http://schemas.openxmlformats.org/officeDocument/2006/relationships/notesMaster" Target="/ppt/notesMasters/notesMaster1.xml" Id="Rda0cbc738a944a63"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e14886688424f94" /><Relationship Type="http://schemas.openxmlformats.org/officeDocument/2006/relationships/notesMaster" Target="/ppt/notesMasters/notesMaster1.xml" Id="Rf9667257cc5f45d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625b1659767a44cd" /><Relationship Type="http://schemas.openxmlformats.org/officeDocument/2006/relationships/notesMaster" Target="/ppt/notesMasters/notesMaster1.xml" Id="Rf6e5753c5f77452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743cd89a7134372" /><Relationship Type="http://schemas.openxmlformats.org/officeDocument/2006/relationships/notesMaster" Target="/ppt/notesMasters/notesMaster1.xml" Id="R35108f0022f0479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3c33bd67718c4757" /><Relationship Type="http://schemas.openxmlformats.org/officeDocument/2006/relationships/notesMaster" Target="/ppt/notesMasters/notesMaster1.xml" Id="Ra7e1d627ec7f4d0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74db3685bb824fb1" /><Relationship Type="http://schemas.openxmlformats.org/officeDocument/2006/relationships/notesMaster" Target="/ppt/notesMasters/notesMaster1.xml" Id="Ra263870cb9b54b4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a3c1451c3394b08" /><Relationship Type="http://schemas.openxmlformats.org/officeDocument/2006/relationships/notesMaster" Target="/ppt/notesMasters/notesMaster1.xml" Id="R92f10dbd476b42b8"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b9643a65f394087" /><Relationship Type="http://schemas.openxmlformats.org/officeDocument/2006/relationships/notesMaster" Target="/ppt/notesMasters/notesMaster1.xml" Id="Rd87e2512d59e439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5b44f65fb8a941d7" /><Relationship Type="http://schemas.openxmlformats.org/officeDocument/2006/relationships/notesMaster" Target="/ppt/notesMasters/notesMaster1.xml" Id="R0391931598bd49d9"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9074125433c4411" /><Relationship Type="http://schemas.openxmlformats.org/officeDocument/2006/relationships/notesMaster" Target="/ppt/notesMasters/notesMaster1.xml" Id="R0d7a0baf84ad47f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b46f5df99f6444d3" /><Relationship Type="http://schemas.openxmlformats.org/officeDocument/2006/relationships/notesMaster" Target="/ppt/notesMasters/notesMaster1.xml" Id="R24fae0e42bcb4c1b"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a669da81289f4513" /><Relationship Type="http://schemas.openxmlformats.org/officeDocument/2006/relationships/notesMaster" Target="/ppt/notesMasters/notesMaster1.xml" Id="R9b40642a93614968"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2bcba5ebb999442b" /><Relationship Type="http://schemas.openxmlformats.org/officeDocument/2006/relationships/notesMaster" Target="/ppt/notesMasters/notesMaster1.xml" Id="R4b8fee25d24e45eb"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80fe8741b8d841e8" /><Relationship Type="http://schemas.openxmlformats.org/officeDocument/2006/relationships/notesMaster" Target="/ppt/notesMasters/notesMaster1.xml" Id="Rd902bc05511c4c9a"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a7fac6c07b664d49" /><Relationship Type="http://schemas.openxmlformats.org/officeDocument/2006/relationships/notesMaster" Target="/ppt/notesMasters/notesMaster1.xml" Id="Rbe113f76457447d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e276c6e8f2dc45d2" /><Relationship Type="http://schemas.openxmlformats.org/officeDocument/2006/relationships/notesMaster" Target="/ppt/notesMasters/notesMaster1.xml" Id="R35918c1f503b449d"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19f0e31be7a04d4a" /><Relationship Type="http://schemas.openxmlformats.org/officeDocument/2006/relationships/notesMaster" Target="/ppt/notesMasters/notesMaster1.xml" Id="Re5dc1e5f7b2d4e24"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1817646b156451b" /><Relationship Type="http://schemas.openxmlformats.org/officeDocument/2006/relationships/notesMaster" Target="/ppt/notesMasters/notesMaster1.xml" Id="R3b2c2eb510984752"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05b9653431a44fcf" /><Relationship Type="http://schemas.openxmlformats.org/officeDocument/2006/relationships/notesMaster" Target="/ppt/notesMasters/notesMaster1.xml" Id="R822b2596be504c0c"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da49c6c1f7040f5" /><Relationship Type="http://schemas.openxmlformats.org/officeDocument/2006/relationships/notesMaster" Target="/ppt/notesMasters/notesMaster1.xml" Id="R9b0ffc1501044c4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9463af828034372" /><Relationship Type="http://schemas.openxmlformats.org/officeDocument/2006/relationships/notesMaster" Target="/ppt/notesMasters/notesMaster1.xml" Id="R8ba3965a18ba4ec3"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d6bdaf7d85ea4d6f" /><Relationship Type="http://schemas.openxmlformats.org/officeDocument/2006/relationships/notesMaster" Target="/ppt/notesMasters/notesMaster1.xml" Id="Re27a3d9c123e414a"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1e9ec7ea48a747b3" /><Relationship Type="http://schemas.openxmlformats.org/officeDocument/2006/relationships/notesMaster" Target="/ppt/notesMasters/notesMaster1.xml" Id="R1a4f520bfe4a4a63"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43c466b08a6a45d0" /><Relationship Type="http://schemas.openxmlformats.org/officeDocument/2006/relationships/notesMaster" Target="/ppt/notesMasters/notesMaster1.xml" Id="R9ea605433b554d98"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fd2991a0dc5a4dd8" /><Relationship Type="http://schemas.openxmlformats.org/officeDocument/2006/relationships/notesMaster" Target="/ppt/notesMasters/notesMaster1.xml" Id="Rc7a24dd84bbc494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9bb32a4dc71141af" /><Relationship Type="http://schemas.openxmlformats.org/officeDocument/2006/relationships/notesMaster" Target="/ppt/notesMasters/notesMaster1.xml" Id="Re7e46d934036496e"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a58e675f78e4d2b" /><Relationship Type="http://schemas.openxmlformats.org/officeDocument/2006/relationships/notesMaster" Target="/ppt/notesMasters/notesMaster1.xml" Id="R5dc8bd21a3884699"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ad07092a894f4d8a" /><Relationship Type="http://schemas.openxmlformats.org/officeDocument/2006/relationships/notesMaster" Target="/ppt/notesMasters/notesMaster1.xml" Id="Rb1735a574af14c40"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67645290001b46f0" /><Relationship Type="http://schemas.openxmlformats.org/officeDocument/2006/relationships/notesMaster" Target="/ppt/notesMasters/notesMaster1.xml" Id="Rff70af856acc4a2c"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7fc8495fade0405f" /><Relationship Type="http://schemas.openxmlformats.org/officeDocument/2006/relationships/notesMaster" Target="/ppt/notesMasters/notesMaster1.xml" Id="Rc28a61bdaedd492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412dbc7add9a4033" /><Relationship Type="http://schemas.openxmlformats.org/officeDocument/2006/relationships/notesMaster" Target="/ppt/notesMasters/notesMaster1.xml" Id="R7de27d8aadac4ed1"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f2f4341a05194937" /><Relationship Type="http://schemas.openxmlformats.org/officeDocument/2006/relationships/notesMaster" Target="/ppt/notesMasters/notesMaster1.xml" Id="R3edb550758b0412c"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3a12d001d1fa4958" /><Relationship Type="http://schemas.openxmlformats.org/officeDocument/2006/relationships/notesMaster" Target="/ppt/notesMasters/notesMaster1.xml" Id="R82e88990026c495f"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ee305064e5b642bb" /><Relationship Type="http://schemas.openxmlformats.org/officeDocument/2006/relationships/notesMaster" Target="/ppt/notesMasters/notesMaster1.xml" Id="R9063cb57906f43e4"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2a47b3b96957423c" /><Relationship Type="http://schemas.openxmlformats.org/officeDocument/2006/relationships/notesMaster" Target="/ppt/notesMasters/notesMaster1.xml" Id="R8a5d255b7751472c"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2a558ea5221b4acd" /><Relationship Type="http://schemas.openxmlformats.org/officeDocument/2006/relationships/notesMaster" Target="/ppt/notesMasters/notesMaster1.xml" Id="R7846caf4e3294a40"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23250ad53bc1479b" /><Relationship Type="http://schemas.openxmlformats.org/officeDocument/2006/relationships/notesMaster" Target="/ppt/notesMasters/notesMaster1.xml" Id="R56fdaf69f243480e"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4e2198a4abe54f76" /><Relationship Type="http://schemas.openxmlformats.org/officeDocument/2006/relationships/notesMaster" Target="/ppt/notesMasters/notesMaster1.xml" Id="Rbb3c3d9df1724e6e"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2a0721a83a444495" /><Relationship Type="http://schemas.openxmlformats.org/officeDocument/2006/relationships/notesMaster" Target="/ppt/notesMasters/notesMaster1.xml" Id="R60500fe1c4094c35"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c22cd2f9eff74edf" /><Relationship Type="http://schemas.openxmlformats.org/officeDocument/2006/relationships/notesMaster" Target="/ppt/notesMasters/notesMaster1.xml" Id="R02d303a6ad1b4951"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75580d4446704a37" /><Relationship Type="http://schemas.openxmlformats.org/officeDocument/2006/relationships/notesMaster" Target="/ppt/notesMasters/notesMaster1.xml" Id="R6634b0ed2783494c"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52a06b134cd440ec" /><Relationship Type="http://schemas.openxmlformats.org/officeDocument/2006/relationships/notesMaster" Target="/ppt/notesMasters/notesMaster1.xml" Id="R2d2a25d997a74155"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787353a1b4974543" /><Relationship Type="http://schemas.openxmlformats.org/officeDocument/2006/relationships/notesMaster" Target="/ppt/notesMasters/notesMaster1.xml" Id="Re5aee4dbeada48e5"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2d30719a3d694714" /><Relationship Type="http://schemas.openxmlformats.org/officeDocument/2006/relationships/notesMaster" Target="/ppt/notesMasters/notesMaster1.xml" Id="Re5fb66ae3a724a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Machine Learning Avancé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Accueillir les participants. Formation Cybersup en présentiel à Paris, du 21 au 25 septembre 2026, niveau M2 Data / IA, 35 heures pédagogiques. Faire annoncer à chacun un problème rencontré avec un modèle. Les temps de pause sont exclus des 35 heures. Le QR code mène au dépôt privé ; distribuer les notebooks par archive si les accès GitHub ne sont pas encore ouverts.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Votre formateur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lien LinkedIn a été fourni par le formateur. Aucune expérience, certification ni biographie supplémentaire n'est affirmée. Inviter les participants à préciser leur maîtrise de Python, des statistiques et de scikit-learn. Présenter le fonctionnement des échanges en présentiel.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Programme de la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les cinq journées. Les notions d'évaluation sont reprises dans tous les TP. Le projet final utilise des compétences accumulées pendant la semaine. Les corrections sont dans un dossier réservé à l'animation ; les notebooks étudiants contiennent les exemples guidés et les espaces d'exercice.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Six compétences à démontrer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trois premières compétences reprennent la fiche de formation. Les trois suivantes, interprétabilité, évaluation fiable et reproductibilité/mise en production, complètent les objectifs masqués dans la fiche et ont été validées par le formateur. Il s'agit d'une préparation à la mise en production, pas d'un déploiement réel ni d'une certification de conformité.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Prérequis et diagnostic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répondre au diagnostic de evaluation/QUIZ.md sans noter. Distinguer une difficulté de code d'une difficulté de raisonnement. Prévoir la ressource R33 pour la remédiation. Les mathématiques sont utilisées pour comprendre un mécanisme, puis reliées à une expérimentation.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Diagnostic de 10 minutes puis groupes de travail complémentaires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[R01] An Introduction to Statistical Learning, with Applications in Python. James, Witten, Hastie, Tibshirani et Taylor. 2023. https://www.statlearning.com/ (consulté le 19 septembre 2026).</a:t>
            </a:r>
            <a:endParaRPr/>
          </a:p>
          <a:p xmlns:a="http://schemas.openxmlformats.org/drawingml/2006/main">
            <a:pPr marL="0" lvl="0" indent="0" algn="l">
              <a:spcBef>
                <a:spcPts val="0"/>
              </a:spcBef>
              <a:spcAft>
                <a:spcPts val="0"/>
              </a:spcAft>
              <a:buNone/>
            </a:pPr>
            <a:r>
              <a:t>[R33] Scikit-learn MOOC. Inria et contributeurs scikit-learn. ressource pédagogique vivante. https://inria.github.io/scikit-learn-mooc/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rythme des cinq journées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détail minute par minute figure dans docs/PROGRAMME_35H.md. Les créneaux totalisent 420 minutes par jour. Les TP longs incluent recherche, essais, rédaction et débrief, pas seulement l'exécution des cellules. Adapter le nombre d'extensions au diagnostic sans supprimer le projet ni le débrief.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Chaque jour : 7 heures pédagogiques, pauses exclues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fil rouge : prioriser des appels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question métier précède le choix d'algorithme. La cible historique est la souscription, pas un bénéfice ni un effet du traitement. Le gain incrémental d'une campagne demanderait une expérimentation ou une méthode causale appropriée. Les coûts FP/FN utilisés dans le cours sont des unités pédagogiques choisies explicitement.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score de propension n'est pas l'effet causal d'un appel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Nos ressources de travail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Ouvrir le README avec les étudiants. Exécuter uv sync --frozen avant la formation, puis uv run jupyter lab. Sans uv, installer les dépendances depuis requirements.txt dans un environnement Python 3.12. Les corrections ne sont pas protégées par le simple nom d'un dossier : fournir une archive étudiante si l'on veut les masquer.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CPU suffisant ; données des TP disponibles hors ligne après installation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Ce que nous reprenons des supports de 2020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supports de Julie Hor sont cités avec les pages PDF dans resources/PROVENANCE.md. Ne pas distribuer les PDF originaux sans autorisation. Corriger deux raccourcis : le coefficient de Pearson est invariant aux changements positifs d'unité, et il n'existe pas de règle universelle imposant 30 observations par feuille d'arbre.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Exemples et illustrations du cours reconstruits et attribués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[R38] Introduction au Data Mining. Julie Hor, Sup de Vinci. 2020. Support local fourni : Cours 2020 Final - M1.pdf (consulté le 19 septembre 2026).</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Évaluer et régulariser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Objectif du jour : définir une cible, choisir un découpage cohérent et créer une baseline reproductible. Faire relier toute amélioration de score à une hypothèse vérifiable. Terminer la journée avec TP01 et un protocole écrit que le binôme pourra réutiliser dans le projet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Lundi 21 septembre · Construire une comparaison fiable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problème avant l'algorithme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de 10 minutes : chaque binôme formule la campagne d'appels en une phrase. Exemple : classer les clients éligibles avant le premier appel de la campagne. Demander ce qui changerait pour une prédiction après l'appel. Reprendre le cycle CRISP-DM comme un aller-retour entre compréhension métier, données, préparation, modélisation, évaluation et usage.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Écrire la décision, l'horizon et la métrique avant d'entraîner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[R38] Introduction au Data Mining. Julie Hor, Sup de Vinci. 2020. Support local fourni : Cours 2020 Final - M1.pdf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contrat des données du fil rouge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site UCI présente plusieurs versions qu'il faut distinguer. Nous utilisons le fichier additionnel de 4 119 lignes, un sous-échantillon aléatoire de la version complète de 41 188 lignes. La page générale affiche aussi des chiffres d'une autre version : ne pas les mélanger. La colonne duration est exclue pour une décision antérieure à l'appel. L'empreinte SHA-256 vérifie la copie distribuée.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Trois familles de fuites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Proposer trois cas : duration après l'appel, normalisation sur tout le fichier, plusieurs transactions du même client dans train et test. Demander de classer les cas. Expliquer qu'une excellente performance peut constituer un signal d'alarme. Une pipeline protège contre certaines fuites d'apprentissage, mais ne décide pas à notre place si une variable est légitime.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variable disponible dans le fichier n'est pas forcément disponible à la décision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[R02] Common pitfalls and recommended practices. Équipe scikit-learn. documentation 1.9.1, 2026. https://scikit-learn.org/stable/common_pitfalls.html (consulté le 19 septembre 2026).</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Entraînement, validation et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Distinguer jeu de validation explicite et plis de validation croisée. Le test est un contrat organisationnel, pas un simple nom de variable. Dans TP01, X_test existe mais n'est jamais scoré. Les recherches, ablations et choix de seuil appartiennent au développement. Un nouveau choix après le test réclame une nouvelle évaluation indépendante.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Regarder souvent le test revient à l'utiliser pour choisir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Choisir le bon découpage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expliquer l'unité statistique : ligne, personne, machine ou période. La stratification ne résout ni la dépendance par groupes ni les fuites temporelles. Un gap peut être nécessaire si les fenêtres de features et de labels se chevauchent. Sur notre sous-échantillon aléatoire sans identifiant personne, reconnaître explicitement l'impossibilité de garantir une évaluation par personnes et périodes disjointes.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La pipeline apprend dans chaque pli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dessiner au tableau les frontières de la CV. Les données de validation peuvent traverser transform, jamais fit. Prévoir handle_unknown pour les nouvelles catégories. Dans une imblearn.Pipeline, le rééchantillonnage n'est réalisé qu'à l'ajustement. Montrer les paramètres de la pipeline avec get_params sans exécuter d'optimisation exhaustive.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ColumnTransformer traite les colonnes ; Pipeline relie les étapes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[R02] Common pitfalls and recommended practices. Équipe scikit-learn. documentation 1.9.1, 2026. https://scikit-learn.org/stable/common_pitfalls.html (consulté le 19 septembre 2026).</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La matrice de confusion se lit avec un coût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original : 100 positifs et 900 négatifs. La précision vaut 60/150 = 0,40. Le rappel vaut 60/100 = 0,60. L'accuracy vaut 870/1000 = 0,87. Le F1 vaut 2×0,4×0,6/(0,4+0,6) = 0,48. Demander aux étudiants quel chiffre regarder si les 150 alertes dépassent la capacité quotidienne d'analyse.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1 000 observations : 60 vrais positifs et 90 faux positifs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piège de l'accuracy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construit, sans lien avec le taux de souscription UCI. Demander si balanced accuracy résout tous les problèmes : non, elle moyenne les rappels des classes mais ne représente pas le coût métier. En multiclasse, distinguer macro, micro et moyenne pondérée. Les rares classes peuvent disparaître dans une moyenne dominée par la majorité.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métrique dépend de la décision, pas de ce qui donne le plus grand nombre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ROC : ordonner les positifs et les négatifs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graphique vient d'une expérimentation synthétique reproductible. L'AUC-ROC évalue le classement, pas le coût ni la calibration. À prévalence rare, un faible taux de faux positifs peut encore produire beaucoup d'alertes. Demander de convertir un FPR de 1% en nombre d'alertes parmi 100 000 négatifs.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Validation synthétique (n=420) ; les points de la courbe correspondent à différents seuils.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Précision-rappel : regarder les alertes utiles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modèle et les observations sont identiques à la diapositive ROC. La précision varie avec la prévalence, donc deux jeux de tests ayant des prévalences différentes ne se comparent pas naïvement. Average precision résume des incréments de rappel pondérés par la précision. Ne pas appeler automatiquement ce nombre aire trapézoïdale PR. Les notebooks utilisent average_precision_score.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Même validation que la ROC ; ligne de référence = prévalence observée. AP et aire trapézoïdale diffèrent.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Évaluer une régression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calculer MAE et RMSE pour des résidus 1, 1 et 10. MAE=4 et RMSE=√34≈5,83. Discuter les valeurs extrêmes avant de les supprimer. Un R² négatif signifie que le modèle est moins bon que la référence constante correspondant à la moyenne de l'échantillon évalué. La MAPE devient délicate avec des valeurs nulles ou proches de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Minimiser une perte avec une pénalité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Expliquer chaque symbole : n observations, θ paramètres, ℓ perte individuelle, Ω pénalité, λ force de régularisation. Pour la logistique, une probabilité très confiante et fausse est fortement pénalisée par la log-loss. La perte optimisée peut différer de la métrique finale, par exemple log-loss pour apprendre et AP pour comparer le classement.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[R05] Linear Models. Équipe scikit-learn. 2026. https://scikit-learn.org/stable/modules/linear_model.html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Biais et variance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décomposition montrée concerne la perte quadratique avec les hypothèses usuelles et une moyenne sur des jeux d'entraînement. Ce n'est pas une décomposition universelle de toute métrique. Les valeurs sont schématiques, pas mesurées. Faire prédire l'effet d'un arbre plus profond et celui d'une moyenne d'arbres.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Courbes schématiques originales ; erreur = biais² + variance + bruit (0,5).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[R08] Single estimator versus bagging: bias-variance decomposition. Équipe scikit-learn. 2026. https://scikit-learn.org/stable/auto_examples/ensemble/plot_bias_variance.html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Courbes d'apprentissage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Courbes construites pour l'enseignement. Elles ne promettent pas que doubler le volume améliore toujours le modèle. Les courbes réelles ont une incertitude et dépendent du protocole de découpage. Demander quelle action tester lorsque le train est excellent et la validation mauvaise : régulariser, réduire la complexité, vérifier les fuites et enrichir les données pertinentes.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Valeurs construites pour expliquer un diagnostic ; aucun résultat de benchmark.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[R08] Single estimator versus bagging: bias-variance decomposition. Équipe scikit-learn. 2026. https://scikit-learn.org/stable/auto_examples/ensemble/plot_bias_variance.html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L1 et L2 n'ont pas le même effet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L'exemple représente un seul coefficient avec une normalisation fixée de la perte. La valeur exacte de λ n'est pas transférable entre bibliothèques sans vérifier leurs conventions. En présence de variables corrélées, Lasso peut choisir une variable parmi plusieurs alternatives. Ne pas interpréter cette sélection comme une preuve d'absence d'intérêt des autres.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analytique à une variable, norme de x fixée et perte quadratique normalisée.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[R05] Linear Models. Équipe scikit-learn. 2026. https://scikit-learn.org/stable/modules/linear_model.html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Elastic Net et choix de régularisation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conventions de paramétrage changent selon les estimateurs : l'α de cette formule est un taux de mélange, pas nécessairement le paramètre alpha d'une classe Python. Faire lire la signature de l'estimateur avant de programmer. Conserver le centrage et la standardisation dans les plis. Une variable catégorielle encodée reste un groupe de colonnes à interpréter ensemble.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[R05] Linear Models. Équipe scikit-learn. 2026. https://scikit-learn.org/stable/modules/linear_model.html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SVM : marge et noyaux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marge est une distance à une frontière dans l'espace des features. Gamma élevé peut produire des frontières très locales et fragiles. Le noyau permet de travailler implicitement dans un espace transformé sans créer explicitement toutes ses coordonnées. Un score de décision SVM n'est pas directement une probabilité. La calibration et le coût de calcul doivent être considérés séparément.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Standardiser puis régler C et gamma sur une échelle logarithmique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[R06] Support Vector Machines. Équipe scikit-learn. 2026. https://scikit-learn.org/stable/modules/svm.html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TP01 : établir la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Commencer par TP00 si l'environnement n'a pas été préparé. Débrief attendu : les résultats sont des estimations conditionnelles au protocole. Ne pas exiger un score fixe selon la machine. Évaluer la justification des choix et l'absence d'accès au test. Les permutations de cible sont un outil de diagnostic, pas un remplacement d'un protocole de test statistique correctement défini.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120 minutes · notebooks/etudiants/01_evaluation.ipynb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[R02] Common pitfalls and recommended practices. Équipe scikit-learn. documentation 1.9.1, 2026. https://scikit-learn.org/stable/common_pitfalls.html (consulté le 19 septembre 2026).</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Quiz J1 : défendre son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Réponses : non, apprendre les statistiques sur chaque train de pli ; découper par client pour l'objectif de généralisation à de nouveaux clients ; meilleur classement possible mais probabilités moins fidèles. Demander un contre-exemple concret à chaque réponse. Les corrigés détaillés et questions supplémentaires figurent dans evaluation/CORRIGES_QUIZ.md.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Répondre seul, comparer en binôme, puis justifier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[R02] Common pitfalls and recommended practices. Équipe scikit-learn. documentation 1.9.1, 2026. https://scikit-learn.org/stable/common_pitfalls.html (consulté le 19 septembre 2026).</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Les acquis du jour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déposer au binôme son protocole en une page : définition de la cible, unité d'observation, variables interdites, découpage et métriques. Ce document sera audité lors du projet final. Demander un point encore confus pour orienter la reprise du lendemain.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Demain : améliorer le modèle sans dégrader la qualité de la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Ensembles et optimisation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Reprendre deux questions du jour 1 puis annoncer le fil : comprendre un arbre, diversifier les erreurs, corriger les résidus et choisir un budget de recherche. TP02 compare des familles sur une régression synthétique. TP03 évalue la procédure d'optimisation avec une boucle externe.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Mardi 22 septembre · Comparer performance, stabilité et coût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arbre partitionne l'espace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Dessiner au tableau un exemple original : âge supérieur à 40 puis nombre de contacts antérieurs. Les seuils numériques ne constituent pas une recommandation bancaire. Un arbre apprend de manière gloutonne : il choisit la meilleure division disponible selon son critère, puis poursuit récursivement. Demander ce qu'il se passe lorsqu'une seule observation change près d'un seuil.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règle lisible peut appartenir à un arbre globalement instable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[R40] Decision Trees. Équipe scikit-learn. 2026. https://scikit-learn.org/stable/modules/tree.html (consulté le 19 septembre 2026).</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Calculer un gain de Gini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calculer Gini = 1 − Σk pk². Dans le parent, p=0,4, donc Gini=1−0,16−0,36=0,48. Le gain est la différence entre l'impureté du parent et la moyenne pondérée des enfants. La division ici est informative mais n'isole pas parfaitement les classes. Gini mesure une impureté de classes, pas une précision hors échantillon.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[R40] Decision Trees. Équipe scikit-learn. 2026. https://scikit-learn.org/stable/modules/tree.html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Contrôler la complexité d'un arbre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Mettre en perspective le support de 2020 qui mentionne un ordre de grandeur de 30 observations. Ce n'est pas une contrainte mathématique universelle. Un minimum utile dépend du bruit, de la prévalence et du volume. Pour le pruning, expliquer la pénalité sur le nombre de feuilles et la séquence de sous-arbres. Choisir la pénalité uniquement dans les données de développement.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seuils se valident ; aucune taille minimale universelle de feuille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[R40] Decision Trees. Équipe scikit-learn. 2026. https://scikit-learn.org/stable/modules/tree.html (consulté le 19 septembre 2026).</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Bagging : moyenner des modèles instables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échantillon bootstrap de taille n contient des répétitions et n'inclut pas toutes les observations d'origine. La probabilité limite qu'une observation soit absente vaut environ e^-1, soit 36,8%. Cette propriété explique les observations out-of-bag. La moyenne réduit surtout la variance si les erreurs ne sont pas parfaitement corrélées. La classification utilise des votes ou une moyenne de probabilités selon la méthode.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bénéfice dépend autant de la diversité que du nombre d'estimateurs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[R08] Single estimator versus bagging: bias-variance decomposition. Équipe scikit-learn. 2026. https://scikit-learn.org/stable/auto_examples/ensemble/plot_bias_variance.html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Pourquoi la corrélation limite le 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Sous une variance identique σ² et une corrélation commune ρ, Var(moyenne)=σ²[ρ+(1−ρ)/M]. Dériver au tableau la somme des M variances et des M(M−1) covariances divisée par M². Pour M infini, la limite vaut ρσ². Ce modèle simplifié illustre un mécanisme, il ne décrit pas exactement toute forêt entraînée.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Formule théorique avec variance égale et corrélation commune ρ.</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[R08] Single estimator versus bagging: bias-variance decomposition. Équipe scikit-learn. 2026. https://scikit-learn.org/stable/auto_examples/ensemble/plot_bias_variance.html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Random Forest : diversifier les divisions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Baisser max_features peut réduire la corrélation mais dégrader chaque arbre. Une forêt profonde n'est pas équivalente à un boosting peu profond. Les importances fondées sur la diminution d'impureté peuvent favoriser certaines variables, notamment à forte cardinalité. Réserver la discussion de l'interprétation à la permutation sur validation du jour 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Comparer la force des arbres et la corrélation de leurs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Out-of-bag : utile avec ses limites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L'absence d'une ligne dans un bootstrap ne garantit pas l'absence d'autres lignes du même client. Un prétraitement appris hors de la forêt sur toutes les données peut également limiter l'interprétation. Ne pas régler indéfiniment sur l'OOB puis présenter ce score comme une mesure finale indépendante. Pour ce cours, la CV reste le protocole commun de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OOB ne remplace pas un test cohérent avec l'usage futur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Boosting : corriger progressivement le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Pour la perte quadratique, la direction à apprendre correspond aux résidus. Pour d'autres pertes, il s'agit du gradient négatif de la perte par rapport à la prédiction. Le boosting est séquentiel : l'étape suivante dépend des précédentes. Ne pas le décrire comme une simple moyenne d'arbres indépendants. Le nombre d'étapes et le learning rate doivent être réglés ensemble.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[R11] Introduction to Boosted Trees. Équipe XGBoost. documentation 3.4.2, 2026. https://xgboost.readthedocs.io/en/stable/tutorials/model.html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itération de boosting à la main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original avec une variable ordonnée x=(1,2,3) et y=(2,3,7). F0 est la moyenne 4. Un arbre à une division, entre x=2 et x=3, ajuste les résidus : −1,5 et +3. Avec η=0,5, F1=(3,25,3,25,5,5). Faire calculer la nouvelle erreur quadratique et comparer à F0. La même logique de résidu ne s'applique telle quelle qu'à certaines pertes.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souche prédit −1,5 pour les deux premiers points et +3 pour le troisième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[R11] Introduction to Boosted Trees. Équipe XGBoost. documentation 3.4.2, 2026. https://xgboost.readthedocs.io/en/stable/tutorials/model.html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gradient généralise le résidu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Relier cette étape à la descente de gradient connue des étudiants, mais dans un espace de fonctions. Pour une régression avec demi-perte quadratique, le gradient négatif est y−F(x). Avec une perte logistique et un score brut, le gradient est lié à y−p. Éviter de confondre le score brut, la probabilité après fonction logistique et la classe après seuillage.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[R11] Introduction to Boosted Trees. Équipe XGBoost. documentation 3.4.2, 2026. https://xgboost.readthedocs.io/en/stable/tutorials/model.html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Quand arrêter le boosting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Courbes réellement calculées sur un problème Friedman synthétique. Un minimum peu marqué invite à considérer la variabilité, pas à choisir une itération à la décimale près. Early stopping constitue une sélection d'hyperparamètre : les données utilisées pour arrêter sont des données de validation. Un jeu temporel demande une validation d'arrêt qui respecte lui aussi le temps.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Expérience synthétique Friedman, n=600, graine 42 ; code dans scripts/build_assets.py.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Boosting par histogrammes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Expliquer le compromis résolution/coût sans promettre une accélération universelle. HistGradientBoosting est disponible dans scikit-learn et suffit au socle des TP. Son comportement sur valeurs manquantes et catégories dépend des entrées et de la version. Notre pipeline générique prépare explicitement les colonnes pour rendre la comparaison transparente, même lorsqu'un autre pipeline natif serait possible.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gain de calcul permet davantage d'expériences, pas un protocole moins strict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[R12] Features of LightGBM. Équipe LightGBM. documentation 4.7.0, 2026. https://lightgbm.readthedocs.io/en/stable/Features.html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Quatre implémentations à connaître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ce tableau comme des choix d'implémentation, pas un classement de performance. Les paramètres qui portent le même nom ne sont pas toujours strictement comparables. XGBoost expose des mécanismes de régularisation et une optimisation du second ordre. LightGBM est notamment connu pour sa croissance par feuille. CatBoost propose un traitement spécialisé des catégories et de l'ordered boosting. Les trois bibliothèques sont des extensions, pas des dépendances indispensables cette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[R11] Introduction to Boosted Trees. Équipe XGBoost. documentation 3.4.2, 2026. https://xgboost.readthedocs.io/en/stable/tutorials/model.html (consulté le 19 septembre 2026).</a:t>
            </a:r>
            <a:endParaRPr/>
          </a:p>
          <a:p xmlns:a="http://schemas.openxmlformats.org/drawingml/2006/main">
            <a:pPr marL="0" lvl="0" indent="0" algn="l">
              <a:spcBef>
                <a:spcPts val="0"/>
              </a:spcBef>
              <a:spcAft>
                <a:spcPts val="0"/>
              </a:spcAft>
              <a:buNone/>
            </a:pPr>
            <a:r>
              <a:t>[R12] Features of LightGBM. Équipe LightGBM. documentation 4.7.0, 2026. https://lightgbm.readthedocs.io/en/stable/Features.html (consulté le 19 septembre 2026).</a:t>
            </a:r>
            <a:endParaRPr/>
          </a:p>
          <a:p xmlns:a="http://schemas.openxmlformats.org/drawingml/2006/main">
            <a:pPr marL="0" lvl="0" indent="0" algn="l">
              <a:spcBef>
                <a:spcPts val="0"/>
              </a:spcBef>
              <a:spcAft>
                <a:spcPts val="0"/>
              </a:spcAft>
              <a:buNone/>
            </a:pPr>
            <a:r>
              <a:t>[R13] How training is performed. Équipe CatBoost. consulté en 2026. https://catboost.ai/docs/en/concepts/algorithm-main-stages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Voting et stacking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Expliquer pourquoi un méta-modèle recevant des prédictions d'entraînement trop parfaites apprend un signal trompeur. StackingRegressor produit des prédictions hors pli pour cette phase. Si l'on évalue le stacking dans une boucle externe, ses propres ajustements doivent rester dans le train externe. Discuter la complexité opérationnelle d'un ensemble de nombreuses familles.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Prédictions hors pli pour le méta-modèle, test final pour l'ensemble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TP02 : comparer les ensembles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source synthétique permet de connaître les variables informatives sans télécharger un nouveau jeu. Demander de conserver tous les résultats, y compris les essais moins bons. Le temps d'ajustement dépend du matériel. Une extension stacking est proposée si les objectifs centraux sont atteints. Le débrief compare les mécanismes, pas seulement le classement des chiffres.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90 minutes · notebooks/etudiants/02_ensembles.ipynb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[R07] Ensembles: gradient boosting, random forests, bagging, voting, stacking. Équipe scikit-learn. 2026. https://scikit-learn.org/stable/modules/ensemble.html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Définir un espace d'hyperparamètres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Exercice court : proposer un espace pour un boosting avec 4 valeurs de learning rate, 5 capacités d'arbre et 6 nombres d'itérations. La grille contient déjà 120 configurations, donc 360 ajustements pour une CV à trois plis, avant refit. Certains paramètres interagissent fortement. Conserver la même règle d'arrêt et le même budget pour comparer les méthodes de recherche.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Écrire le budget d'essais avant de lancer la recherche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Grille, recherche aléatoire et TPE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TPE est une méthode d'optimisation séquentielle fondée sur un modèle des bonnes et moins bonnes régions. Elle n'est pas magique et a besoin d'un budget approprié. Sur huit essais, la phase initiale aléatoire compte beaucoup ; le TP fixe quatre essais initiaux. Le pruning évite de terminer certaines expériences peu prometteuses si des mesures intermédiaires comparables sont disponibles.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meilleur score interne est un résultat de sélection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[R10] Efficient Optimization Algorithms. Équipe Optuna. documentation vivante, consultée en 2026. https://optuna.readthedocs.io/en/stable/tutorial/10_key_features/003_efficient_optimization_algorithms.html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Validation croisée imbriquée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dessiner trois plis externes et trois plis internes dans un train externe. Pour chaque pli externe, la recherche repart de zéro. Si l'on sélectionne ensuite une nouvelle méthode en regardant tous les scores externes, ces scores participent à un nouveau niveau de sélection. Un test final séparé reste utile pour une décision finale importante.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boucle externe évalue une méthode de travail, pas un unique modèle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L'optimisation a un coût mesurable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calculer le coût avant exécution. Ce total correspond au TP03 pour une recherche RandomizedSearchCV avec refit. Distinguer nombre d'ajustements et temps : deux familles peuvent avoir des coûts très différents. Les threads BLAS et n_jobs peuvent se multiplier ; on limite ici le parallélisme. Archiver le budget avec les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Interpréter une petite différence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 pas calculer un intervalle de confiance naïf en traitant des plis recouvrants comme des échantillons indépendants. Les variations d'entraînement, de population et d'étiquetage doivent être distinguées. Un bootstrap du test suppose lui aussi une unité de rééchantillonnage adaptée, par exemple le client, et ne mesure pas toutes les sources d'incertitude du réentraînement.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scores de plis corrélés ne sont pas des répétitions indépendantes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[R03] Cross-validation: evaluating estimator performance. Équipe scikit-learn. 2026. https://scikit-learn.org/stable/modules/cross_validation.html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TP03 : optimiser avec un budget fixé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TP utilise une logistique et des données synthétiques pour que le coût reste léger et que le protocole soit visible. L'objectif n'est pas de gagner un concours d'AP. Demander aux étudiants d'annoter quelles observations sont visibles à chaque étape. Les résultats aléatoires doivent être enregistrés, pas relancés jusqu'à obtenir une préférence attendue.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90 minutes · notebooks/etudiants/03_optimisation.ipynb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[R10] Efficient Optimization Algorithms. Équipe Optuna. documentation vivante, consultée en 2026. https://optuna.readthedocs.io/en/stable/tutorial/10_key_features/003_efficient_optimization_algorithms.html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Quiz J2 : mécanismes et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Réponses : leurs erreurs sont corrélées, donc la variance ne s'annule pas ; un estimateur de la direction de correction, souvent le gradient négatif ; le maximum a été sélectionné parmi plusieurs scores bruités. Ajouter que la boucle externe réduit le biais de sélection lorsqu'elle encapsule bien toute la procédure.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Donner une justification avant de citer une bibliothèque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[R08] Single estimator versus bagging: bias-variance decomposition. Équipe scikit-learn. 2026. https://scikit-learn.org/stable/auto_examples/ensemble/plot_bias_variance.html (consulté le 19 septembre 2026).</a:t>
            </a:r>
            <a:endParaRPr/>
          </a:p>
          <a:p xmlns:a="http://schemas.openxmlformats.org/drawingml/2006/main">
            <a:pPr marL="0" lvl="0" indent="0" algn="l">
              <a:spcBef>
                <a:spcPts val="0"/>
              </a:spcBef>
              <a:spcAft>
                <a:spcPts val="0"/>
              </a:spcAft>
              <a:buNone/>
            </a:pPr>
            <a:r>
              <a:t>[R11] Introduction to Boosted Trees. Équipe XGBoost. documentation 3.4.2, 2026. https://xgboost.readthedocs.io/en/stable/tutorials/model.html (consulté le 19 septembre 2026).</a:t>
            </a:r>
            <a:endParaRPr/>
          </a:p>
          <a:p xmlns:a="http://schemas.openxmlformats.org/drawingml/2006/main">
            <a:pPr marL="0" lvl="0" indent="0" algn="l">
              <a:spcBef>
                <a:spcPts val="0"/>
              </a:spcBef>
              <a:spcAft>
                <a:spcPts val="0"/>
              </a:spcAft>
              <a:buNone/>
            </a:pPr>
            <a:r>
              <a:t>[R09] Tuning the hyper-parameters of an estimator. Équipe scikit-learn. 2026. https://scikit-learn.org/stable/modules/grid_search.html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Les acquis du jour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formuler un cas où la forêt constitue un choix raisonnable et un autre où un boosting est à expérimenter. Refuser une réponse universelle. Vérifier que les binômes ont conservé les graines, les budgets et les scores de tous les plis.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Demain : transformer une probabilité en décision dans un problème déséquilibré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Déséquilibre et features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Reprise du protocole puis raisonnement par coûts. La matinée distingue apprendre, calibrer et décider. L'après-midi relie les variables à l'instant de décision et aux ablations. L'atelier features complète TP04 avec un cahier de travail, un corrigé méthodologique et des critères de comparaison.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Mercredi 23 septembre · Relier données, probabilités et décisions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Trois décisions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transformation monotone peut préserver le classement tout en modifiant la calibration. Un changement de seuil modifie précision et rappel mais ne réentraîne pas le modèle. Demander si un algorithme avec le meilleur ROC-AUC est nécessairement le meilleur choix pour un centre d'appels limité à 100 contacts par jour. La réponse dépend du segment de la courbe et de la décision.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Améliorer l'une de ces étapes n'améliore pas automatiquement les autres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Donner un coût aux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L'exemple du TP fixe CFP=1 et CFN=5 en unités pédagogiques. Ne pas présenter ces valeurs comme des euros ni une mesure de bénéfice réel. Les coûts des décisions correctes sont ici supposés nuls. En cas d'utilités positives, de contraintes ou de coûts individuels, écrire une fonction d'utilité plus complète.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seuil doit être choisi sur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courbe est calculée sur une validation synthétique. Les points d'une grille de seuils donnent un aperçu ; le TP examine toutes les probabilités uniques pour minimiser le coût empirique. Un minimum sur un petit échantillon peut être instable. Faire discuter les seuils voisins et une contrainte de rappel minimal plutôt qu'un seuil présenté avec une précision injustifiée.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Coûts pédagogiques sur validation synthétique. Le test ne sert pas à choisir le seuil.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seuil théorique sous hypothèses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Comparer l'espérance de perte d'une décision positive CFP(1−p) et d'une décision négative CFN p. Déduire la formule. Ce résultat n'est pas une règle universelle : prévalence changée, calibration imparfaite, coûts variables et capacité limitée demandent une adaptation. Le seuil empirique du TP peut différer de 1/6 pour ces raisons et à cause de la variabilité d'échantillonnage.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Fβ et rappel sous contrainte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calculer F2 à précision 0,4 et rappel 0,6 : 5×0,24/(4×0,4+0,6)=1,2/2,2≈0,545. Fβ encode un compromis abstrait, pas forcément un coût métier. Sur validation, une contrainte peut être satisfaite par hasard avec peu de positifs. Le volume et l'incertitude doivent accompagner le résultat.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[R04] Metrics and scoring. Équipe scikit-learn. 2026. https://scikit-learn.org/stable/modules/model_evaluation.html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Cinq leviers contre le déséquilibre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Partir d'une baseline et d'une métrique adaptée avant de sampler. Le déséquilibre ne rend pas chaque jeu de données automatiquement difficile : le chevauchement des classes, le bruit et le nombre absolu de positifs comptent aussi. Ne pas changer la prévalence du test pour rendre les métriques plus favorables. Comparer chaque levier sur le même jeu de validation représentatif.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[R14] Common pitfalls and recommended practices. Équipe imbalanced-learn. documentation 0.14.2, 2026. https://imbalanced-learn.org/stable/common_pitfalls.html (consulté le 19 septembre 2026).</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Pondérer la fonction de perte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Expliquer que la pondération déplace l'objectif d'apprentissage. L'option balanced utilise les fréquences de classes selon la convention de l'estimateur, mais ne connaît pas les coûts réels de la campagne. Pondérer et baisser le seuil simultanément sans protocole peut doubler un effet recherché. Comparer les effets avec des ablations contrôlées.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[R14] Common pitfalls and recommended practices. Équipe imbalanced-learn. documentation 0.14.2, 2026. https://imbalanced-learn.org/stable/common_pitfalls.html (consulté le 19 septembre 2026).</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SMOTE : interpoler dans la classe minoritaire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original au tableau : xi=(2,4), voisin=(6,8), u=0,25 donne (3,5). Faire examiner les unités et la standardisation avant de mesurer les distances. SMOTE n'ajoute pas de nouvelle information observée et peut amplifier des labels erronés. Près d'une frontière, l'interpolation peut traverser une zone de l'autre classe. Le nombre de voisins doit être compatible avec les effectifs des plis.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[R15] SMOTE: Synthetic Minority Over-sampling Technique. Chawla, Bowyer, Hall et Kegelmeyer. 2002. https://www.jair.org/index.php/jair/article/view/10302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Où placer le rééchantillonnage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Contre-exemple : fabriquer les points SMOTE sur tout le fichier puis lancer une CV permet à des points très voisins de se retrouver des deux côtés. Le score devient artificiellement favorable et la distribution de validation n'est plus celle d'usage. Avec des catégories, comparer SMOTENC à la pondération. Une interpolation des colonnes one-hot peut créer des catégories fractionnaires sans sens.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Utiliser imblearn.Pipeline pour encapsuler cette procédure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[R14] Common pitfalls and recommended practices. Équipe imbalanced-learn. documentation 0.14.2, 2026. https://imbalanced-learn.org/stable/common_pitfalls.html (consulté le 19 septembre 2026).</a:t>
            </a:r>
            <a:endParaRPr/>
          </a:p>
          <a:p xmlns:a="http://schemas.openxmlformats.org/drawingml/2006/main">
            <a:pPr marL="0" lvl="0" indent="0" algn="l">
              <a:spcBef>
                <a:spcPts val="0"/>
              </a:spcBef>
              <a:spcAft>
                <a:spcPts val="0"/>
              </a:spcAft>
              <a:buNone/>
            </a:pPr>
            <a:r>
              <a:t>[R15] SMOTE: Synthetic Minority Over-sampling Technique. Chawla, Bowyer, Hall et Kegelmeyer. 2002. https://www.jair.org/index.php/jair/article/view/10302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Lire une courbe de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graphique est schématique. La courbe observée p² correspond à de la surconfiance pour p dans ]0,1[. En pratique, choisir les bins et montrer leurs effectifs. Une bonne calibration globale peut masquer une mauvaise calibration dans un sous-groupe. Le Brier évalue la qualité des probabilités mais n'isole pas à lui seul toute la calibration.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schématique : une prédiction à 0,8 correspond ici à 0,64 observé.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Apprendre une calibration sans fuite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Décrire le rôle de la CV interne dans CalibratedClassifierCV. Le train sert à produire des prédictions hors pli pour calibrer. Un autre jeu de validation sert ensuite à choisir le seuil. Le test estime la procédure une fois ces choix figés. Sur peu de positifs, une calibration flexible risque d'être instable. Ne pas annoncer une calibration meilleure sans la mesurer.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CalibratedClassifierCV puis validation du seuil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Concevoir des variables utiles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feature résume une hypothèse sur le problème. Décrire son nom, son unité, sa formule, sa fenêtre temporelle et son instant de disponibilité. Une interaction utile à une régression peut être déjà capturée par un arbre. La valeur ajoutée se mesure par une ablation conservant le même protocole. Les variables dérivées de données sensibles ou de proxys exigent une réflexion explicite sur l'usage.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[R41] Feature selection. Équipe scikit-learn. 2026. https://scikit-learn.org/stable/modules/feature_selection.html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Valeurs manquantes et catégories inconnues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loader remplace explicitement unknown par une valeur manquante. La branche numérique impute la médiane et ajoute un indicateur. La branche catégorielle impute la modalité fréquente, choix de baseline à discuter. Une autre stratégie conserverait une catégorie manquante explicite. Documenter ces choix et mesurer leur effet. Pour pdays, le code 999 doit être compris à partir du dictionnaire UCI.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L'imputation est une hypothèse, pas une restauration de la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encoding et cross-fitting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formule illustre un lissage simple, pas tous les détails de TargetEncoder. Une catégorie presque unique peut révéler le label si le calcul est naïf. Le cross-fitting calcule l'encodage de chaque observation à partir d'autres plis. Dans scikit-learn, fit_transform et fit suivi de transform n'ont donc pas le même comportement d'entraînement. Pour des groupes ou du temps, auditer aussi les sous-plis internes de l'encodeur.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[R19] TargetEncoder. Équipe scikit-learn. 2026. https://scikit-learn.org/stable/modules/generated/sklearn.preprocessing.TargetEncoder.html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Ratios, interactions et variables temporelles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Exemples : fréquence de contacts sur 30 jours, ancienneté, interaction entre catégorie et nombre d'interactions. La somme d'événements doit être calculée point-in-time. Décrire un test manuel sur une ligne : la feature aurait-elle pu être produite le jour de la décision ? L'atelier features traite pdays=999 et compare une transformation documentée au pipeline de base.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agrégation correcte dans le passé peut devenir une fuite si elle inclut le futur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Sélection de variables et ablation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Choisir des variables sur tout le jeu en regardant leur lien à y constitue une fuite même si l'on applique ensuite une CV au modèle. Avec des variables corrélées, retirer une seule colonne peut masquer une dépendance de groupe. Préférer des ablations interprétables et un budget défini. Consigner les essais pour ne pas transformer la validation en concours sans fin.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sélection supervisée fait partie de l'entraînement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[R41] Feature selection. Équipe scikit-learn. 2026. https://scikit-learn.org/stable/modules/feature_selection.html (consulté le 19 septembre 2026).</a:t>
            </a:r>
            <a:endParaRPr/>
          </a:p>
          <a:p xmlns:a="http://schemas.openxmlformats.org/drawingml/2006/main">
            <a:pPr marL="0" lvl="0" indent="0" algn="l">
              <a:spcBef>
                <a:spcPts val="0"/>
              </a:spcBef>
              <a:spcAft>
                <a:spcPts val="0"/>
              </a:spcAft>
              <a:buNone/>
            </a:pPr>
            <a:r>
              <a:t>[R25] Permutation feature importance. Équipe scikit-learn. 2026. https://scikit-learn.org/stable/modules/permutation_importance.html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Corrélation : deux précisions utiles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Complément critique au support de méthodologie de 2020. Corr(X,aY+b)=Corr(X,Y) si a&gt;0, et le signe est inversé si a&lt;0. La covariance dépend en revanche des unités. Demander aux étudiants pourquoi passer des euros aux centimes change une distance euclidienne brute mais pas le coefficient de corrélation. Ces distinctions évitent de justifier le scaling par une raison erronée.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 pas confondre covariance, corrélation et distance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[R39] Techniques de datamining : méthodologies et mise en pratique. Julie Hor, Sup de Vinci. 2020. Support local fourni : Méthodo Data Mining 2020.pdf (consulté le 19 septembre 2026).</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TP04 : une décision validée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Exiger une séparation écrite des trois étapes : apprendre, calibrer, décider. Ne pas accepter une optimisation du seuil sur test. Demander la matrice de confusion avec effectifs, pas seulement un score. Le coût de validation peut être inférieur au coût de test ; c'est précisément la raison de garder un test indépendant.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120 minutes · notebooks/etudiants/04_desequilibre.ipynb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[R14] Common pitfalls and recommended practices. Équipe imbalanced-learn. documentation 0.14.2, 2026. https://imbalanced-learn.org/stable/common_pitfalls.html (consulté le 19 septembre 2026).</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Atelier : auditer et enrichir les features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livrable est un tableau de contrat et une analyse expérimentale argumentée. L'extension target encoding exige un cross-fitting compatible avec le split. Le corrigé méthodologique donne les attentes sans prétendre qu'une feature améliore systématiquement un modèle. Le score moyen est secondaire à la bonne définition des variables et à l'absence de fuite.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60 minutes · docs/ATELIER_FEATURES.md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[R19] TargetEncoder. Équipe scikit-learn. 2026. https://scikit-learn.org/stable/modules/generated/sklearn.preprocessing.TargetEncoder.html (consulté le 19 septembre 2026).</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Quiz J3 : expliquer les compromis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Réponses : non, le seuil dépend des coûts et contraintes ; le test doit représenter la distribution d'usage et l'équilibrer change notamment la précision ; un encodage supervisé naïf peut mémoriser la cible et ne pas généraliser aux catégories rares ou nouvelles. Faire proposer une vérification concrète pour chacun de ces risques.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réponse correcte doit préciser la population et le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[R14] Common pitfalls and recommended practices. Équipe imbalanced-learn. documentation 0.14.2, 2026. https://imbalanced-learn.org/stable/common_pitfalls.html (consulté le 19 septembre 2026).</a:t>
            </a:r>
            <a:endParaRPr/>
          </a:p>
          <a:p xmlns:a="http://schemas.openxmlformats.org/drawingml/2006/main">
            <a:pPr marL="0" lvl="0" indent="0" algn="l">
              <a:spcBef>
                <a:spcPts val="0"/>
              </a:spcBef>
              <a:spcAft>
                <a:spcPts val="0"/>
              </a:spcAft>
              <a:buNone/>
            </a:pPr>
            <a:r>
              <a:t>[R17] Tuning the decision threshold for class prediction. Équipe scikit-learn. 2026. https://scikit-learn.org/stable/modules/classification_threshold.html (consulté le 19 septembre 2026).</a:t>
            </a:r>
            <a:endParaRPr/>
          </a:p>
          <a:p xmlns:a="http://schemas.openxmlformats.org/drawingml/2006/main">
            <a:pPr marL="0" lvl="0" indent="0" algn="l">
              <a:spcBef>
                <a:spcPts val="0"/>
              </a:spcBef>
              <a:spcAft>
                <a:spcPts val="0"/>
              </a:spcAft>
              <a:buNone/>
            </a:pPr>
            <a:r>
              <a:t>[R19] TargetEncoder. Équipe scikit-learn. 2026. https://scikit-learn.org/stable/modules/generated/sklearn.preprocessing.TargetEncoder.html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Les acquis du jour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Demander une seule recommandation d'action par binôme, avec métrique, seuil, volume attendu et limite. La réponse « SMOTE marche mieux » est insuffisante si elle n'indique pas la métrique, les données et le budget. Reprendre le protocole du projet final pour y ajouter le contrat de features.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Demain : découvrir une structure quand la cible n'est pas donnée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Clustering et anomalies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L'objectif est de relier une partition à une représentation, une distance et une hypothèse. Insister sur le fait que l'absence de cible n'élimine pas le besoin d'évaluation. TP05 compare les mêmes points avec plusieurs méthodes, puis discute la stabilité et l'utilité. Les anomalies sont une extension vers la détection et le triage.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Jeudi 24 septembre · Explorer une structure sans inventer une vérité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cluster dépend de la représentation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décrire deux segmentations plausibles d'une population de clients : comportement d'achat ou contraintes de contact. Des variables et unités différentes conduisent à des partitions différentes. Les numéros de clusters sont arbitraires : le groupe 0 n'est pas intrinsèquement inférieur au groupe 1. Les étiquettes métier viennent après l'examen des profils.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identifiant de cluster est un résultat d'algorithme, pas une classe naturelle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Distances et échelles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 revenu en euros et âge en années. Passer le revenu en centimes multiplie sa contribution à la distance euclidienne au carré. Standardiser peut équilibrer les contributions mais aussi donner du poids au bruit. Les données mixtes ne se traitent pas sans réflexion par une simple distance euclidienne sur un encodage one-hot. Demander quelles ressemblances le problème cherche réellement à représenter.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Standardiser selon le sens métier, pas par automatisme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[R18] Preprocessing data. Équipe scikit-learn. 2026. https://scikit-learn.org/stable/modules/preprocessing.html (consulté le 19 septembre 2026).</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PCA : projeter en conservant de la variance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SVD donne une formulation stable : les colonnes de V sont des directions de l'espace des features. La PCA centre les données, mais le scaling préalable dépend des unités et de l'objectif. La cible n'intervient pas : une direction de faible variance peut être très prédictive. Dans un pipeline supervisé, ajuster la PCA uniquement sur le train de chaque pli.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[R22] Decomposing signals in components. Équipe scikit-learn. 2026. https://scikit-learn.org/stable/modules/decomposition.html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Lire la variance expliquée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Spectre construit pour un calcul au tableau, pas extrait d'un benchmark. Faire additionner les pourcentages et expliquer ce que l'on conserve. Un seuil de 90% est une convention de compression, pas une garantie de classification ni de clustering. Vérifier la stabilité et le sens des composantes, et comparer le résultat avec l'espace initial lorsque c'est raisonnable.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Spectre construit pour l'exercice : les 3 premiers axes expliquent 88%, les 4 premiers 96%.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[R22] Decomposing signals in components. Équipe scikit-learn. 2026. https://scikit-learn.org/stable/modules/decomposition.html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K-means : minimiser l'inertie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Décomposer la fonction objectif et expliquer pourquoi la moyenne minimise une somme de distances euclidiennes au carré. Une initialisation différente peut mener à une autre solution locale. k-means++ choisit des centres initiaux espacés, sans garantir le minimum global. Fixer explicitement n_init dans les exemples pour contrôler le nombre de redémarrages.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itération de K-means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centres initiaux sont 0 et 10. L'affectation place 1 et 2 dans A, 8 et 9 dans B. L'inertie initiale est 1²+2²+2²+1²=10. Après mise à jour, quatre écarts de 0,5 donnent 1. Le prochain tour conserve les affectations. Faire varier les centres initiaux pour discuter les minima locaux et les groupes vides.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Points 1, 2, 8, 9 : les deux moyennes sont 1,5 et 8,5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géométrie que K-means représente mal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points sont des données synthétiques originales produites avec make_moons et la graine 42. Les couleurs montrent les groupes prédits, pas les classes de génération. Demander aux étudiants de proposer une notion de voisinage plutôt qu'une notion de centre. La comparaison suivante utilisera exactement les mêmes points et échelles.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Mêmes 180 lunes synthétiques, graine 42. Les couleurs représentent les clusters estimés.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L'inertie ne choisit pas K à votre place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courbe est mesurée sur les mêmes lunes synthétiques. Un coude peut refléter une approximation géométrique plutôt que des classes naturelles. Ne pas choisir K à partir d'un seul critère puis annoncer une découverte. Demander comment le nombre de groupes s'articule avec le nombre d'actions réellement possibles dans une équipe.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L'inertie optimale décroît avec K ; cette courbe ne prouve pas le vrai nombre de 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Silhouette : séparation et compacité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silhouette est définie lorsqu'il existe au moins deux groupes et pas un groupe par observation. Elle favorise certaines géométries compactes selon la distance choisie. Pour une méthode avec bruit, calculer la silhouette hors bruit et publier aussi la proportion exclue. Une bonne silhouette après exclusion de presque tous les points peut être peu utile.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GMM : une appartenance probabiliste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Contrairement à une affectation dure, la responsabilité représente une probabilité de composante conditionnelle au modèle. Elle n'est pas une probabilité de catégorie métier correcte. Comparer covariance sphérique, diagonale et complète : la flexibilité augmente le nombre de paramètres et le risque d'estimation fragile. Une régularisation des covariances évite certaines singularités numériques.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[R21] Gaussian mixture models. Équipe scikit-learn. 2026. https://scikit-learn.org/stable/modules/mixture.html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EM : alterner deux problèmes plus simples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 pas dire que l'étape E prédit des labels vrais. Elle calcule des poids latents dans le modèle courant. BIC/AIC comparent ajustement et complexité dans leur cadre d'hypothèses. Les scores ne prouvent pas qu'un mélange gaussien est une bonne description métier. Tester plusieurs initialisations et inspecter les composantes minuscules ou dégénérées.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EM peut converger vers un optimum local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[R21] Gaussian mixture models. Équipe scikit-learn. 2026. https://scikit-learn.org/stable/modules/mixture.html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Classification hiérarchique agglomérative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Comparer single linkage, qui peut produire un effet de chaîne, et complete linkage, sensible au diamètre maximal. La hauteur de fusion dépend du linkage et n'a pas un sens universel. Un dendrogramme sur des milliers de points devient illisible. Les structures de distances et la mémoire limitent souvent l'usage direct sur un très grand volume.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Ward s'appuie sur la variance et une géométrie euclidienne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DBSCAN : relier les régions denses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Distinguer points cœur, frontière et bruit. Le min_samples de scikit-learn compte le point lui-même. Un point frontière peut avoir une affectation dépendant de l'ordre dans certains cas. DBSCAN n'impose pas K, mais cela ne signifie pas qu'il n'a pas de paramètres à choisir. Un eps unique peut mal représenter des densités très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Densité et distance dépendent de l'échelle des variables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Les mêmes lunes avec DBSCAN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points et leur standardisation sont exactement ceux du graphique K-means. Seul l'algorithme change. Cette réussite synthétique ne prouve pas une supériorité générale de DBSCAN. Discuter sa sensibilité au bruit, aux densités variables et à la dimension. Faire anticiper le résultat pour un eps très grand, puis très petit.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Mêmes 180 lunes synthétiques, graine 42. Les couleurs représentent les clusters estimés.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HDBSCAN : examiner plusieurs échelles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TP utilise sklearn.cluster.HDBSCAN. Le package externe hdbscan n'a pas exactement la même convention pour min_samples : éviter de copier des valeurs sans lire la documentation. Le résultat reste sensible à la représentation et aux hypothèses de densité. Un groupe persistant ne reçoit pas automatiquement un sens métier ni une justification causale.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Vérifier la convention de min_samples selon l'implémentation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[R23] HDBSCAN. Équipe scikit-learn. 2026. https://scikit-learn.org/stable/modules/generated/sklearn.cluster.HDBSCAN.html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Comparer les familles de clustering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Demander aux binômes de choisir deux méthodes pour une population compacte, puis deux méthodes pour des groupes non convexes. Ils doivent justifier ce qu'ils considèrent comme une distance légitime. Certains estimateurs n'ont pas de méthode predict pour de nouveaux points : anticiper comment la segmentation sera utilisée après l'analyse.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[R21] Gaussian mixture models. Équipe scikit-learn. 2026. https://scikit-learn.org/stable/modules/mixture.html (consulté le 19 septembre 2026).</a:t>
            </a:r>
            <a:endParaRPr/>
          </a:p>
          <a:p xmlns:a="http://schemas.openxmlformats.org/drawingml/2006/main">
            <a:pPr marL="0" lvl="0" indent="0" algn="l">
              <a:spcBef>
                <a:spcPts val="0"/>
              </a:spcBef>
              <a:spcAft>
                <a:spcPts val="0"/>
              </a:spcAft>
              <a:buNone/>
            </a:pPr>
            <a:r>
              <a:t>[R23] HDBSCAN. Équipe scikit-learn. 2026. https://scikit-learn.org/stable/modules/generated/sklearn.cluster.HDBSCAN.html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Évaluer sans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L'ARI compare deux partitions en tenant compte de l'accord attendu au hasard, avec des correspondances de numéros de groupes inutiles. Pour des partitions issues de sous-échantillons différents, comparer les observations communes ou utiliser une procédure d'affectation cohérente. Un score interne élevé n'est pas une garantie de pertinence. Ne pas utiliser les labels synthétiques pour régler puis pour annoncer une évaluation indépendante.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Stabilité, séparation et utilité répondent à des questions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Projections : explorer avec prudence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Montrer que la projection peut rapprocher ou éloigner des observations autrement qu'une lecture naïve ne le suggère. Ne pas interpréter automatiquement la taille d'un îlot ou les distances entre tous les groupes. UMAP peut être mentionné comme prolongement, sans en faire un socle obligatoire. Toujours revenir aux variables, aux voisins et à une validation dans l'espace pertinent.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joli nuage 2D ne démontre pas le nombre de clusters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[R22] Decomposing signals in components. Équipe scikit-learn. 2026. https://scikit-learn.org/stable/modules/decomposition.html (consulté le 19 septembre 2026).</a:t>
            </a:r>
            <a:endParaRPr/>
          </a:p>
          <a:p xmlns:a="http://schemas.openxmlformats.org/drawingml/2006/main">
            <a:pPr marL="0" lvl="0" indent="0" algn="l">
              <a:spcBef>
                <a:spcPts val="0"/>
              </a:spcBef>
              <a:spcAft>
                <a:spcPts val="0"/>
              </a:spcAft>
              <a:buNone/>
            </a:pPr>
            <a:r>
              <a:t>[R42] Manifold learning. Équipe scikit-learn. 2026. https://scikit-learn.org/stable/modules/manifold.html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Anomalie, nouveauté et classe rare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Présenter Isolation Forest, qui isole les points par des divisions aléatoires, et LOF, qui compare une densité locale à celle des voisins. Pour LOF, le mode novelty change l'usage sur de nouvelles données. Une forte anomalie n'est pas une preuve de fraude ni d'incident. Prévoir le volume de triage, les faux positifs et le délai de retour de labels.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score d'anomalie doit être relié à une procédure de vérification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[R24] Novelty and Outlier Detection. Équipe scikit-learn. 2026. https://scikit-learn.org/stable/modules/outlier_detection.html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TP05 : expliquer une partition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temps comprend les trois exercices centraux et une analyse rédigée des profils. L'extension Ward est facultative si le groupe doit revenir sur PCA. Donner la priorité aux comparaisons contrôlées et à l'argumentation. Exiger qu'aucune conclusion métier soit tirée de simples numéros de clusters.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150 minutes · notebooks/etudiants/05_clustering.ipynb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[R21] Gaussian mixture models. Équipe scikit-learn. 2026. https://scikit-learn.org/stable/modules/mixture.html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Quiz J4 : reconnaître les hypothèses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Réponses : non, l'inertie décroît avec la flexibilité ; non, il faut examiner les points exclus et l'objectif ; non, PCA ne voit pas la cible. Demander à chacun un exemple qui contredit une intuition trop simple. Reprendre les schémas du jour pour rattacher chaque réponse à une hypothèse.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[R20] Clustering. Équipe scikit-learn. 2026. https://scikit-learn.org/stable/modules/clustering.html (consulté le 19 septembre 2026).</a:t>
            </a:r>
            <a:endParaRPr/>
          </a:p>
          <a:p xmlns:a="http://schemas.openxmlformats.org/drawingml/2006/main">
            <a:pPr marL="0" lvl="0" indent="0" algn="l">
              <a:spcBef>
                <a:spcPts val="0"/>
              </a:spcBef>
              <a:spcAft>
                <a:spcPts val="0"/>
              </a:spcAft>
              <a:buNone/>
            </a:pPr>
            <a:r>
              <a:t>[R22] Decomposing signals in components. Équipe scikit-learn. 2026. https://scikit-learn.org/stable/modules/decomposition.html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Les acquis du jour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rédiger une fiche de segmentation : variables, transformations, distance, paramètres, profils, stabilité et limites. Cette fiche permet d'évaluer une analyse non supervisée même sans chiffre unique de performance. Elle peut servir d'extension au projet final, sans remplacer la classification demandée.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Demain : expliquer, documenter et défendre le modèle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Interpréter et restituer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concepts du jour complètent le projet. Commencer par distinguer explication, performance et causalité. Le socle est permutation, PDP/ICE, split-conformal et model card. La veille récente est une lecture critique, sans installation lourde ni promesse de supériorité. Le temps de projet reste protégé.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Vendredi 25 septembre · Défendre une décision avec ses limites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Trois niveaux d'explication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 une variable liée à une situation sociale peut être très prédictive sans constituer une action pertinente ou acceptable. Les explications dépendent d'un modèle, de données de référence et d'une méthode. Ne pas utiliser l'existence d'un graphique explicatif comme preuve de qualité ou d'absence de biais. Vérifier d'abord que le modèle prédit de façon utile.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explication prédictive ne répond pas automatiquement à une question causale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[R25] Permutation feature importance. Équipe scikit-learn. 2026. https://scikit-learn.org/stable/modules/permutation_importance.html (consulté le 19 septembre 2026).</a:t>
            </a:r>
            <a:endParaRPr/>
          </a:p>
          <a:p xmlns:a="http://schemas.openxmlformats.org/drawingml/2006/main">
            <a:pPr marL="0" lvl="0" indent="0" algn="l">
              <a:spcBef>
                <a:spcPts val="0"/>
              </a:spcBef>
              <a:spcAft>
                <a:spcPts val="0"/>
              </a:spcAft>
              <a:buNone/>
            </a:pPr>
            <a:r>
              <a:t>[R27] A Unified Approach to Interpreting Model Predictions. Lundberg et Lee. NeurIPS 2017. https://papers.nips.cc/paper/2017/hash/8a20a8621978632d76c43dfd28b67767-Abstract.html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Importance par permutation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graphique est réellement calculé sur la régression synthétique Friedman du cours. Les cinq premières variables portent le signal par construction. L'importance dépend de la métrique et du modèle. Une importance négative faible peut refléter du bruit d'estimation ou une variable qui nuit à la prédiction. Si ce diagnostic sert à modifier le modèle, conserver encore un test final indépendant.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Friedman synthétique : x0 à x4 sont informatives par construction. Importance sur validation, 5 permutations.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[R25] Permutation feature importance. Équipe scikit-learn. 2026. https://scikit-learn.org/stable/modules/permutation_importance.html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Variables corrélées : une explication ambiguë</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Faire imaginer deux copies presque identiques d'une variable informative. Si l'une est permutée, le modèle peut utiliser l'autre. Les méthodes d'attribution conditionnelle et marginale ne posent pas la même question. Documenter la méthode choisie et les dépendances plutôt que présenter un classement de variables comme une vérité intrinsèque des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faible importance individuelle ne signifie pas « variable inutile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[R25] Permutation feature importance. Équipe scikit-learn. 2026. https://scikit-learn.org/stable/modules/permutation_importance.html (consulté le 19 septembre 2026).</a:t>
            </a:r>
            <a:endParaRPr/>
          </a:p>
          <a:p xmlns:a="http://schemas.openxmlformats.org/drawingml/2006/main">
            <a:pPr marL="0" lvl="0" indent="0" algn="l">
              <a:spcBef>
                <a:spcPts val="0"/>
              </a:spcBef>
              <a:spcAft>
                <a:spcPts val="0"/>
              </a:spcAft>
              <a:buNone/>
            </a:pPr>
            <a:r>
              <a:t>[R27] A Unified Approach to Interpreting Model Predictions. Lundberg et Lee. NeurIPS 2017. https://papers.nips.cc/paper/2017/hash/8a20a8621978632d76c43dfd28b67767-Abstract.html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PDP et 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TP trace les deux premiers facteurs d'un problème Friedman connu. Le PDP peut masquer des interactions car il moyenne des effets différents. Une ICE ne prouve pas l'effet d'une intervention : elle décrit la réponse du modèle lorsque l'on modifie artificiellement une entrée. Discuter la couverture du domaine et la présence de peu d'observations dans certaines zones.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Lire l'échelle de sortie et l'espace dans lequel les observations sont plausibles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[R26] Partial Dependence and Individual Conditional Expectation. Équipe scikit-learn. 2026. https://scikit-learn.org/stable/modules/partial_dependence.html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SHAP : répartir une différence de prédiction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Décrire les valeurs de Shapley comme la moyenne pondérée de contributions marginales sur les ordres possibles des variables. L'additivité est une propriété de la représentation, pas une preuve causale. Selon l'explainer et la configuration, les valeurs peuvent s'additionner en score brut ou log-odds plutôt qu'en probabilité. Toujours vérifier l'échelle. L'installation SHAP reste facultative cette semaine.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[R27] A Unified Approach to Interpreting Model Predictions. Lundberg et Lee. NeurIPS 2017. https://papers.nips.cc/paper/2017/hash/8a20a8621978632d76c43dfd28b67767-Abstract.html (consulté le 19 septembre 2026).</a:t>
            </a:r>
            <a:endParaRPr/>
          </a:p>
          <a:p xmlns:a="http://schemas.openxmlformats.org/drawingml/2006/main">
            <a:pPr marL="0" lvl="0" indent="0" algn="l">
              <a:spcBef>
                <a:spcPts val="0"/>
              </a:spcBef>
              <a:spcAft>
                <a:spcPts val="0"/>
              </a:spcAft>
              <a:buNone/>
            </a:pPr>
            <a:r>
              <a:t>[R28] SHAP documentation. Équipe SHAP. consulté en 2026. https://shap.readthedocs.io/en/latest/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 calcul de Shapley à deux variables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original fondé sur un jeu de coalition arbitraire mais cohérent. La contribution de A vaut 4 lorsqu'elle arrive avant B et 8 lorsqu'elle arrive après B ; la moyenne vaut 6. Pour B : 2 puis 6, moyenne 4. L'interaction de 4 est répartie équitablement. Les nombres ne sont pas une explication d'un modèle bancaire réel.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φA = ½ [(14−10) + (20−12)] = 6 ; φB =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[R27] A Unified Approach to Interpreting Model Predictions. Lundberg et Lee. NeurIPS 2017. https://papers.nips.cc/paper/2017/hash/8a20a8621978632d76c43dfd28b67767-Abstract.html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prédiction ponctuelle laisse une incertitude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Distinguer un intervalle de prédiction pour une nouvelle observation d'un intervalle de confiance sur un paramètre ou une moyenne. Le TP montre une méthode conforme simple. Il ne fournit ni une garantie conditionnelle pour toute personne ni une protection automatique contre tous les changements de distribution.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 intervalle large peut être honnête mais peu utile pour décider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[R29] A Gentle Introduction to Conformal Prediction and Distribution-Free Uncertainty Quantification. Angelopoulos et Bates. 2021, révisions ultérieures. https://arxiv.org/abs/2107.07511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Split-conformal : trois ensembles séparés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scores sont ordonnés et le rang est indexé à partir de 1. Si k dépasse ncal, on prend un intervalle infini dans la formulation conservatrice. Pour ncal=200 et alpha=0,1, k=181. La correction fini-échantillon compte. Les hypothèses portent notamment sur l'échangeabilité des scores de calibration et de la nouvelle observation, et sur la séparation des données d'ajustement.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[R29] A Gentle Introduction to Conformal Prediction and Distribution-Free Uncertainty Quantification. Angelopoulos et Bates. 2021, révisions ultérieures. https://arxiv.org/abs/2107.07511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Lire les intervalles conformes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graphique montre un extrait trié des prédictions d'un test synthétique. Le TP calcule la couverture sur tout le test et par deux sous-groupes. La garantie conforme ne promet pas 90% pour chaque segment ni après une dérive temporelle. Ne pas régler le niveau ou le modèle en regardant ce même test puis conserver la qualification de test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Split-conformal 90% : 600 train, 200 calibration, 200 test ; extrait des 40 plus petites prédictions. Couverture marginale, pas individuelle.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[R29] A Gentle Introduction to Conformal Prediction and Distribution-Free Uncertainty Quantification. Angelopoulos et Bates. 2021, révisions ultérieures. https://arxiv.org/abs/2107.07511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Évaluer des segments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segments doivent répondre à des questions d'usage et être définis avec prudence. Les différences observées peuvent venir de composition, de qualité de labels, de prévalence ou d'un comportement du modèle. Aucun indicateur isolé ne certifie l'équité. Le support donne une méthode de diagnostic et de documentation, pas un avis juridique ni une autorisation de décision automatisée.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moyenne satisfaisante peut masquer un échec local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[R16] Probability calibration. Équipe scikit-learn. 2026. https://scikit-learn.org/stable/modules/calibration.html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Préparer un modèle à être utilisé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Montrer le manifeste créé dans le projet et expliquer ce qui manque pour une production : contrat d'API, tests de données, supervision, gestion des accès, validation métier et processus de maintenance. Le projet vérifie seulement la relecture d'un artefact local. Un fichier joblib/pickle non fiable peut exécuter du code ; n'ouvrir que des artefacts de confiance. Les versions compatibles doivent être documentées.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bonne notebook n'est pas encore un service exploité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[R31] Model persistence. Équipe scikit-learn. 2026. https://scikit-learn.org/stable/model_persistence.html (consulté le 19 septembre 2026).</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Trois dérives à distinguer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Distinguer une défaillance de schéma, un changement de distribution des entrées P(X), un changement de prévalence P(y) et une évolution de la relation P(y|X). Certains labels arrivent tard, donc des indicateurs sans labels sont nécessaires mais insuffisants. Définir des seuils d'action avec une période de référence et un responsable. Le réentraînement automatique n'est pas la seule réponse possible.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distribution différente n'est qu'un signal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Distributions construites, pas données de production. Demander deux explications possibles : saisonnalité attendue et changement de collecte. Une dérive statistiquement détectable peut être sans impact opérationnel, tandis qu'une baisse de performance peut survenir sans forte variation des marges de X. Les indicateurs doivent être reliés à une investigation et à une décision.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Distributions construites : un changement de P(X) ne prouve pas une baisse de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La model card rend les limites visibles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Utiliser evaluation/MODEL_CARD.md. Exiger au minimum les limites réelles du fil rouge : données historiques, disponibilité temporelle à auditer, contacts répétés sans identifiant personne et absence de preuve d'effet causal. Un bon rapport peut recommander de ne pas déployer. L'évaluation porte sur la qualité du raisonnement et la traçabilité, pas sur une promesse de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Écrire ce que le modèle ne permet pas de conclure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TP06 : expliquer et quantifier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Quatre sous-ensembles sont explicités : train, diagnostic, calibration conforme et test. Le jeu diagnostic ne doit pas devenir un substitut du test final. La calibration conforme est distincte de la calibration probabiliste du jour 3. Demander aux étudiants de dire à voix haute de laquelle ils parlent.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90 minutes · notebooks/etudiants/06_interpretation.ipynb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[R25] Permutation feature importance. Équipe scikit-learn. 2026. https://scikit-learn.org/stable/modules/permutation_importance.html (consulté le 19 septembre 2026).</a:t>
            </a:r>
            <a:endParaRPr/>
          </a:p>
          <a:p xmlns:a="http://schemas.openxmlformats.org/drawingml/2006/main">
            <a:pPr marL="0" lvl="0" indent="0" algn="l">
              <a:spcBef>
                <a:spcPts val="0"/>
              </a:spcBef>
              <a:spcAft>
                <a:spcPts val="0"/>
              </a:spcAft>
              <a:buNone/>
            </a:pPr>
            <a:r>
              <a:t>[R26] Partial Dependence and Individual Conditional Expectation. Équipe scikit-learn. 2026. https://scikit-learn.org/stable/modules/partial_dependence.html (consulté le 19 septembre 2026).</a:t>
            </a:r>
            <a:endParaRPr/>
          </a:p>
          <a:p xmlns:a="http://schemas.openxmlformats.org/drawingml/2006/main">
            <a:pPr marL="0" lvl="0" indent="0" algn="l">
              <a:spcBef>
                <a:spcPts val="0"/>
              </a:spcBef>
              <a:spcAft>
                <a:spcPts val="0"/>
              </a:spcAft>
              <a:buNone/>
            </a:pPr>
            <a:r>
              <a:t>[R29] A Gentle Introduction to Conformal Prediction and Distribution-Free Uncertainty Quantification. Angelopoulos et Bates. 2021, révisions ultérieures. https://arxiv.org/abs/2107.07511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Veille au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version 1.9.1 est documentée en septembre 2026. Les TP figent les versions dans uv.lock plutôt que dépendre d'un site stable évolutif. Présenter TabArena comme un benchmark vivant : les rangs varient avec les réglages, le budget et les jeux. Aucune supériorité universelle ni mesure de vitesse locale n'est affirmée dans ce cours.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 nouveauté ne dispense pas d'une baseline ni d'un test adapté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[R34] Version 1.9 release notes. Équipe scikit-learn. juin 2026 ; correctif 1.9.1 septembre 2026. https://scikit-learn.org/stable/whats_new/v1.9.html (consulté le 19 septembre 2026).</a:t>
            </a:r>
            <a:endParaRPr/>
          </a:p>
          <a:p xmlns:a="http://schemas.openxmlformats.org/drawingml/2006/main">
            <a:pPr marL="0" lvl="0" indent="0" algn="l">
              <a:spcBef>
                <a:spcPts val="0"/>
              </a:spcBef>
              <a:spcAft>
                <a:spcPts val="0"/>
              </a:spcAft>
              <a:buNone/>
            </a:pPr>
            <a:r>
              <a:t>[R36] TabArena: A Living Benchmark for Machine Learning on Tabular Data. Erickson et al.. 2025. https://arxiv.org/abs/2506.16791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TabPFN : publication et annonce récente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L'article Nature 2025 étudie notamment des jeux jusqu'à 10 000 observations et 500 variables ; ne pas transposer ces limites au modèle annoncé en 2026. Le rapport 3.5 est une source primaire de l'éditeur, récente de quatre jours lors de la préparation. Ses affirmations ne sont pas reprises comme un résultat reproduit ici. Le cours n'exige ni compte payant, ni GPU, ni transmission des données à une API.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annonce de l'éditeur et une validation indépendante n'ont pas le même statut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[R35] Accurate predictions on small data with a tabular foundation model. Hollmann et al.. Nature, 8 janvier 2025. https://www.nature.com/articles/s41586-024-08328-6 (consulté le 19 septembre 2026).</a:t>
            </a:r>
            <a:endParaRPr/>
          </a:p>
          <a:p xmlns:a="http://schemas.openxmlformats.org/drawingml/2006/main">
            <a:pPr marL="0" lvl="0" indent="0" algn="l">
              <a:spcBef>
                <a:spcPts val="0"/>
              </a:spcBef>
              <a:spcAft>
                <a:spcPts val="0"/>
              </a:spcAft>
              <a:buNone/>
            </a:pPr>
            <a:r>
              <a:t>[R37] TabPFN-3.5: Technical Report. Prior Labs. 15 septembre 2026. https://priorlabs.ai/technical-reports/tabpfn-3-5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Lire un benchmark de façon critique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Activité de lecture critique : ouvrir R36 et R37, relever une information sur les budgets et une limite du protocole. Vérifier la date, le statut de publication, les jeux et l'accès au code. Un benchmark est une preuve située, pas une vérité sur tous les problèmes tabulaires. Proposer un protocole de comparaison avec le pipeline du cours sans lancer un service externe.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moyenne ou un rang ne remplace pas une expérience sur notre problème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[R36] TabArena: A Living Benchmark for Machine Learning on Tabular Data. Erickson et al.. 2025. https://arxiv.org/abs/2506.16791 (consulté le 19 septembre 2026).</a:t>
            </a:r>
            <a:endParaRPr/>
          </a:p>
          <a:p xmlns:a="http://schemas.openxmlformats.org/drawingml/2006/main">
            <a:pPr marL="0" lvl="0" indent="0" algn="l">
              <a:spcBef>
                <a:spcPts val="0"/>
              </a:spcBef>
              <a:spcAft>
                <a:spcPts val="0"/>
              </a:spcAft>
              <a:buNone/>
            </a:pPr>
            <a:r>
              <a:t>[R37] TabPFN-3.5: Technical Report. Prior Labs. 15 septembre 2026. https://priorlabs.ai/technical-reports/tabpfn-3-5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Projet final : prioriser une campagne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Consignes détaillées dans evaluation/PROJET.md. Fournir les fichiers étudiants sans les corrections si nécessaire. Un bonus clustering peut décrire les profils mais ne doit pas remplacer la tâche supervisée. Aucun seuil de score absolu n'est imposé. La cible historique ne permet pas de conclure au bénéfice incrémental d'une campagne.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180 minutes · binôme · notebook, manifeste, model card et restitution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[R32] Bank Marketing. Moro, Rita et Cortez ; UCI Machine Learning Repository. 2014, données 2008–2010. https://archive.ics.uci.edu/dataset/222/bank+marketing (consulté le 19 septembre 2026).</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Une évaluation sur des preuves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Barème pédagogique proposé sur 20, à articuler avec les modalités officielles de l'école. Une fuite non corrigée met à zéro le critère protocole ; elle doit aussi être signalée comme invalidant les conclusions de performance. Ne pas sanctionner un résultat moins élevé si le protocole est honnête et la conclusion solide. Les critères détaillés figurent dans evaluation/PROJET.md.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Soutenance : cinq minutes pour décider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Proposition pour huit binômes au maximum : cinq minutes par binôme puis cinq minutes de synthèse collective. Pour un groupe plus grand, remplacer une partie des échanges par des posters et une évaluation croisée structurée. Le temps total de formation reste inchangé. Prévoir une question individuelle pour s'assurer de la compréhension de chaque membre.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Répondre avec un résultat, son protocole et une limite concrète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Quiz final : raisonner sur un cas nouveau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Utiliser le questionnaire complet et son corrigé séparé dans evaluation/. Le quiz final dure 30 minutes. Les réponses doivent exposer un raisonnement et non recopier un nom d'algorithme. Le projet et le quiz donnent deux vues complémentaires de la maîtrise. Leurs poids éventuels dans une note officielle restent ceux de l'école.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Identifier l'hypothèse rompue, proposer une vérification et une correction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Ressources : apprendre et pratiquer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Parcours de consolidation : choisir une faiblesse du diagnostic, faire une activité du MOOC et reproduire un exemple de documentation en changeant une seule hypothèse. Le livre et les ressources sont en anglais pour une large part ; les explications et exercices du cours restent en français.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Liens complets dans les notes et resources/RESSOURCES.md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[R01] An Introduction to Statistical Learning, with Applications in Python. James, Witten, Hastie, Tibshirani et Taylor. 2023. https://www.statlearning.com/ (consulté le 19 septembre 2026).</a:t>
            </a:r>
            <a:endParaRPr/>
          </a:p>
          <a:p xmlns:a="http://schemas.openxmlformats.org/drawingml/2006/main">
            <a:pPr marL="0" lvl="0" indent="0" algn="l">
              <a:spcBef>
                <a:spcPts val="0"/>
              </a:spcBef>
              <a:spcAft>
                <a:spcPts val="0"/>
              </a:spcAft>
              <a:buNone/>
            </a:pPr>
            <a:r>
              <a:t>[R33] Scikit-learn MOOC. Inria et contributeurs scikit-learn. ressource pédagogique vivante. https://inria.github.io/scikit-learn-mooc/ (consulté le 19 septembre 2026).</a:t>
            </a:r>
            <a:endParaRPr/>
          </a:p>
          <a:p xmlns:a="http://schemas.openxmlformats.org/drawingml/2006/main">
            <a:pPr marL="0" lvl="0" indent="0" algn="l">
              <a:spcBef>
                <a:spcPts val="0"/>
              </a:spcBef>
              <a:spcAft>
                <a:spcPts val="0"/>
              </a:spcAft>
              <a:buNone/>
            </a:pPr>
            <a:r>
              <a:t>[R02] Common pitfalls and recommended practices. Équipe scikit-learn. documentation 1.9.1, 2026. https://scikit-learn.org/stable/common_pitfalls.html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Ressources : articles et veille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Les ressources sont accessibles à la lecture sans abonnement. Un texte gratuit n'est pas nécessairement libre de redistribution ; les liens sont préférés aux copies. Le dépôt conserve auteur, titre, date et rôle pédagogique pour chaque source. Les deux supports de 2020 sont référencés séparément avec leurs pages d'origine.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[R15] SMOTE: Synthetic Minority Over-sampling Technique. Chawla, Bowyer, Hall et Kegelmeyer. 2002. https://www.jair.org/index.php/jair/article/view/10302 (consulté le 19 septembre 2026).</a:t>
            </a:r>
            <a:endParaRPr/>
          </a:p>
          <a:p xmlns:a="http://schemas.openxmlformats.org/drawingml/2006/main">
            <a:pPr marL="0" lvl="0" indent="0" algn="l">
              <a:spcBef>
                <a:spcPts val="0"/>
              </a:spcBef>
              <a:spcAft>
                <a:spcPts val="0"/>
              </a:spcAft>
              <a:buNone/>
            </a:pPr>
            <a:r>
              <a:t>[R27] A Unified Approach to Interpreting Model Predictions. Lundberg et Lee. NeurIPS 2017. https://papers.nips.cc/paper/2017/hash/8a20a8621978632d76c43dfd28b67767-Abstract.html (consulté le 19 septembre 2026).</a:t>
            </a:r>
            <a:endParaRPr/>
          </a:p>
          <a:p xmlns:a="http://schemas.openxmlformats.org/drawingml/2006/main">
            <a:pPr marL="0" lvl="0" indent="0" algn="l">
              <a:spcBef>
                <a:spcPts val="0"/>
              </a:spcBef>
              <a:spcAft>
                <a:spcPts val="0"/>
              </a:spcAft>
              <a:buNone/>
            </a:pPr>
            <a:r>
              <a:t>[R29] A Gentle Introduction to Conformal Prediction and Distribution-Free Uncertainty Quantification. Angelopoulos et Bates. 2021, révisions ultérieures. https://arxiv.org/abs/2107.07511 (consulté le 19 septembre 2026).</a:t>
            </a:r>
            <a:endParaRPr/>
          </a:p>
          <a:p xmlns:a="http://schemas.openxmlformats.org/drawingml/2006/main">
            <a:pPr marL="0" lvl="0" indent="0" algn="l">
              <a:spcBef>
                <a:spcPts val="0"/>
              </a:spcBef>
              <a:spcAft>
                <a:spcPts val="0"/>
              </a:spcAft>
              <a:buNone/>
            </a:pPr>
            <a:r>
              <a:t>[R30] Model Cards for Model Reporting. Mitchell et al.. 2019 (prépublication 2018). https://arxiv.org/abs/1810.03993 (consulté le 19 septembre 2026).</a:t>
            </a:r>
            <a:endParaRPr/>
          </a:p>
          <a:p xmlns:a="http://schemas.openxmlformats.org/drawingml/2006/main">
            <a:pPr marL="0" lvl="0" indent="0" algn="l">
              <a:spcBef>
                <a:spcPts val="0"/>
              </a:spcBef>
              <a:spcAft>
                <a:spcPts val="0"/>
              </a:spcAft>
              <a:buNone/>
            </a:pPr>
            <a:r>
              <a:t>[R35] Accurate predictions on small data with a tabular foundation model. Hollmann et al.. Nature, 8 janvier 2025. https://www.nature.com/articles/s41586-024-08328-6 (consulté le 19 septembre 2026).</a:t>
            </a:r>
            <a:endParaRPr/>
          </a:p>
          <a:p xmlns:a="http://schemas.openxmlformats.org/drawingml/2006/main">
            <a:pPr marL="0" lvl="0" indent="0" algn="l">
              <a:spcBef>
                <a:spcPts val="0"/>
              </a:spcBef>
              <a:spcAft>
                <a:spcPts val="0"/>
              </a:spcAft>
              <a:buNone/>
            </a:pPr>
            <a:r>
              <a:t>[R36] TabArena: A Living Benchmark for Machine Learning on Tabular Data. Erickson et al.. 2025. https://arxiv.org/abs/2506.16791 (consulté le 19 septembre 2026).</a:t>
            </a:r>
            <a:endParaRPr/>
          </a:p>
          <a:p xmlns:a="http://schemas.openxmlformats.org/drawingml/2006/main">
            <a:pPr marL="0" lvl="0" indent="0" algn="l">
              <a:spcBef>
                <a:spcPts val="0"/>
              </a:spcBef>
              <a:spcAft>
                <a:spcPts val="0"/>
              </a:spcAft>
              <a:buNone/>
            </a:pPr>
            <a:r>
              <a:t>[R37] TabPFN-3.5: Technical Report. Prior Labs. 15 septembre 2026. https://priorlabs.ai/technical-reports/tabpfn-3-5 (consulté le 19 septembre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Ce que vous savez maintenant défendre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Revenir aux six objectifs et demander à chaque participant une preuve issue de son travail. Recueillir une question restant ouverte. Donner une action après formation : reproduire le protocole sur un problème autorisé, puis documenter les différences de population, de coût et de disponibilité des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livrable est une décision justifiée, accompagnée de preuves reproductibles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Merci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Remercier le groupe. Formateur : Chrys Fé-Marty NIONGOLO. Le lien cliquable mène au dépôt GitHub privé des ressources. Les droits d'accès sont nécessaires. Le dossier étudiant peut aussi être diffusé hors ligne par le formateur. Le profil LinkedIn est accessible depuis la diapositive formateur.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Formateur : Chrys Fé-Marty NIONGOLO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bfd9551b234370"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6beaea2e8b41af" /><Relationship Type="http://schemas.openxmlformats.org/officeDocument/2006/relationships/slideLayout" Target="/ppt/slideLayouts/slideLayout1.xml" Id="Rbc23887db9eb480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c23887db9eb480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01e33218a04b14" /><Relationship Type="http://schemas.openxmlformats.org/officeDocument/2006/relationships/image" Target="/ppt/media/image.png" Id="Re8873bea38af41cf" /><Relationship Type="http://schemas.openxmlformats.org/officeDocument/2006/relationships/image" Target="/ppt/media/image2.png" Id="R69de41ae04804046" /><Relationship Type="http://schemas.openxmlformats.org/officeDocument/2006/relationships/image" Target="/ppt/media/image3.png" Id="R6e41f71f5fb3469b" /><Relationship Type="http://schemas.openxmlformats.org/officeDocument/2006/relationships/notesSlide" Target="/ppt/notesSlides/notesSlide1.xml" Id="R7b4764c06e844c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970297b9f644b4" /><Relationship Type="http://schemas.openxmlformats.org/officeDocument/2006/relationships/image" Target="/ppt/media/image.png" Id="R40bf7c9599c74968" /><Relationship Type="http://schemas.openxmlformats.org/officeDocument/2006/relationships/image" Target="/ppt/media/image2.png" Id="R935bdd0127ba43fc" /><Relationship Type="http://schemas.openxmlformats.org/officeDocument/2006/relationships/hyperlink" Target="https://www.linkedin.com/in/chrys-f%C3%A9-marty-niongolo-410770153/" TargetMode="External" Id="Raab1cba6342540cf" /><Relationship Type="http://schemas.openxmlformats.org/officeDocument/2006/relationships/notesSlide" Target="/ppt/notesSlides/notesSlide2.xml" Id="Re9e9ffb4f86841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87ab96c03842b1" /><Relationship Type="http://schemas.openxmlformats.org/officeDocument/2006/relationships/image" Target="/ppt/media/image4.png" Id="R69e75e0ae59444b7" /><Relationship Type="http://schemas.openxmlformats.org/officeDocument/2006/relationships/image" Target="/ppt/media/image5.png" Id="R02e50e630aef41dd" /><Relationship Type="http://schemas.openxmlformats.org/officeDocument/2006/relationships/image" Target="/ppt/media/image.png" Id="Rf22337a1846c47b6" /><Relationship Type="http://schemas.openxmlformats.org/officeDocument/2006/relationships/image" Target="/ppt/media/image2.png" Id="Rd420ca92ab2042a0" /><Relationship Type="http://schemas.openxmlformats.org/officeDocument/2006/relationships/image" Target="/ppt/media/image6.png" Id="Rbb81549cbc534da0" /><Relationship Type="http://schemas.openxmlformats.org/officeDocument/2006/relationships/notesSlide" Target="/ppt/notesSlides/notesSlide3.xml" Id="R923a4ac0efae4e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112875fef04275" /><Relationship Type="http://schemas.openxmlformats.org/officeDocument/2006/relationships/image" Target="/ppt/media/image6.png" Id="R14df0ccd2eb942d7" /><Relationship Type="http://schemas.openxmlformats.org/officeDocument/2006/relationships/image" Target="/ppt/media/image7.png" Id="Rf812170dcdef478a" /><Relationship Type="http://schemas.openxmlformats.org/officeDocument/2006/relationships/notesSlide" Target="/ppt/notesSlides/notesSlide4.xml" Id="R5fd983a6520d4a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a85f4a53c841aa" /><Relationship Type="http://schemas.openxmlformats.org/officeDocument/2006/relationships/image" Target="/ppt/media/image6.png" Id="R56ba0e475277428b" /><Relationship Type="http://schemas.openxmlformats.org/officeDocument/2006/relationships/image" Target="/ppt/media/image7.png" Id="R2fefe958851d471a" /><Relationship Type="http://schemas.openxmlformats.org/officeDocument/2006/relationships/notesSlide" Target="/ppt/notesSlides/notesSlide5.xml" Id="R764759e9fade40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274c958bf64caa" /><Relationship Type="http://schemas.openxmlformats.org/officeDocument/2006/relationships/image" Target="/ppt/media/image6.png" Id="R438d86f1e14d4f62" /><Relationship Type="http://schemas.openxmlformats.org/officeDocument/2006/relationships/image" Target="/ppt/media/image7.png" Id="Rb7e2e0e0e84f495c" /><Relationship Type="http://schemas.openxmlformats.org/officeDocument/2006/relationships/notesSlide" Target="/ppt/notesSlides/notesSlide6.xml" Id="R8b138178781745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38361d77214732" /><Relationship Type="http://schemas.openxmlformats.org/officeDocument/2006/relationships/image" Target="/ppt/media/image6.png" Id="R8a8a879dfbe94e11" /><Relationship Type="http://schemas.openxmlformats.org/officeDocument/2006/relationships/image" Target="/ppt/media/image7.png" Id="Rcb9fa1d2bfd24dfa" /><Relationship Type="http://schemas.openxmlformats.org/officeDocument/2006/relationships/notesSlide" Target="/ppt/notesSlides/notesSlide7.xml" Id="R451c9fae52ff44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985306077c4576" /><Relationship Type="http://schemas.openxmlformats.org/officeDocument/2006/relationships/image" Target="/ppt/media/image6.png" Id="R635c152d47ae4d62" /><Relationship Type="http://schemas.openxmlformats.org/officeDocument/2006/relationships/image" Target="/ppt/media/image7.png" Id="R65c4b5efb95a4884" /><Relationship Type="http://schemas.openxmlformats.org/officeDocument/2006/relationships/notesSlide" Target="/ppt/notesSlides/notesSlide8.xml" Id="R7063cbb6a79848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2c2240a0ca4d19" /><Relationship Type="http://schemas.openxmlformats.org/officeDocument/2006/relationships/image" Target="/ppt/media/image6.png" Id="Rb538ccbab56c40f2" /><Relationship Type="http://schemas.openxmlformats.org/officeDocument/2006/relationships/image" Target="/ppt/media/image7.png" Id="Raf2b78adfe3c4853" /><Relationship Type="http://schemas.openxmlformats.org/officeDocument/2006/relationships/notesSlide" Target="/ppt/notesSlides/notesSlide9.xml" Id="R813bb441d61c45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f7ae0ac3ea4153" /><Relationship Type="http://schemas.openxmlformats.org/officeDocument/2006/relationships/image" Target="/ppt/media/image.png" Id="R47508beb44b14001" /><Relationship Type="http://schemas.openxmlformats.org/officeDocument/2006/relationships/image" Target="/ppt/media/image2.png" Id="R1b7cd2bec12f4d48" /><Relationship Type="http://schemas.openxmlformats.org/officeDocument/2006/relationships/notesSlide" Target="/ppt/notesSlides/notesSlide10.xml" Id="Rd68f885a814546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e2bb2019f549b5" /><Relationship Type="http://schemas.openxmlformats.org/officeDocument/2006/relationships/image" Target="/ppt/media/image6.png" Id="Rec96b74cd675457b" /><Relationship Type="http://schemas.openxmlformats.org/officeDocument/2006/relationships/image" Target="/ppt/media/image7.png" Id="R07b238d1bc344ff4" /><Relationship Type="http://schemas.openxmlformats.org/officeDocument/2006/relationships/notesSlide" Target="/ppt/notesSlides/notesSlide11.xml" Id="Rab5fa9d72e4649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6956b94c074726" /><Relationship Type="http://schemas.openxmlformats.org/officeDocument/2006/relationships/image" Target="/ppt/media/image6.png" Id="Rf71bfff432f2468d" /><Relationship Type="http://schemas.openxmlformats.org/officeDocument/2006/relationships/image" Target="/ppt/media/image7.png" Id="R37b4c2516355407f" /><Relationship Type="http://schemas.openxmlformats.org/officeDocument/2006/relationships/notesSlide" Target="/ppt/notesSlides/notesSlide12.xml" Id="R61def8fa3e0c4e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299742c5bb4bec" /><Relationship Type="http://schemas.openxmlformats.org/officeDocument/2006/relationships/image" Target="/ppt/media/image6.png" Id="Rc78adb46a313408d" /><Relationship Type="http://schemas.openxmlformats.org/officeDocument/2006/relationships/image" Target="/ppt/media/image7.png" Id="Rdb975f3d85554614" /><Relationship Type="http://schemas.openxmlformats.org/officeDocument/2006/relationships/notesSlide" Target="/ppt/notesSlides/notesSlide13.xml" Id="R740c80d1840744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09f0117efa4445" /><Relationship Type="http://schemas.openxmlformats.org/officeDocument/2006/relationships/image" Target="/ppt/media/image6.png" Id="R860d50f5a5d641ca" /><Relationship Type="http://schemas.openxmlformats.org/officeDocument/2006/relationships/image" Target="/ppt/media/image7.png" Id="R073f6f336bca4d73" /><Relationship Type="http://schemas.openxmlformats.org/officeDocument/2006/relationships/notesSlide" Target="/ppt/notesSlides/notesSlide14.xml" Id="Rd9293a2991fa4c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62c2f2cdb94341" /><Relationship Type="http://schemas.openxmlformats.org/officeDocument/2006/relationships/image" Target="/ppt/media/image6.png" Id="R5bdfcfbc8126432a" /><Relationship Type="http://schemas.openxmlformats.org/officeDocument/2006/relationships/image" Target="/ppt/media/image7.png" Id="Rcbeccd1d28c34d7f" /><Relationship Type="http://schemas.openxmlformats.org/officeDocument/2006/relationships/notesSlide" Target="/ppt/notesSlides/notesSlide15.xml" Id="Re311f69e292e4d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2708dbb655466d" /><Relationship Type="http://schemas.openxmlformats.org/officeDocument/2006/relationships/image" Target="/ppt/media/image6.png" Id="R6a175f4064194c7e" /><Relationship Type="http://schemas.openxmlformats.org/officeDocument/2006/relationships/image" Target="/ppt/media/image7.png" Id="Re9332a25e0b249d6" /><Relationship Type="http://schemas.openxmlformats.org/officeDocument/2006/relationships/notesSlide" Target="/ppt/notesSlides/notesSlide16.xml" Id="R1cc4ddacbd1d48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6feb9374524524" /><Relationship Type="http://schemas.openxmlformats.org/officeDocument/2006/relationships/image" Target="/ppt/media/image6.png" Id="R6366361828b2438c" /><Relationship Type="http://schemas.openxmlformats.org/officeDocument/2006/relationships/image" Target="/ppt/media/image7.png" Id="R4dadb55d618a43ee" /><Relationship Type="http://schemas.openxmlformats.org/officeDocument/2006/relationships/notesSlide" Target="/ppt/notesSlides/notesSlide17.xml" Id="Rb1cfb5f077f44b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4fc2f6d90de4232" /><Relationship Type="http://schemas.openxmlformats.org/officeDocument/2006/relationships/image" Target="/ppt/media/image6.png" Id="Rf8966b53fee04478" /><Relationship Type="http://schemas.openxmlformats.org/officeDocument/2006/relationships/image" Target="/ppt/media/image7.png" Id="R3e3dfb76e6dd4192" /><Relationship Type="http://schemas.openxmlformats.org/officeDocument/2006/relationships/notesSlide" Target="/ppt/notesSlides/notesSlide18.xml" Id="Ra8103c7d6c9e48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ecfe044b9e4f20" /><Relationship Type="http://schemas.openxmlformats.org/officeDocument/2006/relationships/image" Target="/ppt/media/image6.png" Id="R2882dda9e3d0431a" /><Relationship Type="http://schemas.openxmlformats.org/officeDocument/2006/relationships/image" Target="/ppt/media/image7.png" Id="R125a3803292b47f5" /><Relationship Type="http://schemas.openxmlformats.org/officeDocument/2006/relationships/chart" Target="/ppt/slides/charts/chart1.xml" Id="Rc401d8311eef4be5" /><Relationship Type="http://schemas.openxmlformats.org/officeDocument/2006/relationships/notesSlide" Target="/ppt/notesSlides/notesSlide19.xml" Id="Ra8f0d9c5fb854f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d123c0caa840c5" /><Relationship Type="http://schemas.openxmlformats.org/officeDocument/2006/relationships/image" Target="/ppt/media/image6.png" Id="Re82025734d3f40f3" /><Relationship Type="http://schemas.openxmlformats.org/officeDocument/2006/relationships/image" Target="/ppt/media/image7.png" Id="R4a98b151b41b42f6" /><Relationship Type="http://schemas.openxmlformats.org/officeDocument/2006/relationships/chart" Target="/ppt/slides/charts/chart2.xml" Id="Raa1df4aa2d764765" /><Relationship Type="http://schemas.openxmlformats.org/officeDocument/2006/relationships/notesSlide" Target="/ppt/notesSlides/notesSlide20.xml" Id="Rfccc3d3ef8ce4e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a884fa2d2e4039" /><Relationship Type="http://schemas.openxmlformats.org/officeDocument/2006/relationships/image" Target="/ppt/media/image6.png" Id="Rae33991cd52d48cc" /><Relationship Type="http://schemas.openxmlformats.org/officeDocument/2006/relationships/image" Target="/ppt/media/image7.png" Id="R2397bd94000f492a" /><Relationship Type="http://schemas.openxmlformats.org/officeDocument/2006/relationships/notesSlide" Target="/ppt/notesSlides/notesSlide21.xml" Id="Re596d9a6775b43b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a8ca750e364ecd" /><Relationship Type="http://schemas.openxmlformats.org/officeDocument/2006/relationships/image" Target="/ppt/media/image6.png" Id="Reb3a14133fcf4d3c" /><Relationship Type="http://schemas.openxmlformats.org/officeDocument/2006/relationships/image" Target="/ppt/media/image7.png" Id="R3ecd3fb15bf44357" /><Relationship Type="http://schemas.openxmlformats.org/officeDocument/2006/relationships/notesSlide" Target="/ppt/notesSlides/notesSlide22.xml" Id="Rc332fd58aa6f41d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a5c218f8c314aef" /><Relationship Type="http://schemas.openxmlformats.org/officeDocument/2006/relationships/image" Target="/ppt/media/image6.png" Id="Rd1a1bb606faa45d8" /><Relationship Type="http://schemas.openxmlformats.org/officeDocument/2006/relationships/image" Target="/ppt/media/image7.png" Id="R8f57fdd1162748e6" /><Relationship Type="http://schemas.openxmlformats.org/officeDocument/2006/relationships/chart" Target="/ppt/slides/charts/chart3.xml" Id="R77d495a1805a4ad3" /><Relationship Type="http://schemas.openxmlformats.org/officeDocument/2006/relationships/notesSlide" Target="/ppt/notesSlides/notesSlide23.xml" Id="R71cbedf5718f46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9a9e416079943e5" /><Relationship Type="http://schemas.openxmlformats.org/officeDocument/2006/relationships/image" Target="/ppt/media/image6.png" Id="Ra3726bab1fee4ee8" /><Relationship Type="http://schemas.openxmlformats.org/officeDocument/2006/relationships/image" Target="/ppt/media/image7.png" Id="R6992a1e857e44ed3" /><Relationship Type="http://schemas.openxmlformats.org/officeDocument/2006/relationships/chart" Target="/ppt/slides/charts/chart4.xml" Id="Re0ef6507f587477b" /><Relationship Type="http://schemas.openxmlformats.org/officeDocument/2006/relationships/notesSlide" Target="/ppt/notesSlides/notesSlide24.xml" Id="R995c18a33d49411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a2eec9abf124ccf" /><Relationship Type="http://schemas.openxmlformats.org/officeDocument/2006/relationships/image" Target="/ppt/media/image6.png" Id="R36f8f4eac742436b" /><Relationship Type="http://schemas.openxmlformats.org/officeDocument/2006/relationships/image" Target="/ppt/media/image7.png" Id="Rf72a736ecb4e45ad" /><Relationship Type="http://schemas.openxmlformats.org/officeDocument/2006/relationships/chart" Target="/ppt/slides/charts/chart5.xml" Id="R83b88de52be34dda" /><Relationship Type="http://schemas.openxmlformats.org/officeDocument/2006/relationships/notesSlide" Target="/ppt/notesSlides/notesSlide25.xml" Id="Ra43851c6e1b04a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62585983eac4d66" /><Relationship Type="http://schemas.openxmlformats.org/officeDocument/2006/relationships/image" Target="/ppt/media/image6.png" Id="R9ca47616a7dc478a" /><Relationship Type="http://schemas.openxmlformats.org/officeDocument/2006/relationships/image" Target="/ppt/media/image7.png" Id="R343c3dbb30114173" /><Relationship Type="http://schemas.openxmlformats.org/officeDocument/2006/relationships/notesSlide" Target="/ppt/notesSlides/notesSlide26.xml" Id="Rb75b3ec2207e4e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da38238a65e44c4" /><Relationship Type="http://schemas.openxmlformats.org/officeDocument/2006/relationships/image" Target="/ppt/media/image6.png" Id="Raa3852fa68bc4cb6" /><Relationship Type="http://schemas.openxmlformats.org/officeDocument/2006/relationships/image" Target="/ppt/media/image7.png" Id="Rd97e231854644f3e" /><Relationship Type="http://schemas.openxmlformats.org/officeDocument/2006/relationships/notesSlide" Target="/ppt/notesSlides/notesSlide27.xml" Id="R8efd3c3692bd46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c0f1c1a4be4724" /><Relationship Type="http://schemas.openxmlformats.org/officeDocument/2006/relationships/image" Target="/ppt/media/image6.png" Id="R8efadd256dd44aee" /><Relationship Type="http://schemas.openxmlformats.org/officeDocument/2006/relationships/image" Target="/ppt/media/image7.png" Id="R9e6a9b95e79d4e7b" /><Relationship Type="http://schemas.openxmlformats.org/officeDocument/2006/relationships/notesSlide" Target="/ppt/notesSlides/notesSlide28.xml" Id="Rc48febeb0e5f4d3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8d281d493214954" /><Relationship Type="http://schemas.openxmlformats.org/officeDocument/2006/relationships/image" Target="/ppt/media/image6.png" Id="R2cb1808eadd94ee3" /><Relationship Type="http://schemas.openxmlformats.org/officeDocument/2006/relationships/image" Target="/ppt/media/image7.png" Id="Rfbf766473501472f" /><Relationship Type="http://schemas.openxmlformats.org/officeDocument/2006/relationships/notesSlide" Target="/ppt/notesSlides/notesSlide29.xml" Id="R126fe59e9f6f4ba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855d4eff574e79" /><Relationship Type="http://schemas.openxmlformats.org/officeDocument/2006/relationships/image" Target="/ppt/media/image6.png" Id="Rd233c395eb8243c7" /><Relationship Type="http://schemas.openxmlformats.org/officeDocument/2006/relationships/image" Target="/ppt/media/image7.png" Id="R6800b7bab19c4022" /><Relationship Type="http://schemas.openxmlformats.org/officeDocument/2006/relationships/notesSlide" Target="/ppt/notesSlides/notesSlide30.xml" Id="R1659c8d29f4b430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23ad0fe755f4a29" /><Relationship Type="http://schemas.openxmlformats.org/officeDocument/2006/relationships/image" Target="/ppt/media/image.png" Id="Rc3db0bdc4f56414b" /><Relationship Type="http://schemas.openxmlformats.org/officeDocument/2006/relationships/image" Target="/ppt/media/image2.png" Id="R7b0d6bd2aa274569" /><Relationship Type="http://schemas.openxmlformats.org/officeDocument/2006/relationships/notesSlide" Target="/ppt/notesSlides/notesSlide31.xml" Id="R7b8c8af59fd4468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7b2377bc7d546c4" /><Relationship Type="http://schemas.openxmlformats.org/officeDocument/2006/relationships/image" Target="/ppt/media/image6.png" Id="R766439928b4d4ae7" /><Relationship Type="http://schemas.openxmlformats.org/officeDocument/2006/relationships/image" Target="/ppt/media/image7.png" Id="R51db4460c2204593" /><Relationship Type="http://schemas.openxmlformats.org/officeDocument/2006/relationships/notesSlide" Target="/ppt/notesSlides/notesSlide32.xml" Id="R09ece319c6e249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0988d57105d4b62" /><Relationship Type="http://schemas.openxmlformats.org/officeDocument/2006/relationships/image" Target="/ppt/media/image6.png" Id="R71151ed8ed444613" /><Relationship Type="http://schemas.openxmlformats.org/officeDocument/2006/relationships/image" Target="/ppt/media/image7.png" Id="Rc846b609fdfd467d" /><Relationship Type="http://schemas.openxmlformats.org/officeDocument/2006/relationships/notesSlide" Target="/ppt/notesSlides/notesSlide33.xml" Id="R9a2d349a92ab4a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772904e7cbb4764" /><Relationship Type="http://schemas.openxmlformats.org/officeDocument/2006/relationships/image" Target="/ppt/media/image6.png" Id="R3958cf07bf5b48bf" /><Relationship Type="http://schemas.openxmlformats.org/officeDocument/2006/relationships/image" Target="/ppt/media/image7.png" Id="R4bbecb8a154b46f5" /><Relationship Type="http://schemas.openxmlformats.org/officeDocument/2006/relationships/notesSlide" Target="/ppt/notesSlides/notesSlide34.xml" Id="R0f7b3cb3e87a4b0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5e07d4a2e5d48a8" /><Relationship Type="http://schemas.openxmlformats.org/officeDocument/2006/relationships/image" Target="/ppt/media/image6.png" Id="R156e363e5f864a21" /><Relationship Type="http://schemas.openxmlformats.org/officeDocument/2006/relationships/image" Target="/ppt/media/image7.png" Id="R8590874ae94e4e80" /><Relationship Type="http://schemas.openxmlformats.org/officeDocument/2006/relationships/notesSlide" Target="/ppt/notesSlides/notesSlide35.xml" Id="Rd1420186d4c9404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257145ca2f2407c" /><Relationship Type="http://schemas.openxmlformats.org/officeDocument/2006/relationships/image" Target="/ppt/media/image6.png" Id="R25e867c6132e4b9a" /><Relationship Type="http://schemas.openxmlformats.org/officeDocument/2006/relationships/image" Target="/ppt/media/image7.png" Id="R4f85f3f58f8c42f9" /><Relationship Type="http://schemas.openxmlformats.org/officeDocument/2006/relationships/chart" Target="/ppt/slides/charts/chart6.xml" Id="R2e99dd9117c146cf" /><Relationship Type="http://schemas.openxmlformats.org/officeDocument/2006/relationships/notesSlide" Target="/ppt/notesSlides/notesSlide36.xml" Id="Rc34b5a0bfc7c454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3807fbf9ec04759" /><Relationship Type="http://schemas.openxmlformats.org/officeDocument/2006/relationships/image" Target="/ppt/media/image6.png" Id="R799da5fa0e9741e5" /><Relationship Type="http://schemas.openxmlformats.org/officeDocument/2006/relationships/image" Target="/ppt/media/image7.png" Id="R7c3dcaa597ba46e9" /><Relationship Type="http://schemas.openxmlformats.org/officeDocument/2006/relationships/notesSlide" Target="/ppt/notesSlides/notesSlide37.xml" Id="R62ac96bff3f4461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bd947d1325348b7" /><Relationship Type="http://schemas.openxmlformats.org/officeDocument/2006/relationships/image" Target="/ppt/media/image6.png" Id="R05a846deb96f4cc2" /><Relationship Type="http://schemas.openxmlformats.org/officeDocument/2006/relationships/image" Target="/ppt/media/image7.png" Id="R6fe77e974d804668" /><Relationship Type="http://schemas.openxmlformats.org/officeDocument/2006/relationships/notesSlide" Target="/ppt/notesSlides/notesSlide38.xml" Id="R42fe1d21c9714c9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9d8ac95d2664f87" /><Relationship Type="http://schemas.openxmlformats.org/officeDocument/2006/relationships/image" Target="/ppt/media/image6.png" Id="R1660c35e9caf4b24" /><Relationship Type="http://schemas.openxmlformats.org/officeDocument/2006/relationships/image" Target="/ppt/media/image7.png" Id="R1081514d50d84afa" /><Relationship Type="http://schemas.openxmlformats.org/officeDocument/2006/relationships/notesSlide" Target="/ppt/notesSlides/notesSlide39.xml" Id="R915389c1188b4af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cb61d6e61804e7e" /><Relationship Type="http://schemas.openxmlformats.org/officeDocument/2006/relationships/image" Target="/ppt/media/image6.png" Id="Rc30138d1148f49e6" /><Relationship Type="http://schemas.openxmlformats.org/officeDocument/2006/relationships/image" Target="/ppt/media/image7.png" Id="R15c0a1c1624e4112" /><Relationship Type="http://schemas.openxmlformats.org/officeDocument/2006/relationships/notesSlide" Target="/ppt/notesSlides/notesSlide40.xml" Id="R7639336c487d40e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5be9f9abad04899" /><Relationship Type="http://schemas.openxmlformats.org/officeDocument/2006/relationships/image" Target="/ppt/media/image6.png" Id="R648c30d29e514da8" /><Relationship Type="http://schemas.openxmlformats.org/officeDocument/2006/relationships/image" Target="/ppt/media/image7.png" Id="R79d58752e2f14766" /><Relationship Type="http://schemas.openxmlformats.org/officeDocument/2006/relationships/notesSlide" Target="/ppt/notesSlides/notesSlide41.xml" Id="R009177b7b3b747a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d908d7b56564183" /><Relationship Type="http://schemas.openxmlformats.org/officeDocument/2006/relationships/image" Target="/ppt/media/image6.png" Id="R6f33c206b1ce4ada" /><Relationship Type="http://schemas.openxmlformats.org/officeDocument/2006/relationships/image" Target="/ppt/media/image7.png" Id="Ra79f4b9b25b949e6" /><Relationship Type="http://schemas.openxmlformats.org/officeDocument/2006/relationships/chart" Target="/ppt/slides/charts/chart7.xml" Id="R003d3a0d7e174270" /><Relationship Type="http://schemas.openxmlformats.org/officeDocument/2006/relationships/notesSlide" Target="/ppt/notesSlides/notesSlide42.xml" Id="Rca8e9ef40d2c4f5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076142547374e2d" /><Relationship Type="http://schemas.openxmlformats.org/officeDocument/2006/relationships/image" Target="/ppt/media/image6.png" Id="R4d876f3e0c644f74" /><Relationship Type="http://schemas.openxmlformats.org/officeDocument/2006/relationships/image" Target="/ppt/media/image7.png" Id="R57a525d257b84e21" /><Relationship Type="http://schemas.openxmlformats.org/officeDocument/2006/relationships/notesSlide" Target="/ppt/notesSlides/notesSlide43.xml" Id="R997826b856714ee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24f0b017e5f491f" /><Relationship Type="http://schemas.openxmlformats.org/officeDocument/2006/relationships/image" Target="/ppt/media/image6.png" Id="R8dd16e83c40d4fe8" /><Relationship Type="http://schemas.openxmlformats.org/officeDocument/2006/relationships/image" Target="/ppt/media/image7.png" Id="Rf9aab196646644a1" /><Relationship Type="http://schemas.openxmlformats.org/officeDocument/2006/relationships/notesSlide" Target="/ppt/notesSlides/notesSlide44.xml" Id="R8754a054b48e444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cd844979b44404b" /><Relationship Type="http://schemas.openxmlformats.org/officeDocument/2006/relationships/image" Target="/ppt/media/image6.png" Id="Rc90e2956b63340b5" /><Relationship Type="http://schemas.openxmlformats.org/officeDocument/2006/relationships/image" Target="/ppt/media/image7.png" Id="R29f50d7ab01d4343" /><Relationship Type="http://schemas.openxmlformats.org/officeDocument/2006/relationships/notesSlide" Target="/ppt/notesSlides/notesSlide45.xml" Id="R27643702e4114a4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df341f9fb5c4383" /><Relationship Type="http://schemas.openxmlformats.org/officeDocument/2006/relationships/image" Target="/ppt/media/image6.png" Id="Ra534b485698444ae" /><Relationship Type="http://schemas.openxmlformats.org/officeDocument/2006/relationships/image" Target="/ppt/media/image7.png" Id="R23fd843283d94617" /><Relationship Type="http://schemas.openxmlformats.org/officeDocument/2006/relationships/notesSlide" Target="/ppt/notesSlides/notesSlide46.xml" Id="Rcc024dd9fbaf4c4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7b9f970c1524fa1" /><Relationship Type="http://schemas.openxmlformats.org/officeDocument/2006/relationships/image" Target="/ppt/media/image6.png" Id="R2d6460d8d3264b16" /><Relationship Type="http://schemas.openxmlformats.org/officeDocument/2006/relationships/image" Target="/ppt/media/image7.png" Id="R7a0e2a0dc0b74b1b" /><Relationship Type="http://schemas.openxmlformats.org/officeDocument/2006/relationships/notesSlide" Target="/ppt/notesSlides/notesSlide47.xml" Id="R11b3157d26a84d1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cea0c4e323f468c" /><Relationship Type="http://schemas.openxmlformats.org/officeDocument/2006/relationships/image" Target="/ppt/media/image6.png" Id="Rdf598b6198b4463c" /><Relationship Type="http://schemas.openxmlformats.org/officeDocument/2006/relationships/image" Target="/ppt/media/image7.png" Id="R7ad230b8eae846f7" /><Relationship Type="http://schemas.openxmlformats.org/officeDocument/2006/relationships/notesSlide" Target="/ppt/notesSlides/notesSlide48.xml" Id="Rdfe4bd57ce9141e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abf4477e19a4fd5" /><Relationship Type="http://schemas.openxmlformats.org/officeDocument/2006/relationships/image" Target="/ppt/media/image6.png" Id="R9680c6567ee745c7" /><Relationship Type="http://schemas.openxmlformats.org/officeDocument/2006/relationships/image" Target="/ppt/media/image7.png" Id="Re70d6eb248354a19" /><Relationship Type="http://schemas.openxmlformats.org/officeDocument/2006/relationships/notesSlide" Target="/ppt/notesSlides/notesSlide49.xml" Id="R6aac78c1006440b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0104af964244ef7" /><Relationship Type="http://schemas.openxmlformats.org/officeDocument/2006/relationships/image" Target="/ppt/media/image6.png" Id="Reb5739c5a61e4c87" /><Relationship Type="http://schemas.openxmlformats.org/officeDocument/2006/relationships/image" Target="/ppt/media/image7.png" Id="R60875201b859467d" /><Relationship Type="http://schemas.openxmlformats.org/officeDocument/2006/relationships/notesSlide" Target="/ppt/notesSlides/notesSlide50.xml" Id="R368dd748a6fe4d9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012a0b067214b0a" /><Relationship Type="http://schemas.openxmlformats.org/officeDocument/2006/relationships/image" Target="/ppt/media/image6.png" Id="Rb0feee2ab2cf41b4" /><Relationship Type="http://schemas.openxmlformats.org/officeDocument/2006/relationships/image" Target="/ppt/media/image7.png" Id="R19df13de22214842" /><Relationship Type="http://schemas.openxmlformats.org/officeDocument/2006/relationships/notesSlide" Target="/ppt/notesSlides/notesSlide51.xml" Id="Rfb10a007c951442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cfdac814ce047f0" /><Relationship Type="http://schemas.openxmlformats.org/officeDocument/2006/relationships/image" Target="/ppt/media/image6.png" Id="Rc407b1f0b3744258" /><Relationship Type="http://schemas.openxmlformats.org/officeDocument/2006/relationships/image" Target="/ppt/media/image7.png" Id="Rdcf40d02705245ef" /><Relationship Type="http://schemas.openxmlformats.org/officeDocument/2006/relationships/notesSlide" Target="/ppt/notesSlides/notesSlide52.xml" Id="Re228f48e00a6427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1c864bf184d4e56" /><Relationship Type="http://schemas.openxmlformats.org/officeDocument/2006/relationships/image" Target="/ppt/media/image6.png" Id="Rcd989f9eea704982" /><Relationship Type="http://schemas.openxmlformats.org/officeDocument/2006/relationships/image" Target="/ppt/media/image7.png" Id="R3357f90aff6542a2" /><Relationship Type="http://schemas.openxmlformats.org/officeDocument/2006/relationships/notesSlide" Target="/ppt/notesSlides/notesSlide53.xml" Id="R4f004b031df94b2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e1b6ba55afe4fc7" /><Relationship Type="http://schemas.openxmlformats.org/officeDocument/2006/relationships/image" Target="/ppt/media/image6.png" Id="R22fc3b35be884209" /><Relationship Type="http://schemas.openxmlformats.org/officeDocument/2006/relationships/image" Target="/ppt/media/image7.png" Id="R5987102df1414530" /><Relationship Type="http://schemas.openxmlformats.org/officeDocument/2006/relationships/notesSlide" Target="/ppt/notesSlides/notesSlide54.xml" Id="R9035690dbf9d437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29585784b4b4f3b" /><Relationship Type="http://schemas.openxmlformats.org/officeDocument/2006/relationships/image" Target="/ppt/media/image.png" Id="Rd5d6f3b70d7a4d89" /><Relationship Type="http://schemas.openxmlformats.org/officeDocument/2006/relationships/image" Target="/ppt/media/image2.png" Id="Re51176c1c1e74aed" /><Relationship Type="http://schemas.openxmlformats.org/officeDocument/2006/relationships/notesSlide" Target="/ppt/notesSlides/notesSlide55.xml" Id="R3325ae0d64a84e9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5442e45026243aa" /><Relationship Type="http://schemas.openxmlformats.org/officeDocument/2006/relationships/image" Target="/ppt/media/image6.png" Id="Rb06355b14454445e" /><Relationship Type="http://schemas.openxmlformats.org/officeDocument/2006/relationships/image" Target="/ppt/media/image7.png" Id="Rabff6caaa2ce4dce" /><Relationship Type="http://schemas.openxmlformats.org/officeDocument/2006/relationships/notesSlide" Target="/ppt/notesSlides/notesSlide56.xml" Id="R07603bb931dd4f0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accdb0706344097" /><Relationship Type="http://schemas.openxmlformats.org/officeDocument/2006/relationships/image" Target="/ppt/media/image6.png" Id="R66d28948dbb94dd5" /><Relationship Type="http://schemas.openxmlformats.org/officeDocument/2006/relationships/image" Target="/ppt/media/image7.png" Id="Radf5f5b36fe64b67" /><Relationship Type="http://schemas.openxmlformats.org/officeDocument/2006/relationships/notesSlide" Target="/ppt/notesSlides/notesSlide57.xml" Id="R1be897b7e659423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fa376422f964dd0" /><Relationship Type="http://schemas.openxmlformats.org/officeDocument/2006/relationships/image" Target="/ppt/media/image6.png" Id="Rb837a514065e417f" /><Relationship Type="http://schemas.openxmlformats.org/officeDocument/2006/relationships/image" Target="/ppt/media/image7.png" Id="R8623584b261b4e8e" /><Relationship Type="http://schemas.openxmlformats.org/officeDocument/2006/relationships/chart" Target="/ppt/slides/charts/chart8.xml" Id="R2a80ee4010f54ebe" /><Relationship Type="http://schemas.openxmlformats.org/officeDocument/2006/relationships/notesSlide" Target="/ppt/notesSlides/notesSlide58.xml" Id="R5b02b1d798ec471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1136e85253a4662" /><Relationship Type="http://schemas.openxmlformats.org/officeDocument/2006/relationships/image" Target="/ppt/media/image6.png" Id="Raa2e0b5b805942b7" /><Relationship Type="http://schemas.openxmlformats.org/officeDocument/2006/relationships/image" Target="/ppt/media/image7.png" Id="R951429b2d3304b84" /><Relationship Type="http://schemas.openxmlformats.org/officeDocument/2006/relationships/notesSlide" Target="/ppt/notesSlides/notesSlide59.xml" Id="Rd8e4806b48fa490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2afccc8c8434d57" /><Relationship Type="http://schemas.openxmlformats.org/officeDocument/2006/relationships/image" Target="/ppt/media/image6.png" Id="R25c9f03ad48a49c8" /><Relationship Type="http://schemas.openxmlformats.org/officeDocument/2006/relationships/image" Target="/ppt/media/image7.png" Id="Rfbc56cb3268740fe" /><Relationship Type="http://schemas.openxmlformats.org/officeDocument/2006/relationships/notesSlide" Target="/ppt/notesSlides/notesSlide60.xml" Id="R3600d880a063441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d05fe09e3324105" /><Relationship Type="http://schemas.openxmlformats.org/officeDocument/2006/relationships/image" Target="/ppt/media/image6.png" Id="R5601cd8d66e94f8b" /><Relationship Type="http://schemas.openxmlformats.org/officeDocument/2006/relationships/image" Target="/ppt/media/image7.png" Id="R1aa57e92d16248c5" /><Relationship Type="http://schemas.openxmlformats.org/officeDocument/2006/relationships/notesSlide" Target="/ppt/notesSlides/notesSlide61.xml" Id="R358d78dc14d94e0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dbacdaae3fc4dae" /><Relationship Type="http://schemas.openxmlformats.org/officeDocument/2006/relationships/image" Target="/ppt/media/image6.png" Id="Re70d540e084d48f7" /><Relationship Type="http://schemas.openxmlformats.org/officeDocument/2006/relationships/image" Target="/ppt/media/image7.png" Id="R238b5135bc054e9d" /><Relationship Type="http://schemas.openxmlformats.org/officeDocument/2006/relationships/notesSlide" Target="/ppt/notesSlides/notesSlide62.xml" Id="Re1f94ecb27064e2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2a046b9e7b94b0d" /><Relationship Type="http://schemas.openxmlformats.org/officeDocument/2006/relationships/image" Target="/ppt/media/image6.png" Id="R166a185ab01742e2" /><Relationship Type="http://schemas.openxmlformats.org/officeDocument/2006/relationships/image" Target="/ppt/media/image7.png" Id="R5c91de9abd5a429f" /><Relationship Type="http://schemas.openxmlformats.org/officeDocument/2006/relationships/notesSlide" Target="/ppt/notesSlides/notesSlide63.xml" Id="R16f8d251a5ef4d9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67ee496efc74d41" /><Relationship Type="http://schemas.openxmlformats.org/officeDocument/2006/relationships/image" Target="/ppt/media/image6.png" Id="Re03cb5b470d142f6" /><Relationship Type="http://schemas.openxmlformats.org/officeDocument/2006/relationships/image" Target="/ppt/media/image7.png" Id="Rb01fe618b2a44ba2" /><Relationship Type="http://schemas.openxmlformats.org/officeDocument/2006/relationships/notesSlide" Target="/ppt/notesSlides/notesSlide64.xml" Id="R2ea022d309bc451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10495fd024fa484a" /><Relationship Type="http://schemas.openxmlformats.org/officeDocument/2006/relationships/image" Target="/ppt/media/image6.png" Id="Ra1f966da2bce414f" /><Relationship Type="http://schemas.openxmlformats.org/officeDocument/2006/relationships/image" Target="/ppt/media/image7.png" Id="R3684a8c3fb5f4c19" /><Relationship Type="http://schemas.openxmlformats.org/officeDocument/2006/relationships/chart" Target="/ppt/slides/charts/chart9.xml" Id="R9921f8de1fef4e51" /><Relationship Type="http://schemas.openxmlformats.org/officeDocument/2006/relationships/notesSlide" Target="/ppt/notesSlides/notesSlide65.xml" Id="R32080faefc74465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91a79fb66eef48ad" /><Relationship Type="http://schemas.openxmlformats.org/officeDocument/2006/relationships/image" Target="/ppt/media/image6.png" Id="R0747be9c137d441b" /><Relationship Type="http://schemas.openxmlformats.org/officeDocument/2006/relationships/image" Target="/ppt/media/image7.png" Id="R6364679146b74995" /><Relationship Type="http://schemas.openxmlformats.org/officeDocument/2006/relationships/notesSlide" Target="/ppt/notesSlides/notesSlide66.xml" Id="R9cd18ff74e394a0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f2bd55bec6642bd" /><Relationship Type="http://schemas.openxmlformats.org/officeDocument/2006/relationships/image" Target="/ppt/media/image6.png" Id="R1084070f879a478f" /><Relationship Type="http://schemas.openxmlformats.org/officeDocument/2006/relationships/image" Target="/ppt/media/image7.png" Id="R3aa7b28a9ae143e8" /><Relationship Type="http://schemas.openxmlformats.org/officeDocument/2006/relationships/notesSlide" Target="/ppt/notesSlides/notesSlide67.xml" Id="R19f28347fcd34cb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52fabf1e88744f5" /><Relationship Type="http://schemas.openxmlformats.org/officeDocument/2006/relationships/image" Target="/ppt/media/image6.png" Id="Rd1b84e4fa95c4606" /><Relationship Type="http://schemas.openxmlformats.org/officeDocument/2006/relationships/image" Target="/ppt/media/image7.png" Id="Racef0ff121c443e3" /><Relationship Type="http://schemas.openxmlformats.org/officeDocument/2006/relationships/notesSlide" Target="/ppt/notesSlides/notesSlide68.xml" Id="R6623ecb45e25483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569e59ae627476c" /><Relationship Type="http://schemas.openxmlformats.org/officeDocument/2006/relationships/image" Target="/ppt/media/image6.png" Id="R4fedd51a454644cc" /><Relationship Type="http://schemas.openxmlformats.org/officeDocument/2006/relationships/image" Target="/ppt/media/image7.png" Id="R8a07ffa81d0b414f" /><Relationship Type="http://schemas.openxmlformats.org/officeDocument/2006/relationships/notesSlide" Target="/ppt/notesSlides/notesSlide69.xml" Id="R9905ec6a0c1e481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b59a6b0e90f45f7" /><Relationship Type="http://schemas.openxmlformats.org/officeDocument/2006/relationships/image" Target="/ppt/media/image6.png" Id="R43a5b5a0014148b3" /><Relationship Type="http://schemas.openxmlformats.org/officeDocument/2006/relationships/image" Target="/ppt/media/image7.png" Id="Rf8b1c14104b84e3e" /><Relationship Type="http://schemas.openxmlformats.org/officeDocument/2006/relationships/notesSlide" Target="/ppt/notesSlides/notesSlide70.xml" Id="Re8a801fa9a094c3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bbc231db5a1041b2" /><Relationship Type="http://schemas.openxmlformats.org/officeDocument/2006/relationships/image" Target="/ppt/media/image6.png" Id="Rb8b0c89e8e744eee" /><Relationship Type="http://schemas.openxmlformats.org/officeDocument/2006/relationships/image" Target="/ppt/media/image7.png" Id="R10ea0d85b9704878" /><Relationship Type="http://schemas.openxmlformats.org/officeDocument/2006/relationships/notesSlide" Target="/ppt/notesSlides/notesSlide71.xml" Id="R57be877aabdb49e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d6d78b7640b4b16" /><Relationship Type="http://schemas.openxmlformats.org/officeDocument/2006/relationships/image" Target="/ppt/media/image6.png" Id="R60882fb0ca444508" /><Relationship Type="http://schemas.openxmlformats.org/officeDocument/2006/relationships/image" Target="/ppt/media/image7.png" Id="R5ab989f09f774ae8" /><Relationship Type="http://schemas.openxmlformats.org/officeDocument/2006/relationships/notesSlide" Target="/ppt/notesSlides/notesSlide72.xml" Id="R51353d77aef8484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3e9c5c4aa8614f7d" /><Relationship Type="http://schemas.openxmlformats.org/officeDocument/2006/relationships/image" Target="/ppt/media/image6.png" Id="R4326ae38339e471e" /><Relationship Type="http://schemas.openxmlformats.org/officeDocument/2006/relationships/image" Target="/ppt/media/image7.png" Id="Rea95c12f40104a0a" /><Relationship Type="http://schemas.openxmlformats.org/officeDocument/2006/relationships/notesSlide" Target="/ppt/notesSlides/notesSlide73.xml" Id="R01f28d66f82b4a4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c2f329baf124eb3" /><Relationship Type="http://schemas.openxmlformats.org/officeDocument/2006/relationships/image" Target="/ppt/media/image6.png" Id="R9e2b3845abb5436e" /><Relationship Type="http://schemas.openxmlformats.org/officeDocument/2006/relationships/image" Target="/ppt/media/image7.png" Id="R436de0104efc467e" /><Relationship Type="http://schemas.openxmlformats.org/officeDocument/2006/relationships/notesSlide" Target="/ppt/notesSlides/notesSlide74.xml" Id="R925f0da3f703491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ed1ff1cd6f6c47a9" /><Relationship Type="http://schemas.openxmlformats.org/officeDocument/2006/relationships/image" Target="/ppt/media/image6.png" Id="R0d33ff6e575a4320" /><Relationship Type="http://schemas.openxmlformats.org/officeDocument/2006/relationships/image" Target="/ppt/media/image7.png" Id="R82f592e479b44904" /><Relationship Type="http://schemas.openxmlformats.org/officeDocument/2006/relationships/notesSlide" Target="/ppt/notesSlides/notesSlide75.xml" Id="R97591cf28cfd4a7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4738f90a405c4a2e" /><Relationship Type="http://schemas.openxmlformats.org/officeDocument/2006/relationships/image" Target="/ppt/media/image6.png" Id="Rbadd42d380dd44a9" /><Relationship Type="http://schemas.openxmlformats.org/officeDocument/2006/relationships/image" Target="/ppt/media/image7.png" Id="Rf3bda5e52be54c2b" /><Relationship Type="http://schemas.openxmlformats.org/officeDocument/2006/relationships/notesSlide" Target="/ppt/notesSlides/notesSlide76.xml" Id="R8ffb107b20414bb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66be886c7cc4971" /><Relationship Type="http://schemas.openxmlformats.org/officeDocument/2006/relationships/image" Target="/ppt/media/image.png" Id="R42388a187bd4413f" /><Relationship Type="http://schemas.openxmlformats.org/officeDocument/2006/relationships/image" Target="/ppt/media/image2.png" Id="Rb2bf0df3e8d941cd" /><Relationship Type="http://schemas.openxmlformats.org/officeDocument/2006/relationships/notesSlide" Target="/ppt/notesSlides/notesSlide77.xml" Id="R3ab0f8aeefb9400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194945f4d9f4590" /><Relationship Type="http://schemas.openxmlformats.org/officeDocument/2006/relationships/image" Target="/ppt/media/image6.png" Id="R4bd08e7a3527416f" /><Relationship Type="http://schemas.openxmlformats.org/officeDocument/2006/relationships/image" Target="/ppt/media/image7.png" Id="Rbfa5e61635d64f4b" /><Relationship Type="http://schemas.openxmlformats.org/officeDocument/2006/relationships/notesSlide" Target="/ppt/notesSlides/notesSlide78.xml" Id="R35a976d287bf4c81"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f96c1d4779e34396" /><Relationship Type="http://schemas.openxmlformats.org/officeDocument/2006/relationships/image" Target="/ppt/media/image6.png" Id="Rc436680991294c5f" /><Relationship Type="http://schemas.openxmlformats.org/officeDocument/2006/relationships/image" Target="/ppt/media/image7.png" Id="R923aa2e5b8d64316" /><Relationship Type="http://schemas.openxmlformats.org/officeDocument/2006/relationships/notesSlide" Target="/ppt/notesSlides/notesSlide79.xml" Id="R75d8b446dfc0447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33f723ba20c34337" /><Relationship Type="http://schemas.openxmlformats.org/officeDocument/2006/relationships/image" Target="/ppt/media/image6.png" Id="R34714362d26945b1" /><Relationship Type="http://schemas.openxmlformats.org/officeDocument/2006/relationships/image" Target="/ppt/media/image7.png" Id="R3ae0bc2b0737478e" /><Relationship Type="http://schemas.openxmlformats.org/officeDocument/2006/relationships/notesSlide" Target="/ppt/notesSlides/notesSlide80.xml" Id="R9e70e7a3c18442d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eb7b1cab32d64067" /><Relationship Type="http://schemas.openxmlformats.org/officeDocument/2006/relationships/image" Target="/ppt/media/image6.png" Id="R7f348896f9f44542" /><Relationship Type="http://schemas.openxmlformats.org/officeDocument/2006/relationships/image" Target="/ppt/media/image7.png" Id="Rb391ff6f75cf43b8" /><Relationship Type="http://schemas.openxmlformats.org/officeDocument/2006/relationships/chart" Target="/ppt/slides/charts/chart10.xml" Id="Re8a54c9e08134ed3" /><Relationship Type="http://schemas.openxmlformats.org/officeDocument/2006/relationships/notesSlide" Target="/ppt/notesSlides/notesSlide81.xml" Id="R04012dab9c554da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7da4538b2744a6c" /><Relationship Type="http://schemas.openxmlformats.org/officeDocument/2006/relationships/image" Target="/ppt/media/image6.png" Id="Ra473c0bac9bb411c" /><Relationship Type="http://schemas.openxmlformats.org/officeDocument/2006/relationships/image" Target="/ppt/media/image7.png" Id="R43d5c01514224551" /><Relationship Type="http://schemas.openxmlformats.org/officeDocument/2006/relationships/notesSlide" Target="/ppt/notesSlides/notesSlide82.xml" Id="R0b297c4ab4494da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97667dc00e74c58" /><Relationship Type="http://schemas.openxmlformats.org/officeDocument/2006/relationships/image" Target="/ppt/media/image6.png" Id="R633c43a1be04410b" /><Relationship Type="http://schemas.openxmlformats.org/officeDocument/2006/relationships/image" Target="/ppt/media/image7.png" Id="R16abae93cad4484f" /><Relationship Type="http://schemas.openxmlformats.org/officeDocument/2006/relationships/notesSlide" Target="/ppt/notesSlides/notesSlide83.xml" Id="Rbbc211a8bca645af"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116f774f53c04fe3" /><Relationship Type="http://schemas.openxmlformats.org/officeDocument/2006/relationships/image" Target="/ppt/media/image6.png" Id="Rcf8a458856fc4dd1" /><Relationship Type="http://schemas.openxmlformats.org/officeDocument/2006/relationships/image" Target="/ppt/media/image7.png" Id="Rb8f77474ce074cd8" /><Relationship Type="http://schemas.openxmlformats.org/officeDocument/2006/relationships/chart" Target="/ppt/slides/charts/chart11.xml" Id="Ra477fa528fbc45f8" /><Relationship Type="http://schemas.openxmlformats.org/officeDocument/2006/relationships/notesSlide" Target="/ppt/notesSlides/notesSlide84.xml" Id="R1641cef167d049c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9564f65e932f4914" /><Relationship Type="http://schemas.openxmlformats.org/officeDocument/2006/relationships/image" Target="/ppt/media/image6.png" Id="R388c6a22e8fd4666" /><Relationship Type="http://schemas.openxmlformats.org/officeDocument/2006/relationships/image" Target="/ppt/media/image7.png" Id="R3def4ec0b34447c1" /><Relationship Type="http://schemas.openxmlformats.org/officeDocument/2006/relationships/chart" Target="/ppt/slides/charts/chart12.xml" Id="R267035499fc54ebb" /><Relationship Type="http://schemas.openxmlformats.org/officeDocument/2006/relationships/notesSlide" Target="/ppt/notesSlides/notesSlide85.xml" Id="R91d1fb961e0d49e8"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345b5981bda74d0e" /><Relationship Type="http://schemas.openxmlformats.org/officeDocument/2006/relationships/image" Target="/ppt/media/image6.png" Id="R691cd12d3a41432b" /><Relationship Type="http://schemas.openxmlformats.org/officeDocument/2006/relationships/image" Target="/ppt/media/image7.png" Id="R361a26a99c7f494b" /><Relationship Type="http://schemas.openxmlformats.org/officeDocument/2006/relationships/notesSlide" Target="/ppt/notesSlides/notesSlide86.xml" Id="R87addcfc9d5f42c0"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146b22fe0114478" /><Relationship Type="http://schemas.openxmlformats.org/officeDocument/2006/relationships/image" Target="/ppt/media/image6.png" Id="Rcde2c14eb76d439c" /><Relationship Type="http://schemas.openxmlformats.org/officeDocument/2006/relationships/image" Target="/ppt/media/image7.png" Id="Ra3a78de5b2b4461b" /><Relationship Type="http://schemas.openxmlformats.org/officeDocument/2006/relationships/notesSlide" Target="/ppt/notesSlides/notesSlide87.xml" Id="R99924d49ea8845b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38e2799bbc5b43d7" /><Relationship Type="http://schemas.openxmlformats.org/officeDocument/2006/relationships/image" Target="/ppt/media/image6.png" Id="R8c206938994a46d4" /><Relationship Type="http://schemas.openxmlformats.org/officeDocument/2006/relationships/image" Target="/ppt/media/image7.png" Id="Rd4f3aa1d6c474d33" /><Relationship Type="http://schemas.openxmlformats.org/officeDocument/2006/relationships/notesSlide" Target="/ppt/notesSlides/notesSlide88.xml" Id="R8d87e3d882ae4584"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405da3c2ea24e51" /><Relationship Type="http://schemas.openxmlformats.org/officeDocument/2006/relationships/image" Target="/ppt/media/image6.png" Id="Rd36ce7499270458d" /><Relationship Type="http://schemas.openxmlformats.org/officeDocument/2006/relationships/image" Target="/ppt/media/image7.png" Id="Rae0144a510a144c9" /><Relationship Type="http://schemas.openxmlformats.org/officeDocument/2006/relationships/notesSlide" Target="/ppt/notesSlides/notesSlide89.xml" Id="R4ecc7740d07e482a"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f1d6b73bf2464563" /><Relationship Type="http://schemas.openxmlformats.org/officeDocument/2006/relationships/image" Target="/ppt/media/image6.png" Id="R6b0708c10cc04ab4" /><Relationship Type="http://schemas.openxmlformats.org/officeDocument/2006/relationships/image" Target="/ppt/media/image7.png" Id="R287b6b92f5cb417f" /><Relationship Type="http://schemas.openxmlformats.org/officeDocument/2006/relationships/notesSlide" Target="/ppt/notesSlides/notesSlide90.xml" Id="R4b5372b667a74f6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3b822788688c4035" /><Relationship Type="http://schemas.openxmlformats.org/officeDocument/2006/relationships/image" Target="/ppt/media/image6.png" Id="R8e075db7f9da4521" /><Relationship Type="http://schemas.openxmlformats.org/officeDocument/2006/relationships/image" Target="/ppt/media/image7.png" Id="R4d05f75c48e94eab" /><Relationship Type="http://schemas.openxmlformats.org/officeDocument/2006/relationships/chart" Target="/ppt/slides/charts/chart13.xml" Id="R43ead36e1403445a" /><Relationship Type="http://schemas.openxmlformats.org/officeDocument/2006/relationships/notesSlide" Target="/ppt/notesSlides/notesSlide91.xml" Id="R2d463d57a0b047d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5dabab9bd21e4b95" /><Relationship Type="http://schemas.openxmlformats.org/officeDocument/2006/relationships/image" Target="/ppt/media/image6.png" Id="R65b0de3d57dd42e1" /><Relationship Type="http://schemas.openxmlformats.org/officeDocument/2006/relationships/image" Target="/ppt/media/image7.png" Id="R5eb35790cb6d45c6" /><Relationship Type="http://schemas.openxmlformats.org/officeDocument/2006/relationships/notesSlide" Target="/ppt/notesSlides/notesSlide92.xml" Id="R725bdebad14d488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fd4d6eb7e9cf4752" /><Relationship Type="http://schemas.openxmlformats.org/officeDocument/2006/relationships/image" Target="/ppt/media/image6.png" Id="R5710df612e3549fb" /><Relationship Type="http://schemas.openxmlformats.org/officeDocument/2006/relationships/image" Target="/ppt/media/image7.png" Id="Rc554729c17f74a2a" /><Relationship Type="http://schemas.openxmlformats.org/officeDocument/2006/relationships/notesSlide" Target="/ppt/notesSlides/notesSlide93.xml" Id="Rf4b8806bd4744a43"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19c72187e6fc46ee" /><Relationship Type="http://schemas.openxmlformats.org/officeDocument/2006/relationships/image" Target="/ppt/media/image6.png" Id="R3c6a7013e9314fb8" /><Relationship Type="http://schemas.openxmlformats.org/officeDocument/2006/relationships/image" Target="/ppt/media/image7.png" Id="R6b918bd5d61248d4" /><Relationship Type="http://schemas.openxmlformats.org/officeDocument/2006/relationships/notesSlide" Target="/ppt/notesSlides/notesSlide94.xml" Id="R4d56220f95484da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6ecb88442e694caa" /><Relationship Type="http://schemas.openxmlformats.org/officeDocument/2006/relationships/image" Target="/ppt/media/image6.png" Id="Rb028cb667c2e4baf" /><Relationship Type="http://schemas.openxmlformats.org/officeDocument/2006/relationships/image" Target="/ppt/media/image7.png" Id="Rf230d09d30da4a2a" /><Relationship Type="http://schemas.openxmlformats.org/officeDocument/2006/relationships/notesSlide" Target="/ppt/notesSlides/notesSlide95.xml" Id="Rdbcbe4da4fb6493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805be83794704562" /><Relationship Type="http://schemas.openxmlformats.org/officeDocument/2006/relationships/image" Target="/ppt/media/image6.png" Id="R991e6312a0494c23" /><Relationship Type="http://schemas.openxmlformats.org/officeDocument/2006/relationships/image" Target="/ppt/media/image7.png" Id="R8430b93c591f4d04" /><Relationship Type="http://schemas.openxmlformats.org/officeDocument/2006/relationships/notesSlide" Target="/ppt/notesSlides/notesSlide96.xml" Id="R6cabffee61044593"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e0fcfa523baf459c" /><Relationship Type="http://schemas.openxmlformats.org/officeDocument/2006/relationships/image" Target="/ppt/media/image6.png" Id="R2bd42e520d704c17" /><Relationship Type="http://schemas.openxmlformats.org/officeDocument/2006/relationships/image" Target="/ppt/media/image7.png" Id="R3dccd1f0a6bd4ff9" /><Relationship Type="http://schemas.openxmlformats.org/officeDocument/2006/relationships/notesSlide" Target="/ppt/notesSlides/notesSlide97.xml" Id="R73361130fe15411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e85fa3551e40405a" /><Relationship Type="http://schemas.openxmlformats.org/officeDocument/2006/relationships/image" Target="/ppt/media/image6.png" Id="Rde9f165617424e1e" /><Relationship Type="http://schemas.openxmlformats.org/officeDocument/2006/relationships/image" Target="/ppt/media/image7.png" Id="Rdbaeeb3fdde54bad" /><Relationship Type="http://schemas.openxmlformats.org/officeDocument/2006/relationships/notesSlide" Target="/ppt/notesSlides/notesSlide98.xml" Id="Rb38408f3ac314f3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43407abbddb84575" /><Relationship Type="http://schemas.openxmlformats.org/officeDocument/2006/relationships/image" Target="/ppt/media/image6.png" Id="R1b2941024c3d4d18" /><Relationship Type="http://schemas.openxmlformats.org/officeDocument/2006/relationships/image" Target="/ppt/media/image7.png" Id="Rb073b5b92332449b" /><Relationship Type="http://schemas.openxmlformats.org/officeDocument/2006/relationships/notesSlide" Target="/ppt/notesSlides/notesSlide99.xml" Id="R83c1e6cd5d6948a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a3c2377fd1794b18" /><Relationship Type="http://schemas.openxmlformats.org/officeDocument/2006/relationships/image" Target="/ppt/media/image.png" Id="Rf3471caf0534425a" /><Relationship Type="http://schemas.openxmlformats.org/officeDocument/2006/relationships/image" Target="/ppt/media/image2.png" Id="R1ed76a6a3f5e4520" /><Relationship Type="http://schemas.openxmlformats.org/officeDocument/2006/relationships/notesSlide" Target="/ppt/notesSlides/notesSlide100.xml" Id="Rf61a8dda15784c64"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d53f52974aac46d2" /><Relationship Type="http://schemas.openxmlformats.org/officeDocument/2006/relationships/image" Target="/ppt/media/image6.png" Id="R4361b928ec894ffc" /><Relationship Type="http://schemas.openxmlformats.org/officeDocument/2006/relationships/image" Target="/ppt/media/image7.png" Id="Rc5081d679d3e4f21" /><Relationship Type="http://schemas.openxmlformats.org/officeDocument/2006/relationships/notesSlide" Target="/ppt/notesSlides/notesSlide101.xml" Id="R7ebac1617a3a4ae8"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eb39ad9902ee41e4" /><Relationship Type="http://schemas.openxmlformats.org/officeDocument/2006/relationships/image" Target="/ppt/media/image6.png" Id="Re9b01a96c6f142f0" /><Relationship Type="http://schemas.openxmlformats.org/officeDocument/2006/relationships/image" Target="/ppt/media/image7.png" Id="Rbb6bd35547af4bb9" /><Relationship Type="http://schemas.openxmlformats.org/officeDocument/2006/relationships/chart" Target="/ppt/slides/charts/chart14.xml" Id="Rb8e00b5be9bd4ba3" /><Relationship Type="http://schemas.openxmlformats.org/officeDocument/2006/relationships/notesSlide" Target="/ppt/notesSlides/notesSlide102.xml" Id="R3b3acbb55d044514"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3d5056d17fe74929" /><Relationship Type="http://schemas.openxmlformats.org/officeDocument/2006/relationships/image" Target="/ppt/media/image6.png" Id="R4c0259350fb34129" /><Relationship Type="http://schemas.openxmlformats.org/officeDocument/2006/relationships/image" Target="/ppt/media/image7.png" Id="R8a6644df93f341a4" /><Relationship Type="http://schemas.openxmlformats.org/officeDocument/2006/relationships/notesSlide" Target="/ppt/notesSlides/notesSlide103.xml" Id="R3b838bab5f274d49"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0c2d516e24fb4ad4" /><Relationship Type="http://schemas.openxmlformats.org/officeDocument/2006/relationships/image" Target="/ppt/media/image6.png" Id="Rfafefd5f8d634c41" /><Relationship Type="http://schemas.openxmlformats.org/officeDocument/2006/relationships/image" Target="/ppt/media/image7.png" Id="R0eb1155c40304107" /><Relationship Type="http://schemas.openxmlformats.org/officeDocument/2006/relationships/notesSlide" Target="/ppt/notesSlides/notesSlide104.xml" Id="R9ace5a19b0a4450e"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51568ba872c94eff" /><Relationship Type="http://schemas.openxmlformats.org/officeDocument/2006/relationships/image" Target="/ppt/media/image6.png" Id="Rb530d220db6b4d36" /><Relationship Type="http://schemas.openxmlformats.org/officeDocument/2006/relationships/image" Target="/ppt/media/image7.png" Id="Rbddb01efebc94ba6" /><Relationship Type="http://schemas.openxmlformats.org/officeDocument/2006/relationships/notesSlide" Target="/ppt/notesSlides/notesSlide105.xml" Id="R7f6a9c1dce714a1c"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b3644e9c7d354191" /><Relationship Type="http://schemas.openxmlformats.org/officeDocument/2006/relationships/image" Target="/ppt/media/image6.png" Id="Refebc6079c8e4fdb" /><Relationship Type="http://schemas.openxmlformats.org/officeDocument/2006/relationships/image" Target="/ppt/media/image7.png" Id="Rb443efd30df84c1a" /><Relationship Type="http://schemas.openxmlformats.org/officeDocument/2006/relationships/notesSlide" Target="/ppt/notesSlides/notesSlide106.xml" Id="R881e619296dc44fa"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40a9969b049442de" /><Relationship Type="http://schemas.openxmlformats.org/officeDocument/2006/relationships/image" Target="/ppt/media/image6.png" Id="R68de35170ef24000" /><Relationship Type="http://schemas.openxmlformats.org/officeDocument/2006/relationships/image" Target="/ppt/media/image7.png" Id="R7372eae3750a4f22" /><Relationship Type="http://schemas.openxmlformats.org/officeDocument/2006/relationships/notesSlide" Target="/ppt/notesSlides/notesSlide107.xml" Id="Ra287e34b81724ad3"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481c2465f22b48c8" /><Relationship Type="http://schemas.openxmlformats.org/officeDocument/2006/relationships/image" Target="/ppt/media/image6.png" Id="Rd5f70dda00a04393" /><Relationship Type="http://schemas.openxmlformats.org/officeDocument/2006/relationships/image" Target="/ppt/media/image7.png" Id="R0b480eb1c9594e6f" /><Relationship Type="http://schemas.openxmlformats.org/officeDocument/2006/relationships/notesSlide" Target="/ppt/notesSlides/notesSlide108.xml" Id="Rdd447db93e4f491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7b85f99a2c764f31" /><Relationship Type="http://schemas.openxmlformats.org/officeDocument/2006/relationships/image" Target="/ppt/media/image6.png" Id="R3cb9846e735b42d6" /><Relationship Type="http://schemas.openxmlformats.org/officeDocument/2006/relationships/image" Target="/ppt/media/image7.png" Id="R8ff7a14096b9421b" /><Relationship Type="http://schemas.openxmlformats.org/officeDocument/2006/relationships/chart" Target="/ppt/slides/charts/chart15.xml" Id="R24065edccaff4c15" /><Relationship Type="http://schemas.openxmlformats.org/officeDocument/2006/relationships/notesSlide" Target="/ppt/notesSlides/notesSlide109.xml" Id="R8acc78398fff4598"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302f457b71324de2" /><Relationship Type="http://schemas.openxmlformats.org/officeDocument/2006/relationships/image" Target="/ppt/media/image6.png" Id="R4eee405d9a734074" /><Relationship Type="http://schemas.openxmlformats.org/officeDocument/2006/relationships/image" Target="/ppt/media/image7.png" Id="Rf9b33df32be046ec" /><Relationship Type="http://schemas.openxmlformats.org/officeDocument/2006/relationships/notesSlide" Target="/ppt/notesSlides/notesSlide110.xml" Id="R25f4ed05b3ce4112"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87b1f910a0cb4cec" /><Relationship Type="http://schemas.openxmlformats.org/officeDocument/2006/relationships/image" Target="/ppt/media/image6.png" Id="Rd388922455da4058" /><Relationship Type="http://schemas.openxmlformats.org/officeDocument/2006/relationships/image" Target="/ppt/media/image7.png" Id="R91198e23c0614dbf" /><Relationship Type="http://schemas.openxmlformats.org/officeDocument/2006/relationships/notesSlide" Target="/ppt/notesSlides/notesSlide111.xml" Id="R0a7a711855f64010"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26f5399ddd924e02" /><Relationship Type="http://schemas.openxmlformats.org/officeDocument/2006/relationships/image" Target="/ppt/media/image6.png" Id="Rbb30c23d962f4d95" /><Relationship Type="http://schemas.openxmlformats.org/officeDocument/2006/relationships/image" Target="/ppt/media/image7.png" Id="R3c231cd2b5ec4ad8" /><Relationship Type="http://schemas.openxmlformats.org/officeDocument/2006/relationships/notesSlide" Target="/ppt/notesSlides/notesSlide112.xml" Id="R5732a6bcd12645fe"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e2d6f90f39114b6d" /><Relationship Type="http://schemas.openxmlformats.org/officeDocument/2006/relationships/image" Target="/ppt/media/image6.png" Id="R4abbe4c726f647fa" /><Relationship Type="http://schemas.openxmlformats.org/officeDocument/2006/relationships/image" Target="/ppt/media/image7.png" Id="R5b304444a5154a53" /><Relationship Type="http://schemas.openxmlformats.org/officeDocument/2006/relationships/chart" Target="/ppt/slides/charts/chart16.xml" Id="R919885e389ee485f" /><Relationship Type="http://schemas.openxmlformats.org/officeDocument/2006/relationships/notesSlide" Target="/ppt/notesSlides/notesSlide113.xml" Id="R5454c0b0ecc44d15"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9cf8063ab8474456" /><Relationship Type="http://schemas.openxmlformats.org/officeDocument/2006/relationships/image" Target="/ppt/media/image6.png" Id="R12a33ef1befc4059" /><Relationship Type="http://schemas.openxmlformats.org/officeDocument/2006/relationships/image" Target="/ppt/media/image7.png" Id="R8597809d01be4ef5" /><Relationship Type="http://schemas.openxmlformats.org/officeDocument/2006/relationships/notesSlide" Target="/ppt/notesSlides/notesSlide114.xml" Id="Rb1ef8ebe88194124"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da2b8f0ed9d64514" /><Relationship Type="http://schemas.openxmlformats.org/officeDocument/2006/relationships/image" Target="/ppt/media/image6.png" Id="R4d1bf053ff404a12" /><Relationship Type="http://schemas.openxmlformats.org/officeDocument/2006/relationships/image" Target="/ppt/media/image7.png" Id="R2b6e2fb22ab444ba" /><Relationship Type="http://schemas.openxmlformats.org/officeDocument/2006/relationships/notesSlide" Target="/ppt/notesSlides/notesSlide115.xml" Id="R762d411676754e02"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553b57b7637b435a" /><Relationship Type="http://schemas.openxmlformats.org/officeDocument/2006/relationships/image" Target="/ppt/media/image6.png" Id="Rbd00ef57255c4f03" /><Relationship Type="http://schemas.openxmlformats.org/officeDocument/2006/relationships/image" Target="/ppt/media/image7.png" Id="Rb6a432cf21314c31" /><Relationship Type="http://schemas.openxmlformats.org/officeDocument/2006/relationships/notesSlide" Target="/ppt/notesSlides/notesSlide116.xml" Id="R8cde3dda64b045c3"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6ac7bad97172469d" /><Relationship Type="http://schemas.openxmlformats.org/officeDocument/2006/relationships/image" Target="/ppt/media/image6.png" Id="R18ab0d5b3e464159" /><Relationship Type="http://schemas.openxmlformats.org/officeDocument/2006/relationships/image" Target="/ppt/media/image7.png" Id="Re1824fb6862747ba" /><Relationship Type="http://schemas.openxmlformats.org/officeDocument/2006/relationships/notesSlide" Target="/ppt/notesSlides/notesSlide117.xml" Id="Rb81809ac88204131"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9e58e69464c646fa" /><Relationship Type="http://schemas.openxmlformats.org/officeDocument/2006/relationships/image" Target="/ppt/media/image6.png" Id="R3de000eb8cf34036" /><Relationship Type="http://schemas.openxmlformats.org/officeDocument/2006/relationships/image" Target="/ppt/media/image7.png" Id="Ra9b00cf65c3249a2" /><Relationship Type="http://schemas.openxmlformats.org/officeDocument/2006/relationships/notesSlide" Target="/ppt/notesSlides/notesSlide118.xml" Id="R47e0895136af4cf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cd6b9246b77b41a4" /><Relationship Type="http://schemas.openxmlformats.org/officeDocument/2006/relationships/image" Target="/ppt/media/image6.png" Id="Rff0b9b6a7caa435c" /><Relationship Type="http://schemas.openxmlformats.org/officeDocument/2006/relationships/image" Target="/ppt/media/image7.png" Id="R2a3761debeb843ed" /><Relationship Type="http://schemas.openxmlformats.org/officeDocument/2006/relationships/notesSlide" Target="/ppt/notesSlides/notesSlide119.xml" Id="R303d679d15944515"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2a707f7d7bda4dc3" /><Relationship Type="http://schemas.openxmlformats.org/officeDocument/2006/relationships/image" Target="/ppt/media/image6.png" Id="R19e0e28111704f5e" /><Relationship Type="http://schemas.openxmlformats.org/officeDocument/2006/relationships/image" Target="/ppt/media/image7.png" Id="R9d3c0a1ae2bf408d" /><Relationship Type="http://schemas.openxmlformats.org/officeDocument/2006/relationships/notesSlide" Target="/ppt/notesSlides/notesSlide120.xml" Id="R1fa1c0df58bb4e51"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735b40ccaf484551" /><Relationship Type="http://schemas.openxmlformats.org/officeDocument/2006/relationships/image" Target="/ppt/media/image6.png" Id="R07e48a95928741a7" /><Relationship Type="http://schemas.openxmlformats.org/officeDocument/2006/relationships/image" Target="/ppt/media/image7.png" Id="R02354d8d675d4cbc" /><Relationship Type="http://schemas.openxmlformats.org/officeDocument/2006/relationships/notesSlide" Target="/ppt/notesSlides/notesSlide121.xml" Id="R3b4eb3953b424eeb"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cf49fdb793b447c4" /><Relationship Type="http://schemas.openxmlformats.org/officeDocument/2006/relationships/image" Target="/ppt/media/image6.png" Id="R6028db6f205244a9" /><Relationship Type="http://schemas.openxmlformats.org/officeDocument/2006/relationships/image" Target="/ppt/media/image7.png" Id="R97b9107ffe7b4bfb" /><Relationship Type="http://schemas.openxmlformats.org/officeDocument/2006/relationships/notesSlide" Target="/ppt/notesSlides/notesSlide122.xml" Id="Rceaafe8698864c1a"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e5e8076d726d4632" /><Relationship Type="http://schemas.openxmlformats.org/officeDocument/2006/relationships/image" Target="/ppt/media/image6.png" Id="R1c9bdcb8a0e643bd" /><Relationship Type="http://schemas.openxmlformats.org/officeDocument/2006/relationships/image" Target="/ppt/media/image7.png" Id="Rfd706c3479944b33" /><Relationship Type="http://schemas.openxmlformats.org/officeDocument/2006/relationships/notesSlide" Target="/ppt/notesSlides/notesSlide123.xml" Id="Ra9fd3d9b63b14dcd"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b4737b0663594c4f" /><Relationship Type="http://schemas.openxmlformats.org/officeDocument/2006/relationships/image" Target="/ppt/media/image6.png" Id="R061001d8485a428f" /><Relationship Type="http://schemas.openxmlformats.org/officeDocument/2006/relationships/image" Target="/ppt/media/image7.png" Id="Rc8f7e6fa6ee14d8e" /><Relationship Type="http://schemas.openxmlformats.org/officeDocument/2006/relationships/notesSlide" Target="/ppt/notesSlides/notesSlide124.xml" Id="R93e6c372b40e45fb"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84ea6e71fa8743da" /><Relationship Type="http://schemas.openxmlformats.org/officeDocument/2006/relationships/image" Target="/ppt/media/image6.png" Id="Rdbb2424afd594c15" /><Relationship Type="http://schemas.openxmlformats.org/officeDocument/2006/relationships/image" Target="/ppt/media/image7.png" Id="R8751a77d210d4380" /><Relationship Type="http://schemas.openxmlformats.org/officeDocument/2006/relationships/notesSlide" Target="/ppt/notesSlides/notesSlide125.xml" Id="Reaa472130770463b"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a5578f1314dc43b3" /><Relationship Type="http://schemas.openxmlformats.org/officeDocument/2006/relationships/image" Target="/ppt/media/image.png" Id="R0d5ef1518c674da6" /><Relationship Type="http://schemas.openxmlformats.org/officeDocument/2006/relationships/image" Target="/ppt/media/image2.png" Id="Rf7b995498abe407f" /><Relationship Type="http://schemas.openxmlformats.org/officeDocument/2006/relationships/hyperlink" Target="https://github.com/svngoku/cybersup-machine-learning-avance" TargetMode="External" Id="R1503e5508810446c" /><Relationship Type="http://schemas.openxmlformats.org/officeDocument/2006/relationships/notesSlide" Target="/ppt/notesSlides/notesSlide126.xml" Id="R3a33e0d595dd4c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Modèle</c:v>
          </c:tx>
          <c:spPr>
            <a:solidFill>
              <a:srgbClr val="303C8B"/>
            </a:solidFill>
            <a:ln w="23813">
              <a:solidFill>
                <a:srgbClr val="303C8B"/>
              </a:solidFill>
            </a:ln>
          </c:spPr>
          <c:marker>
            <c:symbol val="circle"/>
            <c:size val="3"/>
            <c:spPr>
              <a:solidFill>
                <a:srgbClr val="303C8B"/>
              </a:solidFill>
            </c:spPr>
          </c:marker>
          <c:xVal>
            <c:numRef>
              <c:f>'Chart Data'!$A$2:$A$61</c:f>
              <c:numCache>
                <c:formatCode>General</c:formatCode>
                <c:ptCount val="60"/>
                <c:pt idx="0">
                  <c:v>0</c:v>
                </c:pt>
                <c:pt idx="1">
                  <c:v>0</c:v>
                </c:pt>
                <c:pt idx="2">
                  <c:v>0</c:v>
                </c:pt>
                <c:pt idx="3">
                  <c:v>0.00265</c:v>
                </c:pt>
                <c:pt idx="4">
                  <c:v>0.00265</c:v>
                </c:pt>
                <c:pt idx="5">
                  <c:v>0.00531</c:v>
                </c:pt>
                <c:pt idx="6">
                  <c:v>0.00531</c:v>
                </c:pt>
                <c:pt idx="7">
                  <c:v>0.00796</c:v>
                </c:pt>
                <c:pt idx="8">
                  <c:v>0.01326</c:v>
                </c:pt>
                <c:pt idx="9">
                  <c:v>0.01326</c:v>
                </c:pt>
                <c:pt idx="10">
                  <c:v>0.01592</c:v>
                </c:pt>
                <c:pt idx="11">
                  <c:v>0.01592</c:v>
                </c:pt>
                <c:pt idx="12">
                  <c:v>0.01857</c:v>
                </c:pt>
                <c:pt idx="13">
                  <c:v>0.01857</c:v>
                </c:pt>
                <c:pt idx="14">
                  <c:v>0.02653</c:v>
                </c:pt>
                <c:pt idx="15">
                  <c:v>0.02918</c:v>
                </c:pt>
                <c:pt idx="16">
                  <c:v>0.02918</c:v>
                </c:pt>
                <c:pt idx="17">
                  <c:v>0.03979</c:v>
                </c:pt>
                <c:pt idx="18">
                  <c:v>0.03979</c:v>
                </c:pt>
                <c:pt idx="19">
                  <c:v>0.04509</c:v>
                </c:pt>
                <c:pt idx="20">
                  <c:v>0.04509</c:v>
                </c:pt>
                <c:pt idx="21">
                  <c:v>0.05305</c:v>
                </c:pt>
                <c:pt idx="22">
                  <c:v>0.05305</c:v>
                </c:pt>
                <c:pt idx="23">
                  <c:v>0.06366</c:v>
                </c:pt>
                <c:pt idx="24">
                  <c:v>0.06631</c:v>
                </c:pt>
                <c:pt idx="25">
                  <c:v>0.06631</c:v>
                </c:pt>
                <c:pt idx="26">
                  <c:v>0.09019</c:v>
                </c:pt>
                <c:pt idx="27">
                  <c:v>0.09019</c:v>
                </c:pt>
                <c:pt idx="28">
                  <c:v>0.11936</c:v>
                </c:pt>
                <c:pt idx="29">
                  <c:v>0.11936</c:v>
                </c:pt>
                <c:pt idx="30">
                  <c:v>0.15915</c:v>
                </c:pt>
                <c:pt idx="31">
                  <c:v>0.1618</c:v>
                </c:pt>
                <c:pt idx="32">
                  <c:v>0.1618</c:v>
                </c:pt>
                <c:pt idx="33">
                  <c:v>0.24668</c:v>
                </c:pt>
                <c:pt idx="34">
                  <c:v>0.24668</c:v>
                </c:pt>
                <c:pt idx="35">
                  <c:v>0.2626</c:v>
                </c:pt>
                <c:pt idx="36">
                  <c:v>0.2626</c:v>
                </c:pt>
                <c:pt idx="37">
                  <c:v>0.30769</c:v>
                </c:pt>
                <c:pt idx="38">
                  <c:v>0.3634</c:v>
                </c:pt>
                <c:pt idx="39">
                  <c:v>0.3634</c:v>
                </c:pt>
                <c:pt idx="40">
                  <c:v>0.37401</c:v>
                </c:pt>
                <c:pt idx="41">
                  <c:v>0.37401</c:v>
                </c:pt>
                <c:pt idx="42">
                  <c:v>0.38727</c:v>
                </c:pt>
                <c:pt idx="43">
                  <c:v>0.38727</c:v>
                </c:pt>
                <c:pt idx="44">
                  <c:v>0.44297</c:v>
                </c:pt>
                <c:pt idx="45">
                  <c:v>0.45358</c:v>
                </c:pt>
                <c:pt idx="46">
                  <c:v>0.45358</c:v>
                </c:pt>
                <c:pt idx="47">
                  <c:v>0.46684</c:v>
                </c:pt>
                <c:pt idx="48">
                  <c:v>0.46684</c:v>
                </c:pt>
                <c:pt idx="49">
                  <c:v>0.4695</c:v>
                </c:pt>
                <c:pt idx="50">
                  <c:v>0.4695</c:v>
                </c:pt>
                <c:pt idx="51">
                  <c:v>0.49867</c:v>
                </c:pt>
                <c:pt idx="52">
                  <c:v>0.56499</c:v>
                </c:pt>
                <c:pt idx="53">
                  <c:v>0.56499</c:v>
                </c:pt>
                <c:pt idx="54">
                  <c:v>0.64456</c:v>
                </c:pt>
                <c:pt idx="55">
                  <c:v>0.64456</c:v>
                </c:pt>
                <c:pt idx="56">
                  <c:v>0.65782</c:v>
                </c:pt>
                <c:pt idx="57">
                  <c:v>0.65782</c:v>
                </c:pt>
                <c:pt idx="58">
                  <c:v>0.7374</c:v>
                </c:pt>
                <c:pt idx="59">
                  <c:v>1</c:v>
                </c:pt>
              </c:numCache>
            </c:numRef>
          </c:xVal>
          <c:yVal>
            <c:numRef>
              <c:f>'Chart Data'!$B$2:$B$61</c:f>
              <c:numCache>
                <c:formatCode>General</c:formatCode>
                <c:ptCount val="60"/>
                <c:pt idx="0">
                  <c:v>0</c:v>
                </c:pt>
                <c:pt idx="1">
                  <c:v>0.02326</c:v>
                </c:pt>
                <c:pt idx="2">
                  <c:v>0.04651</c:v>
                </c:pt>
                <c:pt idx="3">
                  <c:v>0.04651</c:v>
                </c:pt>
                <c:pt idx="4">
                  <c:v>0.11628</c:v>
                </c:pt>
                <c:pt idx="5">
                  <c:v>0.11628</c:v>
                </c:pt>
                <c:pt idx="6">
                  <c:v>0.16279</c:v>
                </c:pt>
                <c:pt idx="7">
                  <c:v>0.16279</c:v>
                </c:pt>
                <c:pt idx="8">
                  <c:v>0.18605</c:v>
                </c:pt>
                <c:pt idx="9">
                  <c:v>0.25581</c:v>
                </c:pt>
                <c:pt idx="10">
                  <c:v>0.25581</c:v>
                </c:pt>
                <c:pt idx="11">
                  <c:v>0.27907</c:v>
                </c:pt>
                <c:pt idx="12">
                  <c:v>0.27907</c:v>
                </c:pt>
                <c:pt idx="13">
                  <c:v>0.30233</c:v>
                </c:pt>
                <c:pt idx="14">
                  <c:v>0.30233</c:v>
                </c:pt>
                <c:pt idx="15">
                  <c:v>0.37209</c:v>
                </c:pt>
                <c:pt idx="16">
                  <c:v>0.39535</c:v>
                </c:pt>
                <c:pt idx="17">
                  <c:v>0.39535</c:v>
                </c:pt>
                <c:pt idx="18">
                  <c:v>0.4186</c:v>
                </c:pt>
                <c:pt idx="19">
                  <c:v>0.4186</c:v>
                </c:pt>
                <c:pt idx="20">
                  <c:v>0.44186</c:v>
                </c:pt>
                <c:pt idx="21">
                  <c:v>0.44186</c:v>
                </c:pt>
                <c:pt idx="22">
                  <c:v>0.46512</c:v>
                </c:pt>
                <c:pt idx="23">
                  <c:v>0.48837</c:v>
                </c:pt>
                <c:pt idx="24">
                  <c:v>0.48837</c:v>
                </c:pt>
                <c:pt idx="25">
                  <c:v>0.53488</c:v>
                </c:pt>
                <c:pt idx="26">
                  <c:v>0.53488</c:v>
                </c:pt>
                <c:pt idx="27">
                  <c:v>0.55814</c:v>
                </c:pt>
                <c:pt idx="28">
                  <c:v>0.55814</c:v>
                </c:pt>
                <c:pt idx="29">
                  <c:v>0.5814</c:v>
                </c:pt>
                <c:pt idx="30">
                  <c:v>0.60465</c:v>
                </c:pt>
                <c:pt idx="31">
                  <c:v>0.60465</c:v>
                </c:pt>
                <c:pt idx="32">
                  <c:v>0.65116</c:v>
                </c:pt>
                <c:pt idx="33">
                  <c:v>0.65116</c:v>
                </c:pt>
                <c:pt idx="34">
                  <c:v>0.67442</c:v>
                </c:pt>
                <c:pt idx="35">
                  <c:v>0.67442</c:v>
                </c:pt>
                <c:pt idx="36">
                  <c:v>0.69767</c:v>
                </c:pt>
                <c:pt idx="37">
                  <c:v>0.72093</c:v>
                </c:pt>
                <c:pt idx="38">
                  <c:v>0.72093</c:v>
                </c:pt>
                <c:pt idx="39">
                  <c:v>0.74419</c:v>
                </c:pt>
                <c:pt idx="40">
                  <c:v>0.74419</c:v>
                </c:pt>
                <c:pt idx="41">
                  <c:v>0.76744</c:v>
                </c:pt>
                <c:pt idx="42">
                  <c:v>0.76744</c:v>
                </c:pt>
                <c:pt idx="43">
                  <c:v>0.7907</c:v>
                </c:pt>
                <c:pt idx="44">
                  <c:v>0.7907</c:v>
                </c:pt>
                <c:pt idx="45">
                  <c:v>0.81395</c:v>
                </c:pt>
                <c:pt idx="46">
                  <c:v>0.83721</c:v>
                </c:pt>
                <c:pt idx="47">
                  <c:v>0.83721</c:v>
                </c:pt>
                <c:pt idx="48">
                  <c:v>0.86047</c:v>
                </c:pt>
                <c:pt idx="49">
                  <c:v>0.86047</c:v>
                </c:pt>
                <c:pt idx="50">
                  <c:v>0.88372</c:v>
                </c:pt>
                <c:pt idx="51">
                  <c:v>0.88372</c:v>
                </c:pt>
                <c:pt idx="52">
                  <c:v>0.90698</c:v>
                </c:pt>
                <c:pt idx="53">
                  <c:v>0.93023</c:v>
                </c:pt>
                <c:pt idx="54">
                  <c:v>0.93023</c:v>
                </c:pt>
                <c:pt idx="55">
                  <c:v>0.95349</c:v>
                </c:pt>
                <c:pt idx="56">
                  <c:v>0.95349</c:v>
                </c:pt>
                <c:pt idx="57">
                  <c:v>0.97674</c:v>
                </c:pt>
                <c:pt idx="58">
                  <c:v>0.97674</c:v>
                </c:pt>
                <c:pt idx="59">
                  <c:v>1</c:v>
                </c:pt>
              </c:numCache>
            </c:numRef>
          </c:yVal>
          <c:smooth val="0"/>
        </c:ser>
        <c:ser>
          <c:idx val="1"/>
          <c:order val="1"/>
          <c:tx>
            <c:v>Aléatoire</c:v>
          </c:tx>
          <c:spPr>
            <a:solidFill>
              <a:srgbClr val="FF7900"/>
            </a:solidFill>
            <a:ln w="23813">
              <a:solidFill>
                <a:srgbClr val="FF7900"/>
              </a:solidFill>
            </a:ln>
          </c:spPr>
          <c:marker>
            <c:symbol val="circle"/>
            <c:size val="3"/>
            <c:spPr>
              <a:solidFill>
                <a:srgbClr val="FF7900"/>
              </a:solidFill>
            </c:spPr>
          </c:marker>
          <c:xVal>
            <c:numRef>
              <c:f>'Chart Data'!$C$2:$C$61</c:f>
              <c:numCache>
                <c:formatCode>General</c:formatCode>
                <c:ptCount val="60"/>
                <c:pt idx="0">
                  <c:v>0</c:v>
                </c:pt>
                <c:pt idx="1">
                  <c:v>0</c:v>
                </c:pt>
                <c:pt idx="2">
                  <c:v>0</c:v>
                </c:pt>
                <c:pt idx="3">
                  <c:v>0.00265</c:v>
                </c:pt>
                <c:pt idx="4">
                  <c:v>0.00265</c:v>
                </c:pt>
                <c:pt idx="5">
                  <c:v>0.00531</c:v>
                </c:pt>
                <c:pt idx="6">
                  <c:v>0.00531</c:v>
                </c:pt>
                <c:pt idx="7">
                  <c:v>0.00796</c:v>
                </c:pt>
                <c:pt idx="8">
                  <c:v>0.01326</c:v>
                </c:pt>
                <c:pt idx="9">
                  <c:v>0.01326</c:v>
                </c:pt>
                <c:pt idx="10">
                  <c:v>0.01592</c:v>
                </c:pt>
                <c:pt idx="11">
                  <c:v>0.01592</c:v>
                </c:pt>
                <c:pt idx="12">
                  <c:v>0.01857</c:v>
                </c:pt>
                <c:pt idx="13">
                  <c:v>0.01857</c:v>
                </c:pt>
                <c:pt idx="14">
                  <c:v>0.02653</c:v>
                </c:pt>
                <c:pt idx="15">
                  <c:v>0.02918</c:v>
                </c:pt>
                <c:pt idx="16">
                  <c:v>0.02918</c:v>
                </c:pt>
                <c:pt idx="17">
                  <c:v>0.03979</c:v>
                </c:pt>
                <c:pt idx="18">
                  <c:v>0.03979</c:v>
                </c:pt>
                <c:pt idx="19">
                  <c:v>0.04509</c:v>
                </c:pt>
                <c:pt idx="20">
                  <c:v>0.04509</c:v>
                </c:pt>
                <c:pt idx="21">
                  <c:v>0.05305</c:v>
                </c:pt>
                <c:pt idx="22">
                  <c:v>0.05305</c:v>
                </c:pt>
                <c:pt idx="23">
                  <c:v>0.06366</c:v>
                </c:pt>
                <c:pt idx="24">
                  <c:v>0.06631</c:v>
                </c:pt>
                <c:pt idx="25">
                  <c:v>0.06631</c:v>
                </c:pt>
                <c:pt idx="26">
                  <c:v>0.09019</c:v>
                </c:pt>
                <c:pt idx="27">
                  <c:v>0.09019</c:v>
                </c:pt>
                <c:pt idx="28">
                  <c:v>0.11936</c:v>
                </c:pt>
                <c:pt idx="29">
                  <c:v>0.11936</c:v>
                </c:pt>
                <c:pt idx="30">
                  <c:v>0.15915</c:v>
                </c:pt>
                <c:pt idx="31">
                  <c:v>0.1618</c:v>
                </c:pt>
                <c:pt idx="32">
                  <c:v>0.1618</c:v>
                </c:pt>
                <c:pt idx="33">
                  <c:v>0.24668</c:v>
                </c:pt>
                <c:pt idx="34">
                  <c:v>0.24668</c:v>
                </c:pt>
                <c:pt idx="35">
                  <c:v>0.2626</c:v>
                </c:pt>
                <c:pt idx="36">
                  <c:v>0.2626</c:v>
                </c:pt>
                <c:pt idx="37">
                  <c:v>0.30769</c:v>
                </c:pt>
                <c:pt idx="38">
                  <c:v>0.3634</c:v>
                </c:pt>
                <c:pt idx="39">
                  <c:v>0.3634</c:v>
                </c:pt>
                <c:pt idx="40">
                  <c:v>0.37401</c:v>
                </c:pt>
                <c:pt idx="41">
                  <c:v>0.37401</c:v>
                </c:pt>
                <c:pt idx="42">
                  <c:v>0.38727</c:v>
                </c:pt>
                <c:pt idx="43">
                  <c:v>0.38727</c:v>
                </c:pt>
                <c:pt idx="44">
                  <c:v>0.44297</c:v>
                </c:pt>
                <c:pt idx="45">
                  <c:v>0.45358</c:v>
                </c:pt>
                <c:pt idx="46">
                  <c:v>0.45358</c:v>
                </c:pt>
                <c:pt idx="47">
                  <c:v>0.46684</c:v>
                </c:pt>
                <c:pt idx="48">
                  <c:v>0.46684</c:v>
                </c:pt>
                <c:pt idx="49">
                  <c:v>0.4695</c:v>
                </c:pt>
                <c:pt idx="50">
                  <c:v>0.4695</c:v>
                </c:pt>
                <c:pt idx="51">
                  <c:v>0.49867</c:v>
                </c:pt>
                <c:pt idx="52">
                  <c:v>0.56499</c:v>
                </c:pt>
                <c:pt idx="53">
                  <c:v>0.56499</c:v>
                </c:pt>
                <c:pt idx="54">
                  <c:v>0.64456</c:v>
                </c:pt>
                <c:pt idx="55">
                  <c:v>0.64456</c:v>
                </c:pt>
                <c:pt idx="56">
                  <c:v>0.65782</c:v>
                </c:pt>
                <c:pt idx="57">
                  <c:v>0.65782</c:v>
                </c:pt>
                <c:pt idx="58">
                  <c:v>0.7374</c:v>
                </c:pt>
                <c:pt idx="59">
                  <c:v>1</c:v>
                </c:pt>
              </c:numCache>
            </c:numRef>
          </c:xVal>
          <c:yVal>
            <c:numRef>
              <c:f>'Chart Data'!$D$2:$D$61</c:f>
              <c:numCache>
                <c:formatCode>General</c:formatCode>
                <c:ptCount val="60"/>
                <c:pt idx="0">
                  <c:v>0</c:v>
                </c:pt>
                <c:pt idx="1">
                  <c:v>0</c:v>
                </c:pt>
                <c:pt idx="2">
                  <c:v>0</c:v>
                </c:pt>
                <c:pt idx="3">
                  <c:v>0.00265</c:v>
                </c:pt>
                <c:pt idx="4">
                  <c:v>0.00265</c:v>
                </c:pt>
                <c:pt idx="5">
                  <c:v>0.00531</c:v>
                </c:pt>
                <c:pt idx="6">
                  <c:v>0.00531</c:v>
                </c:pt>
                <c:pt idx="7">
                  <c:v>0.00796</c:v>
                </c:pt>
                <c:pt idx="8">
                  <c:v>0.01326</c:v>
                </c:pt>
                <c:pt idx="9">
                  <c:v>0.01326</c:v>
                </c:pt>
                <c:pt idx="10">
                  <c:v>0.01592</c:v>
                </c:pt>
                <c:pt idx="11">
                  <c:v>0.01592</c:v>
                </c:pt>
                <c:pt idx="12">
                  <c:v>0.01857</c:v>
                </c:pt>
                <c:pt idx="13">
                  <c:v>0.01857</c:v>
                </c:pt>
                <c:pt idx="14">
                  <c:v>0.02653</c:v>
                </c:pt>
                <c:pt idx="15">
                  <c:v>0.02918</c:v>
                </c:pt>
                <c:pt idx="16">
                  <c:v>0.02918</c:v>
                </c:pt>
                <c:pt idx="17">
                  <c:v>0.03979</c:v>
                </c:pt>
                <c:pt idx="18">
                  <c:v>0.03979</c:v>
                </c:pt>
                <c:pt idx="19">
                  <c:v>0.04509</c:v>
                </c:pt>
                <c:pt idx="20">
                  <c:v>0.04509</c:v>
                </c:pt>
                <c:pt idx="21">
                  <c:v>0.05305</c:v>
                </c:pt>
                <c:pt idx="22">
                  <c:v>0.05305</c:v>
                </c:pt>
                <c:pt idx="23">
                  <c:v>0.06366</c:v>
                </c:pt>
                <c:pt idx="24">
                  <c:v>0.06631</c:v>
                </c:pt>
                <c:pt idx="25">
                  <c:v>0.06631</c:v>
                </c:pt>
                <c:pt idx="26">
                  <c:v>0.09019</c:v>
                </c:pt>
                <c:pt idx="27">
                  <c:v>0.09019</c:v>
                </c:pt>
                <c:pt idx="28">
                  <c:v>0.11936</c:v>
                </c:pt>
                <c:pt idx="29">
                  <c:v>0.11936</c:v>
                </c:pt>
                <c:pt idx="30">
                  <c:v>0.15915</c:v>
                </c:pt>
                <c:pt idx="31">
                  <c:v>0.1618</c:v>
                </c:pt>
                <c:pt idx="32">
                  <c:v>0.1618</c:v>
                </c:pt>
                <c:pt idx="33">
                  <c:v>0.24668</c:v>
                </c:pt>
                <c:pt idx="34">
                  <c:v>0.24668</c:v>
                </c:pt>
                <c:pt idx="35">
                  <c:v>0.2626</c:v>
                </c:pt>
                <c:pt idx="36">
                  <c:v>0.2626</c:v>
                </c:pt>
                <c:pt idx="37">
                  <c:v>0.30769</c:v>
                </c:pt>
                <c:pt idx="38">
                  <c:v>0.3634</c:v>
                </c:pt>
                <c:pt idx="39">
                  <c:v>0.3634</c:v>
                </c:pt>
                <c:pt idx="40">
                  <c:v>0.37401</c:v>
                </c:pt>
                <c:pt idx="41">
                  <c:v>0.37401</c:v>
                </c:pt>
                <c:pt idx="42">
                  <c:v>0.38727</c:v>
                </c:pt>
                <c:pt idx="43">
                  <c:v>0.38727</c:v>
                </c:pt>
                <c:pt idx="44">
                  <c:v>0.44297</c:v>
                </c:pt>
                <c:pt idx="45">
                  <c:v>0.45358</c:v>
                </c:pt>
                <c:pt idx="46">
                  <c:v>0.45358</c:v>
                </c:pt>
                <c:pt idx="47">
                  <c:v>0.46684</c:v>
                </c:pt>
                <c:pt idx="48">
                  <c:v>0.46684</c:v>
                </c:pt>
                <c:pt idx="49">
                  <c:v>0.4695</c:v>
                </c:pt>
                <c:pt idx="50">
                  <c:v>0.4695</c:v>
                </c:pt>
                <c:pt idx="51">
                  <c:v>0.49867</c:v>
                </c:pt>
                <c:pt idx="52">
                  <c:v>0.56499</c:v>
                </c:pt>
                <c:pt idx="53">
                  <c:v>0.56499</c:v>
                </c:pt>
                <c:pt idx="54">
                  <c:v>0.64456</c:v>
                </c:pt>
                <c:pt idx="55">
                  <c:v>0.64456</c:v>
                </c:pt>
                <c:pt idx="56">
                  <c:v>0.65782</c:v>
                </c:pt>
                <c:pt idx="57">
                  <c:v>0.65782</c:v>
                </c:pt>
                <c:pt idx="58">
                  <c:v>0.7374</c:v>
                </c:pt>
                <c:pt idx="59">
                  <c:v>1</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9525">
              <a:solidFill>
                <a:srgbClr val="E5E7EE"/>
              </a:solidFill>
            </a:ln>
          </c:spPr>
        </c:majorGridlines>
        <c:title>
          <c:tx>
            <c:rich>
              <a:bodyPr/>
              <a:lstStyle/>
              <a:p>
                <a:r>
                  <a:rPr>
                    <a:latin typeface="DM Sans"/>
                    <a:ea typeface="DM Sans"/>
                    <a:cs typeface="DM Sans"/>
                  </a:rPr>
                  <a:t>Rappel</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max val="1"/>
          <c:min val="0"/>
        </c:scaling>
        <c:delete val="0"/>
        <c:axPos val="b"/>
        <c:title>
          <c:tx>
            <c:rich>
              <a:bodyPr/>
              <a:lstStyle/>
              <a:p>
                <a:r>
                  <a:rPr>
                    <a:latin typeface="DM Sans"/>
                    <a:ea typeface="DM Sans"/>
                    <a:cs typeface="DM Sans"/>
                  </a:rPr>
                  <a:t>Taux de faux positifs</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Modèle</c:v>
          </c:tx>
          <c:spPr>
            <a:solidFill>
              <a:srgbClr val="303C8B"/>
            </a:solidFill>
            <a:ln w="23813">
              <a:solidFill>
                <a:srgbClr val="303C8B"/>
              </a:solidFill>
            </a:ln>
          </c:spPr>
          <c:marker>
            <c:symbol val="circle"/>
            <c:size val="3"/>
            <c:spPr>
              <a:solidFill>
                <a:srgbClr val="303C8B"/>
              </a:solidFill>
            </c:spPr>
          </c:marker>
          <c:xVal>
            <c:numRef>
              <c:f>'Chart Data'!$A$2:$A$61</c:f>
              <c:numCache>
                <c:formatCode>General</c:formatCode>
                <c:ptCount val="6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0.97674</c:v>
                </c:pt>
                <c:pt idx="16">
                  <c:v>0.97674</c:v>
                </c:pt>
                <c:pt idx="17">
                  <c:v>0.97674</c:v>
                </c:pt>
                <c:pt idx="18">
                  <c:v>0.97674</c:v>
                </c:pt>
                <c:pt idx="19">
                  <c:v>0.95349</c:v>
                </c:pt>
                <c:pt idx="20">
                  <c:v>0.93023</c:v>
                </c:pt>
                <c:pt idx="21">
                  <c:v>0.93023</c:v>
                </c:pt>
                <c:pt idx="22">
                  <c:v>0.93023</c:v>
                </c:pt>
                <c:pt idx="23">
                  <c:v>0.93023</c:v>
                </c:pt>
                <c:pt idx="24">
                  <c:v>0.90698</c:v>
                </c:pt>
                <c:pt idx="25">
                  <c:v>0.90698</c:v>
                </c:pt>
                <c:pt idx="26">
                  <c:v>0.90698</c:v>
                </c:pt>
                <c:pt idx="27">
                  <c:v>0.90698</c:v>
                </c:pt>
                <c:pt idx="28">
                  <c:v>0.88372</c:v>
                </c:pt>
                <c:pt idx="29">
                  <c:v>0.86047</c:v>
                </c:pt>
                <c:pt idx="30">
                  <c:v>0.83721</c:v>
                </c:pt>
                <c:pt idx="31">
                  <c:v>0.7907</c:v>
                </c:pt>
                <c:pt idx="32">
                  <c:v>0.7907</c:v>
                </c:pt>
                <c:pt idx="33">
                  <c:v>0.7907</c:v>
                </c:pt>
                <c:pt idx="34">
                  <c:v>0.76744</c:v>
                </c:pt>
                <c:pt idx="35">
                  <c:v>0.74419</c:v>
                </c:pt>
                <c:pt idx="36">
                  <c:v>0.72093</c:v>
                </c:pt>
                <c:pt idx="37">
                  <c:v>0.72093</c:v>
                </c:pt>
                <c:pt idx="38">
                  <c:v>0.72093</c:v>
                </c:pt>
                <c:pt idx="39">
                  <c:v>0.69767</c:v>
                </c:pt>
                <c:pt idx="40">
                  <c:v>0.69767</c:v>
                </c:pt>
                <c:pt idx="41">
                  <c:v>0.69767</c:v>
                </c:pt>
                <c:pt idx="42">
                  <c:v>0.67442</c:v>
                </c:pt>
                <c:pt idx="43">
                  <c:v>0.65116</c:v>
                </c:pt>
                <c:pt idx="44">
                  <c:v>0.65116</c:v>
                </c:pt>
                <c:pt idx="45">
                  <c:v>0.65116</c:v>
                </c:pt>
                <c:pt idx="46">
                  <c:v>0.65116</c:v>
                </c:pt>
                <c:pt idx="47">
                  <c:v>0.60465</c:v>
                </c:pt>
                <c:pt idx="48">
                  <c:v>0.5814</c:v>
                </c:pt>
                <c:pt idx="49">
                  <c:v>0.5814</c:v>
                </c:pt>
                <c:pt idx="50">
                  <c:v>0.55814</c:v>
                </c:pt>
                <c:pt idx="51">
                  <c:v>0.53488</c:v>
                </c:pt>
                <c:pt idx="52">
                  <c:v>0.53488</c:v>
                </c:pt>
                <c:pt idx="53">
                  <c:v>0.46512</c:v>
                </c:pt>
                <c:pt idx="54">
                  <c:v>0.44186</c:v>
                </c:pt>
                <c:pt idx="55">
                  <c:v>0.39535</c:v>
                </c:pt>
                <c:pt idx="56">
                  <c:v>0.30233</c:v>
                </c:pt>
                <c:pt idx="57">
                  <c:v>0.23256</c:v>
                </c:pt>
                <c:pt idx="58">
                  <c:v>0.13953</c:v>
                </c:pt>
                <c:pt idx="59">
                  <c:v>0</c:v>
                </c:pt>
              </c:numCache>
            </c:numRef>
          </c:xVal>
          <c:yVal>
            <c:numRef>
              <c:f>'Chart Data'!$B$2:$B$61</c:f>
              <c:numCache>
                <c:formatCode>General</c:formatCode>
                <c:ptCount val="60"/>
                <c:pt idx="0">
                  <c:v>0.10238</c:v>
                </c:pt>
                <c:pt idx="1">
                  <c:v>0.10412</c:v>
                </c:pt>
                <c:pt idx="2">
                  <c:v>0.10591</c:v>
                </c:pt>
                <c:pt idx="3">
                  <c:v>0.10777</c:v>
                </c:pt>
                <c:pt idx="4">
                  <c:v>0.10969</c:v>
                </c:pt>
                <c:pt idx="5">
                  <c:v>0.11169</c:v>
                </c:pt>
                <c:pt idx="6">
                  <c:v>0.11376</c:v>
                </c:pt>
                <c:pt idx="7">
                  <c:v>0.1159</c:v>
                </c:pt>
                <c:pt idx="8">
                  <c:v>0.11813</c:v>
                </c:pt>
                <c:pt idx="9">
                  <c:v>0.12079</c:v>
                </c:pt>
                <c:pt idx="10">
                  <c:v>0.12321</c:v>
                </c:pt>
                <c:pt idx="11">
                  <c:v>0.12573</c:v>
                </c:pt>
                <c:pt idx="12">
                  <c:v>0.12836</c:v>
                </c:pt>
                <c:pt idx="13">
                  <c:v>0.1311</c:v>
                </c:pt>
                <c:pt idx="14">
                  <c:v>0.13396</c:v>
                </c:pt>
                <c:pt idx="15">
                  <c:v>0.13376</c:v>
                </c:pt>
                <c:pt idx="16">
                  <c:v>0.13681</c:v>
                </c:pt>
                <c:pt idx="17">
                  <c:v>0.14047</c:v>
                </c:pt>
                <c:pt idx="18">
                  <c:v>0.14384</c:v>
                </c:pt>
                <c:pt idx="19">
                  <c:v>0.14386</c:v>
                </c:pt>
                <c:pt idx="20">
                  <c:v>0.14388</c:v>
                </c:pt>
                <c:pt idx="21">
                  <c:v>0.1476</c:v>
                </c:pt>
                <c:pt idx="22">
                  <c:v>0.15152</c:v>
                </c:pt>
                <c:pt idx="23">
                  <c:v>0.15564</c:v>
                </c:pt>
                <c:pt idx="24">
                  <c:v>0.156</c:v>
                </c:pt>
                <c:pt idx="25">
                  <c:v>0.16049</c:v>
                </c:pt>
                <c:pt idx="26">
                  <c:v>0.16596</c:v>
                </c:pt>
                <c:pt idx="27">
                  <c:v>0.17105</c:v>
                </c:pt>
                <c:pt idx="28">
                  <c:v>0.17195</c:v>
                </c:pt>
                <c:pt idx="29">
                  <c:v>0.1729</c:v>
                </c:pt>
                <c:pt idx="30">
                  <c:v>0.17391</c:v>
                </c:pt>
                <c:pt idx="31">
                  <c:v>0.17</c:v>
                </c:pt>
                <c:pt idx="32">
                  <c:v>0.17617</c:v>
                </c:pt>
                <c:pt idx="33">
                  <c:v>0.1828</c:v>
                </c:pt>
                <c:pt idx="34">
                  <c:v>0.18539</c:v>
                </c:pt>
                <c:pt idx="35">
                  <c:v>0.18713</c:v>
                </c:pt>
                <c:pt idx="36">
                  <c:v>0.18902</c:v>
                </c:pt>
                <c:pt idx="37">
                  <c:v>0.19745</c:v>
                </c:pt>
                <c:pt idx="38">
                  <c:v>0.20667</c:v>
                </c:pt>
                <c:pt idx="39">
                  <c:v>0.20979</c:v>
                </c:pt>
                <c:pt idx="40">
                  <c:v>0.22059</c:v>
                </c:pt>
                <c:pt idx="41">
                  <c:v>0.23256</c:v>
                </c:pt>
                <c:pt idx="42">
                  <c:v>0.2377</c:v>
                </c:pt>
                <c:pt idx="43">
                  <c:v>0.24561</c:v>
                </c:pt>
                <c:pt idx="44">
                  <c:v>0.26168</c:v>
                </c:pt>
                <c:pt idx="45">
                  <c:v>0.28</c:v>
                </c:pt>
                <c:pt idx="46">
                  <c:v>0.30108</c:v>
                </c:pt>
                <c:pt idx="47">
                  <c:v>0.30233</c:v>
                </c:pt>
                <c:pt idx="48">
                  <c:v>0.31646</c:v>
                </c:pt>
                <c:pt idx="49">
                  <c:v>0.34722</c:v>
                </c:pt>
                <c:pt idx="50">
                  <c:v>0.36923</c:v>
                </c:pt>
                <c:pt idx="51">
                  <c:v>0.40351</c:v>
                </c:pt>
                <c:pt idx="52">
                  <c:v>0.46</c:v>
                </c:pt>
                <c:pt idx="53">
                  <c:v>0.46512</c:v>
                </c:pt>
                <c:pt idx="54">
                  <c:v>0.52778</c:v>
                </c:pt>
                <c:pt idx="55">
                  <c:v>0.58621</c:v>
                </c:pt>
                <c:pt idx="56">
                  <c:v>0.59091</c:v>
                </c:pt>
                <c:pt idx="57">
                  <c:v>0.66667</c:v>
                </c:pt>
                <c:pt idx="58">
                  <c:v>0.75</c:v>
                </c:pt>
                <c:pt idx="59">
                  <c:v>1</c:v>
                </c:pt>
              </c:numCache>
            </c:numRef>
          </c:yVal>
          <c:smooth val="0"/>
        </c:ser>
        <c:ser>
          <c:idx val="1"/>
          <c:order val="1"/>
          <c:tx>
            <c:v>Prévalence</c:v>
          </c:tx>
          <c:spPr>
            <a:solidFill>
              <a:srgbClr val="FF7900"/>
            </a:solidFill>
            <a:ln w="23813">
              <a:solidFill>
                <a:srgbClr val="FF7900"/>
              </a:solidFill>
            </a:ln>
          </c:spPr>
          <c:marker>
            <c:symbol val="circle"/>
            <c:size val="3"/>
            <c:spPr>
              <a:solidFill>
                <a:srgbClr val="FF7900"/>
              </a:solidFill>
            </c:spPr>
          </c:marker>
          <c:xVal>
            <c:numRef>
              <c:f>'Chart Data'!$C$2:$C$61</c:f>
              <c:numCache>
                <c:formatCode>General</c:formatCode>
                <c:ptCount val="6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0.97674</c:v>
                </c:pt>
                <c:pt idx="16">
                  <c:v>0.97674</c:v>
                </c:pt>
                <c:pt idx="17">
                  <c:v>0.97674</c:v>
                </c:pt>
                <c:pt idx="18">
                  <c:v>0.97674</c:v>
                </c:pt>
                <c:pt idx="19">
                  <c:v>0.95349</c:v>
                </c:pt>
                <c:pt idx="20">
                  <c:v>0.93023</c:v>
                </c:pt>
                <c:pt idx="21">
                  <c:v>0.93023</c:v>
                </c:pt>
                <c:pt idx="22">
                  <c:v>0.93023</c:v>
                </c:pt>
                <c:pt idx="23">
                  <c:v>0.93023</c:v>
                </c:pt>
                <c:pt idx="24">
                  <c:v>0.90698</c:v>
                </c:pt>
                <c:pt idx="25">
                  <c:v>0.90698</c:v>
                </c:pt>
                <c:pt idx="26">
                  <c:v>0.90698</c:v>
                </c:pt>
                <c:pt idx="27">
                  <c:v>0.90698</c:v>
                </c:pt>
                <c:pt idx="28">
                  <c:v>0.88372</c:v>
                </c:pt>
                <c:pt idx="29">
                  <c:v>0.86047</c:v>
                </c:pt>
                <c:pt idx="30">
                  <c:v>0.83721</c:v>
                </c:pt>
                <c:pt idx="31">
                  <c:v>0.7907</c:v>
                </c:pt>
                <c:pt idx="32">
                  <c:v>0.7907</c:v>
                </c:pt>
                <c:pt idx="33">
                  <c:v>0.7907</c:v>
                </c:pt>
                <c:pt idx="34">
                  <c:v>0.76744</c:v>
                </c:pt>
                <c:pt idx="35">
                  <c:v>0.74419</c:v>
                </c:pt>
                <c:pt idx="36">
                  <c:v>0.72093</c:v>
                </c:pt>
                <c:pt idx="37">
                  <c:v>0.72093</c:v>
                </c:pt>
                <c:pt idx="38">
                  <c:v>0.72093</c:v>
                </c:pt>
                <c:pt idx="39">
                  <c:v>0.69767</c:v>
                </c:pt>
                <c:pt idx="40">
                  <c:v>0.69767</c:v>
                </c:pt>
                <c:pt idx="41">
                  <c:v>0.69767</c:v>
                </c:pt>
                <c:pt idx="42">
                  <c:v>0.67442</c:v>
                </c:pt>
                <c:pt idx="43">
                  <c:v>0.65116</c:v>
                </c:pt>
                <c:pt idx="44">
                  <c:v>0.65116</c:v>
                </c:pt>
                <c:pt idx="45">
                  <c:v>0.65116</c:v>
                </c:pt>
                <c:pt idx="46">
                  <c:v>0.65116</c:v>
                </c:pt>
                <c:pt idx="47">
                  <c:v>0.60465</c:v>
                </c:pt>
                <c:pt idx="48">
                  <c:v>0.5814</c:v>
                </c:pt>
                <c:pt idx="49">
                  <c:v>0.5814</c:v>
                </c:pt>
                <c:pt idx="50">
                  <c:v>0.55814</c:v>
                </c:pt>
                <c:pt idx="51">
                  <c:v>0.53488</c:v>
                </c:pt>
                <c:pt idx="52">
                  <c:v>0.53488</c:v>
                </c:pt>
                <c:pt idx="53">
                  <c:v>0.46512</c:v>
                </c:pt>
                <c:pt idx="54">
                  <c:v>0.44186</c:v>
                </c:pt>
                <c:pt idx="55">
                  <c:v>0.39535</c:v>
                </c:pt>
                <c:pt idx="56">
                  <c:v>0.30233</c:v>
                </c:pt>
                <c:pt idx="57">
                  <c:v>0.23256</c:v>
                </c:pt>
                <c:pt idx="58">
                  <c:v>0.13953</c:v>
                </c:pt>
                <c:pt idx="59">
                  <c:v>0</c:v>
                </c:pt>
              </c:numCache>
            </c:numRef>
          </c:xVal>
          <c:yVal>
            <c:numRef>
              <c:f>'Chart Data'!$D$2:$D$61</c:f>
              <c:numCache>
                <c:formatCode>General</c:formatCode>
                <c:ptCount val="60"/>
                <c:pt idx="0">
                  <c:v>0.10238</c:v>
                </c:pt>
                <c:pt idx="1">
                  <c:v>0.10238</c:v>
                </c:pt>
                <c:pt idx="2">
                  <c:v>0.10238</c:v>
                </c:pt>
                <c:pt idx="3">
                  <c:v>0.10238</c:v>
                </c:pt>
                <c:pt idx="4">
                  <c:v>0.10238</c:v>
                </c:pt>
                <c:pt idx="5">
                  <c:v>0.10238</c:v>
                </c:pt>
                <c:pt idx="6">
                  <c:v>0.10238</c:v>
                </c:pt>
                <c:pt idx="7">
                  <c:v>0.10238</c:v>
                </c:pt>
                <c:pt idx="8">
                  <c:v>0.10238</c:v>
                </c:pt>
                <c:pt idx="9">
                  <c:v>0.10238</c:v>
                </c:pt>
                <c:pt idx="10">
                  <c:v>0.10238</c:v>
                </c:pt>
                <c:pt idx="11">
                  <c:v>0.10238</c:v>
                </c:pt>
                <c:pt idx="12">
                  <c:v>0.10238</c:v>
                </c:pt>
                <c:pt idx="13">
                  <c:v>0.10238</c:v>
                </c:pt>
                <c:pt idx="14">
                  <c:v>0.10238</c:v>
                </c:pt>
                <c:pt idx="15">
                  <c:v>0.10238</c:v>
                </c:pt>
                <c:pt idx="16">
                  <c:v>0.10238</c:v>
                </c:pt>
                <c:pt idx="17">
                  <c:v>0.10238</c:v>
                </c:pt>
                <c:pt idx="18">
                  <c:v>0.10238</c:v>
                </c:pt>
                <c:pt idx="19">
                  <c:v>0.10238</c:v>
                </c:pt>
                <c:pt idx="20">
                  <c:v>0.10238</c:v>
                </c:pt>
                <c:pt idx="21">
                  <c:v>0.10238</c:v>
                </c:pt>
                <c:pt idx="22">
                  <c:v>0.10238</c:v>
                </c:pt>
                <c:pt idx="23">
                  <c:v>0.10238</c:v>
                </c:pt>
                <c:pt idx="24">
                  <c:v>0.10238</c:v>
                </c:pt>
                <c:pt idx="25">
                  <c:v>0.10238</c:v>
                </c:pt>
                <c:pt idx="26">
                  <c:v>0.10238</c:v>
                </c:pt>
                <c:pt idx="27">
                  <c:v>0.10238</c:v>
                </c:pt>
                <c:pt idx="28">
                  <c:v>0.10238</c:v>
                </c:pt>
                <c:pt idx="29">
                  <c:v>0.10238</c:v>
                </c:pt>
                <c:pt idx="30">
                  <c:v>0.10238</c:v>
                </c:pt>
                <c:pt idx="31">
                  <c:v>0.10238</c:v>
                </c:pt>
                <c:pt idx="32">
                  <c:v>0.10238</c:v>
                </c:pt>
                <c:pt idx="33">
                  <c:v>0.10238</c:v>
                </c:pt>
                <c:pt idx="34">
                  <c:v>0.10238</c:v>
                </c:pt>
                <c:pt idx="35">
                  <c:v>0.10238</c:v>
                </c:pt>
                <c:pt idx="36">
                  <c:v>0.10238</c:v>
                </c:pt>
                <c:pt idx="37">
                  <c:v>0.10238</c:v>
                </c:pt>
                <c:pt idx="38">
                  <c:v>0.10238</c:v>
                </c:pt>
                <c:pt idx="39">
                  <c:v>0.10238</c:v>
                </c:pt>
                <c:pt idx="40">
                  <c:v>0.10238</c:v>
                </c:pt>
                <c:pt idx="41">
                  <c:v>0.10238</c:v>
                </c:pt>
                <c:pt idx="42">
                  <c:v>0.10238</c:v>
                </c:pt>
                <c:pt idx="43">
                  <c:v>0.10238</c:v>
                </c:pt>
                <c:pt idx="44">
                  <c:v>0.10238</c:v>
                </c:pt>
                <c:pt idx="45">
                  <c:v>0.10238</c:v>
                </c:pt>
                <c:pt idx="46">
                  <c:v>0.10238</c:v>
                </c:pt>
                <c:pt idx="47">
                  <c:v>0.10238</c:v>
                </c:pt>
                <c:pt idx="48">
                  <c:v>0.10238</c:v>
                </c:pt>
                <c:pt idx="49">
                  <c:v>0.10238</c:v>
                </c:pt>
                <c:pt idx="50">
                  <c:v>0.10238</c:v>
                </c:pt>
                <c:pt idx="51">
                  <c:v>0.10238</c:v>
                </c:pt>
                <c:pt idx="52">
                  <c:v>0.10238</c:v>
                </c:pt>
                <c:pt idx="53">
                  <c:v>0.10238</c:v>
                </c:pt>
                <c:pt idx="54">
                  <c:v>0.10238</c:v>
                </c:pt>
                <c:pt idx="55">
                  <c:v>0.10238</c:v>
                </c:pt>
                <c:pt idx="56">
                  <c:v>0.10238</c:v>
                </c:pt>
                <c:pt idx="57">
                  <c:v>0.10238</c:v>
                </c:pt>
                <c:pt idx="58">
                  <c:v>0.10238</c:v>
                </c:pt>
                <c:pt idx="59">
                  <c:v>0.10238</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9525">
              <a:solidFill>
                <a:srgbClr val="E5E7EE"/>
              </a:solidFill>
            </a:ln>
          </c:spPr>
        </c:majorGridlines>
        <c:title>
          <c:tx>
            <c:rich>
              <a:bodyPr/>
              <a:lstStyle/>
              <a:p>
                <a:r>
                  <a:rPr>
                    <a:latin typeface="DM Sans"/>
                    <a:ea typeface="DM Sans"/>
                    <a:cs typeface="DM Sans"/>
                  </a:rPr>
                  <a:t>Précision</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max val="1"/>
          <c:min val="0"/>
        </c:scaling>
        <c:delete val="0"/>
        <c:axPos val="b"/>
        <c:title>
          <c:tx>
            <c:rich>
              <a:bodyPr/>
              <a:lstStyle/>
              <a:p>
                <a:r>
                  <a:rPr>
                    <a:latin typeface="DM Sans"/>
                    <a:ea typeface="DM Sans"/>
                    <a:cs typeface="DM Sans"/>
                  </a:rPr>
                  <a:t>Rappel</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Biais²</c:v>
          </c:tx>
          <c:spPr>
            <a:solidFill>
              <a:srgbClr val="303C8B"/>
            </a:solidFill>
            <a:ln w="23813">
              <a:solidFill>
                <a:srgbClr val="303C8B"/>
              </a:solidFill>
            </a:ln>
          </c:spPr>
          <c:marker>
            <c:symbol val="none"/>
            <c:size val="3"/>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General</c:formatCode>
                <c:ptCount val="10"/>
                <c:pt idx="0">
                  <c:v>4</c:v>
                </c:pt>
                <c:pt idx="1">
                  <c:v>2</c:v>
                </c:pt>
                <c:pt idx="2">
                  <c:v>1.33333</c:v>
                </c:pt>
                <c:pt idx="3">
                  <c:v>1</c:v>
                </c:pt>
                <c:pt idx="4">
                  <c:v>0.8</c:v>
                </c:pt>
                <c:pt idx="5">
                  <c:v>0.66667</c:v>
                </c:pt>
                <c:pt idx="6">
                  <c:v>0.57143</c:v>
                </c:pt>
                <c:pt idx="7">
                  <c:v>0.5</c:v>
                </c:pt>
                <c:pt idx="8">
                  <c:v>0.44444</c:v>
                </c:pt>
                <c:pt idx="9">
                  <c:v>0.4</c:v>
                </c:pt>
              </c:numCache>
            </c:numRef>
          </c:val>
          <c:smooth val="0"/>
        </c:ser>
        <c:ser>
          <c:idx val="1"/>
          <c:order val="1"/>
          <c:tx>
            <c:v>Variance</c:v>
          </c:tx>
          <c:spPr>
            <a:solidFill>
              <a:srgbClr val="FF7900"/>
            </a:solidFill>
            <a:ln w="23813">
              <a:solidFill>
                <a:srgbClr val="FF7900"/>
              </a:solidFill>
            </a:ln>
          </c:spPr>
          <c:marker>
            <c:symbol val="none"/>
            <c:size val="3"/>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General</c:formatCode>
                <c:ptCount val="10"/>
                <c:pt idx="0">
                  <c:v>0.055</c:v>
                </c:pt>
                <c:pt idx="1">
                  <c:v>0.22</c:v>
                </c:pt>
                <c:pt idx="2">
                  <c:v>0.495</c:v>
                </c:pt>
                <c:pt idx="3">
                  <c:v>0.88</c:v>
                </c:pt>
                <c:pt idx="4">
                  <c:v>1.375</c:v>
                </c:pt>
                <c:pt idx="5">
                  <c:v>1.98</c:v>
                </c:pt>
                <c:pt idx="6">
                  <c:v>2.695</c:v>
                </c:pt>
                <c:pt idx="7">
                  <c:v>3.52</c:v>
                </c:pt>
                <c:pt idx="8">
                  <c:v>4.455</c:v>
                </c:pt>
                <c:pt idx="9">
                  <c:v>5.5</c:v>
                </c:pt>
              </c:numCache>
            </c:numRef>
          </c:val>
          <c:smooth val="0"/>
        </c:ser>
        <c:ser>
          <c:idx val="2"/>
          <c:order val="2"/>
          <c:tx>
            <c:v>Erreur totale</c:v>
          </c:tx>
          <c:spPr>
            <a:solidFill>
              <a:srgbClr val="16A5AA"/>
            </a:solidFill>
            <a:ln w="23813">
              <a:solidFill>
                <a:srgbClr val="16A5AA"/>
              </a:solidFill>
            </a:ln>
          </c:spPr>
          <c:marker>
            <c:symbol val="none"/>
            <c:size val="3"/>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General</c:formatCode>
                <c:ptCount val="10"/>
                <c:pt idx="0">
                  <c:v>4.555</c:v>
                </c:pt>
                <c:pt idx="1">
                  <c:v>2.72</c:v>
                </c:pt>
                <c:pt idx="2">
                  <c:v>2.32833</c:v>
                </c:pt>
                <c:pt idx="3">
                  <c:v>2.38</c:v>
                </c:pt>
                <c:pt idx="4">
                  <c:v>2.675</c:v>
                </c:pt>
                <c:pt idx="5">
                  <c:v>3.14667</c:v>
                </c:pt>
                <c:pt idx="6">
                  <c:v>3.76643</c:v>
                </c:pt>
                <c:pt idx="7">
                  <c:v>4.52</c:v>
                </c:pt>
                <c:pt idx="8">
                  <c:v>5.39944</c:v>
                </c:pt>
                <c:pt idx="9">
                  <c:v>6.4</c:v>
                </c:pt>
              </c:numCache>
            </c:numRef>
          </c: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DM Sans"/>
                    <a:ea typeface="DM Sans"/>
                    <a:cs typeface="DM Sans"/>
                  </a:rPr>
                  <a:t>Complexité</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Erreur quadratique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Entraînement</c:v>
          </c:tx>
          <c:spPr>
            <a:solidFill>
              <a:srgbClr val="303C8B"/>
            </a:solidFill>
            <a:ln w="23813">
              <a:solidFill>
                <a:srgbClr val="303C8B"/>
              </a:solidFill>
            </a:ln>
          </c:spPr>
          <c:marker>
            <c:symbol val="circle"/>
            <c:size val="3"/>
            <c:spPr>
              <a:solidFill>
                <a:srgbClr val="303C8B"/>
              </a:solidFill>
            </c:spPr>
          </c:marker>
          <c:xVal>
            <c:numRef>
              <c:f>'Chart Data'!$A$2:$A$7</c:f>
              <c:numCache>
                <c:formatCode>General</c:formatCode>
                <c:ptCount val="6"/>
                <c:pt idx="0">
                  <c:v>50</c:v>
                </c:pt>
                <c:pt idx="1">
                  <c:v>100</c:v>
                </c:pt>
                <c:pt idx="2">
                  <c:v>200</c:v>
                </c:pt>
                <c:pt idx="3">
                  <c:v>400</c:v>
                </c:pt>
                <c:pt idx="4">
                  <c:v>800</c:v>
                </c:pt>
                <c:pt idx="5">
                  <c:v>1600</c:v>
                </c:pt>
              </c:numCache>
            </c:numRef>
          </c:xVal>
          <c:yVal>
            <c:numRef>
              <c:f>'Chart Data'!$B$2:$B$7</c:f>
              <c:numCache>
                <c:formatCode>General</c:formatCode>
                <c:ptCount val="6"/>
                <c:pt idx="0">
                  <c:v>0.98</c:v>
                </c:pt>
                <c:pt idx="1">
                  <c:v>0.94</c:v>
                </c:pt>
                <c:pt idx="2">
                  <c:v>0.9</c:v>
                </c:pt>
                <c:pt idx="3">
                  <c:v>0.88</c:v>
                </c:pt>
                <c:pt idx="4">
                  <c:v>0.87</c:v>
                </c:pt>
                <c:pt idx="5">
                  <c:v>0.86</c:v>
                </c:pt>
              </c:numCache>
            </c:numRef>
          </c:yVal>
          <c:smooth val="0"/>
        </c:ser>
        <c:ser>
          <c:idx val="1"/>
          <c:order val="1"/>
          <c:tx>
            <c:v>Validation</c:v>
          </c:tx>
          <c:spPr>
            <a:solidFill>
              <a:srgbClr val="FF7900"/>
            </a:solidFill>
            <a:ln w="23813">
              <a:solidFill>
                <a:srgbClr val="FF7900"/>
              </a:solidFill>
            </a:ln>
          </c:spPr>
          <c:marker>
            <c:symbol val="circle"/>
            <c:size val="3"/>
            <c:spPr>
              <a:solidFill>
                <a:srgbClr val="FF7900"/>
              </a:solidFill>
            </c:spPr>
          </c:marker>
          <c:xVal>
            <c:numRef>
              <c:f>'Chart Data'!$C$2:$C$7</c:f>
              <c:numCache>
                <c:formatCode>General</c:formatCode>
                <c:ptCount val="6"/>
                <c:pt idx="0">
                  <c:v>50</c:v>
                </c:pt>
                <c:pt idx="1">
                  <c:v>100</c:v>
                </c:pt>
                <c:pt idx="2">
                  <c:v>200</c:v>
                </c:pt>
                <c:pt idx="3">
                  <c:v>400</c:v>
                </c:pt>
                <c:pt idx="4">
                  <c:v>800</c:v>
                </c:pt>
                <c:pt idx="5">
                  <c:v>1600</c:v>
                </c:pt>
              </c:numCache>
            </c:numRef>
          </c:xVal>
          <c:yVal>
            <c:numRef>
              <c:f>'Chart Data'!$D$2:$D$7</c:f>
              <c:numCache>
                <c:formatCode>General</c:formatCode>
                <c:ptCount val="6"/>
                <c:pt idx="0">
                  <c:v>0.62</c:v>
                </c:pt>
                <c:pt idx="1">
                  <c:v>0.69</c:v>
                </c:pt>
                <c:pt idx="2">
                  <c:v>0.75</c:v>
                </c:pt>
                <c:pt idx="3">
                  <c:v>0.8</c:v>
                </c:pt>
                <c:pt idx="4">
                  <c:v>0.83</c:v>
                </c:pt>
                <c:pt idx="5">
                  <c:v>0.84</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Score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scaling>
        <c:delete val="0"/>
        <c:axPos val="b"/>
        <c:title>
          <c:tx>
            <c:rich>
              <a:bodyPr/>
              <a:lstStyle/>
              <a:p>
                <a:r>
                  <a:rPr>
                    <a:latin typeface="DM Sans"/>
                    <a:ea typeface="DM Sans"/>
                    <a:cs typeface="DM Sans"/>
                  </a:rPr>
                  <a:t>Taille d'entraînement</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5.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L2 : 2 / (1+λ)</c:v>
          </c:tx>
          <c:spPr>
            <a:solidFill>
              <a:srgbClr val="303C8B"/>
            </a:solidFill>
            <a:ln w="23813">
              <a:solidFill>
                <a:srgbClr val="303C8B"/>
              </a:solidFill>
            </a:ln>
          </c:spPr>
          <c:marker>
            <c:symbol val="circle"/>
            <c:size val="3"/>
            <c:spPr>
              <a:solidFill>
                <a:srgbClr val="303C8B"/>
              </a:solidFill>
            </c:spPr>
          </c:marker>
          <c:xVal>
            <c:numRef>
              <c:f>'Chart Data'!$A$2:$A$8</c:f>
              <c:numCache>
                <c:formatCode>General</c:formatCode>
                <c:ptCount val="7"/>
                <c:pt idx="0">
                  <c:v>0</c:v>
                </c:pt>
                <c:pt idx="1">
                  <c:v>0.25</c:v>
                </c:pt>
                <c:pt idx="2">
                  <c:v>0.5</c:v>
                </c:pt>
                <c:pt idx="3">
                  <c:v>1</c:v>
                </c:pt>
                <c:pt idx="4">
                  <c:v>2</c:v>
                </c:pt>
                <c:pt idx="5">
                  <c:v>4</c:v>
                </c:pt>
                <c:pt idx="6">
                  <c:v>8</c:v>
                </c:pt>
              </c:numCache>
            </c:numRef>
          </c:xVal>
          <c:yVal>
            <c:numRef>
              <c:f>'Chart Data'!$B$2:$B$8</c:f>
              <c:numCache>
                <c:formatCode>General</c:formatCode>
                <c:ptCount val="7"/>
                <c:pt idx="0">
                  <c:v>2</c:v>
                </c:pt>
                <c:pt idx="1">
                  <c:v>1.6</c:v>
                </c:pt>
                <c:pt idx="2">
                  <c:v>1.33333</c:v>
                </c:pt>
                <c:pt idx="3">
                  <c:v>1</c:v>
                </c:pt>
                <c:pt idx="4">
                  <c:v>0.66667</c:v>
                </c:pt>
                <c:pt idx="5">
                  <c:v>0.4</c:v>
                </c:pt>
                <c:pt idx="6">
                  <c:v>0.22222</c:v>
                </c:pt>
              </c:numCache>
            </c:numRef>
          </c:yVal>
          <c:smooth val="0"/>
        </c:ser>
        <c:ser>
          <c:idx val="1"/>
          <c:order val="1"/>
          <c:tx>
            <c:v>L1 : max(2−λ,0)</c:v>
          </c:tx>
          <c:spPr>
            <a:solidFill>
              <a:srgbClr val="FF7900"/>
            </a:solidFill>
            <a:ln w="23813">
              <a:solidFill>
                <a:srgbClr val="FF7900"/>
              </a:solidFill>
            </a:ln>
          </c:spPr>
          <c:marker>
            <c:symbol val="circle"/>
            <c:size val="3"/>
            <c:spPr>
              <a:solidFill>
                <a:srgbClr val="FF7900"/>
              </a:solidFill>
            </c:spPr>
          </c:marker>
          <c:xVal>
            <c:numRef>
              <c:f>'Chart Data'!$C$2:$C$8</c:f>
              <c:numCache>
                <c:formatCode>General</c:formatCode>
                <c:ptCount val="7"/>
                <c:pt idx="0">
                  <c:v>0</c:v>
                </c:pt>
                <c:pt idx="1">
                  <c:v>0.25</c:v>
                </c:pt>
                <c:pt idx="2">
                  <c:v>0.5</c:v>
                </c:pt>
                <c:pt idx="3">
                  <c:v>1</c:v>
                </c:pt>
                <c:pt idx="4">
                  <c:v>2</c:v>
                </c:pt>
                <c:pt idx="5">
                  <c:v>4</c:v>
                </c:pt>
                <c:pt idx="6">
                  <c:v>8</c:v>
                </c:pt>
              </c:numCache>
            </c:numRef>
          </c:xVal>
          <c:yVal>
            <c:numRef>
              <c:f>'Chart Data'!$D$2:$D$8</c:f>
              <c:numCache>
                <c:formatCode>General</c:formatCode>
                <c:ptCount val="7"/>
                <c:pt idx="0">
                  <c:v>2</c:v>
                </c:pt>
                <c:pt idx="1">
                  <c:v>1.75</c:v>
                </c:pt>
                <c:pt idx="2">
                  <c:v>1.5</c:v>
                </c:pt>
                <c:pt idx="3">
                  <c:v>1</c:v>
                </c:pt>
                <c:pt idx="4">
                  <c:v>0</c:v>
                </c:pt>
                <c:pt idx="5">
                  <c:v>0</c:v>
                </c:pt>
                <c:pt idx="6">
                  <c:v>0</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Coefficient</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scaling>
        <c:delete val="0"/>
        <c:axPos val="b"/>
        <c:title>
          <c:tx>
            <c:rich>
              <a:bodyPr/>
              <a:lstStyle/>
              <a:p>
                <a:r>
                  <a:rPr>
                    <a:latin typeface="DM Sans"/>
                    <a:ea typeface="DM Sans"/>
                    <a:cs typeface="DM Sans"/>
                  </a:rPr>
                  <a:t>λ</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6.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ρ = 0</c:v>
          </c:tx>
          <c:spPr>
            <a:solidFill>
              <a:srgbClr val="303C8B"/>
            </a:solidFill>
            <a:ln w="23813">
              <a:solidFill>
                <a:srgbClr val="303C8B"/>
              </a:solidFill>
            </a:ln>
          </c:spPr>
          <c:marker>
            <c:symbol val="circle"/>
            <c:size val="3"/>
            <c:spPr>
              <a:solidFill>
                <a:srgbClr val="303C8B"/>
              </a:solidFill>
            </c:spPr>
          </c:marker>
          <c:xVal>
            <c:numRef>
              <c:f>'Chart Data'!$A$2:$A$7</c:f>
              <c:numCache>
                <c:formatCode>General</c:formatCode>
                <c:ptCount val="6"/>
                <c:pt idx="0">
                  <c:v>1</c:v>
                </c:pt>
                <c:pt idx="1">
                  <c:v>2</c:v>
                </c:pt>
                <c:pt idx="2">
                  <c:v>5</c:v>
                </c:pt>
                <c:pt idx="3">
                  <c:v>10</c:v>
                </c:pt>
                <c:pt idx="4">
                  <c:v>30</c:v>
                </c:pt>
                <c:pt idx="5">
                  <c:v>100</c:v>
                </c:pt>
              </c:numCache>
            </c:numRef>
          </c:xVal>
          <c:yVal>
            <c:numRef>
              <c:f>'Chart Data'!$B$2:$B$7</c:f>
              <c:numCache>
                <c:formatCode>General</c:formatCode>
                <c:ptCount val="6"/>
                <c:pt idx="0">
                  <c:v>1</c:v>
                </c:pt>
                <c:pt idx="1">
                  <c:v>0.5</c:v>
                </c:pt>
                <c:pt idx="2">
                  <c:v>0.2</c:v>
                </c:pt>
                <c:pt idx="3">
                  <c:v>0.1</c:v>
                </c:pt>
                <c:pt idx="4">
                  <c:v>0.03333</c:v>
                </c:pt>
                <c:pt idx="5">
                  <c:v>0.01</c:v>
                </c:pt>
              </c:numCache>
            </c:numRef>
          </c:yVal>
          <c:smooth val="0"/>
        </c:ser>
        <c:ser>
          <c:idx val="1"/>
          <c:order val="1"/>
          <c:tx>
            <c:v>ρ = 0.3</c:v>
          </c:tx>
          <c:spPr>
            <a:solidFill>
              <a:srgbClr val="FF7900"/>
            </a:solidFill>
            <a:ln w="23813">
              <a:solidFill>
                <a:srgbClr val="FF7900"/>
              </a:solidFill>
            </a:ln>
          </c:spPr>
          <c:marker>
            <c:symbol val="circle"/>
            <c:size val="3"/>
            <c:spPr>
              <a:solidFill>
                <a:srgbClr val="FF7900"/>
              </a:solidFill>
            </c:spPr>
          </c:marker>
          <c:xVal>
            <c:numRef>
              <c:f>'Chart Data'!$C$2:$C$7</c:f>
              <c:numCache>
                <c:formatCode>General</c:formatCode>
                <c:ptCount val="6"/>
                <c:pt idx="0">
                  <c:v>1</c:v>
                </c:pt>
                <c:pt idx="1">
                  <c:v>2</c:v>
                </c:pt>
                <c:pt idx="2">
                  <c:v>5</c:v>
                </c:pt>
                <c:pt idx="3">
                  <c:v>10</c:v>
                </c:pt>
                <c:pt idx="4">
                  <c:v>30</c:v>
                </c:pt>
                <c:pt idx="5">
                  <c:v>100</c:v>
                </c:pt>
              </c:numCache>
            </c:numRef>
          </c:xVal>
          <c:yVal>
            <c:numRef>
              <c:f>'Chart Data'!$D$2:$D$7</c:f>
              <c:numCache>
                <c:formatCode>General</c:formatCode>
                <c:ptCount val="6"/>
                <c:pt idx="0">
                  <c:v>1</c:v>
                </c:pt>
                <c:pt idx="1">
                  <c:v>0.65</c:v>
                </c:pt>
                <c:pt idx="2">
                  <c:v>0.44</c:v>
                </c:pt>
                <c:pt idx="3">
                  <c:v>0.37</c:v>
                </c:pt>
                <c:pt idx="4">
                  <c:v>0.32333</c:v>
                </c:pt>
                <c:pt idx="5">
                  <c:v>0.307</c:v>
                </c:pt>
              </c:numCache>
            </c:numRef>
          </c:yVal>
          <c:smooth val="0"/>
        </c:ser>
        <c:ser>
          <c:idx val="2"/>
          <c:order val="2"/>
          <c:tx>
            <c:v>ρ = 0.8</c:v>
          </c:tx>
          <c:spPr>
            <a:solidFill>
              <a:srgbClr val="16A5AA"/>
            </a:solidFill>
            <a:ln w="23813">
              <a:solidFill>
                <a:srgbClr val="16A5AA"/>
              </a:solidFill>
            </a:ln>
          </c:spPr>
          <c:marker>
            <c:symbol val="circle"/>
            <c:size val="3"/>
            <c:spPr>
              <a:solidFill>
                <a:srgbClr val="16A5AA"/>
              </a:solidFill>
            </c:spPr>
          </c:marker>
          <c:xVal>
            <c:numRef>
              <c:f>'Chart Data'!$E$2:$E$7</c:f>
              <c:numCache>
                <c:formatCode>General</c:formatCode>
                <c:ptCount val="6"/>
                <c:pt idx="0">
                  <c:v>1</c:v>
                </c:pt>
                <c:pt idx="1">
                  <c:v>2</c:v>
                </c:pt>
                <c:pt idx="2">
                  <c:v>5</c:v>
                </c:pt>
                <c:pt idx="3">
                  <c:v>10</c:v>
                </c:pt>
                <c:pt idx="4">
                  <c:v>30</c:v>
                </c:pt>
                <c:pt idx="5">
                  <c:v>100</c:v>
                </c:pt>
              </c:numCache>
            </c:numRef>
          </c:xVal>
          <c:yVal>
            <c:numRef>
              <c:f>'Chart Data'!$F$2:$F$7</c:f>
              <c:numCache>
                <c:formatCode>General</c:formatCode>
                <c:ptCount val="6"/>
                <c:pt idx="0">
                  <c:v>1</c:v>
                </c:pt>
                <c:pt idx="1">
                  <c:v>0.9</c:v>
                </c:pt>
                <c:pt idx="2">
                  <c:v>0.84</c:v>
                </c:pt>
                <c:pt idx="3">
                  <c:v>0.82</c:v>
                </c:pt>
                <c:pt idx="4">
                  <c:v>0.80667</c:v>
                </c:pt>
                <c:pt idx="5">
                  <c:v>0.802</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Variance / σ²</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scaling>
        <c:delete val="0"/>
        <c:axPos val="b"/>
        <c:title>
          <c:tx>
            <c:rich>
              <a:bodyPr/>
              <a:lstStyle/>
              <a:p>
                <a:r>
                  <a:rPr>
                    <a:latin typeface="DM Sans"/>
                    <a:ea typeface="DM Sans"/>
                    <a:cs typeface="DM Sans"/>
                  </a:rPr>
                  <a:t>Nombre d'estimateurs</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7.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Train</c:v>
          </c:tx>
          <c:spPr>
            <a:solidFill>
              <a:srgbClr val="303C8B"/>
            </a:solidFill>
            <a:ln w="23813">
              <a:solidFill>
                <a:srgbClr val="303C8B"/>
              </a:solidFill>
            </a:ln>
          </c:spPr>
          <c:marker>
            <c:symbol val="none"/>
            <c:size val="3"/>
          </c:marker>
          <c:cat>
            <c:numRef>
              <c:f>'Chart Data'!$A$2:$A$25</c:f>
              <c:numCache>
                <c:formatCode>General</c:formatCode>
                <c:ptCount val="24"/>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numCache>
            </c:numRef>
          </c:cat>
          <c:val>
            <c:numRef>
              <c:f>'Chart Data'!$B$2:$B$25</c:f>
              <c:numCache>
                <c:formatCode>General</c:formatCode>
                <c:ptCount val="24"/>
                <c:pt idx="0">
                  <c:v>4.74007</c:v>
                </c:pt>
                <c:pt idx="1">
                  <c:v>3.97966</c:v>
                </c:pt>
                <c:pt idx="2">
                  <c:v>3.42724</c:v>
                </c:pt>
                <c:pt idx="3">
                  <c:v>3.02279</c:v>
                </c:pt>
                <c:pt idx="4">
                  <c:v>2.70746</c:v>
                </c:pt>
                <c:pt idx="5">
                  <c:v>2.45149</c:v>
                </c:pt>
                <c:pt idx="6">
                  <c:v>2.23851</c:v>
                </c:pt>
                <c:pt idx="7">
                  <c:v>2.06749</c:v>
                </c:pt>
                <c:pt idx="8">
                  <c:v>1.92888</c:v>
                </c:pt>
                <c:pt idx="9">
                  <c:v>1.81355</c:v>
                </c:pt>
                <c:pt idx="10">
                  <c:v>1.72408</c:v>
                </c:pt>
                <c:pt idx="11">
                  <c:v>1.64747</c:v>
                </c:pt>
                <c:pt idx="12">
                  <c:v>1.58672</c:v>
                </c:pt>
                <c:pt idx="13">
                  <c:v>1.53285</c:v>
                </c:pt>
                <c:pt idx="14">
                  <c:v>1.48512</c:v>
                </c:pt>
                <c:pt idx="15">
                  <c:v>1.43429</c:v>
                </c:pt>
                <c:pt idx="16">
                  <c:v>1.39491</c:v>
                </c:pt>
                <c:pt idx="17">
                  <c:v>1.36093</c:v>
                </c:pt>
                <c:pt idx="18">
                  <c:v>1.32929</c:v>
                </c:pt>
                <c:pt idx="19">
                  <c:v>1.30417</c:v>
                </c:pt>
                <c:pt idx="20">
                  <c:v>1.2792</c:v>
                </c:pt>
                <c:pt idx="21">
                  <c:v>1.25784</c:v>
                </c:pt>
                <c:pt idx="22">
                  <c:v>1.23999</c:v>
                </c:pt>
                <c:pt idx="23">
                  <c:v>1.21792</c:v>
                </c:pt>
              </c:numCache>
            </c:numRef>
          </c:val>
          <c:smooth val="0"/>
        </c:ser>
        <c:ser>
          <c:idx val="1"/>
          <c:order val="1"/>
          <c:tx>
            <c:v>Validation</c:v>
          </c:tx>
          <c:spPr>
            <a:solidFill>
              <a:srgbClr val="FF7900"/>
            </a:solidFill>
            <a:ln w="23813">
              <a:solidFill>
                <a:srgbClr val="FF7900"/>
              </a:solidFill>
            </a:ln>
          </c:spPr>
          <c:marker>
            <c:symbol val="none"/>
            <c:size val="3"/>
          </c:marker>
          <c:cat>
            <c:numRef>
              <c:f>'Chart Data'!$C$2:$C$25</c:f>
              <c:numCache>
                <c:formatCode>General</c:formatCode>
                <c:ptCount val="24"/>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numCache>
            </c:numRef>
          </c:cat>
          <c:val>
            <c:numRef>
              <c:f>'Chart Data'!$D$2:$D$25</c:f>
              <c:numCache>
                <c:formatCode>General</c:formatCode>
                <c:ptCount val="24"/>
                <c:pt idx="0">
                  <c:v>4.88955</c:v>
                </c:pt>
                <c:pt idx="1">
                  <c:v>4.23176</c:v>
                </c:pt>
                <c:pt idx="2">
                  <c:v>3.7518</c:v>
                </c:pt>
                <c:pt idx="3">
                  <c:v>3.39693</c:v>
                </c:pt>
                <c:pt idx="4">
                  <c:v>3.14505</c:v>
                </c:pt>
                <c:pt idx="5">
                  <c:v>2.95648</c:v>
                </c:pt>
                <c:pt idx="6">
                  <c:v>2.80026</c:v>
                </c:pt>
                <c:pt idx="7">
                  <c:v>2.66274</c:v>
                </c:pt>
                <c:pt idx="8">
                  <c:v>2.55393</c:v>
                </c:pt>
                <c:pt idx="9">
                  <c:v>2.46442</c:v>
                </c:pt>
                <c:pt idx="10">
                  <c:v>2.41159</c:v>
                </c:pt>
                <c:pt idx="11">
                  <c:v>2.36143</c:v>
                </c:pt>
                <c:pt idx="12">
                  <c:v>2.32926</c:v>
                </c:pt>
                <c:pt idx="13">
                  <c:v>2.29894</c:v>
                </c:pt>
                <c:pt idx="14">
                  <c:v>2.27328</c:v>
                </c:pt>
                <c:pt idx="15">
                  <c:v>2.24222</c:v>
                </c:pt>
                <c:pt idx="16">
                  <c:v>2.23463</c:v>
                </c:pt>
                <c:pt idx="17">
                  <c:v>2.21861</c:v>
                </c:pt>
                <c:pt idx="18">
                  <c:v>2.21031</c:v>
                </c:pt>
                <c:pt idx="19">
                  <c:v>2.19819</c:v>
                </c:pt>
                <c:pt idx="20">
                  <c:v>2.20183</c:v>
                </c:pt>
                <c:pt idx="21">
                  <c:v>2.19416</c:v>
                </c:pt>
                <c:pt idx="22">
                  <c:v>2.19384</c:v>
                </c:pt>
                <c:pt idx="23">
                  <c:v>2.20158</c:v>
                </c:pt>
              </c:numCache>
            </c:numRef>
          </c: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DM Sans"/>
                    <a:ea typeface="DM Sans"/>
                    <a:cs typeface="DM Sans"/>
                  </a:rPr>
                  <a:t>Nombre d'arbres</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RMSE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8.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Coût FP + 5 FN</c:v>
          </c:tx>
          <c:spPr>
            <a:solidFill>
              <a:srgbClr val="303C8B"/>
            </a:solidFill>
            <a:ln w="23813">
              <a:solidFill>
                <a:srgbClr val="303C8B"/>
              </a:solidFill>
            </a:ln>
          </c:spPr>
          <c:marker>
            <c:symbol val="none"/>
            <c:size val="3"/>
          </c:marker>
          <c:cat>
            <c:numRef>
              <c:f>'Chart Data'!$A$2:$A$22</c:f>
              <c:numCache>
                <c:formatCode>General</c:formatCode>
                <c:ptCount val="2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numCache>
            </c:numRef>
          </c:cat>
          <c:val>
            <c:numRef>
              <c:f>'Chart Data'!$B$2:$B$22</c:f>
              <c:numCache>
                <c:formatCode>General</c:formatCode>
                <c:ptCount val="21"/>
                <c:pt idx="0">
                  <c:v>377</c:v>
                </c:pt>
                <c:pt idx="1">
                  <c:v>202</c:v>
                </c:pt>
                <c:pt idx="2">
                  <c:v>169</c:v>
                </c:pt>
                <c:pt idx="3">
                  <c:v>136</c:v>
                </c:pt>
                <c:pt idx="4">
                  <c:v>132</c:v>
                </c:pt>
                <c:pt idx="5">
                  <c:v>125</c:v>
                </c:pt>
                <c:pt idx="6">
                  <c:v>138</c:v>
                </c:pt>
                <c:pt idx="7">
                  <c:v>144</c:v>
                </c:pt>
                <c:pt idx="8">
                  <c:v>155</c:v>
                </c:pt>
                <c:pt idx="9">
                  <c:v>161</c:v>
                </c:pt>
                <c:pt idx="10">
                  <c:v>180</c:v>
                </c:pt>
                <c:pt idx="11">
                  <c:v>187</c:v>
                </c:pt>
                <c:pt idx="12">
                  <c:v>191</c:v>
                </c:pt>
                <c:pt idx="13">
                  <c:v>201</c:v>
                </c:pt>
                <c:pt idx="14">
                  <c:v>206</c:v>
                </c:pt>
                <c:pt idx="15">
                  <c:v>210</c:v>
                </c:pt>
                <c:pt idx="16">
                  <c:v>210</c:v>
                </c:pt>
                <c:pt idx="17">
                  <c:v>210</c:v>
                </c:pt>
                <c:pt idx="18">
                  <c:v>215</c:v>
                </c:pt>
                <c:pt idx="19">
                  <c:v>215</c:v>
                </c:pt>
                <c:pt idx="20">
                  <c:v>215</c:v>
                </c:pt>
              </c:numCache>
            </c:numRef>
          </c: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DM Sans"/>
                    <a:ea typeface="DM Sans"/>
                    <a:cs typeface="DM Sans"/>
                  </a:rPr>
                  <a:t>Seuil</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Coût (unités)</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9.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ser>
          <c:idx val="0"/>
          <c:order val="0"/>
          <c:tx>
            <c:v>Idéal</c:v>
          </c:tx>
          <c:spPr>
            <a:solidFill>
              <a:srgbClr val="303C8B"/>
            </a:solidFill>
            <a:ln w="23813">
              <a:solidFill>
                <a:srgbClr val="303C8B"/>
              </a:solidFill>
            </a:ln>
          </c:spPr>
          <c:marker>
            <c:symbol val="circle"/>
            <c:size val="3"/>
            <c:spPr>
              <a:solidFill>
                <a:srgbClr val="303C8B"/>
              </a:solidFill>
            </c:spPr>
          </c:marker>
          <c:xVal>
            <c:numRef>
              <c:f>'Chart Data'!$A$2:$A$12</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xVal>
          <c:yVal>
            <c:numRef>
              <c:f>'Chart Data'!$B$2:$B$12</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yVal>
          <c:smooth val="0"/>
        </c:ser>
        <c:ser>
          <c:idx val="1"/>
          <c:order val="1"/>
          <c:tx>
            <c:v>Surconfiant</c:v>
          </c:tx>
          <c:spPr>
            <a:solidFill>
              <a:srgbClr val="FF7900"/>
            </a:solidFill>
            <a:ln w="23813">
              <a:solidFill>
                <a:srgbClr val="FF7900"/>
              </a:solidFill>
            </a:ln>
          </c:spPr>
          <c:marker>
            <c:symbol val="circle"/>
            <c:size val="3"/>
            <c:spPr>
              <a:solidFill>
                <a:srgbClr val="FF7900"/>
              </a:solidFill>
            </c:spPr>
          </c:marker>
          <c:xVal>
            <c:numRef>
              <c:f>'Chart Data'!$C$2:$C$12</c:f>
              <c:numCache>
                <c:formatCode>General</c:formatCode>
                <c:ptCount val="11"/>
                <c:pt idx="0">
                  <c:v>0</c:v>
                </c:pt>
                <c:pt idx="1">
                  <c:v>0.1</c:v>
                </c:pt>
                <c:pt idx="2">
                  <c:v>0.2</c:v>
                </c:pt>
                <c:pt idx="3">
                  <c:v>0.3</c:v>
                </c:pt>
                <c:pt idx="4">
                  <c:v>0.4</c:v>
                </c:pt>
                <c:pt idx="5">
                  <c:v>0.5</c:v>
                </c:pt>
                <c:pt idx="6">
                  <c:v>0.6</c:v>
                </c:pt>
                <c:pt idx="7">
                  <c:v>0.7</c:v>
                </c:pt>
                <c:pt idx="8">
                  <c:v>0.8</c:v>
                </c:pt>
                <c:pt idx="9">
                  <c:v>0.9</c:v>
                </c:pt>
                <c:pt idx="10">
                  <c:v>1</c:v>
                </c:pt>
              </c:numCache>
            </c:numRef>
          </c:xVal>
          <c:yVal>
            <c:numRef>
              <c:f>'Chart Data'!$D$2:$D$12</c:f>
              <c:numCache>
                <c:formatCode>General</c:formatCode>
                <c:ptCount val="11"/>
                <c:pt idx="0">
                  <c:v>0</c:v>
                </c:pt>
                <c:pt idx="1">
                  <c:v>0.01</c:v>
                </c:pt>
                <c:pt idx="2">
                  <c:v>0.04</c:v>
                </c:pt>
                <c:pt idx="3">
                  <c:v>0.09</c:v>
                </c:pt>
                <c:pt idx="4">
                  <c:v>0.16</c:v>
                </c:pt>
                <c:pt idx="5">
                  <c:v>0.25</c:v>
                </c:pt>
                <c:pt idx="6">
                  <c:v>0.36</c:v>
                </c:pt>
                <c:pt idx="7">
                  <c:v>0.49</c:v>
                </c:pt>
                <c:pt idx="8">
                  <c:v>0.64</c:v>
                </c:pt>
                <c:pt idx="9">
                  <c:v>0.81</c:v>
                </c:pt>
                <c:pt idx="10">
                  <c:v>1</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9525">
              <a:solidFill>
                <a:srgbClr val="E5E7EE"/>
              </a:solidFill>
            </a:ln>
          </c:spPr>
        </c:majorGridlines>
        <c:title>
          <c:tx>
            <c:rich>
              <a:bodyPr/>
              <a:lstStyle/>
              <a:p>
                <a:r>
                  <a:rPr>
                    <a:latin typeface="DM Sans"/>
                    <a:ea typeface="DM Sans"/>
                    <a:cs typeface="DM Sans"/>
                  </a:rPr>
                  <a:t>Fréquence positive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max val="1"/>
          <c:min val="0"/>
        </c:scaling>
        <c:delete val="0"/>
        <c:axPos val="b"/>
        <c:title>
          <c:tx>
            <c:rich>
              <a:bodyPr/>
              <a:lstStyle/>
              <a:p>
                <a:r>
                  <a:rPr>
                    <a:latin typeface="DM Sans"/>
                    <a:ea typeface="DM Sans"/>
                    <a:cs typeface="DM Sans"/>
                  </a:rPr>
                  <a:t>Probabilité annoncée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0.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Variance expliquée</c:v>
          </c:tx>
          <c:spPr>
            <a:solidFill>
              <a:srgbClr val="303C8B"/>
            </a:solidFill>
            <a:ln w="23813">
              <a:solidFill>
                <a:srgbClr val="303C8B"/>
              </a:solidFill>
            </a:ln>
          </c:spPr>
          <c:cat>
            <c:strRef>
              <c:f>'Chart Data'!$A$2:$A$6</c:f>
              <c:strCache>
                <c:ptCount val="5"/>
                <c:pt idx="0">
                  <c:v>PC1</c:v>
                </c:pt>
                <c:pt idx="1">
                  <c:v>PC2</c:v>
                </c:pt>
                <c:pt idx="2">
                  <c:v>PC3</c:v>
                </c:pt>
                <c:pt idx="3">
                  <c:v>PC4</c:v>
                </c:pt>
                <c:pt idx="4">
                  <c:v>PC5</c:v>
                </c:pt>
              </c:strCache>
            </c:strRef>
          </c:cat>
          <c:val>
            <c:numRef>
              <c:f>'Chart Data'!$B$2:$B$6</c:f>
              <c:numCache>
                <c:formatCode>General</c:formatCode>
                <c:ptCount val="5"/>
                <c:pt idx="0">
                  <c:v>0.52</c:v>
                </c:pt>
                <c:pt idx="1">
                  <c:v>0.23</c:v>
                </c:pt>
                <c:pt idx="2">
                  <c:v>0.13</c:v>
                </c:pt>
                <c:pt idx="3">
                  <c:v>0.08</c:v>
                </c:pt>
                <c:pt idx="4">
                  <c:v>0.04</c:v>
                </c:pt>
              </c:numCache>
            </c:numRef>
          </c:val>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a:lstStyle/>
              <a:p>
                <a:r>
                  <a:rPr>
                    <a:latin typeface="DM Sans"/>
                    <a:ea typeface="DM Sans"/>
                    <a:cs typeface="DM Sans"/>
                  </a:rPr>
                  <a:t>Composante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Part de variance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1.xml><?xml version="1.0" encoding="utf-8"?>
<c:chartSpace xmlns:a="http://schemas.openxmlformats.org/drawingml/2006/main" xmlns:c="http://schemas.openxmlformats.org/drawingml/2006/chart" xmlns:r="http://schemas.openxmlformats.org/officeDocument/2006/relationships">
  <c:lang val="en-US"/>
  <c:chart>
    <c:plotArea>
      <c:scatterChart>
        <c:scatterStyle val="marker"/>
        <c:ser>
          <c:idx val="0"/>
          <c:order val="0"/>
          <c:tx>
            <c:v>Groupe 1</c:v>
          </c:tx>
          <c:spPr>
            <a:solidFill>
              <a:srgbClr val="303C8B"/>
            </a:solidFill>
            <a:ln w="23813">
              <a:noFill/>
            </a:ln>
          </c:spPr>
          <c:marker>
            <c:symbol val="circle"/>
            <c:size val="4"/>
            <c:spPr>
              <a:solidFill>
                <a:srgbClr val="303C8B"/>
              </a:solidFill>
            </c:spPr>
          </c:marker>
          <c:xVal>
            <c:numRef>
              <c:f>'Chart Data'!$A$2:$A$91</c:f>
              <c:numCache>
                <c:formatCode>General</c:formatCode>
                <c:ptCount val="90"/>
                <c:pt idx="0">
                  <c:v>0.36074</c:v>
                </c:pt>
                <c:pt idx="1">
                  <c:v>-0.46471</c:v>
                </c:pt>
                <c:pt idx="2">
                  <c:v>-1.65899</c:v>
                </c:pt>
                <c:pt idx="3">
                  <c:v>0.42466</c:v>
                </c:pt>
                <c:pt idx="4">
                  <c:v>0.12984</c:v>
                </c:pt>
                <c:pt idx="5">
                  <c:v>-1.40079</c:v>
                </c:pt>
                <c:pt idx="6">
                  <c:v>-0.51557</c:v>
                </c:pt>
                <c:pt idx="7">
                  <c:v>-1.53174</c:v>
                </c:pt>
                <c:pt idx="8">
                  <c:v>-0.67628</c:v>
                </c:pt>
                <c:pt idx="9">
                  <c:v>0.35501</c:v>
                </c:pt>
                <c:pt idx="10">
                  <c:v>-0.70953</c:v>
                </c:pt>
                <c:pt idx="11">
                  <c:v>-0.50575</c:v>
                </c:pt>
                <c:pt idx="12">
                  <c:v>-0.99866</c:v>
                </c:pt>
                <c:pt idx="13">
                  <c:v>-0.49876</c:v>
                </c:pt>
                <c:pt idx="14">
                  <c:v>0.06825</c:v>
                </c:pt>
                <c:pt idx="15">
                  <c:v>-1.30441</c:v>
                </c:pt>
                <c:pt idx="16">
                  <c:v>0.4543</c:v>
                </c:pt>
                <c:pt idx="17">
                  <c:v>-0.91914</c:v>
                </c:pt>
                <c:pt idx="18">
                  <c:v>-1.31972</c:v>
                </c:pt>
                <c:pt idx="19">
                  <c:v>0.0533</c:v>
                </c:pt>
                <c:pt idx="20">
                  <c:v>-1.46321</c:v>
                </c:pt>
                <c:pt idx="21">
                  <c:v>-1.34009</c:v>
                </c:pt>
                <c:pt idx="22">
                  <c:v>0.04566</c:v>
                </c:pt>
                <c:pt idx="23">
                  <c:v>-0.55561</c:v>
                </c:pt>
                <c:pt idx="24">
                  <c:v>-0.50945</c:v>
                </c:pt>
                <c:pt idx="25">
                  <c:v>-0.49948</c:v>
                </c:pt>
                <c:pt idx="26">
                  <c:v>-0.3958</c:v>
                </c:pt>
                <c:pt idx="27">
                  <c:v>-0.57224</c:v>
                </c:pt>
                <c:pt idx="28">
                  <c:v>-1.70755</c:v>
                </c:pt>
                <c:pt idx="29">
                  <c:v>-1.59193</c:v>
                </c:pt>
                <c:pt idx="30">
                  <c:v>0.13899</c:v>
                </c:pt>
                <c:pt idx="31">
                  <c:v>-0.52503</c:v>
                </c:pt>
                <c:pt idx="32">
                  <c:v>-1.76901</c:v>
                </c:pt>
                <c:pt idx="33">
                  <c:v>-0.2753</c:v>
                </c:pt>
                <c:pt idx="34">
                  <c:v>0.36936</c:v>
                </c:pt>
                <c:pt idx="35">
                  <c:v>-1.41118</c:v>
                </c:pt>
                <c:pt idx="36">
                  <c:v>0.05112</c:v>
                </c:pt>
                <c:pt idx="37">
                  <c:v>-0.0634</c:v>
                </c:pt>
                <c:pt idx="38">
                  <c:v>-0.4213</c:v>
                </c:pt>
                <c:pt idx="39">
                  <c:v>-0.67402</c:v>
                </c:pt>
                <c:pt idx="40">
                  <c:v>-1.36742</c:v>
                </c:pt>
                <c:pt idx="41">
                  <c:v>-1.33131</c:v>
                </c:pt>
                <c:pt idx="42">
                  <c:v>-0.55913</c:v>
                </c:pt>
                <c:pt idx="43">
                  <c:v>0.03699</c:v>
                </c:pt>
                <c:pt idx="44">
                  <c:v>-0.34842</c:v>
                </c:pt>
                <c:pt idx="45">
                  <c:v>0.20794</c:v>
                </c:pt>
                <c:pt idx="46">
                  <c:v>0.24918</c:v>
                </c:pt>
                <c:pt idx="47">
                  <c:v>-1.62605</c:v>
                </c:pt>
                <c:pt idx="48">
                  <c:v>-1.72281</c:v>
                </c:pt>
                <c:pt idx="49">
                  <c:v>-1.64852</c:v>
                </c:pt>
                <c:pt idx="50">
                  <c:v>-0.33127</c:v>
                </c:pt>
                <c:pt idx="51">
                  <c:v>-1.69252</c:v>
                </c:pt>
                <c:pt idx="52">
                  <c:v>-0.71964</c:v>
                </c:pt>
                <c:pt idx="53">
                  <c:v>-0.57182</c:v>
                </c:pt>
                <c:pt idx="54">
                  <c:v>-1.24411</c:v>
                </c:pt>
                <c:pt idx="55">
                  <c:v>-1.40854</c:v>
                </c:pt>
                <c:pt idx="56">
                  <c:v>-0.27194</c:v>
                </c:pt>
                <c:pt idx="57">
                  <c:v>-0.42519</c:v>
                </c:pt>
                <c:pt idx="58">
                  <c:v>-1.42551</c:v>
                </c:pt>
                <c:pt idx="59">
                  <c:v>-0.83334</c:v>
                </c:pt>
                <c:pt idx="60">
                  <c:v>-0.66457</c:v>
                </c:pt>
                <c:pt idx="61">
                  <c:v>-0.16279</c:v>
                </c:pt>
                <c:pt idx="62">
                  <c:v>-1.80311</c:v>
                </c:pt>
                <c:pt idx="63">
                  <c:v>-1.66918</c:v>
                </c:pt>
                <c:pt idx="64">
                  <c:v>-0.15872</c:v>
                </c:pt>
                <c:pt idx="65">
                  <c:v>-0.61868</c:v>
                </c:pt>
                <c:pt idx="66">
                  <c:v>-1.62046</c:v>
                </c:pt>
                <c:pt idx="67">
                  <c:v>-1.7566</c:v>
                </c:pt>
                <c:pt idx="68">
                  <c:v>0.29993</c:v>
                </c:pt>
                <c:pt idx="69">
                  <c:v>-1.10585</c:v>
                </c:pt>
                <c:pt idx="70">
                  <c:v>0.36657</c:v>
                </c:pt>
                <c:pt idx="71">
                  <c:v>-1.51725</c:v>
                </c:pt>
                <c:pt idx="72">
                  <c:v>-1.26777</c:v>
                </c:pt>
                <c:pt idx="73">
                  <c:v>-0.84285</c:v>
                </c:pt>
                <c:pt idx="74">
                  <c:v>-0.91911</c:v>
                </c:pt>
                <c:pt idx="75">
                  <c:v>-1.18338</c:v>
                </c:pt>
                <c:pt idx="76">
                  <c:v>-0.70756</c:v>
                </c:pt>
                <c:pt idx="77">
                  <c:v>-1.73376</c:v>
                </c:pt>
                <c:pt idx="78">
                  <c:v>0.28468</c:v>
                </c:pt>
                <c:pt idx="79">
                  <c:v>-0.99618</c:v>
                </c:pt>
                <c:pt idx="80">
                  <c:v>-0.31616</c:v>
                </c:pt>
                <c:pt idx="81">
                  <c:v>-0.92723</c:v>
                </c:pt>
                <c:pt idx="82">
                  <c:v>-0.4649</c:v>
                </c:pt>
                <c:pt idx="83">
                  <c:v>-0.4352</c:v>
                </c:pt>
                <c:pt idx="84">
                  <c:v>-1.83029</c:v>
                </c:pt>
                <c:pt idx="85">
                  <c:v>-1.52438</c:v>
                </c:pt>
                <c:pt idx="86">
                  <c:v>0.23179</c:v>
                </c:pt>
                <c:pt idx="87">
                  <c:v>-1.63392</c:v>
                </c:pt>
                <c:pt idx="88">
                  <c:v>0.42812</c:v>
                </c:pt>
                <c:pt idx="89">
                  <c:v>-0.53969</c:v>
                </c:pt>
              </c:numCache>
            </c:numRef>
          </c:xVal>
          <c:yVal>
            <c:numRef>
              <c:f>'Chart Data'!$B$2:$B$91</c:f>
              <c:numCache>
                <c:formatCode>General</c:formatCode>
                <c:ptCount val="90"/>
                <c:pt idx="0">
                  <c:v>0.70079</c:v>
                </c:pt>
                <c:pt idx="1">
                  <c:v>1.19504</c:v>
                </c:pt>
                <c:pt idx="2">
                  <c:v>-0.00312</c:v>
                </c:pt>
                <c:pt idx="3">
                  <c:v>0.42788</c:v>
                </c:pt>
                <c:pt idx="4">
                  <c:v>0.9832</c:v>
                </c:pt>
                <c:pt idx="5">
                  <c:v>0.79615</c:v>
                </c:pt>
                <c:pt idx="6">
                  <c:v>0.10266</c:v>
                </c:pt>
                <c:pt idx="7">
                  <c:v>0.97506</c:v>
                </c:pt>
                <c:pt idx="8">
                  <c:v>1.49944</c:v>
                </c:pt>
                <c:pt idx="9">
                  <c:v>0.68051</c:v>
                </c:pt>
                <c:pt idx="10">
                  <c:v>1.55948</c:v>
                </c:pt>
                <c:pt idx="11">
                  <c:v>-0.11882</c:v>
                </c:pt>
                <c:pt idx="12">
                  <c:v>1.19536</c:v>
                </c:pt>
                <c:pt idx="13">
                  <c:v>-0.03808</c:v>
                </c:pt>
                <c:pt idx="14">
                  <c:v>1.30444</c:v>
                </c:pt>
                <c:pt idx="15">
                  <c:v>1.36236</c:v>
                </c:pt>
                <c:pt idx="16">
                  <c:v>0.54501</c:v>
                </c:pt>
                <c:pt idx="17">
                  <c:v>1.5391</c:v>
                </c:pt>
                <c:pt idx="18">
                  <c:v>1.11386</c:v>
                </c:pt>
                <c:pt idx="19">
                  <c:v>1.32698</c:v>
                </c:pt>
                <c:pt idx="20">
                  <c:v>0.8735</c:v>
                </c:pt>
                <c:pt idx="21">
                  <c:v>0.85064</c:v>
                </c:pt>
                <c:pt idx="22">
                  <c:v>1.33989</c:v>
                </c:pt>
                <c:pt idx="23">
                  <c:v>1.4686</c:v>
                </c:pt>
                <c:pt idx="24">
                  <c:v>-0.23901</c:v>
                </c:pt>
                <c:pt idx="25">
                  <c:v>0.4304</c:v>
                </c:pt>
                <c:pt idx="26">
                  <c:v>1.3634</c:v>
                </c:pt>
                <c:pt idx="27">
                  <c:v>1.40065</c:v>
                </c:pt>
                <c:pt idx="28">
                  <c:v>-0.21064</c:v>
                </c:pt>
                <c:pt idx="29">
                  <c:v>-0.03617</c:v>
                </c:pt>
                <c:pt idx="30">
                  <c:v>1.09814</c:v>
                </c:pt>
                <c:pt idx="31">
                  <c:v>-0.20519</c:v>
                </c:pt>
                <c:pt idx="32">
                  <c:v>0.41406</c:v>
                </c:pt>
                <c:pt idx="33">
                  <c:v>1.40997</c:v>
                </c:pt>
                <c:pt idx="34">
                  <c:v>0.9027</c:v>
                </c:pt>
                <c:pt idx="35">
                  <c:v>0.68758</c:v>
                </c:pt>
                <c:pt idx="36">
                  <c:v>0.87951</c:v>
                </c:pt>
                <c:pt idx="37">
                  <c:v>1.06741</c:v>
                </c:pt>
                <c:pt idx="38">
                  <c:v>-0.10698</c:v>
                </c:pt>
                <c:pt idx="39">
                  <c:v>0.38481</c:v>
                </c:pt>
                <c:pt idx="40">
                  <c:v>0.9114</c:v>
                </c:pt>
                <c:pt idx="41">
                  <c:v>0.96306</c:v>
                </c:pt>
                <c:pt idx="42">
                  <c:v>1.82061</c:v>
                </c:pt>
                <c:pt idx="43">
                  <c:v>1.16442</c:v>
                </c:pt>
                <c:pt idx="44">
                  <c:v>1.48128</c:v>
                </c:pt>
                <c:pt idx="45">
                  <c:v>1.03894</c:v>
                </c:pt>
                <c:pt idx="46">
                  <c:v>0.91915</c:v>
                </c:pt>
                <c:pt idx="47">
                  <c:v>-0.03407</c:v>
                </c:pt>
                <c:pt idx="48">
                  <c:v>0.1168</c:v>
                </c:pt>
                <c:pt idx="49">
                  <c:v>0.0288</c:v>
                </c:pt>
                <c:pt idx="50">
                  <c:v>1.53314</c:v>
                </c:pt>
                <c:pt idx="51">
                  <c:v>-0.4182</c:v>
                </c:pt>
                <c:pt idx="52">
                  <c:v>1.51802</c:v>
                </c:pt>
                <c:pt idx="53">
                  <c:v>0.32614</c:v>
                </c:pt>
                <c:pt idx="54">
                  <c:v>1.06911</c:v>
                </c:pt>
                <c:pt idx="55">
                  <c:v>0.7006</c:v>
                </c:pt>
                <c:pt idx="56">
                  <c:v>1.26153</c:v>
                </c:pt>
                <c:pt idx="57">
                  <c:v>1.31683</c:v>
                </c:pt>
                <c:pt idx="58">
                  <c:v>1.36591</c:v>
                </c:pt>
                <c:pt idx="59">
                  <c:v>1.33112</c:v>
                </c:pt>
                <c:pt idx="60">
                  <c:v>1.57246</c:v>
                </c:pt>
                <c:pt idx="61">
                  <c:v>1.38893</c:v>
                </c:pt>
                <c:pt idx="62">
                  <c:v>-0.01963</c:v>
                </c:pt>
                <c:pt idx="63">
                  <c:v>0.36377</c:v>
                </c:pt>
                <c:pt idx="64">
                  <c:v>1.49079</c:v>
                </c:pt>
                <c:pt idx="65">
                  <c:v>0.67052</c:v>
                </c:pt>
                <c:pt idx="66">
                  <c:v>0.15018</c:v>
                </c:pt>
                <c:pt idx="67">
                  <c:v>-0.72294</c:v>
                </c:pt>
                <c:pt idx="68">
                  <c:v>0.41479</c:v>
                </c:pt>
                <c:pt idx="69">
                  <c:v>1.36724</c:v>
                </c:pt>
                <c:pt idx="70">
                  <c:v>0.5696</c:v>
                </c:pt>
                <c:pt idx="71">
                  <c:v>0.45433</c:v>
                </c:pt>
                <c:pt idx="72">
                  <c:v>1.11598</c:v>
                </c:pt>
                <c:pt idx="73">
                  <c:v>1.42054</c:v>
                </c:pt>
                <c:pt idx="74">
                  <c:v>1.52666</c:v>
                </c:pt>
                <c:pt idx="75">
                  <c:v>1.22085</c:v>
                </c:pt>
                <c:pt idx="76">
                  <c:v>1.76302</c:v>
                </c:pt>
                <c:pt idx="77">
                  <c:v>-0.24065</c:v>
                </c:pt>
                <c:pt idx="78">
                  <c:v>0.99587</c:v>
                </c:pt>
                <c:pt idx="79">
                  <c:v>1.31889</c:v>
                </c:pt>
                <c:pt idx="80">
                  <c:v>1.3701</c:v>
                </c:pt>
                <c:pt idx="81">
                  <c:v>1.60721</c:v>
                </c:pt>
                <c:pt idx="82">
                  <c:v>-0.35905</c:v>
                </c:pt>
                <c:pt idx="83">
                  <c:v>-0.35607</c:v>
                </c:pt>
                <c:pt idx="84">
                  <c:v>-0.31985</c:v>
                </c:pt>
                <c:pt idx="85">
                  <c:v>0.44795</c:v>
                </c:pt>
                <c:pt idx="86">
                  <c:v>0.70029</c:v>
                </c:pt>
                <c:pt idx="87">
                  <c:v>0.64055</c:v>
                </c:pt>
                <c:pt idx="88">
                  <c:v>0.43285</c:v>
                </c:pt>
                <c:pt idx="89">
                  <c:v>0.50664</c:v>
                </c:pt>
              </c:numCache>
            </c:numRef>
          </c:yVal>
          <c:smooth val="0"/>
        </c:ser>
        <c:ser>
          <c:idx val="1"/>
          <c:order val="1"/>
          <c:tx>
            <c:v>Groupe 2</c:v>
          </c:tx>
          <c:spPr>
            <a:solidFill>
              <a:srgbClr val="FF7900"/>
            </a:solidFill>
            <a:ln w="23813">
              <a:noFill/>
            </a:ln>
          </c:spPr>
          <c:marker>
            <c:symbol val="circle"/>
            <c:size val="4"/>
            <c:spPr>
              <a:solidFill>
                <a:srgbClr val="FF7900"/>
              </a:solidFill>
            </c:spPr>
          </c:marker>
          <c:xVal>
            <c:numRef>
              <c:f>'Chart Data'!$C$2:$C$91</c:f>
              <c:numCache>
                <c:formatCode>General</c:formatCode>
                <c:ptCount val="90"/>
                <c:pt idx="0">
                  <c:v>1.20305</c:v>
                </c:pt>
                <c:pt idx="1">
                  <c:v>0.90803</c:v>
                </c:pt>
                <c:pt idx="2">
                  <c:v>-0.2694</c:v>
                </c:pt>
                <c:pt idx="3">
                  <c:v>-0.03507</c:v>
                </c:pt>
                <c:pt idx="4">
                  <c:v>1.39451</c:v>
                </c:pt>
                <c:pt idx="5">
                  <c:v>0.99255</c:v>
                </c:pt>
                <c:pt idx="6">
                  <c:v>0.19429</c:v>
                </c:pt>
                <c:pt idx="7">
                  <c:v>-0.02427</c:v>
                </c:pt>
                <c:pt idx="8">
                  <c:v>0.88885</c:v>
                </c:pt>
                <c:pt idx="9">
                  <c:v>0.62779</c:v>
                </c:pt>
                <c:pt idx="10">
                  <c:v>1.67302</c:v>
                </c:pt>
                <c:pt idx="11">
                  <c:v>1.15709</c:v>
                </c:pt>
                <c:pt idx="12">
                  <c:v>1.72703</c:v>
                </c:pt>
                <c:pt idx="13">
                  <c:v>-0.31902</c:v>
                </c:pt>
                <c:pt idx="14">
                  <c:v>0.85842</c:v>
                </c:pt>
                <c:pt idx="15">
                  <c:v>0.17146</c:v>
                </c:pt>
                <c:pt idx="16">
                  <c:v>-0.16685</c:v>
                </c:pt>
                <c:pt idx="17">
                  <c:v>0.69457</c:v>
                </c:pt>
                <c:pt idx="18">
                  <c:v>0.07699</c:v>
                </c:pt>
                <c:pt idx="19">
                  <c:v>1.49823</c:v>
                </c:pt>
                <c:pt idx="20">
                  <c:v>0.43621</c:v>
                </c:pt>
                <c:pt idx="21">
                  <c:v>1.72072</c:v>
                </c:pt>
                <c:pt idx="22">
                  <c:v>-0.11029</c:v>
                </c:pt>
                <c:pt idx="23">
                  <c:v>1.70739</c:v>
                </c:pt>
                <c:pt idx="24">
                  <c:v>1.45881</c:v>
                </c:pt>
                <c:pt idx="25">
                  <c:v>0.64304</c:v>
                </c:pt>
                <c:pt idx="26">
                  <c:v>1.65024</c:v>
                </c:pt>
                <c:pt idx="27">
                  <c:v>1.2486</c:v>
                </c:pt>
                <c:pt idx="28">
                  <c:v>1.17829</c:v>
                </c:pt>
                <c:pt idx="29">
                  <c:v>1.24925</c:v>
                </c:pt>
                <c:pt idx="30">
                  <c:v>-0.28333</c:v>
                </c:pt>
                <c:pt idx="31">
                  <c:v>1.50332</c:v>
                </c:pt>
                <c:pt idx="32">
                  <c:v>-0.40102</c:v>
                </c:pt>
                <c:pt idx="33">
                  <c:v>1.14362</c:v>
                </c:pt>
                <c:pt idx="34">
                  <c:v>0.49003</c:v>
                </c:pt>
                <c:pt idx="35">
                  <c:v>0.63427</c:v>
                </c:pt>
                <c:pt idx="36">
                  <c:v>-0.31459</c:v>
                </c:pt>
                <c:pt idx="37">
                  <c:v>0.53645</c:v>
                </c:pt>
                <c:pt idx="38">
                  <c:v>0.34204</c:v>
                </c:pt>
                <c:pt idx="39">
                  <c:v>0.44432</c:v>
                </c:pt>
                <c:pt idx="40">
                  <c:v>-0.21184</c:v>
                </c:pt>
                <c:pt idx="41">
                  <c:v>0.51217</c:v>
                </c:pt>
                <c:pt idx="42">
                  <c:v>0.47001</c:v>
                </c:pt>
                <c:pt idx="43">
                  <c:v>0.47456</c:v>
                </c:pt>
                <c:pt idx="44">
                  <c:v>0.15014</c:v>
                </c:pt>
                <c:pt idx="45">
                  <c:v>0.564</c:v>
                </c:pt>
                <c:pt idx="46">
                  <c:v>0.70859</c:v>
                </c:pt>
                <c:pt idx="47">
                  <c:v>0.9172</c:v>
                </c:pt>
                <c:pt idx="48">
                  <c:v>-0.40918</c:v>
                </c:pt>
                <c:pt idx="49">
                  <c:v>0.12664</c:v>
                </c:pt>
                <c:pt idx="50">
                  <c:v>1.66872</c:v>
                </c:pt>
                <c:pt idx="51">
                  <c:v>1.74066</c:v>
                </c:pt>
                <c:pt idx="52">
                  <c:v>0.63484</c:v>
                </c:pt>
                <c:pt idx="53">
                  <c:v>1.62884</c:v>
                </c:pt>
                <c:pt idx="54">
                  <c:v>0.65813</c:v>
                </c:pt>
                <c:pt idx="55">
                  <c:v>0.78207</c:v>
                </c:pt>
                <c:pt idx="56">
                  <c:v>1.70876</c:v>
                </c:pt>
                <c:pt idx="57">
                  <c:v>0.02174</c:v>
                </c:pt>
                <c:pt idx="58">
                  <c:v>0.04479</c:v>
                </c:pt>
                <c:pt idx="59">
                  <c:v>-0.3802</c:v>
                </c:pt>
                <c:pt idx="60">
                  <c:v>0.50319</c:v>
                </c:pt>
                <c:pt idx="61">
                  <c:v>1.36667</c:v>
                </c:pt>
                <c:pt idx="62">
                  <c:v>0.54408</c:v>
                </c:pt>
                <c:pt idx="63">
                  <c:v>1.57672</c:v>
                </c:pt>
                <c:pt idx="64">
                  <c:v>0.57834</c:v>
                </c:pt>
                <c:pt idx="65">
                  <c:v>-0.1225</c:v>
                </c:pt>
                <c:pt idx="66">
                  <c:v>1.42134</c:v>
                </c:pt>
                <c:pt idx="67">
                  <c:v>1.4366</c:v>
                </c:pt>
                <c:pt idx="68">
                  <c:v>0.613</c:v>
                </c:pt>
                <c:pt idx="69">
                  <c:v>1.37187</c:v>
                </c:pt>
                <c:pt idx="70">
                  <c:v>0.48907</c:v>
                </c:pt>
                <c:pt idx="71">
                  <c:v>1.5111</c:v>
                </c:pt>
                <c:pt idx="72">
                  <c:v>0.57702</c:v>
                </c:pt>
                <c:pt idx="73">
                  <c:v>0.97928</c:v>
                </c:pt>
                <c:pt idx="74">
                  <c:v>1.58703</c:v>
                </c:pt>
                <c:pt idx="75">
                  <c:v>-0.40718</c:v>
                </c:pt>
                <c:pt idx="76">
                  <c:v>1.81775</c:v>
                </c:pt>
                <c:pt idx="77">
                  <c:v>1.63374</c:v>
                </c:pt>
                <c:pt idx="78">
                  <c:v>0.47228</c:v>
                </c:pt>
                <c:pt idx="79">
                  <c:v>1.2617</c:v>
                </c:pt>
                <c:pt idx="80">
                  <c:v>1.74847</c:v>
                </c:pt>
                <c:pt idx="81">
                  <c:v>0.59064</c:v>
                </c:pt>
                <c:pt idx="82">
                  <c:v>1.22265</c:v>
                </c:pt>
                <c:pt idx="83">
                  <c:v>0.39052</c:v>
                </c:pt>
                <c:pt idx="84">
                  <c:v>1.19004</c:v>
                </c:pt>
                <c:pt idx="85">
                  <c:v>-0.13934</c:v>
                </c:pt>
                <c:pt idx="86">
                  <c:v>0.21006</c:v>
                </c:pt>
                <c:pt idx="87">
                  <c:v>1.69832</c:v>
                </c:pt>
                <c:pt idx="88">
                  <c:v>-0.39962</c:v>
                </c:pt>
                <c:pt idx="89">
                  <c:v>-0.41277</c:v>
                </c:pt>
              </c:numCache>
            </c:numRef>
          </c:xVal>
          <c:yVal>
            <c:numRef>
              <c:f>'Chart Data'!$D$2:$D$91</c:f>
              <c:numCache>
                <c:formatCode>General</c:formatCode>
                <c:ptCount val="90"/>
                <c:pt idx="0">
                  <c:v>-0.92721</c:v>
                </c:pt>
                <c:pt idx="1">
                  <c:v>-1.5446</c:v>
                </c:pt>
                <c:pt idx="2">
                  <c:v>-1.04663</c:v>
                </c:pt>
                <c:pt idx="3">
                  <c:v>-1.20938</c:v>
                </c:pt>
                <c:pt idx="4">
                  <c:v>-0.72254</c:v>
                </c:pt>
                <c:pt idx="5">
                  <c:v>-1.27414</c:v>
                </c:pt>
                <c:pt idx="6">
                  <c:v>-1.48058</c:v>
                </c:pt>
                <c:pt idx="7">
                  <c:v>-1.40774</c:v>
                </c:pt>
                <c:pt idx="8">
                  <c:v>-1.37252</c:v>
                </c:pt>
                <c:pt idx="9">
                  <c:v>0.45881</c:v>
                </c:pt>
                <c:pt idx="10">
                  <c:v>-0.04444</c:v>
                </c:pt>
                <c:pt idx="11">
                  <c:v>-1.14423</c:v>
                </c:pt>
                <c:pt idx="12">
                  <c:v>0.17395</c:v>
                </c:pt>
                <c:pt idx="13">
                  <c:v>-0.94888</c:v>
                </c:pt>
                <c:pt idx="14">
                  <c:v>-1.63844</c:v>
                </c:pt>
                <c:pt idx="15">
                  <c:v>-1.61102</c:v>
                </c:pt>
                <c:pt idx="16">
                  <c:v>-1.14744</c:v>
                </c:pt>
                <c:pt idx="17">
                  <c:v>0.31231</c:v>
                </c:pt>
                <c:pt idx="18">
                  <c:v>-1.26605</c:v>
                </c:pt>
                <c:pt idx="19">
                  <c:v>-0.61547</c:v>
                </c:pt>
                <c:pt idx="20">
                  <c:v>-1.42367</c:v>
                </c:pt>
                <c:pt idx="21">
                  <c:v>-0.20652</c:v>
                </c:pt>
                <c:pt idx="22">
                  <c:v>-0.83213</c:v>
                </c:pt>
                <c:pt idx="23">
                  <c:v>-0.19854</c:v>
                </c:pt>
                <c:pt idx="24">
                  <c:v>-0.97976</c:v>
                </c:pt>
                <c:pt idx="25">
                  <c:v>-0.23804</c:v>
                </c:pt>
                <c:pt idx="26">
                  <c:v>0.46069</c:v>
                </c:pt>
                <c:pt idx="27">
                  <c:v>-1.04477</c:v>
                </c:pt>
                <c:pt idx="28">
                  <c:v>-1.20818</c:v>
                </c:pt>
                <c:pt idx="29">
                  <c:v>-1.2474</c:v>
                </c:pt>
                <c:pt idx="30">
                  <c:v>-0.96092</c:v>
                </c:pt>
                <c:pt idx="31">
                  <c:v>-0.58894</c:v>
                </c:pt>
                <c:pt idx="32">
                  <c:v>-0.65914</c:v>
                </c:pt>
                <c:pt idx="33">
                  <c:v>-1.26004</c:v>
                </c:pt>
                <c:pt idx="34">
                  <c:v>0.29606</c:v>
                </c:pt>
                <c:pt idx="35">
                  <c:v>-0.19553</c:v>
                </c:pt>
                <c:pt idx="36">
                  <c:v>-0.70212</c:v>
                </c:pt>
                <c:pt idx="37">
                  <c:v>-0.29197</c:v>
                </c:pt>
                <c:pt idx="38">
                  <c:v>-1.25495</c:v>
                </c:pt>
                <c:pt idx="39">
                  <c:v>-0.01392</c:v>
                </c:pt>
                <c:pt idx="40">
                  <c:v>-0.77044</c:v>
                </c:pt>
                <c:pt idx="41">
                  <c:v>-1.67046</c:v>
                </c:pt>
                <c:pt idx="42">
                  <c:v>-0.54618</c:v>
                </c:pt>
                <c:pt idx="43">
                  <c:v>-1.72245</c:v>
                </c:pt>
                <c:pt idx="44">
                  <c:v>-1.24859</c:v>
                </c:pt>
                <c:pt idx="45">
                  <c:v>-1.34493</c:v>
                </c:pt>
                <c:pt idx="46">
                  <c:v>-1.21741</c:v>
                </c:pt>
                <c:pt idx="47">
                  <c:v>-1.39953</c:v>
                </c:pt>
                <c:pt idx="48">
                  <c:v>-0.59618</c:v>
                </c:pt>
                <c:pt idx="49">
                  <c:v>-1.64363</c:v>
                </c:pt>
                <c:pt idx="50">
                  <c:v>0.3588</c:v>
                </c:pt>
                <c:pt idx="51">
                  <c:v>-0.47821</c:v>
                </c:pt>
                <c:pt idx="52">
                  <c:v>-1.39933</c:v>
                </c:pt>
                <c:pt idx="53">
                  <c:v>-0.1653</c:v>
                </c:pt>
                <c:pt idx="54">
                  <c:v>-1.44677</c:v>
                </c:pt>
                <c:pt idx="55">
                  <c:v>-1.48972</c:v>
                </c:pt>
                <c:pt idx="56">
                  <c:v>0.52116</c:v>
                </c:pt>
                <c:pt idx="57">
                  <c:v>-1.05448</c:v>
                </c:pt>
                <c:pt idx="58">
                  <c:v>-1.3191</c:v>
                </c:pt>
                <c:pt idx="59">
                  <c:v>-0.4182</c:v>
                </c:pt>
                <c:pt idx="60">
                  <c:v>0.01573</c:v>
                </c:pt>
                <c:pt idx="61">
                  <c:v>-0.44001</c:v>
                </c:pt>
                <c:pt idx="62">
                  <c:v>-0.31843</c:v>
                </c:pt>
                <c:pt idx="63">
                  <c:v>-0.3584</c:v>
                </c:pt>
                <c:pt idx="64">
                  <c:v>-0.02952</c:v>
                </c:pt>
                <c:pt idx="65">
                  <c:v>-0.77443</c:v>
                </c:pt>
                <c:pt idx="66">
                  <c:v>-0.74725</c:v>
                </c:pt>
                <c:pt idx="67">
                  <c:v>-0.49162</c:v>
                </c:pt>
                <c:pt idx="68">
                  <c:v>-0.22436</c:v>
                </c:pt>
                <c:pt idx="69">
                  <c:v>-0.87261</c:v>
                </c:pt>
                <c:pt idx="70">
                  <c:v>-1.54472</c:v>
                </c:pt>
                <c:pt idx="71">
                  <c:v>-0.78902</c:v>
                </c:pt>
                <c:pt idx="72">
                  <c:v>-1.50168</c:v>
                </c:pt>
                <c:pt idx="73">
                  <c:v>-1.37396</c:v>
                </c:pt>
                <c:pt idx="74">
                  <c:v>-0.48727</c:v>
                </c:pt>
                <c:pt idx="75">
                  <c:v>-0.88817</c:v>
                </c:pt>
                <c:pt idx="76">
                  <c:v>0.55425</c:v>
                </c:pt>
                <c:pt idx="77">
                  <c:v>0.08603</c:v>
                </c:pt>
                <c:pt idx="78">
                  <c:v>-1.37932</c:v>
                </c:pt>
                <c:pt idx="79">
                  <c:v>-0.7328</c:v>
                </c:pt>
                <c:pt idx="80">
                  <c:v>-0.17165</c:v>
                </c:pt>
                <c:pt idx="81">
                  <c:v>-0.76701</c:v>
                </c:pt>
                <c:pt idx="82">
                  <c:v>-1.23576</c:v>
                </c:pt>
                <c:pt idx="83">
                  <c:v>-1.40336</c:v>
                </c:pt>
                <c:pt idx="84">
                  <c:v>-1.44375</c:v>
                </c:pt>
                <c:pt idx="85">
                  <c:v>-1.1364</c:v>
                </c:pt>
                <c:pt idx="86">
                  <c:v>-1.3615</c:v>
                </c:pt>
                <c:pt idx="87">
                  <c:v>0.41152</c:v>
                </c:pt>
                <c:pt idx="88">
                  <c:v>-0.92531</c:v>
                </c:pt>
                <c:pt idx="89">
                  <c:v>-0.43931</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Variable 2 standardisée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scaling>
        <c:delete val="0"/>
        <c:axPos val="b"/>
        <c:title>
          <c:tx>
            <c:rich>
              <a:bodyPr/>
              <a:lstStyle/>
              <a:p>
                <a:r>
                  <a:rPr>
                    <a:latin typeface="DM Sans"/>
                    <a:ea typeface="DM Sans"/>
                    <a:cs typeface="DM Sans"/>
                  </a:rPr>
                  <a:t>Variable 1 standardisée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2.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Inertie</c:v>
          </c:tx>
          <c:spPr>
            <a:solidFill>
              <a:srgbClr val="303C8B"/>
            </a:solidFill>
            <a:ln w="23813">
              <a:solidFill>
                <a:srgbClr val="303C8B"/>
              </a:solidFill>
            </a:ln>
          </c:spPr>
          <c:marker>
            <c:symbol val="none"/>
            <c:size val="3"/>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General</c:formatCode>
                <c:ptCount val="7"/>
                <c:pt idx="0">
                  <c:v>360</c:v>
                </c:pt>
                <c:pt idx="1">
                  <c:v>152.74879</c:v>
                </c:pt>
                <c:pt idx="2">
                  <c:v>110.77031</c:v>
                </c:pt>
                <c:pt idx="3">
                  <c:v>74.87355</c:v>
                </c:pt>
                <c:pt idx="4">
                  <c:v>55.8719</c:v>
                </c:pt>
                <c:pt idx="5">
                  <c:v>41.71832</c:v>
                </c:pt>
                <c:pt idx="6">
                  <c:v>33.82036</c:v>
                </c:pt>
              </c:numCache>
            </c:numRef>
          </c: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DM Sans"/>
                    <a:ea typeface="DM Sans"/>
                    <a:cs typeface="DM Sans"/>
                  </a:rPr>
                  <a:t>Nombre de clusters K</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Inertie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3.xml><?xml version="1.0" encoding="utf-8"?>
<c:chartSpace xmlns:a="http://schemas.openxmlformats.org/drawingml/2006/main" xmlns:c="http://schemas.openxmlformats.org/drawingml/2006/chart" xmlns:r="http://schemas.openxmlformats.org/officeDocument/2006/relationships">
  <c:lang val="en-US"/>
  <c:chart>
    <c:plotArea>
      <c:scatterChart>
        <c:scatterStyle val="marker"/>
        <c:ser>
          <c:idx val="0"/>
          <c:order val="0"/>
          <c:tx>
            <c:v>Groupe 1</c:v>
          </c:tx>
          <c:spPr>
            <a:solidFill>
              <a:srgbClr val="303C8B"/>
            </a:solidFill>
            <a:ln w="23813">
              <a:noFill/>
            </a:ln>
          </c:spPr>
          <c:marker>
            <c:symbol val="circle"/>
            <c:size val="4"/>
            <c:spPr>
              <a:solidFill>
                <a:srgbClr val="303C8B"/>
              </a:solidFill>
            </c:spPr>
          </c:marker>
          <c:xVal>
            <c:numRef>
              <c:f>'Chart Data'!$A$2:$A$91</c:f>
              <c:numCache>
                <c:formatCode>General</c:formatCode>
                <c:ptCount val="90"/>
                <c:pt idx="0">
                  <c:v>0.36074</c:v>
                </c:pt>
                <c:pt idx="1">
                  <c:v>-0.46471</c:v>
                </c:pt>
                <c:pt idx="2">
                  <c:v>-1.65899</c:v>
                </c:pt>
                <c:pt idx="3">
                  <c:v>0.42466</c:v>
                </c:pt>
                <c:pt idx="4">
                  <c:v>0.12984</c:v>
                </c:pt>
                <c:pt idx="5">
                  <c:v>-1.40079</c:v>
                </c:pt>
                <c:pt idx="6">
                  <c:v>-1.53174</c:v>
                </c:pt>
                <c:pt idx="7">
                  <c:v>-0.67628</c:v>
                </c:pt>
                <c:pt idx="8">
                  <c:v>0.35501</c:v>
                </c:pt>
                <c:pt idx="9">
                  <c:v>-0.70953</c:v>
                </c:pt>
                <c:pt idx="10">
                  <c:v>-0.99866</c:v>
                </c:pt>
                <c:pt idx="11">
                  <c:v>0.06825</c:v>
                </c:pt>
                <c:pt idx="12">
                  <c:v>0.62779</c:v>
                </c:pt>
                <c:pt idx="13">
                  <c:v>-1.30441</c:v>
                </c:pt>
                <c:pt idx="14">
                  <c:v>0.4543</c:v>
                </c:pt>
                <c:pt idx="15">
                  <c:v>-0.91914</c:v>
                </c:pt>
                <c:pt idx="16">
                  <c:v>-1.31972</c:v>
                </c:pt>
                <c:pt idx="17">
                  <c:v>0.0533</c:v>
                </c:pt>
                <c:pt idx="18">
                  <c:v>-1.46321</c:v>
                </c:pt>
                <c:pt idx="19">
                  <c:v>-1.34009</c:v>
                </c:pt>
                <c:pt idx="20">
                  <c:v>0.04566</c:v>
                </c:pt>
                <c:pt idx="21">
                  <c:v>0.69457</c:v>
                </c:pt>
                <c:pt idx="22">
                  <c:v>-0.55561</c:v>
                </c:pt>
                <c:pt idx="23">
                  <c:v>-0.3958</c:v>
                </c:pt>
                <c:pt idx="24">
                  <c:v>0.64304</c:v>
                </c:pt>
                <c:pt idx="25">
                  <c:v>-0.57224</c:v>
                </c:pt>
                <c:pt idx="26">
                  <c:v>-1.70755</c:v>
                </c:pt>
                <c:pt idx="27">
                  <c:v>-1.59193</c:v>
                </c:pt>
                <c:pt idx="28">
                  <c:v>0.13899</c:v>
                </c:pt>
                <c:pt idx="29">
                  <c:v>-1.76901</c:v>
                </c:pt>
                <c:pt idx="30">
                  <c:v>-0.2753</c:v>
                </c:pt>
                <c:pt idx="31">
                  <c:v>0.36936</c:v>
                </c:pt>
                <c:pt idx="32">
                  <c:v>-1.41118</c:v>
                </c:pt>
                <c:pt idx="33">
                  <c:v>0.49003</c:v>
                </c:pt>
                <c:pt idx="34">
                  <c:v>0.63427</c:v>
                </c:pt>
                <c:pt idx="35">
                  <c:v>0.05112</c:v>
                </c:pt>
                <c:pt idx="36">
                  <c:v>0.53645</c:v>
                </c:pt>
                <c:pt idx="37">
                  <c:v>-0.0634</c:v>
                </c:pt>
                <c:pt idx="38">
                  <c:v>0.44432</c:v>
                </c:pt>
                <c:pt idx="39">
                  <c:v>0.47001</c:v>
                </c:pt>
                <c:pt idx="40">
                  <c:v>-1.36742</c:v>
                </c:pt>
                <c:pt idx="41">
                  <c:v>-1.33131</c:v>
                </c:pt>
                <c:pt idx="42">
                  <c:v>-0.55913</c:v>
                </c:pt>
                <c:pt idx="43">
                  <c:v>0.03699</c:v>
                </c:pt>
                <c:pt idx="44">
                  <c:v>-0.34842</c:v>
                </c:pt>
                <c:pt idx="45">
                  <c:v>0.20794</c:v>
                </c:pt>
                <c:pt idx="46">
                  <c:v>0.24918</c:v>
                </c:pt>
                <c:pt idx="47">
                  <c:v>-1.62605</c:v>
                </c:pt>
                <c:pt idx="48">
                  <c:v>-1.72281</c:v>
                </c:pt>
                <c:pt idx="49">
                  <c:v>-1.64852</c:v>
                </c:pt>
                <c:pt idx="50">
                  <c:v>-0.33127</c:v>
                </c:pt>
                <c:pt idx="51">
                  <c:v>-1.69252</c:v>
                </c:pt>
                <c:pt idx="52">
                  <c:v>-0.71964</c:v>
                </c:pt>
                <c:pt idx="53">
                  <c:v>-1.24411</c:v>
                </c:pt>
                <c:pt idx="54">
                  <c:v>-1.40854</c:v>
                </c:pt>
                <c:pt idx="55">
                  <c:v>-0.27194</c:v>
                </c:pt>
                <c:pt idx="56">
                  <c:v>-0.42519</c:v>
                </c:pt>
                <c:pt idx="57">
                  <c:v>-1.42551</c:v>
                </c:pt>
                <c:pt idx="58">
                  <c:v>-0.83334</c:v>
                </c:pt>
                <c:pt idx="59">
                  <c:v>0.50319</c:v>
                </c:pt>
                <c:pt idx="60">
                  <c:v>0.54408</c:v>
                </c:pt>
                <c:pt idx="61">
                  <c:v>-0.66457</c:v>
                </c:pt>
                <c:pt idx="62">
                  <c:v>-0.16279</c:v>
                </c:pt>
                <c:pt idx="63">
                  <c:v>-1.80311</c:v>
                </c:pt>
                <c:pt idx="64">
                  <c:v>-1.66918</c:v>
                </c:pt>
                <c:pt idx="65">
                  <c:v>-0.15872</c:v>
                </c:pt>
                <c:pt idx="66">
                  <c:v>0.57834</c:v>
                </c:pt>
                <c:pt idx="67">
                  <c:v>-1.62046</c:v>
                </c:pt>
                <c:pt idx="68">
                  <c:v>-1.7566</c:v>
                </c:pt>
                <c:pt idx="69">
                  <c:v>0.613</c:v>
                </c:pt>
                <c:pt idx="70">
                  <c:v>0.29993</c:v>
                </c:pt>
                <c:pt idx="71">
                  <c:v>-1.10585</c:v>
                </c:pt>
                <c:pt idx="72">
                  <c:v>0.36657</c:v>
                </c:pt>
                <c:pt idx="73">
                  <c:v>-1.51725</c:v>
                </c:pt>
                <c:pt idx="74">
                  <c:v>-1.26777</c:v>
                </c:pt>
                <c:pt idx="75">
                  <c:v>-0.84285</c:v>
                </c:pt>
                <c:pt idx="76">
                  <c:v>-0.91911</c:v>
                </c:pt>
                <c:pt idx="77">
                  <c:v>-1.18338</c:v>
                </c:pt>
                <c:pt idx="78">
                  <c:v>-0.70756</c:v>
                </c:pt>
                <c:pt idx="79">
                  <c:v>-1.73376</c:v>
                </c:pt>
                <c:pt idx="80">
                  <c:v>0.28468</c:v>
                </c:pt>
                <c:pt idx="81">
                  <c:v>-0.99618</c:v>
                </c:pt>
                <c:pt idx="82">
                  <c:v>-0.31616</c:v>
                </c:pt>
                <c:pt idx="83">
                  <c:v>0.59064</c:v>
                </c:pt>
                <c:pt idx="84">
                  <c:v>-0.92723</c:v>
                </c:pt>
                <c:pt idx="85">
                  <c:v>-1.83029</c:v>
                </c:pt>
                <c:pt idx="86">
                  <c:v>-1.52438</c:v>
                </c:pt>
                <c:pt idx="87">
                  <c:v>0.23179</c:v>
                </c:pt>
                <c:pt idx="88">
                  <c:v>-1.63392</c:v>
                </c:pt>
                <c:pt idx="89">
                  <c:v>0.42812</c:v>
                </c:pt>
              </c:numCache>
            </c:numRef>
          </c:xVal>
          <c:yVal>
            <c:numRef>
              <c:f>'Chart Data'!$B$2:$B$91</c:f>
              <c:numCache>
                <c:formatCode>General</c:formatCode>
                <c:ptCount val="90"/>
                <c:pt idx="0">
                  <c:v>0.70079</c:v>
                </c:pt>
                <c:pt idx="1">
                  <c:v>1.19504</c:v>
                </c:pt>
                <c:pt idx="2">
                  <c:v>-0.00312</c:v>
                </c:pt>
                <c:pt idx="3">
                  <c:v>0.42788</c:v>
                </c:pt>
                <c:pt idx="4">
                  <c:v>0.9832</c:v>
                </c:pt>
                <c:pt idx="5">
                  <c:v>0.79615</c:v>
                </c:pt>
                <c:pt idx="6">
                  <c:v>0.97506</c:v>
                </c:pt>
                <c:pt idx="7">
                  <c:v>1.49944</c:v>
                </c:pt>
                <c:pt idx="8">
                  <c:v>0.68051</c:v>
                </c:pt>
                <c:pt idx="9">
                  <c:v>1.55948</c:v>
                </c:pt>
                <c:pt idx="10">
                  <c:v>1.19536</c:v>
                </c:pt>
                <c:pt idx="11">
                  <c:v>1.30444</c:v>
                </c:pt>
                <c:pt idx="12">
                  <c:v>0.45881</c:v>
                </c:pt>
                <c:pt idx="13">
                  <c:v>1.36236</c:v>
                </c:pt>
                <c:pt idx="14">
                  <c:v>0.54501</c:v>
                </c:pt>
                <c:pt idx="15">
                  <c:v>1.5391</c:v>
                </c:pt>
                <c:pt idx="16">
                  <c:v>1.11386</c:v>
                </c:pt>
                <c:pt idx="17">
                  <c:v>1.32698</c:v>
                </c:pt>
                <c:pt idx="18">
                  <c:v>0.8735</c:v>
                </c:pt>
                <c:pt idx="19">
                  <c:v>0.85064</c:v>
                </c:pt>
                <c:pt idx="20">
                  <c:v>1.33989</c:v>
                </c:pt>
                <c:pt idx="21">
                  <c:v>0.31231</c:v>
                </c:pt>
                <c:pt idx="22">
                  <c:v>1.4686</c:v>
                </c:pt>
                <c:pt idx="23">
                  <c:v>1.3634</c:v>
                </c:pt>
                <c:pt idx="24">
                  <c:v>-0.23804</c:v>
                </c:pt>
                <c:pt idx="25">
                  <c:v>1.40065</c:v>
                </c:pt>
                <c:pt idx="26">
                  <c:v>-0.21064</c:v>
                </c:pt>
                <c:pt idx="27">
                  <c:v>-0.03617</c:v>
                </c:pt>
                <c:pt idx="28">
                  <c:v>1.09814</c:v>
                </c:pt>
                <c:pt idx="29">
                  <c:v>0.41406</c:v>
                </c:pt>
                <c:pt idx="30">
                  <c:v>1.40997</c:v>
                </c:pt>
                <c:pt idx="31">
                  <c:v>0.9027</c:v>
                </c:pt>
                <c:pt idx="32">
                  <c:v>0.68758</c:v>
                </c:pt>
                <c:pt idx="33">
                  <c:v>0.29606</c:v>
                </c:pt>
                <c:pt idx="34">
                  <c:v>-0.19553</c:v>
                </c:pt>
                <c:pt idx="35">
                  <c:v>0.87951</c:v>
                </c:pt>
                <c:pt idx="36">
                  <c:v>-0.29197</c:v>
                </c:pt>
                <c:pt idx="37">
                  <c:v>1.06741</c:v>
                </c:pt>
                <c:pt idx="38">
                  <c:v>-0.01392</c:v>
                </c:pt>
                <c:pt idx="39">
                  <c:v>-0.54618</c:v>
                </c:pt>
                <c:pt idx="40">
                  <c:v>0.9114</c:v>
                </c:pt>
                <c:pt idx="41">
                  <c:v>0.96306</c:v>
                </c:pt>
                <c:pt idx="42">
                  <c:v>1.82061</c:v>
                </c:pt>
                <c:pt idx="43">
                  <c:v>1.16442</c:v>
                </c:pt>
                <c:pt idx="44">
                  <c:v>1.48128</c:v>
                </c:pt>
                <c:pt idx="45">
                  <c:v>1.03894</c:v>
                </c:pt>
                <c:pt idx="46">
                  <c:v>0.91915</c:v>
                </c:pt>
                <c:pt idx="47">
                  <c:v>-0.03407</c:v>
                </c:pt>
                <c:pt idx="48">
                  <c:v>0.1168</c:v>
                </c:pt>
                <c:pt idx="49">
                  <c:v>0.0288</c:v>
                </c:pt>
                <c:pt idx="50">
                  <c:v>1.53314</c:v>
                </c:pt>
                <c:pt idx="51">
                  <c:v>-0.4182</c:v>
                </c:pt>
                <c:pt idx="52">
                  <c:v>1.51802</c:v>
                </c:pt>
                <c:pt idx="53">
                  <c:v>1.06911</c:v>
                </c:pt>
                <c:pt idx="54">
                  <c:v>0.7006</c:v>
                </c:pt>
                <c:pt idx="55">
                  <c:v>1.26153</c:v>
                </c:pt>
                <c:pt idx="56">
                  <c:v>1.31683</c:v>
                </c:pt>
                <c:pt idx="57">
                  <c:v>1.36591</c:v>
                </c:pt>
                <c:pt idx="58">
                  <c:v>1.33112</c:v>
                </c:pt>
                <c:pt idx="59">
                  <c:v>0.01573</c:v>
                </c:pt>
                <c:pt idx="60">
                  <c:v>-0.31843</c:v>
                </c:pt>
                <c:pt idx="61">
                  <c:v>1.57246</c:v>
                </c:pt>
                <c:pt idx="62">
                  <c:v>1.38893</c:v>
                </c:pt>
                <c:pt idx="63">
                  <c:v>-0.01963</c:v>
                </c:pt>
                <c:pt idx="64">
                  <c:v>0.36377</c:v>
                </c:pt>
                <c:pt idx="65">
                  <c:v>1.49079</c:v>
                </c:pt>
                <c:pt idx="66">
                  <c:v>-0.02952</c:v>
                </c:pt>
                <c:pt idx="67">
                  <c:v>0.15018</c:v>
                </c:pt>
                <c:pt idx="68">
                  <c:v>-0.72294</c:v>
                </c:pt>
                <c:pt idx="69">
                  <c:v>-0.22436</c:v>
                </c:pt>
                <c:pt idx="70">
                  <c:v>0.41479</c:v>
                </c:pt>
                <c:pt idx="71">
                  <c:v>1.36724</c:v>
                </c:pt>
                <c:pt idx="72">
                  <c:v>0.5696</c:v>
                </c:pt>
                <c:pt idx="73">
                  <c:v>0.45433</c:v>
                </c:pt>
                <c:pt idx="74">
                  <c:v>1.11598</c:v>
                </c:pt>
                <c:pt idx="75">
                  <c:v>1.42054</c:v>
                </c:pt>
                <c:pt idx="76">
                  <c:v>1.52666</c:v>
                </c:pt>
                <c:pt idx="77">
                  <c:v>1.22085</c:v>
                </c:pt>
                <c:pt idx="78">
                  <c:v>1.76302</c:v>
                </c:pt>
                <c:pt idx="79">
                  <c:v>-0.24065</c:v>
                </c:pt>
                <c:pt idx="80">
                  <c:v>0.99587</c:v>
                </c:pt>
                <c:pt idx="81">
                  <c:v>1.31889</c:v>
                </c:pt>
                <c:pt idx="82">
                  <c:v>1.3701</c:v>
                </c:pt>
                <c:pt idx="83">
                  <c:v>-0.76701</c:v>
                </c:pt>
                <c:pt idx="84">
                  <c:v>1.60721</c:v>
                </c:pt>
                <c:pt idx="85">
                  <c:v>-0.31985</c:v>
                </c:pt>
                <c:pt idx="86">
                  <c:v>0.44795</c:v>
                </c:pt>
                <c:pt idx="87">
                  <c:v>0.70029</c:v>
                </c:pt>
                <c:pt idx="88">
                  <c:v>0.64055</c:v>
                </c:pt>
                <c:pt idx="89">
                  <c:v>0.43285</c:v>
                </c:pt>
              </c:numCache>
            </c:numRef>
          </c:yVal>
          <c:smooth val="0"/>
        </c:ser>
        <c:ser>
          <c:idx val="1"/>
          <c:order val="1"/>
          <c:tx>
            <c:v>Groupe 2</c:v>
          </c:tx>
          <c:spPr>
            <a:solidFill>
              <a:srgbClr val="FF7900"/>
            </a:solidFill>
            <a:ln w="23813">
              <a:noFill/>
            </a:ln>
          </c:spPr>
          <c:marker>
            <c:symbol val="circle"/>
            <c:size val="4"/>
            <c:spPr>
              <a:solidFill>
                <a:srgbClr val="FF7900"/>
              </a:solidFill>
            </c:spPr>
          </c:marker>
          <c:xVal>
            <c:numRef>
              <c:f>'Chart Data'!$C$2:$C$91</c:f>
              <c:numCache>
                <c:formatCode>General</c:formatCode>
                <c:ptCount val="90"/>
                <c:pt idx="0">
                  <c:v>1.20305</c:v>
                </c:pt>
                <c:pt idx="1">
                  <c:v>0.90803</c:v>
                </c:pt>
                <c:pt idx="2">
                  <c:v>-0.2694</c:v>
                </c:pt>
                <c:pt idx="3">
                  <c:v>-0.03507</c:v>
                </c:pt>
                <c:pt idx="4">
                  <c:v>-0.51557</c:v>
                </c:pt>
                <c:pt idx="5">
                  <c:v>1.39451</c:v>
                </c:pt>
                <c:pt idx="6">
                  <c:v>0.99255</c:v>
                </c:pt>
                <c:pt idx="7">
                  <c:v>0.19429</c:v>
                </c:pt>
                <c:pt idx="8">
                  <c:v>-0.50575</c:v>
                </c:pt>
                <c:pt idx="9">
                  <c:v>-0.49876</c:v>
                </c:pt>
                <c:pt idx="10">
                  <c:v>-0.02427</c:v>
                </c:pt>
                <c:pt idx="11">
                  <c:v>0.88885</c:v>
                </c:pt>
                <c:pt idx="12">
                  <c:v>1.67302</c:v>
                </c:pt>
                <c:pt idx="13">
                  <c:v>1.15709</c:v>
                </c:pt>
                <c:pt idx="14">
                  <c:v>1.72703</c:v>
                </c:pt>
                <c:pt idx="15">
                  <c:v>-0.31902</c:v>
                </c:pt>
                <c:pt idx="16">
                  <c:v>0.85842</c:v>
                </c:pt>
                <c:pt idx="17">
                  <c:v>0.17146</c:v>
                </c:pt>
                <c:pt idx="18">
                  <c:v>-0.16685</c:v>
                </c:pt>
                <c:pt idx="19">
                  <c:v>0.07699</c:v>
                </c:pt>
                <c:pt idx="20">
                  <c:v>-0.50945</c:v>
                </c:pt>
                <c:pt idx="21">
                  <c:v>1.49823</c:v>
                </c:pt>
                <c:pt idx="22">
                  <c:v>0.43621</c:v>
                </c:pt>
                <c:pt idx="23">
                  <c:v>-0.49948</c:v>
                </c:pt>
                <c:pt idx="24">
                  <c:v>1.72072</c:v>
                </c:pt>
                <c:pt idx="25">
                  <c:v>-0.11029</c:v>
                </c:pt>
                <c:pt idx="26">
                  <c:v>1.70739</c:v>
                </c:pt>
                <c:pt idx="27">
                  <c:v>1.45881</c:v>
                </c:pt>
                <c:pt idx="28">
                  <c:v>1.65024</c:v>
                </c:pt>
                <c:pt idx="29">
                  <c:v>1.2486</c:v>
                </c:pt>
                <c:pt idx="30">
                  <c:v>1.17829</c:v>
                </c:pt>
                <c:pt idx="31">
                  <c:v>1.24925</c:v>
                </c:pt>
                <c:pt idx="32">
                  <c:v>-0.52503</c:v>
                </c:pt>
                <c:pt idx="33">
                  <c:v>-0.28333</c:v>
                </c:pt>
                <c:pt idx="34">
                  <c:v>1.50332</c:v>
                </c:pt>
                <c:pt idx="35">
                  <c:v>-0.40102</c:v>
                </c:pt>
                <c:pt idx="36">
                  <c:v>1.14362</c:v>
                </c:pt>
                <c:pt idx="37">
                  <c:v>-0.31459</c:v>
                </c:pt>
                <c:pt idx="38">
                  <c:v>-0.4213</c:v>
                </c:pt>
                <c:pt idx="39">
                  <c:v>0.34204</c:v>
                </c:pt>
                <c:pt idx="40">
                  <c:v>-0.67402</c:v>
                </c:pt>
                <c:pt idx="41">
                  <c:v>-0.21184</c:v>
                </c:pt>
                <c:pt idx="42">
                  <c:v>0.51217</c:v>
                </c:pt>
                <c:pt idx="43">
                  <c:v>0.47456</c:v>
                </c:pt>
                <c:pt idx="44">
                  <c:v>0.15014</c:v>
                </c:pt>
                <c:pt idx="45">
                  <c:v>0.564</c:v>
                </c:pt>
                <c:pt idx="46">
                  <c:v>0.70859</c:v>
                </c:pt>
                <c:pt idx="47">
                  <c:v>0.9172</c:v>
                </c:pt>
                <c:pt idx="48">
                  <c:v>-0.40918</c:v>
                </c:pt>
                <c:pt idx="49">
                  <c:v>0.12664</c:v>
                </c:pt>
                <c:pt idx="50">
                  <c:v>1.66872</c:v>
                </c:pt>
                <c:pt idx="51">
                  <c:v>1.74066</c:v>
                </c:pt>
                <c:pt idx="52">
                  <c:v>-0.57182</c:v>
                </c:pt>
                <c:pt idx="53">
                  <c:v>0.63484</c:v>
                </c:pt>
                <c:pt idx="54">
                  <c:v>1.62884</c:v>
                </c:pt>
                <c:pt idx="55">
                  <c:v>0.65813</c:v>
                </c:pt>
                <c:pt idx="56">
                  <c:v>0.78207</c:v>
                </c:pt>
                <c:pt idx="57">
                  <c:v>1.70876</c:v>
                </c:pt>
                <c:pt idx="58">
                  <c:v>0.02174</c:v>
                </c:pt>
                <c:pt idx="59">
                  <c:v>0.04479</c:v>
                </c:pt>
                <c:pt idx="60">
                  <c:v>-0.3802</c:v>
                </c:pt>
                <c:pt idx="61">
                  <c:v>1.36667</c:v>
                </c:pt>
                <c:pt idx="62">
                  <c:v>1.57672</c:v>
                </c:pt>
                <c:pt idx="63">
                  <c:v>-0.1225</c:v>
                </c:pt>
                <c:pt idx="64">
                  <c:v>-0.61868</c:v>
                </c:pt>
                <c:pt idx="65">
                  <c:v>1.42134</c:v>
                </c:pt>
                <c:pt idx="66">
                  <c:v>1.4366</c:v>
                </c:pt>
                <c:pt idx="67">
                  <c:v>1.37187</c:v>
                </c:pt>
                <c:pt idx="68">
                  <c:v>0.48907</c:v>
                </c:pt>
                <c:pt idx="69">
                  <c:v>1.5111</c:v>
                </c:pt>
                <c:pt idx="70">
                  <c:v>0.57702</c:v>
                </c:pt>
                <c:pt idx="71">
                  <c:v>0.97928</c:v>
                </c:pt>
                <c:pt idx="72">
                  <c:v>1.58703</c:v>
                </c:pt>
                <c:pt idx="73">
                  <c:v>-0.40718</c:v>
                </c:pt>
                <c:pt idx="74">
                  <c:v>1.81775</c:v>
                </c:pt>
                <c:pt idx="75">
                  <c:v>1.63374</c:v>
                </c:pt>
                <c:pt idx="76">
                  <c:v>0.47228</c:v>
                </c:pt>
                <c:pt idx="77">
                  <c:v>1.2617</c:v>
                </c:pt>
                <c:pt idx="78">
                  <c:v>1.74847</c:v>
                </c:pt>
                <c:pt idx="79">
                  <c:v>1.22265</c:v>
                </c:pt>
                <c:pt idx="80">
                  <c:v>0.39052</c:v>
                </c:pt>
                <c:pt idx="81">
                  <c:v>1.19004</c:v>
                </c:pt>
                <c:pt idx="82">
                  <c:v>-0.4649</c:v>
                </c:pt>
                <c:pt idx="83">
                  <c:v>-0.4352</c:v>
                </c:pt>
                <c:pt idx="84">
                  <c:v>-0.13934</c:v>
                </c:pt>
                <c:pt idx="85">
                  <c:v>0.21006</c:v>
                </c:pt>
                <c:pt idx="86">
                  <c:v>1.69832</c:v>
                </c:pt>
                <c:pt idx="87">
                  <c:v>-0.39962</c:v>
                </c:pt>
                <c:pt idx="88">
                  <c:v>-0.53969</c:v>
                </c:pt>
                <c:pt idx="89">
                  <c:v>-0.41277</c:v>
                </c:pt>
              </c:numCache>
            </c:numRef>
          </c:xVal>
          <c:yVal>
            <c:numRef>
              <c:f>'Chart Data'!$D$2:$D$91</c:f>
              <c:numCache>
                <c:formatCode>General</c:formatCode>
                <c:ptCount val="90"/>
                <c:pt idx="0">
                  <c:v>-0.92721</c:v>
                </c:pt>
                <c:pt idx="1">
                  <c:v>-1.5446</c:v>
                </c:pt>
                <c:pt idx="2">
                  <c:v>-1.04663</c:v>
                </c:pt>
                <c:pt idx="3">
                  <c:v>-1.20938</c:v>
                </c:pt>
                <c:pt idx="4">
                  <c:v>0.10266</c:v>
                </c:pt>
                <c:pt idx="5">
                  <c:v>-0.72254</c:v>
                </c:pt>
                <c:pt idx="6">
                  <c:v>-1.27414</c:v>
                </c:pt>
                <c:pt idx="7">
                  <c:v>-1.48058</c:v>
                </c:pt>
                <c:pt idx="8">
                  <c:v>-0.11882</c:v>
                </c:pt>
                <c:pt idx="9">
                  <c:v>-0.03808</c:v>
                </c:pt>
                <c:pt idx="10">
                  <c:v>-1.40774</c:v>
                </c:pt>
                <c:pt idx="11">
                  <c:v>-1.37252</c:v>
                </c:pt>
                <c:pt idx="12">
                  <c:v>-0.04444</c:v>
                </c:pt>
                <c:pt idx="13">
                  <c:v>-1.14423</c:v>
                </c:pt>
                <c:pt idx="14">
                  <c:v>0.17395</c:v>
                </c:pt>
                <c:pt idx="15">
                  <c:v>-0.94888</c:v>
                </c:pt>
                <c:pt idx="16">
                  <c:v>-1.63844</c:v>
                </c:pt>
                <c:pt idx="17">
                  <c:v>-1.61102</c:v>
                </c:pt>
                <c:pt idx="18">
                  <c:v>-1.14744</c:v>
                </c:pt>
                <c:pt idx="19">
                  <c:v>-1.26605</c:v>
                </c:pt>
                <c:pt idx="20">
                  <c:v>-0.23901</c:v>
                </c:pt>
                <c:pt idx="21">
                  <c:v>-0.61547</c:v>
                </c:pt>
                <c:pt idx="22">
                  <c:v>-1.42367</c:v>
                </c:pt>
                <c:pt idx="23">
                  <c:v>0.4304</c:v>
                </c:pt>
                <c:pt idx="24">
                  <c:v>-0.20652</c:v>
                </c:pt>
                <c:pt idx="25">
                  <c:v>-0.83213</c:v>
                </c:pt>
                <c:pt idx="26">
                  <c:v>-0.19854</c:v>
                </c:pt>
                <c:pt idx="27">
                  <c:v>-0.97976</c:v>
                </c:pt>
                <c:pt idx="28">
                  <c:v>0.46069</c:v>
                </c:pt>
                <c:pt idx="29">
                  <c:v>-1.04477</c:v>
                </c:pt>
                <c:pt idx="30">
                  <c:v>-1.20818</c:v>
                </c:pt>
                <c:pt idx="31">
                  <c:v>-1.2474</c:v>
                </c:pt>
                <c:pt idx="32">
                  <c:v>-0.20519</c:v>
                </c:pt>
                <c:pt idx="33">
                  <c:v>-0.96092</c:v>
                </c:pt>
                <c:pt idx="34">
                  <c:v>-0.58894</c:v>
                </c:pt>
                <c:pt idx="35">
                  <c:v>-0.65914</c:v>
                </c:pt>
                <c:pt idx="36">
                  <c:v>-1.26004</c:v>
                </c:pt>
                <c:pt idx="37">
                  <c:v>-0.70212</c:v>
                </c:pt>
                <c:pt idx="38">
                  <c:v>-0.10698</c:v>
                </c:pt>
                <c:pt idx="39">
                  <c:v>-1.25495</c:v>
                </c:pt>
                <c:pt idx="40">
                  <c:v>0.38481</c:v>
                </c:pt>
                <c:pt idx="41">
                  <c:v>-0.77044</c:v>
                </c:pt>
                <c:pt idx="42">
                  <c:v>-1.67046</c:v>
                </c:pt>
                <c:pt idx="43">
                  <c:v>-1.72245</c:v>
                </c:pt>
                <c:pt idx="44">
                  <c:v>-1.24859</c:v>
                </c:pt>
                <c:pt idx="45">
                  <c:v>-1.34493</c:v>
                </c:pt>
                <c:pt idx="46">
                  <c:v>-1.21741</c:v>
                </c:pt>
                <c:pt idx="47">
                  <c:v>-1.39953</c:v>
                </c:pt>
                <c:pt idx="48">
                  <c:v>-0.59618</c:v>
                </c:pt>
                <c:pt idx="49">
                  <c:v>-1.64363</c:v>
                </c:pt>
                <c:pt idx="50">
                  <c:v>0.3588</c:v>
                </c:pt>
                <c:pt idx="51">
                  <c:v>-0.47821</c:v>
                </c:pt>
                <c:pt idx="52">
                  <c:v>0.32614</c:v>
                </c:pt>
                <c:pt idx="53">
                  <c:v>-1.39933</c:v>
                </c:pt>
                <c:pt idx="54">
                  <c:v>-0.1653</c:v>
                </c:pt>
                <c:pt idx="55">
                  <c:v>-1.44677</c:v>
                </c:pt>
                <c:pt idx="56">
                  <c:v>-1.48972</c:v>
                </c:pt>
                <c:pt idx="57">
                  <c:v>0.52116</c:v>
                </c:pt>
                <c:pt idx="58">
                  <c:v>-1.05448</c:v>
                </c:pt>
                <c:pt idx="59">
                  <c:v>-1.3191</c:v>
                </c:pt>
                <c:pt idx="60">
                  <c:v>-0.4182</c:v>
                </c:pt>
                <c:pt idx="61">
                  <c:v>-0.44001</c:v>
                </c:pt>
                <c:pt idx="62">
                  <c:v>-0.3584</c:v>
                </c:pt>
                <c:pt idx="63">
                  <c:v>-0.77443</c:v>
                </c:pt>
                <c:pt idx="64">
                  <c:v>0.67052</c:v>
                </c:pt>
                <c:pt idx="65">
                  <c:v>-0.74725</c:v>
                </c:pt>
                <c:pt idx="66">
                  <c:v>-0.49162</c:v>
                </c:pt>
                <c:pt idx="67">
                  <c:v>-0.87261</c:v>
                </c:pt>
                <c:pt idx="68">
                  <c:v>-1.54472</c:v>
                </c:pt>
                <c:pt idx="69">
                  <c:v>-0.78902</c:v>
                </c:pt>
                <c:pt idx="70">
                  <c:v>-1.50168</c:v>
                </c:pt>
                <c:pt idx="71">
                  <c:v>-1.37396</c:v>
                </c:pt>
                <c:pt idx="72">
                  <c:v>-0.48727</c:v>
                </c:pt>
                <c:pt idx="73">
                  <c:v>-0.88817</c:v>
                </c:pt>
                <c:pt idx="74">
                  <c:v>0.55425</c:v>
                </c:pt>
                <c:pt idx="75">
                  <c:v>0.08603</c:v>
                </c:pt>
                <c:pt idx="76">
                  <c:v>-1.37932</c:v>
                </c:pt>
                <c:pt idx="77">
                  <c:v>-0.7328</c:v>
                </c:pt>
                <c:pt idx="78">
                  <c:v>-0.17165</c:v>
                </c:pt>
                <c:pt idx="79">
                  <c:v>-1.23576</c:v>
                </c:pt>
                <c:pt idx="80">
                  <c:v>-1.40336</c:v>
                </c:pt>
                <c:pt idx="81">
                  <c:v>-1.44375</c:v>
                </c:pt>
                <c:pt idx="82">
                  <c:v>-0.35905</c:v>
                </c:pt>
                <c:pt idx="83">
                  <c:v>-0.35607</c:v>
                </c:pt>
                <c:pt idx="84">
                  <c:v>-1.1364</c:v>
                </c:pt>
                <c:pt idx="85">
                  <c:v>-1.3615</c:v>
                </c:pt>
                <c:pt idx="86">
                  <c:v>0.41152</c:v>
                </c:pt>
                <c:pt idx="87">
                  <c:v>-0.92531</c:v>
                </c:pt>
                <c:pt idx="88">
                  <c:v>0.50664</c:v>
                </c:pt>
                <c:pt idx="89">
                  <c:v>-0.43931</c:v>
                </c:pt>
              </c:numCache>
            </c:numRef>
          </c:y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Variable 2 standardisée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valAx>
      <c:valAx>
        <c:axId val="48650112"/>
        <c:scaling>
          <c:orientation val="minMax"/>
        </c:scaling>
        <c:delete val="0"/>
        <c:axPos val="b"/>
        <c:title>
          <c:tx>
            <c:rich>
              <a:bodyPr/>
              <a:lstStyle/>
              <a:p>
                <a:r>
                  <a:rPr>
                    <a:latin typeface="DM Sans"/>
                    <a:ea typeface="DM Sans"/>
                    <a:cs typeface="DM Sans"/>
                  </a:rPr>
                  <a:t>Variable 1 standardisée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4.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Hausse RMSE</c:v>
          </c:tx>
          <c:spPr>
            <a:solidFill>
              <a:srgbClr val="303C8B"/>
            </a:solidFill>
            <a:ln w="23813">
              <a:solidFill>
                <a:srgbClr val="303C8B"/>
              </a:solidFill>
            </a:ln>
          </c:spPr>
          <c:invertIfNegative val="0"/>
          <c:cat>
            <c:strRef>
              <c:f>'Chart Data'!$A$2:$A$11</c:f>
              <c:strCache>
                <c:ptCount val="10"/>
                <c:pt idx="0">
                  <c:v>x0</c:v>
                </c:pt>
                <c:pt idx="1">
                  <c:v>x1</c:v>
                </c:pt>
                <c:pt idx="2">
                  <c:v>x2</c:v>
                </c:pt>
                <c:pt idx="3">
                  <c:v>x3</c:v>
                </c:pt>
                <c:pt idx="4">
                  <c:v>x4</c:v>
                </c:pt>
                <c:pt idx="5">
                  <c:v>x5</c:v>
                </c:pt>
                <c:pt idx="6">
                  <c:v>x6</c:v>
                </c:pt>
                <c:pt idx="7">
                  <c:v>x7</c:v>
                </c:pt>
                <c:pt idx="8">
                  <c:v>x8</c:v>
                </c:pt>
                <c:pt idx="9">
                  <c:v>x9</c:v>
                </c:pt>
              </c:strCache>
            </c:strRef>
          </c:cat>
          <c:val>
            <c:numRef>
              <c:f>'Chart Data'!$B$2:$B$11</c:f>
              <c:numCache>
                <c:formatCode>General</c:formatCode>
                <c:ptCount val="10"/>
                <c:pt idx="0">
                  <c:v>1.61889</c:v>
                </c:pt>
                <c:pt idx="1">
                  <c:v>1.54094</c:v>
                </c:pt>
                <c:pt idx="2">
                  <c:v>0.59563</c:v>
                </c:pt>
                <c:pt idx="3">
                  <c:v>2.02144</c:v>
                </c:pt>
                <c:pt idx="4">
                  <c:v>0.6957</c:v>
                </c:pt>
                <c:pt idx="5">
                  <c:v>0.01454</c:v>
                </c:pt>
                <c:pt idx="6">
                  <c:v>0.00356</c:v>
                </c:pt>
                <c:pt idx="7">
                  <c:v>0.00612</c:v>
                </c:pt>
                <c:pt idx="8">
                  <c:v>0.01491</c:v>
                </c:pt>
                <c:pt idx="9">
                  <c:v>-0.01152</c:v>
                </c:pt>
              </c:numCache>
            </c:numRef>
          </c:val>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a:lstStyle/>
              <a:p>
                <a:r>
                  <a:rPr>
                    <a:latin typeface="DM Sans"/>
                    <a:ea typeface="DM Sans"/>
                    <a:cs typeface="DM Sans"/>
                  </a:rPr>
                  <a:t>Variable permutée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Hausse de RMSE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5.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Prédiction</c:v>
          </c:tx>
          <c:spPr>
            <a:solidFill>
              <a:srgbClr val="303C8B"/>
            </a:solidFill>
            <a:ln w="23813">
              <a:solidFill>
                <a:srgbClr val="303C8B"/>
              </a:solidFill>
            </a:ln>
          </c:spPr>
          <c:marker>
            <c:symbol val="none"/>
            <c:size val="3"/>
          </c:marker>
          <c:cat>
            <c:numRef>
              <c:f>'Chart Data'!$A$2:$A$41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cat>
          <c:val>
            <c:numRef>
              <c:f>'Chart Data'!$B$2:$B$41</c:f>
              <c:numCache>
                <c:formatCode>General</c:formatCode>
                <c:ptCount val="40"/>
                <c:pt idx="0">
                  <c:v>3.59974</c:v>
                </c:pt>
                <c:pt idx="1">
                  <c:v>4.43706</c:v>
                </c:pt>
                <c:pt idx="2">
                  <c:v>4.86271</c:v>
                </c:pt>
                <c:pt idx="3">
                  <c:v>4.93851</c:v>
                </c:pt>
                <c:pt idx="4">
                  <c:v>5.67869</c:v>
                </c:pt>
                <c:pt idx="5">
                  <c:v>6.03665</c:v>
                </c:pt>
                <c:pt idx="6">
                  <c:v>6.24038</c:v>
                </c:pt>
                <c:pt idx="7">
                  <c:v>6.45944</c:v>
                </c:pt>
                <c:pt idx="8">
                  <c:v>6.4864</c:v>
                </c:pt>
                <c:pt idx="9">
                  <c:v>6.57865</c:v>
                </c:pt>
                <c:pt idx="10">
                  <c:v>7.18108</c:v>
                </c:pt>
                <c:pt idx="11">
                  <c:v>7.79456</c:v>
                </c:pt>
                <c:pt idx="12">
                  <c:v>7.93246</c:v>
                </c:pt>
                <c:pt idx="13">
                  <c:v>7.99645</c:v>
                </c:pt>
                <c:pt idx="14">
                  <c:v>8.03315</c:v>
                </c:pt>
                <c:pt idx="15">
                  <c:v>8.09005</c:v>
                </c:pt>
                <c:pt idx="16">
                  <c:v>8.21518</c:v>
                </c:pt>
                <c:pt idx="17">
                  <c:v>8.3045</c:v>
                </c:pt>
                <c:pt idx="18">
                  <c:v>8.45463</c:v>
                </c:pt>
                <c:pt idx="19">
                  <c:v>8.47454</c:v>
                </c:pt>
                <c:pt idx="20">
                  <c:v>8.53246</c:v>
                </c:pt>
                <c:pt idx="21">
                  <c:v>8.63727</c:v>
                </c:pt>
                <c:pt idx="22">
                  <c:v>8.77196</c:v>
                </c:pt>
                <c:pt idx="23">
                  <c:v>8.94961</c:v>
                </c:pt>
                <c:pt idx="24">
                  <c:v>8.95452</c:v>
                </c:pt>
                <c:pt idx="25">
                  <c:v>9.18477</c:v>
                </c:pt>
                <c:pt idx="26">
                  <c:v>9.24075</c:v>
                </c:pt>
                <c:pt idx="27">
                  <c:v>9.29744</c:v>
                </c:pt>
                <c:pt idx="28">
                  <c:v>9.34711</c:v>
                </c:pt>
                <c:pt idx="29">
                  <c:v>9.44254</c:v>
                </c:pt>
                <c:pt idx="30">
                  <c:v>9.66451</c:v>
                </c:pt>
                <c:pt idx="31">
                  <c:v>9.79962</c:v>
                </c:pt>
                <c:pt idx="32">
                  <c:v>9.85393</c:v>
                </c:pt>
                <c:pt idx="33">
                  <c:v>9.95004</c:v>
                </c:pt>
                <c:pt idx="34">
                  <c:v>9.95353</c:v>
                </c:pt>
                <c:pt idx="35">
                  <c:v>10.03092</c:v>
                </c:pt>
                <c:pt idx="36">
                  <c:v>10.03605</c:v>
                </c:pt>
                <c:pt idx="37">
                  <c:v>10.17476</c:v>
                </c:pt>
                <c:pt idx="38">
                  <c:v>10.25187</c:v>
                </c:pt>
                <c:pt idx="39">
                  <c:v>10.40043</c:v>
                </c:pt>
              </c:numCache>
            </c:numRef>
          </c:val>
          <c:smooth val="0"/>
        </c:ser>
        <c:ser>
          <c:idx val="1"/>
          <c:order val="1"/>
          <c:tx>
            <c:v>Borne basse</c:v>
          </c:tx>
          <c:spPr>
            <a:solidFill>
              <a:srgbClr val="FF7900"/>
            </a:solidFill>
            <a:ln w="23813">
              <a:solidFill>
                <a:srgbClr val="FF7900"/>
              </a:solidFill>
            </a:ln>
          </c:spPr>
          <c:marker>
            <c:symbol val="none"/>
            <c:size val="3"/>
          </c:marker>
          <c:cat>
            <c:numRef>
              <c:f>'Chart Data'!$C$2:$C$41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cat>
          <c:val>
            <c:numRef>
              <c:f>'Chart Data'!$D$2:$D$41</c:f>
              <c:numCache>
                <c:formatCode>General</c:formatCode>
                <c:ptCount val="40"/>
                <c:pt idx="0">
                  <c:v>-0.27913</c:v>
                </c:pt>
                <c:pt idx="1">
                  <c:v>0.55819</c:v>
                </c:pt>
                <c:pt idx="2">
                  <c:v>0.98384</c:v>
                </c:pt>
                <c:pt idx="3">
                  <c:v>1.05964</c:v>
                </c:pt>
                <c:pt idx="4">
                  <c:v>1.79982</c:v>
                </c:pt>
                <c:pt idx="5">
                  <c:v>2.15778</c:v>
                </c:pt>
                <c:pt idx="6">
                  <c:v>2.36151</c:v>
                </c:pt>
                <c:pt idx="7">
                  <c:v>2.58057</c:v>
                </c:pt>
                <c:pt idx="8">
                  <c:v>2.60753</c:v>
                </c:pt>
                <c:pt idx="9">
                  <c:v>2.69978</c:v>
                </c:pt>
                <c:pt idx="10">
                  <c:v>3.30221</c:v>
                </c:pt>
                <c:pt idx="11">
                  <c:v>3.91569</c:v>
                </c:pt>
                <c:pt idx="12">
                  <c:v>4.05359</c:v>
                </c:pt>
                <c:pt idx="13">
                  <c:v>4.11758</c:v>
                </c:pt>
                <c:pt idx="14">
                  <c:v>4.15428</c:v>
                </c:pt>
                <c:pt idx="15">
                  <c:v>4.21118</c:v>
                </c:pt>
                <c:pt idx="16">
                  <c:v>4.33631</c:v>
                </c:pt>
                <c:pt idx="17">
                  <c:v>4.42563</c:v>
                </c:pt>
                <c:pt idx="18">
                  <c:v>4.57576</c:v>
                </c:pt>
                <c:pt idx="19">
                  <c:v>4.59567</c:v>
                </c:pt>
                <c:pt idx="20">
                  <c:v>4.65359</c:v>
                </c:pt>
                <c:pt idx="21">
                  <c:v>4.7584</c:v>
                </c:pt>
                <c:pt idx="22">
                  <c:v>4.89309</c:v>
                </c:pt>
                <c:pt idx="23">
                  <c:v>5.07074</c:v>
                </c:pt>
                <c:pt idx="24">
                  <c:v>5.07565</c:v>
                </c:pt>
                <c:pt idx="25">
                  <c:v>5.3059</c:v>
                </c:pt>
                <c:pt idx="26">
                  <c:v>5.36188</c:v>
                </c:pt>
                <c:pt idx="27">
                  <c:v>5.41857</c:v>
                </c:pt>
                <c:pt idx="28">
                  <c:v>5.46824</c:v>
                </c:pt>
                <c:pt idx="29">
                  <c:v>5.56367</c:v>
                </c:pt>
                <c:pt idx="30">
                  <c:v>5.78564</c:v>
                </c:pt>
                <c:pt idx="31">
                  <c:v>5.92075</c:v>
                </c:pt>
                <c:pt idx="32">
                  <c:v>5.97506</c:v>
                </c:pt>
                <c:pt idx="33">
                  <c:v>6.07117</c:v>
                </c:pt>
                <c:pt idx="34">
                  <c:v>6.07466</c:v>
                </c:pt>
                <c:pt idx="35">
                  <c:v>6.15205</c:v>
                </c:pt>
                <c:pt idx="36">
                  <c:v>6.15718</c:v>
                </c:pt>
                <c:pt idx="37">
                  <c:v>6.29589</c:v>
                </c:pt>
                <c:pt idx="38">
                  <c:v>6.373</c:v>
                </c:pt>
                <c:pt idx="39">
                  <c:v>6.52156</c:v>
                </c:pt>
              </c:numCache>
            </c:numRef>
          </c:val>
          <c:smooth val="0"/>
        </c:ser>
        <c:ser>
          <c:idx val="2"/>
          <c:order val="2"/>
          <c:tx>
            <c:v>Borne haute</c:v>
          </c:tx>
          <c:spPr>
            <a:solidFill>
              <a:srgbClr val="16A5AA"/>
            </a:solidFill>
            <a:ln w="23813">
              <a:solidFill>
                <a:srgbClr val="16A5AA"/>
              </a:solidFill>
            </a:ln>
          </c:spPr>
          <c:marker>
            <c:symbol val="none"/>
            <c:size val="3"/>
          </c:marker>
          <c:cat>
            <c:numRef>
              <c:f>'Chart Data'!$E$2:$E$41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cat>
          <c:val>
            <c:numRef>
              <c:f>'Chart Data'!$F$2:$F$41</c:f>
              <c:numCache>
                <c:formatCode>General</c:formatCode>
                <c:ptCount val="40"/>
                <c:pt idx="0">
                  <c:v>7.47861</c:v>
                </c:pt>
                <c:pt idx="1">
                  <c:v>8.31593</c:v>
                </c:pt>
                <c:pt idx="2">
                  <c:v>8.74158</c:v>
                </c:pt>
                <c:pt idx="3">
                  <c:v>8.81738</c:v>
                </c:pt>
                <c:pt idx="4">
                  <c:v>9.55756</c:v>
                </c:pt>
                <c:pt idx="5">
                  <c:v>9.91552</c:v>
                </c:pt>
                <c:pt idx="6">
                  <c:v>10.11925</c:v>
                </c:pt>
                <c:pt idx="7">
                  <c:v>10.33832</c:v>
                </c:pt>
                <c:pt idx="8">
                  <c:v>10.36527</c:v>
                </c:pt>
                <c:pt idx="9">
                  <c:v>10.45752</c:v>
                </c:pt>
                <c:pt idx="10">
                  <c:v>11.05995</c:v>
                </c:pt>
                <c:pt idx="11">
                  <c:v>11.67343</c:v>
                </c:pt>
                <c:pt idx="12">
                  <c:v>11.81133</c:v>
                </c:pt>
                <c:pt idx="13">
                  <c:v>11.87532</c:v>
                </c:pt>
                <c:pt idx="14">
                  <c:v>11.91202</c:v>
                </c:pt>
                <c:pt idx="15">
                  <c:v>11.96892</c:v>
                </c:pt>
                <c:pt idx="16">
                  <c:v>12.09405</c:v>
                </c:pt>
                <c:pt idx="17">
                  <c:v>12.18337</c:v>
                </c:pt>
                <c:pt idx="18">
                  <c:v>12.3335</c:v>
                </c:pt>
                <c:pt idx="19">
                  <c:v>12.35341</c:v>
                </c:pt>
                <c:pt idx="20">
                  <c:v>12.41133</c:v>
                </c:pt>
                <c:pt idx="21">
                  <c:v>12.51614</c:v>
                </c:pt>
                <c:pt idx="22">
                  <c:v>12.65083</c:v>
                </c:pt>
                <c:pt idx="23">
                  <c:v>12.82848</c:v>
                </c:pt>
                <c:pt idx="24">
                  <c:v>12.83339</c:v>
                </c:pt>
                <c:pt idx="25">
                  <c:v>13.06364</c:v>
                </c:pt>
                <c:pt idx="26">
                  <c:v>13.11962</c:v>
                </c:pt>
                <c:pt idx="27">
                  <c:v>13.17631</c:v>
                </c:pt>
                <c:pt idx="28">
                  <c:v>13.22598</c:v>
                </c:pt>
                <c:pt idx="29">
                  <c:v>13.32141</c:v>
                </c:pt>
                <c:pt idx="30">
                  <c:v>13.54338</c:v>
                </c:pt>
                <c:pt idx="31">
                  <c:v>13.67849</c:v>
                </c:pt>
                <c:pt idx="32">
                  <c:v>13.7328</c:v>
                </c:pt>
                <c:pt idx="33">
                  <c:v>13.82891</c:v>
                </c:pt>
                <c:pt idx="34">
                  <c:v>13.8324</c:v>
                </c:pt>
                <c:pt idx="35">
                  <c:v>13.90979</c:v>
                </c:pt>
                <c:pt idx="36">
                  <c:v>13.91492</c:v>
                </c:pt>
                <c:pt idx="37">
                  <c:v>14.05363</c:v>
                </c:pt>
                <c:pt idx="38">
                  <c:v>14.13075</c:v>
                </c:pt>
                <c:pt idx="39">
                  <c:v>14.2793</c:v>
                </c:pt>
              </c:numCache>
            </c:numRef>
          </c:val>
          <c:smooth val="0"/>
        </c:ser>
        <c:ser>
          <c:idx val="3"/>
          <c:order val="3"/>
          <c:tx>
            <c:v>Observé</c:v>
          </c:tx>
          <c:spPr>
            <a:solidFill>
              <a:srgbClr val="9A3070"/>
            </a:solidFill>
            <a:ln w="23813">
              <a:solidFill>
                <a:srgbClr val="9A3070"/>
              </a:solidFill>
            </a:ln>
          </c:spPr>
          <c:marker>
            <c:symbol val="none"/>
            <c:size val="3"/>
          </c:marker>
          <c:cat>
            <c:numRef>
              <c:f>'Chart Data'!$G$2:$G$41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cat>
          <c:val>
            <c:numRef>
              <c:f>'Chart Data'!$H$2:$H$41</c:f>
              <c:numCache>
                <c:formatCode>General</c:formatCode>
                <c:ptCount val="40"/>
                <c:pt idx="0">
                  <c:v>7.91982</c:v>
                </c:pt>
                <c:pt idx="1">
                  <c:v>4.93416</c:v>
                </c:pt>
                <c:pt idx="2">
                  <c:v>1.9345</c:v>
                </c:pt>
                <c:pt idx="3">
                  <c:v>6.60935</c:v>
                </c:pt>
                <c:pt idx="4">
                  <c:v>7.62421</c:v>
                </c:pt>
                <c:pt idx="5">
                  <c:v>5.84712</c:v>
                </c:pt>
                <c:pt idx="6">
                  <c:v>7.52808</c:v>
                </c:pt>
                <c:pt idx="7">
                  <c:v>3.47772</c:v>
                </c:pt>
                <c:pt idx="8">
                  <c:v>7.68677</c:v>
                </c:pt>
                <c:pt idx="9">
                  <c:v>4.86714</c:v>
                </c:pt>
                <c:pt idx="10">
                  <c:v>7.20596</c:v>
                </c:pt>
                <c:pt idx="11">
                  <c:v>6.6122</c:v>
                </c:pt>
                <c:pt idx="12">
                  <c:v>7.40292</c:v>
                </c:pt>
                <c:pt idx="13">
                  <c:v>9.52468</c:v>
                </c:pt>
                <c:pt idx="14">
                  <c:v>1.92764</c:v>
                </c:pt>
                <c:pt idx="15">
                  <c:v>5.02542</c:v>
                </c:pt>
                <c:pt idx="16">
                  <c:v>11.27801</c:v>
                </c:pt>
                <c:pt idx="17">
                  <c:v>9.30398</c:v>
                </c:pt>
                <c:pt idx="18">
                  <c:v>6.76387</c:v>
                </c:pt>
                <c:pt idx="19">
                  <c:v>8.26122</c:v>
                </c:pt>
                <c:pt idx="20">
                  <c:v>10.19</c:v>
                </c:pt>
                <c:pt idx="21">
                  <c:v>3.5949</c:v>
                </c:pt>
                <c:pt idx="22">
                  <c:v>5.14236</c:v>
                </c:pt>
                <c:pt idx="23">
                  <c:v>6.20354</c:v>
                </c:pt>
                <c:pt idx="24">
                  <c:v>4.24428</c:v>
                </c:pt>
                <c:pt idx="25">
                  <c:v>10.44581</c:v>
                </c:pt>
                <c:pt idx="26">
                  <c:v>10.04311</c:v>
                </c:pt>
                <c:pt idx="27">
                  <c:v>7.55673</c:v>
                </c:pt>
                <c:pt idx="28">
                  <c:v>11.95514</c:v>
                </c:pt>
                <c:pt idx="29">
                  <c:v>12.04226</c:v>
                </c:pt>
                <c:pt idx="30">
                  <c:v>8.19371</c:v>
                </c:pt>
                <c:pt idx="31">
                  <c:v>7.70289</c:v>
                </c:pt>
                <c:pt idx="32">
                  <c:v>13.2398</c:v>
                </c:pt>
                <c:pt idx="33">
                  <c:v>9.22012</c:v>
                </c:pt>
                <c:pt idx="34">
                  <c:v>12.57562</c:v>
                </c:pt>
                <c:pt idx="35">
                  <c:v>11.13925</c:v>
                </c:pt>
                <c:pt idx="36">
                  <c:v>10.44625</c:v>
                </c:pt>
                <c:pt idx="37">
                  <c:v>9.29183</c:v>
                </c:pt>
                <c:pt idx="38">
                  <c:v>11.61814</c:v>
                </c:pt>
                <c:pt idx="39">
                  <c:v>10.65865</c:v>
                </c:pt>
              </c:numCache>
            </c:numRef>
          </c:val>
          <c:smooth val="0"/>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a:latin typeface="DM Sans"/>
                    <a:ea typeface="DM Sans"/>
                    <a:cs typeface="DM Sans"/>
                  </a:rPr>
                  <a:t>40 observations triées par prédiction</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Cible synthétique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charts/chart16.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Référence</c:v>
          </c:tx>
          <c:spPr>
            <a:solidFill>
              <a:srgbClr val="303C8B"/>
            </a:solidFill>
            <a:ln w="23813">
              <a:solidFill>
                <a:srgbClr val="303C8B"/>
              </a:solidFill>
            </a:ln>
          </c:spPr>
          <c:cat>
            <c:strRef>
              <c:f>'Chart Data'!$A$2:$A$6</c:f>
              <c:strCache>
                <c:ptCount val="5"/>
                <c:pt idx="0">
                  <c:v>0–1</c:v>
                </c:pt>
                <c:pt idx="1">
                  <c:v>1–2</c:v>
                </c:pt>
                <c:pt idx="2">
                  <c:v>2–3</c:v>
                </c:pt>
                <c:pt idx="3">
                  <c:v>3–4</c:v>
                </c:pt>
                <c:pt idx="4">
                  <c:v>4–5</c:v>
                </c:pt>
              </c:strCache>
            </c:strRef>
          </c:cat>
          <c:val>
            <c:numRef>
              <c:f>'Chart Data'!$B$2:$B$6</c:f>
              <c:numCache>
                <c:formatCode>General</c:formatCode>
                <c:ptCount val="5"/>
                <c:pt idx="0">
                  <c:v>0.1</c:v>
                </c:pt>
                <c:pt idx="1">
                  <c:v>0.3</c:v>
                </c:pt>
                <c:pt idx="2">
                  <c:v>0.4</c:v>
                </c:pt>
                <c:pt idx="3">
                  <c:v>0.15</c:v>
                </c:pt>
                <c:pt idx="4">
                  <c:v>0.05</c:v>
                </c:pt>
              </c:numCache>
            </c:numRef>
          </c:val>
        </c:ser>
        <c:ser>
          <c:idx val="1"/>
          <c:order val="1"/>
          <c:tx>
            <c:v>Production</c:v>
          </c:tx>
          <c:spPr>
            <a:solidFill>
              <a:srgbClr val="FF7900"/>
            </a:solidFill>
            <a:ln w="23813">
              <a:solidFill>
                <a:srgbClr val="FF7900"/>
              </a:solidFill>
            </a:ln>
          </c:spPr>
          <c:cat>
            <c:strRef>
              <c:f>'Chart Data'!$C$2:$C$6</c:f>
              <c:strCache>
                <c:ptCount val="5"/>
                <c:pt idx="0">
                  <c:v>0–1</c:v>
                </c:pt>
                <c:pt idx="1">
                  <c:v>1–2</c:v>
                </c:pt>
                <c:pt idx="2">
                  <c:v>2–3</c:v>
                </c:pt>
                <c:pt idx="3">
                  <c:v>3–4</c:v>
                </c:pt>
                <c:pt idx="4">
                  <c:v>4–5</c:v>
                </c:pt>
              </c:strCache>
            </c:strRef>
          </c:cat>
          <c:val>
            <c:numRef>
              <c:f>'Chart Data'!$D$2:$D$6</c:f>
              <c:numCache>
                <c:formatCode>General</c:formatCode>
                <c:ptCount val="5"/>
                <c:pt idx="0">
                  <c:v>0.05</c:v>
                </c:pt>
                <c:pt idx="1">
                  <c:v>0.15</c:v>
                </c:pt>
                <c:pt idx="2">
                  <c:v>0.3</c:v>
                </c:pt>
                <c:pt idx="3">
                  <c:v>0.3</c:v>
                </c:pt>
                <c:pt idx="4">
                  <c:v>0.2</c:v>
                </c:pt>
              </c:numCache>
            </c:numRef>
          </c:val>
        </c:ser>
        <c:dLbls>
          <c:txPr>
            <a:bodyPr anchorCtr="1"/>
            <a:lstStyle/>
            <a:p>
              <a:pPr>
                <a:defRPr>
                  <a:latin typeface="DM Sans"/>
                  <a:ea typeface="DM Sans"/>
                  <a:cs typeface="DM San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a:lstStyle/>
              <a:p>
                <a:r>
                  <a:rPr>
                    <a:latin typeface="DM Sans"/>
                    <a:ea typeface="DM Sans"/>
                    <a:cs typeface="DM Sans"/>
                  </a:rPr>
                  <a:t>Tranche de feature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72768"/>
      </c:catAx>
      <c:valAx>
        <c:axId val="48672768"/>
        <c:scaling>
          <c:orientation val="minMax"/>
        </c:scaling>
        <c:delete val="0"/>
        <c:axPos val="l"/>
        <c:majorGridlines>
          <c:spPr>
            <a:ln w="9525">
              <a:solidFill>
                <a:srgbClr val="E5E7EE"/>
              </a:solidFill>
            </a:ln>
          </c:spPr>
        </c:majorGridlines>
        <c:title>
          <c:tx>
            <c:rich>
              <a:bodyPr/>
              <a:lstStyle/>
              <a:p>
                <a:r>
                  <a:rPr>
                    <a:latin typeface="DM Sans"/>
                    <a:ea typeface="DM Sans"/>
                    <a:cs typeface="DM Sans"/>
                  </a:rPr>
                  <a:t>Fréquence</a:t>
                </a:r>
              </a:p>
            </c:rich>
          </c:tx>
          <c:overlay val="0"/>
          <c:txPr>
            <a:bodyPr anchorCtr="1"/>
            <a:lstStyle/>
            <a:p>
              <a:pPr>
                <a:defRPr>
                  <a:latin typeface="DM Sans"/>
                  <a:ea typeface="DM Sans"/>
                  <a:cs typeface="DM Sans"/>
                </a:defRPr>
              </a:pPr>
            </a:p>
          </c:txPr>
        </c:title>
        <c:numFmt formatCode="General"/>
        <c:majorTickMark val="none"/>
        <c:minorTickMark val="none"/>
        <c:spPr>
          <a:ln w="9525">
            <a:solidFill>
              <a:srgbClr val="D4D4D4"/>
            </a:solidFill>
            <a:prstDash val="solid"/>
          </a:ln>
        </c:spPr>
        <c:txPr>
          <a:bodyPr anchorCtr="1"/>
          <a:lstStyle/>
          <a:p>
            <a:pPr>
              <a:defRPr sz="1125">
                <a:solidFill>
                  <a:srgbClr val="666666"/>
                </a:solidFill>
                <a:latin typeface="DM Sans"/>
                <a:ea typeface="DM Sans"/>
                <a:cs typeface="DM Sans"/>
              </a:defRPr>
            </a:pPr>
          </a:p>
        </c:txPr>
        <c:crossAx val="48650112"/>
        <c:crossBetween val="between"/>
      </c:valAx>
      <c:spPr>
        <a:solidFill>
          <a:srgbClr val="FFFFFF"/>
        </a:solidFill>
      </c:spPr>
    </c:plotArea>
    <c:legend>
      <c:legendPos val="b"/>
      <c:overlay val="0"/>
      <c:txPr>
        <a:bodyPr anchorCtr="1"/>
        <a:lstStyle/>
        <a:p>
          <a:pPr>
            <a:defRPr sz="1200">
              <a:latin typeface="DM Sans"/>
              <a:ea typeface="DM Sans"/>
              <a:cs typeface="DM Sans"/>
            </a:defRPr>
          </a:pPr>
        </a:p>
      </c:txPr>
    </c:legend>
    <c:plotVisOnly val="1"/>
  </c:chart>
  <c:spPr>
    <a:solidFill>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8E1F8645-5F59-40FB-BFD7-8C54E5A6EA5F}"/>
              </a:ext>
            </a:extLst>
          </p:cNvPr>
          <p:cNvSpPr>
            <a:spLocks xmlns:a="http://schemas.openxmlformats.org/drawingml/2006/main" noGrp="1"/>
          </p:cNvSpPr>
          <p:nvPr/>
        </p:nvSpPr>
        <p:spPr>
          <a:xfrm xmlns:a="http://schemas.openxmlformats.org/drawingml/2006/main">
            <a:off x="914400" y="1123950"/>
            <a:ext cx="10382250" cy="209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5850">
                <a:solidFill>
                  <a:srgbClr val="FFFFFF"/>
                </a:solidFill>
                <a:latin typeface="Archivo Black"/>
                <a:ea typeface="Archivo Black"/>
                <a:cs typeface="Archivo Black"/>
              </a:defRPr>
            </a:pPr>
            <a:r>
              <a:rPr sz="5850">
                <a:solidFill>
                  <a:srgbClr val="FFFFFF"/>
                </a:solidFill>
                <a:latin typeface="Archivo Black"/>
                <a:ea typeface="Archivo Black"/>
                <a:cs typeface="Archivo Black"/>
              </a:rPr>
              <a:t>MACHINE LEARNING</a:t>
            </a:r>
            <a:endParaRPr sz="76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8200"/>
              <a:buFont typeface="Archivo Black"/>
              <a:buNone/>
              <a:defRPr sz="5850">
                <a:solidFill>
                  <a:srgbClr val="FFFFFF"/>
                </a:solidFill>
                <a:latin typeface="Archivo Black"/>
                <a:ea typeface="Archivo Black"/>
                <a:cs typeface="Archivo Black"/>
              </a:defRPr>
            </a:pPr>
            <a:r>
              <a:rPr sz="5850">
                <a:solidFill>
                  <a:srgbClr val="FFFFFF"/>
                </a:solidFill>
                <a:latin typeface="Archivo Black"/>
                <a:ea typeface="Archivo Black"/>
                <a:cs typeface="Archivo Black"/>
              </a:rPr>
              <a:t>AVANCÉ</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89D5AAF0-9439-4C1D-A653-6B5CB19448F1}"/>
              </a:ext>
            </a:extLst>
          </p:cNvPr>
          <p:cNvSpPr>
            <a:spLocks xmlns:a="http://schemas.openxmlformats.org/drawingml/2006/main" noGrp="1"/>
          </p:cNvSpPr>
          <p:nvPr/>
        </p:nvSpPr>
        <p:spPr>
          <a:xfrm xmlns:a="http://schemas.openxmlformats.org/drawingml/2006/main">
            <a:off x="914400" y="3457575"/>
            <a:ext cx="87630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2400">
                <a:solidFill>
                  <a:srgbClr val="FFFFFF"/>
                </a:solidFill>
                <a:latin typeface="DM Sans"/>
                <a:ea typeface="DM Sans"/>
                <a:cs typeface="DM Sans"/>
              </a:defRPr>
            </a:pPr>
            <a:r>
              <a:rPr sz="2400">
                <a:solidFill>
                  <a:srgbClr val="FFFFFF"/>
                </a:solidFill>
                <a:latin typeface="DM Sans"/>
                <a:ea typeface="DM Sans"/>
                <a:cs typeface="DM Sans"/>
              </a:rPr>
              <a:t>21–25 SEPTEMBRE 2026</a:t>
            </a:r>
            <a:endParaRPr sz="450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8200"/>
              <a:buFont typeface="Archivo Black"/>
              <a:buNone/>
              <a:defRPr sz="2400">
                <a:solidFill>
                  <a:srgbClr val="FFFFFF"/>
                </a:solidFill>
                <a:latin typeface="DM Sans"/>
                <a:ea typeface="DM Sans"/>
                <a:cs typeface="DM Sans"/>
              </a:defRPr>
            </a:pPr>
            <a:r>
              <a:rPr sz="2400">
                <a:solidFill>
                  <a:srgbClr val="FFFFFF"/>
                </a:solidFill>
                <a:latin typeface="DM Sans"/>
                <a:ea typeface="DM Sans"/>
                <a:cs typeface="DM Sans"/>
              </a:rPr>
              <a:t>35 heures · M2 Data / IA</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E60B2319-6DAA-46EA-BECB-4D362E00C77A}"/>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001</a:t>
            </a:r>
            <a:endParaRPr sz="1300" b="0" i="0" u="none" cap="none">
              <a:solidFill>
                <a:schemeClr val="dk1"/>
              </a:solidFill>
              <a:latin typeface="Calibri"/>
              <a:ea typeface="Calibri"/>
              <a:cs typeface="Calibri"/>
            </a:endParaRPr>
          </a:p>
        </p:txBody>
      </p:sp>
      <p:pic>
        <p:nvPicPr>
          <p:cNvPr id="33" name="Google Shape;19;p3"/>
          <p:cNvPicPr>
            <a:picLocks xmlns:a="http://schemas.openxmlformats.org/drawingml/2006/main" noChangeAspect="1"/>
          </p:cNvPicPr>
          <p:nvPr/>
        </p:nvPicPr>
        <p:blipFill>
          <a:blip xmlns:r="http://schemas.openxmlformats.org/officeDocument/2006/relationships" xmlns:a="http://schemas.openxmlformats.org/drawingml/2006/main" r:embed="Re8873bea38af41c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C65E97C4-D58E-49A9-9FE3-FB6554C24DC6}"/>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E106BC3B-5D60-4472-A911-202F15D812C7}"/>
              </a:ext>
            </a:extLst>
          </p:cNvPr>
          <p:cNvSpPr>
            <a:spLocks xmlns:a="http://schemas.openxmlformats.org/drawingml/2006/main" noGrp="1"/>
          </p:cNvSpPr>
          <p:nvPr/>
        </p:nvSpPr>
        <p:spPr>
          <a:xfrm xmlns:a="http://schemas.openxmlformats.org/drawingml/2006/main">
            <a:off x="10534650" y="5753100"/>
            <a:ext cx="1028700" cy="133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defRPr sz="750">
                <a:solidFill>
                  <a:srgbClr val="12194C"/>
                </a:solidFill>
                <a:latin typeface="DM Sans"/>
                <a:ea typeface="DM Sans"/>
                <a:cs typeface="DM Sans"/>
              </a:defRPr>
            </a:pPr>
            <a:r>
              <a:rPr sz="750" b="0" i="0" u="none" cap="none">
                <a:solidFill>
                  <a:srgbClr val="12194C"/>
                </a:solidFill>
                <a:latin typeface="DM Sans"/>
                <a:ea typeface="DM Sans"/>
                <a:cs typeface="DM Sans"/>
              </a:rPr>
              <a:t>ACCÈS PRIVÉ</a:t>
            </a:r>
            <a:endParaRPr sz="900" b="0" i="0" u="none" cap="none">
              <a:solidFill>
                <a:schemeClr val="dk1"/>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AA4A4F3F-9B01-4215-BDDE-BA90A0DDAD9D}"/>
              </a:ext>
            </a:extLst>
          </p:cNvPr>
          <p:cNvSpPr>
            <a:spLocks xmlns:a="http://schemas.openxmlformats.org/drawingml/2006/main" noGrp="1"/>
          </p:cNvSpPr>
          <p:nvPr/>
        </p:nvSpPr>
        <p:spPr>
          <a:xfrm xmlns:a="http://schemas.openxmlformats.org/drawingml/2006/main">
            <a:off x="10701593" y="4545949"/>
            <a:ext cx="6768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900"/>
              <a:buFont typeface="Archivo Black"/>
              <a:buNone/>
              <a:defRPr sz="825">
                <a:solidFill>
                  <a:srgbClr val="12194C"/>
                </a:solidFill>
                <a:latin typeface="DM Sans"/>
                <a:ea typeface="DM Sans"/>
                <a:cs typeface="DM Sans"/>
              </a:defRPr>
            </a:pPr>
            <a:r>
              <a:rPr sz="825">
                <a:solidFill>
                  <a:srgbClr val="12194C"/>
                </a:solidFill>
                <a:latin typeface="DM Sans"/>
                <a:ea typeface="DM Sans"/>
                <a:cs typeface="DM Sans"/>
              </a:rPr>
              <a:t>RESSOURCES</a:t>
            </a:r>
            <a:endParaRPr sz="9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72952D47-30FB-46DA-B18E-E08602FA7DF4}"/>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4C23E85B-0BAB-4864-A97F-43C00D801181}"/>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9" name="Google Shape;26;p3"/>
          <p:cNvPicPr>
            <a:picLocks xmlns:a="http://schemas.openxmlformats.org/drawingml/2006/main" noChangeAspect="1"/>
          </p:cNvPicPr>
          <p:nvPr/>
        </p:nvPicPr>
        <p:blipFill>
          <a:blip xmlns:r="http://schemas.openxmlformats.org/officeDocument/2006/relationships" xmlns:a="http://schemas.openxmlformats.org/drawingml/2006/main" r:embed="R69de41ae04804046">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course-Chrys Fé-Marty NIONGOLO">
            <a:extLst xmlns:a="http://schemas.openxmlformats.org/drawingml/2006/main">
              <a:ext uri="{FF2B5EF4-FFF2-40B4-BE49-F238E27FC236}">
                <a16:creationId xmlns:a16="http://schemas.microsoft.com/office/drawing/2014/main" id="{0D1631D9-BAF5-46D3-AFFA-A9BC6F35432B}"/>
              </a:ext>
            </a:extLst>
          </p:cNvPr>
          <p:cNvSpPr>
            <a:spLocks xmlns:a="http://schemas.openxmlformats.org/drawingml/2006/main" noGrp="1"/>
          </p:cNvSpPr>
          <p:nvPr/>
        </p:nvSpPr>
        <p:spPr>
          <a:xfrm xmlns:a="http://schemas.openxmlformats.org/drawingml/2006/main">
            <a:off x="914400" y="4733925"/>
            <a:ext cx="866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M Sans"/>
                <a:ea typeface="DM Sans"/>
                <a:cs typeface="DM Sans"/>
              </a:defRPr>
            </a:pPr>
            <a:r>
              <a:rPr sz="2025" b="0">
                <a:solidFill>
                  <a:srgbClr val="FFFFFF"/>
                </a:solidFill>
                <a:latin typeface="DM Sans"/>
                <a:ea typeface="DM Sans"/>
                <a:cs typeface="DM Sans"/>
              </a:rPr>
              <a:t>Chrys Fé-Marty NIONGOLO</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e41f71f5fb3469b"/>
          <a:stretch xmlns:a="http://schemas.openxmlformats.org/drawingml/2006/main"/>
        </p:blipFill>
        <p:spPr>
          <a:xfrm xmlns:a="http://schemas.openxmlformats.org/drawingml/2006/main">
            <a:off x="10534650" y="4752975"/>
            <a:ext cx="1009650" cy="1009650"/>
          </a:xfrm>
          <a:prstGeom xmlns:a="http://schemas.openxmlformats.org/drawingml/2006/main" prst="rect">
            <a:avLst/>
          </a:prstGeom>
        </p:spPr>
      </p:pic>
    </p:spTree>
    <p:extLst>
      <p:ext uri="{BB962C8B-B14F-4D97-AF65-F5344CB8AC3E}">
        <p14:creationId xmlns:p14="http://schemas.microsoft.com/office/powerpoint/2010/main" val="896181403"/>
      </p:ext>
    </p:extLst>
  </p:cSld>
</p:sld>
</file>

<file path=ppt/slides/slide2.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63" name="Google Shape;63;p4">
            <a:extLst xmlns:a="http://schemas.openxmlformats.org/drawingml/2006/main">
              <a:ext uri="{FF2B5EF4-FFF2-40B4-BE49-F238E27FC236}">
                <a16:creationId xmlns:a16="http://schemas.microsoft.com/office/drawing/2014/main" id="{DB275762-316F-40D9-9F13-83A8056EBC0E}"/>
              </a:ext>
            </a:extLst>
          </p:cNvPr>
          <p:cNvSpPr>
            <a:spLocks xmlns:a="http://schemas.openxmlformats.org/drawingml/2006/main" noGrp="1"/>
          </p:cNvSpPr>
          <p:nvPr/>
        </p:nvSpPr>
        <p:spPr>
          <a:xfrm xmlns:a="http://schemas.openxmlformats.org/drawingml/2006/main">
            <a:off x="571500" y="5935791"/>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 name="Google Shape;65;p4">
            <a:extLst xmlns:a="http://schemas.openxmlformats.org/drawingml/2006/main">
              <a:ext uri="{FF2B5EF4-FFF2-40B4-BE49-F238E27FC236}">
                <a16:creationId xmlns:a16="http://schemas.microsoft.com/office/drawing/2014/main" id="{858FD76A-FC0B-463E-A908-28216A654A2F}"/>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002</a:t>
            </a:r>
            <a:endParaRPr sz="1300" b="0" i="0" u="none" cap="none">
              <a:solidFill>
                <a:schemeClr val="dk1"/>
              </a:solidFill>
              <a:latin typeface="Calibri"/>
              <a:ea typeface="Calibri"/>
              <a:cs typeface="Calibri"/>
            </a:endParaRPr>
          </a:p>
        </p:txBody>
      </p:sp>
      <p:pic>
        <p:nvPicPr>
          <p:cNvPr id="84" name="Google Shape;66;p4"/>
          <p:cNvPicPr>
            <a:picLocks xmlns:a="http://schemas.openxmlformats.org/drawingml/2006/main" noChangeAspect="1"/>
          </p:cNvPicPr>
          <p:nvPr/>
        </p:nvPicPr>
        <p:blipFill>
          <a:blip xmlns:r="http://schemas.openxmlformats.org/officeDocument/2006/relationships" xmlns:a="http://schemas.openxmlformats.org/drawingml/2006/main" r:embed="R40bf7c9599c749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7" name="Google Shape;67;p4">
            <a:extLst xmlns:a="http://schemas.openxmlformats.org/drawingml/2006/main">
              <a:ext uri="{FF2B5EF4-FFF2-40B4-BE49-F238E27FC236}">
                <a16:creationId xmlns:a16="http://schemas.microsoft.com/office/drawing/2014/main" id="{15643453-6943-4B36-A926-15E1EEEBC29F}"/>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pic>
        <p:nvPicPr>
          <p:cNvPr id="86" name="Google Shape;68;p4"/>
          <p:cNvPicPr>
            <a:picLocks xmlns:a="http://schemas.openxmlformats.org/drawingml/2006/main" noChangeAspect="1"/>
          </p:cNvPicPr>
          <p:nvPr/>
        </p:nvPicPr>
        <p:blipFill>
          <a:blip xmlns:r="http://schemas.openxmlformats.org/officeDocument/2006/relationships" xmlns:a="http://schemas.openxmlformats.org/drawingml/2006/main" r:embed="R935bdd0127ba43f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76" name="course-VOTRE FORMATEUR">
            <a:extLst xmlns:a="http://schemas.openxmlformats.org/drawingml/2006/main">
              <a:ext uri="{FF2B5EF4-FFF2-40B4-BE49-F238E27FC236}">
                <a16:creationId xmlns:a16="http://schemas.microsoft.com/office/drawing/2014/main" id="{C1537AC6-45B7-4579-807E-94AE82CC4778}"/>
              </a:ext>
            </a:extLst>
          </p:cNvPr>
          <p:cNvSpPr>
            <a:spLocks xmlns:a="http://schemas.openxmlformats.org/drawingml/2006/main" noGrp="1"/>
          </p:cNvSpPr>
          <p:nvPr/>
        </p:nvSpPr>
        <p:spPr>
          <a:xfrm xmlns:a="http://schemas.openxmlformats.org/drawingml/2006/main">
            <a:off x="571500" y="638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FFFFF"/>
                </a:solidFill>
                <a:latin typeface="Archivo Black"/>
                <a:ea typeface="Archivo Black"/>
                <a:cs typeface="Archivo Black"/>
              </a:defRPr>
            </a:pPr>
            <a:r>
              <a:rPr sz="2700" b="0">
                <a:solidFill>
                  <a:srgbClr val="FFFFFF"/>
                </a:solidFill>
                <a:latin typeface="Archivo Black"/>
                <a:ea typeface="Archivo Black"/>
                <a:cs typeface="Archivo Black"/>
              </a:rPr>
              <a:t>VOTRE FORMATEUR</a:t>
            </a:r>
          </a:p>
        </p:txBody>
      </p:sp>
      <p:sp>
        <p:nvSpPr>
          <p:cNvPr id="77" name="course-Chrys&#10;Fé-Marty&#10;NIONGOLO">
            <a:extLst xmlns:a="http://schemas.openxmlformats.org/drawingml/2006/main">
              <a:ext uri="{FF2B5EF4-FFF2-40B4-BE49-F238E27FC236}">
                <a16:creationId xmlns:a16="http://schemas.microsoft.com/office/drawing/2014/main" id="{1B40FDC7-7994-412E-86AB-FDF4488E84BC}"/>
              </a:ext>
            </a:extLst>
          </p:cNvPr>
          <p:cNvSpPr>
            <a:spLocks xmlns:a="http://schemas.openxmlformats.org/drawingml/2006/main" noGrp="1"/>
          </p:cNvSpPr>
          <p:nvPr/>
        </p:nvSpPr>
        <p:spPr>
          <a:xfrm xmlns:a="http://schemas.openxmlformats.org/drawingml/2006/main">
            <a:off x="619125" y="1657350"/>
            <a:ext cx="3429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FFF"/>
                </a:solidFill>
                <a:latin typeface="Archivo Black"/>
                <a:ea typeface="Archivo Black"/>
                <a:cs typeface="Archivo Black"/>
              </a:defRPr>
            </a:pPr>
            <a:r>
              <a:rPr sz="3450" b="0">
                <a:solidFill>
                  <a:srgbClr val="FFFFFF"/>
                </a:solidFill>
                <a:latin typeface="Archivo Black"/>
                <a:ea typeface="Archivo Black"/>
                <a:cs typeface="Archivo Black"/>
              </a:rPr>
              <a:t>Chrys</a:t>
            </a:r>
          </a:p>
          <a:p xmlns:a="http://schemas.openxmlformats.org/drawingml/2006/main">
            <a:pPr>
              <a:defRPr sz="3450" b="0">
                <a:solidFill>
                  <a:srgbClr val="FFFFFF"/>
                </a:solidFill>
                <a:latin typeface="Archivo Black"/>
                <a:ea typeface="Archivo Black"/>
                <a:cs typeface="Archivo Black"/>
              </a:defRPr>
            </a:pPr>
            <a:r>
              <a:rPr sz="3450" b="0">
                <a:solidFill>
                  <a:srgbClr val="FFFFFF"/>
                </a:solidFill>
                <a:latin typeface="Archivo Black"/>
                <a:ea typeface="Archivo Black"/>
                <a:cs typeface="Archivo Black"/>
              </a:rPr>
              <a:t>Fé-Marty</a:t>
            </a:r>
          </a:p>
          <a:p xmlns:a="http://schemas.openxmlformats.org/drawingml/2006/main">
            <a:pPr>
              <a:defRPr sz="3450" b="0">
                <a:solidFill>
                  <a:srgbClr val="FFFFFF"/>
                </a:solidFill>
                <a:latin typeface="Archivo Black"/>
                <a:ea typeface="Archivo Black"/>
                <a:cs typeface="Archivo Black"/>
              </a:defRPr>
            </a:pPr>
            <a:r>
              <a:rPr sz="3450" b="0">
                <a:solidFill>
                  <a:srgbClr val="FFFFFF"/>
                </a:solidFill>
                <a:latin typeface="Archivo Black"/>
                <a:ea typeface="Archivo Black"/>
                <a:cs typeface="Archivo Black"/>
              </a:rPr>
              <a:t>NIONGOLO</a:t>
            </a:r>
          </a:p>
        </p:txBody>
      </p:sp>
      <p:sp>
        <p:nvSpPr>
          <p:cNvPr id="78" name="course-Machine Learning Avancé&#10;Cybersup · ">
            <a:extLst xmlns:a="http://schemas.openxmlformats.org/drawingml/2006/main">
              <a:ext uri="{FF2B5EF4-FFF2-40B4-BE49-F238E27FC236}">
                <a16:creationId xmlns:a16="http://schemas.microsoft.com/office/drawing/2014/main" id="{D1BAB669-B8F5-462D-AA7E-1A98D609EF44}"/>
              </a:ext>
            </a:extLst>
          </p:cNvPr>
          <p:cNvSpPr>
            <a:spLocks xmlns:a="http://schemas.openxmlformats.org/drawingml/2006/main" noGrp="1"/>
          </p:cNvSpPr>
          <p:nvPr/>
        </p:nvSpPr>
        <p:spPr>
          <a:xfrm xmlns:a="http://schemas.openxmlformats.org/drawingml/2006/main">
            <a:off x="619125" y="4191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M Sans"/>
                <a:ea typeface="DM Sans"/>
                <a:cs typeface="DM Sans"/>
              </a:defRPr>
            </a:pPr>
            <a:r>
              <a:rPr sz="1800" b="0">
                <a:solidFill>
                  <a:srgbClr val="FFFFFF"/>
                </a:solidFill>
                <a:latin typeface="DM Sans"/>
                <a:ea typeface="DM Sans"/>
                <a:cs typeface="DM Sans"/>
              </a:rPr>
              <a:t>Machine Learning Avancé</a:t>
            </a:r>
          </a:p>
          <a:p xmlns:a="http://schemas.openxmlformats.org/drawingml/2006/main">
            <a:pPr>
              <a:defRPr sz="1800" b="0">
                <a:solidFill>
                  <a:srgbClr val="FFFFFF"/>
                </a:solidFill>
                <a:latin typeface="DM Sans"/>
                <a:ea typeface="DM Sans"/>
                <a:cs typeface="DM Sans"/>
              </a:defRPr>
            </a:pPr>
            <a:r>
              <a:rPr sz="1800" b="0">
                <a:solidFill>
                  <a:srgbClr val="FFFFFF"/>
                </a:solidFill>
                <a:latin typeface="DM Sans"/>
                <a:ea typeface="DM Sans"/>
                <a:cs typeface="DM Sans"/>
              </a:rPr>
              <a:t>Cybersup · Septembre 2026</a:t>
            </a:r>
          </a:p>
        </p:txBody>
      </p:sp>
      <p:sp>
        <p:nvSpPr>
          <p:cNvPr id="79" name="course-UNE SEMAINE POUR PRATIQUER">
            <a:extLst xmlns:a="http://schemas.openxmlformats.org/drawingml/2006/main">
              <a:ext uri="{FF2B5EF4-FFF2-40B4-BE49-F238E27FC236}">
                <a16:creationId xmlns:a16="http://schemas.microsoft.com/office/drawing/2014/main" id="{27740EBB-A7AB-44FD-A4F9-7534F79E30D9}"/>
              </a:ext>
            </a:extLst>
          </p:cNvPr>
          <p:cNvSpPr>
            <a:spLocks xmlns:a="http://schemas.openxmlformats.org/drawingml/2006/main" noGrp="1"/>
          </p:cNvSpPr>
          <p:nvPr/>
        </p:nvSpPr>
        <p:spPr>
          <a:xfrm xmlns:a="http://schemas.openxmlformats.org/drawingml/2006/main">
            <a:off x="4429125" y="165735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chivo Black"/>
                <a:ea typeface="Archivo Black"/>
                <a:cs typeface="Archivo Black"/>
              </a:defRPr>
            </a:pPr>
            <a:r>
              <a:rPr sz="2100" b="0">
                <a:solidFill>
                  <a:srgbClr val="FFFFFF"/>
                </a:solidFill>
                <a:latin typeface="Archivo Black"/>
                <a:ea typeface="Archivo Black"/>
                <a:cs typeface="Archivo Black"/>
              </a:rPr>
              <a:t>UNE SEMAINE POUR PRATIQUER</a:t>
            </a:r>
          </a:p>
        </p:txBody>
      </p:sp>
      <p:sp>
        <p:nvSpPr>
          <p:cNvPr id="80" name="course-Formateur : Chrys Fé-Marty NIONGOLO">
            <a:extLst xmlns:a="http://schemas.openxmlformats.org/drawingml/2006/main">
              <a:ext uri="{FF2B5EF4-FFF2-40B4-BE49-F238E27FC236}">
                <a16:creationId xmlns:a16="http://schemas.microsoft.com/office/drawing/2014/main" id="{CCB03720-728F-4C38-A406-EB6C421C0A87}"/>
              </a:ext>
            </a:extLst>
          </p:cNvPr>
          <p:cNvSpPr>
            <a:spLocks xmlns:a="http://schemas.openxmlformats.org/drawingml/2006/main" noGrp="1"/>
          </p:cNvSpPr>
          <p:nvPr/>
        </p:nvSpPr>
        <p:spPr>
          <a:xfrm xmlns:a="http://schemas.openxmlformats.org/drawingml/2006/main">
            <a:off x="4429125" y="2495550"/>
            <a:ext cx="657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DM Sans"/>
                <a:ea typeface="DM Sans"/>
                <a:cs typeface="DM Sans"/>
              </a:defRPr>
            </a:pPr>
            <a:r>
              <a:rPr sz="1950" b="0">
                <a:solidFill>
                  <a:srgbClr val="FFFFFF"/>
                </a:solidFill>
                <a:latin typeface="DM Sans"/>
                <a:ea typeface="DM Sans"/>
                <a:cs typeface="DM Sans"/>
              </a:rPr>
              <a:t>Formateur : Chrys Fé-Marty NIONGOLO.</a:t>
            </a:r>
          </a:p>
          <a:p xmlns:a="http://schemas.openxmlformats.org/drawingml/2006/main">
            <a:r>
              <a:t/>
            </a:r>
          </a:p>
          <a:p xmlns:a="http://schemas.openxmlformats.org/drawingml/2006/main">
            <a:pPr>
              <a:defRPr sz="1950" b="0">
                <a:solidFill>
                  <a:srgbClr val="FFFFFF"/>
                </a:solidFill>
                <a:latin typeface="DM Sans"/>
                <a:ea typeface="DM Sans"/>
                <a:cs typeface="DM Sans"/>
              </a:defRPr>
            </a:pPr>
            <a:r>
              <a:rPr sz="1950" b="0">
                <a:solidFill>
                  <a:srgbClr val="FFFFFF"/>
                </a:solidFill>
                <a:latin typeface="DM Sans"/>
                <a:ea typeface="DM Sans"/>
                <a:cs typeface="DM Sans"/>
              </a:rPr>
              <a:t>Une démarche centrée sur les mécanismes, l'expérimentation et la justification des choix.</a:t>
            </a:r>
          </a:p>
          <a:p xmlns:a="http://schemas.openxmlformats.org/drawingml/2006/main">
            <a:r>
              <a:t/>
            </a:r>
          </a:p>
          <a:p xmlns:a="http://schemas.openxmlformats.org/drawingml/2006/main">
            <a:pPr>
              <a:defRPr sz="1950" b="0">
                <a:solidFill>
                  <a:srgbClr val="FFFFFF"/>
                </a:solidFill>
                <a:latin typeface="DM Sans"/>
                <a:ea typeface="DM Sans"/>
                <a:cs typeface="DM Sans"/>
              </a:defRPr>
            </a:pPr>
            <a:r>
              <a:rPr sz="1950" b="0">
                <a:solidFill>
                  <a:srgbClr val="FFFFFF"/>
                </a:solidFill>
                <a:latin typeface="DM Sans"/>
                <a:ea typeface="DM Sans"/>
                <a:cs typeface="DM Sans"/>
              </a:rPr>
              <a:t>Des exemples calculables, des notebooks Python et un projet à présenter en binôme.</a:t>
            </a:r>
          </a:p>
        </p:txBody>
      </p:sp>
      <p:sp>
        <p:nvSpPr>
          <p:cNvPr id="81" name="course-Profil LinkedIn de Chrys Fé-Marty N">
            <a:extLst xmlns:a="http://schemas.openxmlformats.org/drawingml/2006/main">
              <a:ext uri="{FF2B5EF4-FFF2-40B4-BE49-F238E27FC236}">
                <a16:creationId xmlns:a16="http://schemas.microsoft.com/office/drawing/2014/main" id="{22A6762F-1AEC-4484-8912-0858E20C6AD5}"/>
              </a:ext>
            </a:extLst>
          </p:cNvPr>
          <p:cNvSpPr>
            <a:spLocks xmlns:a="http://schemas.openxmlformats.org/drawingml/2006/main" noGrp="1"/>
          </p:cNvSpPr>
          <p:nvPr/>
        </p:nvSpPr>
        <p:spPr>
          <a:xfrm xmlns:a="http://schemas.openxmlformats.org/drawingml/2006/main">
            <a:off x="4429125" y="51816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DM Sans"/>
                <a:ea typeface="DM Sans"/>
                <a:cs typeface="DM Sans"/>
              </a:defRPr>
            </a:pPr>
            <a:r>
              <a:rPr sz="1650" b="0">
                <a:solidFill>
                  <a:srgbClr val="FFFFFF"/>
                </a:solidFill>
                <a:latin typeface="DM Sans"/>
                <a:ea typeface="DM Sans"/>
                <a:cs typeface="DM Sans"/>
                <a:hlinkClick xmlns:r="http://schemas.openxmlformats.org/officeDocument/2006/relationships" r:id="Raab1cba6342540cf"/>
              </a:rPr>
              <a:t>Profil LinkedIn de Chrys Fé-Marty NIONGOLO</a:t>
            </a:r>
          </a:p>
        </p:txBody>
      </p:sp>
    </p:spTree>
    <p:extLst>
      <p:ext uri="{BB962C8B-B14F-4D97-AF65-F5344CB8AC3E}">
        <p14:creationId xmlns:p14="http://schemas.microsoft.com/office/powerpoint/2010/main" val="1389338918"/>
      </p:ext>
    </p:extLst>
  </p:cSld>
</p:sld>
</file>

<file path=ppt/slides/slide3.xml><?xml version="1.0" encoding="utf-8"?>
<p:sld xmlns:p="http://schemas.openxmlformats.org/presentationml/2006/main">
  <p:cSld>
    <p:bg>
      <p:bgPr>
        <a:solidFill xmlns:a="http://schemas.openxmlformats.org/drawingml/2006/main">
          <a:srgbClr val="0A0F47">
            <a:alpha val="88050"/>
          </a:srgbClr>
        </a:solidFill>
      </p:bgPr>
    </p:bg>
    <p:spTree>
      <p:nvGrpSpPr>
        <p:cNvPr id="1" name=""/>
        <p:cNvGrpSpPr/>
        <p:nvPr/>
      </p:nvGrpSpPr>
      <p:grpSpPr>
        <a:xfrm xmlns:a="http://schemas.openxmlformats.org/drawingml/2006/main"/>
      </p:grpSpPr>
      <p:sp>
        <p:nvSpPr>
          <p:cNvPr id="74" name="Google Shape;74;p5">
            <a:extLst xmlns:a="http://schemas.openxmlformats.org/drawingml/2006/main">
              <a:ext uri="{FF2B5EF4-FFF2-40B4-BE49-F238E27FC236}">
                <a16:creationId xmlns:a16="http://schemas.microsoft.com/office/drawing/2014/main" id="{8D2001FD-83C8-400F-A41E-968EAC8C1A6A}"/>
              </a:ext>
            </a:extLst>
          </p:cNvPr>
          <p:cNvSpPr>
            <a:spLocks xmlns:a="http://schemas.openxmlformats.org/drawingml/2006/main" noGrp="1"/>
          </p:cNvSpPr>
          <p:nvPr/>
        </p:nvSpPr>
        <p:spPr>
          <a:xfrm xmlns:a="http://schemas.openxmlformats.org/drawingml/2006/main">
            <a:off x="914400" y="981636"/>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01</a:t>
            </a:r>
            <a:endParaRPr sz="2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29031620-6F70-4FF4-B54D-6FED44CDA52A}"/>
              </a:ext>
            </a:extLst>
          </p:cNvPr>
          <p:cNvSpPr>
            <a:spLocks xmlns:a="http://schemas.openxmlformats.org/drawingml/2006/main" noGrp="1"/>
          </p:cNvSpPr>
          <p:nvPr/>
        </p:nvSpPr>
        <p:spPr>
          <a:xfrm xmlns:a="http://schemas.openxmlformats.org/drawingml/2006/main">
            <a:off x="1638300" y="981075"/>
            <a:ext cx="6143625"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defRPr sz="2100">
                <a:solidFill>
                  <a:srgbClr val="FFFFFF"/>
                </a:solidFill>
                <a:latin typeface="DM Sans"/>
                <a:ea typeface="DM Sans"/>
                <a:cs typeface="DM Sans"/>
              </a:defRPr>
            </a:pPr>
            <a:r>
              <a:rPr sz="2100" b="1" i="0" u="none" cap="none">
                <a:solidFill>
                  <a:srgbClr val="FFFFFF"/>
                </a:solidFill>
                <a:latin typeface="DM Sans"/>
                <a:ea typeface="DM Sans"/>
                <a:cs typeface="DM Sans"/>
              </a:rPr>
              <a:t>Évaluer et régulariser</a:t>
            </a:r>
            <a:endParaRPr sz="18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5FBA57E6-4A1D-4F39-9A60-D2DF66184201}"/>
              </a:ext>
            </a:extLst>
          </p:cNvPr>
          <p:cNvSpPr>
            <a:spLocks xmlns:a="http://schemas.openxmlformats.org/drawingml/2006/main" noGrp="1"/>
          </p:cNvSpPr>
          <p:nvPr/>
        </p:nvSpPr>
        <p:spPr>
          <a:xfrm xmlns:a="http://schemas.openxmlformats.org/drawingml/2006/main">
            <a:off x="914400" y="1533934"/>
            <a:ext cx="6099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2</a:t>
            </a:r>
            <a:endParaRPr sz="2100" b="0" i="0" u="none" cap="none">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5A39FCD1-061B-4BC8-B133-A692FF8AFE56}"/>
              </a:ext>
            </a:extLst>
          </p:cNvPr>
          <p:cNvSpPr>
            <a:spLocks xmlns:a="http://schemas.openxmlformats.org/drawingml/2006/main" noGrp="1"/>
          </p:cNvSpPr>
          <p:nvPr/>
        </p:nvSpPr>
        <p:spPr>
          <a:xfrm xmlns:a="http://schemas.openxmlformats.org/drawingml/2006/main">
            <a:off x="1638300" y="1533525"/>
            <a:ext cx="6143625"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defRPr sz="2100">
                <a:solidFill>
                  <a:srgbClr val="FFFFFF"/>
                </a:solidFill>
                <a:latin typeface="DM Sans"/>
                <a:ea typeface="DM Sans"/>
                <a:cs typeface="DM Sans"/>
              </a:defRPr>
            </a:pPr>
            <a:r>
              <a:rPr sz="2100" b="1" i="0" u="none" cap="none">
                <a:solidFill>
                  <a:srgbClr val="FFFFFF"/>
                </a:solidFill>
                <a:latin typeface="DM Sans"/>
                <a:ea typeface="DM Sans"/>
                <a:cs typeface="DM Sans"/>
              </a:rPr>
              <a:t>Ensembles et optimisation</a:t>
            </a:r>
            <a:endParaRPr sz="18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227B955F-2423-4FA5-A355-FAF72568C3A9}"/>
              </a:ext>
            </a:extLst>
          </p:cNvPr>
          <p:cNvSpPr>
            <a:spLocks xmlns:a="http://schemas.openxmlformats.org/drawingml/2006/main" noGrp="1"/>
          </p:cNvSpPr>
          <p:nvPr/>
        </p:nvSpPr>
        <p:spPr>
          <a:xfrm xmlns:a="http://schemas.openxmlformats.org/drawingml/2006/main">
            <a:off x="914400" y="2087146"/>
            <a:ext cx="5433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3</a:t>
            </a:r>
            <a:endParaRPr sz="21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9DFEAE54-F1C1-4DB9-A688-21FBD1F38E5B}"/>
              </a:ext>
            </a:extLst>
          </p:cNvPr>
          <p:cNvSpPr>
            <a:spLocks xmlns:a="http://schemas.openxmlformats.org/drawingml/2006/main" noGrp="1"/>
          </p:cNvSpPr>
          <p:nvPr/>
        </p:nvSpPr>
        <p:spPr>
          <a:xfrm xmlns:a="http://schemas.openxmlformats.org/drawingml/2006/main">
            <a:off x="1638300" y="2085975"/>
            <a:ext cx="6143625"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defRPr sz="2100">
                <a:solidFill>
                  <a:srgbClr val="FFFFFF"/>
                </a:solidFill>
                <a:latin typeface="DM Sans"/>
                <a:ea typeface="DM Sans"/>
                <a:cs typeface="DM Sans"/>
              </a:defRPr>
            </a:pPr>
            <a:r>
              <a:rPr sz="2100" b="1" i="0" u="none" cap="none">
                <a:solidFill>
                  <a:srgbClr val="FFFFFF"/>
                </a:solidFill>
                <a:latin typeface="DM Sans"/>
                <a:ea typeface="DM Sans"/>
                <a:cs typeface="DM Sans"/>
              </a:rPr>
              <a:t>Déséquilibre et features</a:t>
            </a:r>
            <a:endParaRPr sz="1800" b="0" i="0" u="none" cap="none">
              <a:solidFill>
                <a:schemeClr val="dk1"/>
              </a:solidFill>
              <a:latin typeface="Calibri"/>
              <a:ea typeface="Calibri"/>
              <a:cs typeface="Calibri"/>
            </a:endParaRPr>
          </a:p>
        </p:txBody>
      </p:sp>
      <p:sp>
        <p:nvSpPr>
          <p:cNvPr id="80" name="Google Shape;80;p5">
            <a:extLst xmlns:a="http://schemas.openxmlformats.org/drawingml/2006/main">
              <a:ext uri="{FF2B5EF4-FFF2-40B4-BE49-F238E27FC236}">
                <a16:creationId xmlns:a16="http://schemas.microsoft.com/office/drawing/2014/main" id="{1CB84A1E-0867-4625-A622-E1FEBA007369}"/>
              </a:ext>
            </a:extLst>
          </p:cNvPr>
          <p:cNvSpPr>
            <a:spLocks xmlns:a="http://schemas.openxmlformats.org/drawingml/2006/main" noGrp="1"/>
          </p:cNvSpPr>
          <p:nvPr/>
        </p:nvSpPr>
        <p:spPr>
          <a:xfrm xmlns:a="http://schemas.openxmlformats.org/drawingml/2006/main">
            <a:off x="914400" y="2639443"/>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4</a:t>
            </a:r>
            <a:endParaRPr sz="2100" b="0" i="0" u="none" cap="none">
              <a:solidFill>
                <a:schemeClr val="dk1"/>
              </a:solidFill>
              <a:latin typeface="Calibri"/>
              <a:ea typeface="Calibri"/>
              <a:cs typeface="Calibri"/>
            </a:endParaRPr>
          </a:p>
        </p:txBody>
      </p:sp>
      <p:sp>
        <p:nvSpPr>
          <p:cNvPr id="81" name="Google Shape;81;p5">
            <a:extLst xmlns:a="http://schemas.openxmlformats.org/drawingml/2006/main">
              <a:ext uri="{FF2B5EF4-FFF2-40B4-BE49-F238E27FC236}">
                <a16:creationId xmlns:a16="http://schemas.microsoft.com/office/drawing/2014/main" id="{E270D1CF-3E7C-449C-8943-ED5FF8149346}"/>
              </a:ext>
            </a:extLst>
          </p:cNvPr>
          <p:cNvSpPr>
            <a:spLocks xmlns:a="http://schemas.openxmlformats.org/drawingml/2006/main" noGrp="1"/>
          </p:cNvSpPr>
          <p:nvPr/>
        </p:nvSpPr>
        <p:spPr>
          <a:xfrm xmlns:a="http://schemas.openxmlformats.org/drawingml/2006/main">
            <a:off x="1638300" y="2638425"/>
            <a:ext cx="6143625"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defRPr sz="2100">
                <a:solidFill>
                  <a:srgbClr val="FFFFFF"/>
                </a:solidFill>
                <a:latin typeface="DM Sans"/>
                <a:ea typeface="DM Sans"/>
                <a:cs typeface="DM Sans"/>
              </a:defRPr>
            </a:pPr>
            <a:r>
              <a:rPr sz="2100" b="1" i="0" u="none" cap="none">
                <a:solidFill>
                  <a:srgbClr val="FFFFFF"/>
                </a:solidFill>
                <a:latin typeface="DM Sans"/>
                <a:ea typeface="DM Sans"/>
                <a:cs typeface="DM Sans"/>
              </a:rPr>
              <a:t>Clustering et anomalies</a:t>
            </a:r>
            <a:endParaRPr sz="1800" b="0" i="0" u="none" cap="none">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B20ED587-2E37-4D4D-A664-740DAB1431BB}"/>
              </a:ext>
            </a:extLst>
          </p:cNvPr>
          <p:cNvSpPr>
            <a:spLocks xmlns:a="http://schemas.openxmlformats.org/drawingml/2006/main" noGrp="1"/>
          </p:cNvSpPr>
          <p:nvPr/>
        </p:nvSpPr>
        <p:spPr>
          <a:xfrm xmlns:a="http://schemas.openxmlformats.org/drawingml/2006/main">
            <a:off x="914400" y="3191741"/>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5</a:t>
            </a:r>
            <a:endParaRPr sz="2100" b="0" i="0" u="none" cap="none">
              <a:solidFill>
                <a:schemeClr val="dk1"/>
              </a:solidFill>
              <a:latin typeface="Calibri"/>
              <a:ea typeface="Calibri"/>
              <a:cs typeface="Calibri"/>
            </a:endParaRPr>
          </a:p>
        </p:txBody>
      </p:sp>
      <p:sp>
        <p:nvSpPr>
          <p:cNvPr id="83" name="Google Shape;83;p5">
            <a:extLst xmlns:a="http://schemas.openxmlformats.org/drawingml/2006/main">
              <a:ext uri="{FF2B5EF4-FFF2-40B4-BE49-F238E27FC236}">
                <a16:creationId xmlns:a16="http://schemas.microsoft.com/office/drawing/2014/main" id="{A5FE1654-D342-48CB-B049-E8735B4DE2A3}"/>
              </a:ext>
            </a:extLst>
          </p:cNvPr>
          <p:cNvSpPr>
            <a:spLocks xmlns:a="http://schemas.openxmlformats.org/drawingml/2006/main" noGrp="1"/>
          </p:cNvSpPr>
          <p:nvPr/>
        </p:nvSpPr>
        <p:spPr>
          <a:xfrm xmlns:a="http://schemas.openxmlformats.org/drawingml/2006/main">
            <a:off x="1638300" y="3190875"/>
            <a:ext cx="6143625"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defRPr sz="2100">
                <a:solidFill>
                  <a:srgbClr val="FFFFFF"/>
                </a:solidFill>
                <a:latin typeface="DM Sans"/>
                <a:ea typeface="DM Sans"/>
                <a:cs typeface="DM Sans"/>
              </a:defRPr>
            </a:pPr>
            <a:r>
              <a:rPr sz="2100" b="1" i="0" u="none" cap="none">
                <a:solidFill>
                  <a:srgbClr val="FFFFFF"/>
                </a:solidFill>
                <a:latin typeface="DM Sans"/>
                <a:ea typeface="DM Sans"/>
                <a:cs typeface="DM Sans"/>
              </a:rPr>
              <a:t>Interpréter et restituer</a:t>
            </a:r>
            <a:endParaRPr sz="1800" b="0" i="0" u="none" cap="none">
              <a:solidFill>
                <a:schemeClr val="dk1"/>
              </a:solidFill>
              <a:latin typeface="Calibri"/>
              <a:ea typeface="Calibri"/>
              <a:cs typeface="Calibri"/>
            </a:endParaRPr>
          </a:p>
        </p:txBody>
      </p:sp>
      <p:sp>
        <p:nvSpPr>
          <p:cNvPr id="84" name="Google Shape;84;p5">
            <a:extLst xmlns:a="http://schemas.openxmlformats.org/drawingml/2006/main">
              <a:ext uri="{FF2B5EF4-FFF2-40B4-BE49-F238E27FC236}">
                <a16:creationId xmlns:a16="http://schemas.microsoft.com/office/drawing/2014/main" id="{60CD0616-4772-4EA7-860A-6636AC3E9F5C}"/>
              </a:ext>
            </a:extLst>
          </p:cNvPr>
          <p:cNvSpPr>
            <a:spLocks xmlns:a="http://schemas.openxmlformats.org/drawingml/2006/main" noGrp="1"/>
          </p:cNvSpPr>
          <p:nvPr/>
        </p:nvSpPr>
        <p:spPr>
          <a:xfrm xmlns:a="http://schemas.openxmlformats.org/drawingml/2006/main">
            <a:off x="914400" y="4224528"/>
            <a:ext cx="7696505" cy="12390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9000"/>
              <a:buFont typeface="Archivo Black"/>
              <a:buNone/>
            </a:pPr>
            <a:r>
              <a:rPr sz="9000" b="0" i="0" u="none" cap="none">
                <a:solidFill>
                  <a:srgbClr val="FFFFFF"/>
                </a:solidFill>
                <a:latin typeface="Archivo Black"/>
                <a:ea typeface="Archivo Black"/>
                <a:cs typeface="Archivo Black"/>
              </a:rPr>
              <a:t>SOMMAIRE</a:t>
            </a:r>
            <a:endParaRPr sz="9000" b="0" i="0" u="none" cap="none">
              <a:solidFill>
                <a:schemeClr val="dk1"/>
              </a:solidFill>
              <a:latin typeface="Calibri"/>
              <a:ea typeface="Calibri"/>
              <a:cs typeface="Calibri"/>
            </a:endParaRPr>
          </a:p>
        </p:txBody>
      </p:sp>
      <p:sp>
        <p:nvSpPr>
          <p:cNvPr id="85" name="Google Shape;85;p5">
            <a:extLst xmlns:a="http://schemas.openxmlformats.org/drawingml/2006/main">
              <a:ext uri="{FF2B5EF4-FFF2-40B4-BE49-F238E27FC236}">
                <a16:creationId xmlns:a16="http://schemas.microsoft.com/office/drawing/2014/main" id="{EB9D7F72-209D-45DA-9E50-6E83B1AA679C}"/>
              </a:ext>
            </a:extLst>
          </p:cNvPr>
          <p:cNvSpPr>
            <a:spLocks xmlns:a="http://schemas.openxmlformats.org/drawingml/2006/main" noGrp="1"/>
          </p:cNvSpPr>
          <p:nvPr/>
        </p:nvSpPr>
        <p:spPr>
          <a:xfrm xmlns:a="http://schemas.openxmlformats.org/drawingml/2006/main">
            <a:off x="914400" y="5705856"/>
            <a:ext cx="10362895" cy="9144"/>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5">
            <a:extLst xmlns:a="http://schemas.openxmlformats.org/drawingml/2006/main">
              <a:ext uri="{FF2B5EF4-FFF2-40B4-BE49-F238E27FC236}">
                <a16:creationId xmlns:a16="http://schemas.microsoft.com/office/drawing/2014/main" id="{5033C497-BF80-46E3-89FC-118102A33A6A}"/>
              </a:ext>
            </a:extLst>
          </p:cNvPr>
          <p:cNvSpPr>
            <a:spLocks xmlns:a="http://schemas.openxmlformats.org/drawingml/2006/main" noGrp="1"/>
          </p:cNvSpPr>
          <p:nvPr/>
        </p:nvSpPr>
        <p:spPr>
          <a:xfrm xmlns:a="http://schemas.openxmlformats.org/drawingml/2006/main">
            <a:off x="8191500" y="1000348"/>
            <a:ext cx="38400" cy="267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lt1"/>
              </a:solidFill>
            </a:endParaRPr>
          </a:p>
        </p:txBody>
      </p:sp>
      <p:sp>
        <p:nvSpPr>
          <p:cNvPr id="87" name="Google Shape;87;p5">
            <a:extLst xmlns:a="http://schemas.openxmlformats.org/drawingml/2006/main">
              <a:ext uri="{FF2B5EF4-FFF2-40B4-BE49-F238E27FC236}">
                <a16:creationId xmlns:a16="http://schemas.microsoft.com/office/drawing/2014/main" id="{9F44AF66-A847-42D9-BC79-3DF6C7C9DD4F}"/>
              </a:ext>
            </a:extLst>
          </p:cNvPr>
          <p:cNvSpPr>
            <a:spLocks xmlns:a="http://schemas.openxmlformats.org/drawingml/2006/main" noGrp="1"/>
          </p:cNvSpPr>
          <p:nvPr/>
        </p:nvSpPr>
        <p:spPr>
          <a:xfrm xmlns:a="http://schemas.openxmlformats.org/drawingml/2006/main">
            <a:off x="8381695" y="1028694"/>
            <a:ext cx="2210100" cy="21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500"/>
              <a:buFont typeface="Archivo Black"/>
              <a:buNone/>
            </a:pPr>
            <a:r>
              <a:rPr sz="1500" b="0" i="0" u="none" cap="none">
                <a:solidFill>
                  <a:schemeClr val="lt1"/>
                </a:solidFill>
                <a:latin typeface="Archivo Black"/>
                <a:ea typeface="Archivo Black"/>
                <a:cs typeface="Archivo Black"/>
              </a:rPr>
              <a:t>APERÇU DU COURS</a:t>
            </a:r>
            <a:endParaRPr sz="1500" b="0" i="0" u="none" cap="none">
              <a:solidFill>
                <a:schemeClr val="lt1"/>
              </a:solidFill>
              <a:latin typeface="Calibri"/>
              <a:ea typeface="Calibri"/>
              <a:cs typeface="Calibri"/>
            </a:endParaRPr>
          </a:p>
        </p:txBody>
      </p:sp>
      <p:sp>
        <p:nvSpPr>
          <p:cNvPr id="88" name="Google Shape;88;p5">
            <a:extLst xmlns:a="http://schemas.openxmlformats.org/drawingml/2006/main">
              <a:ext uri="{FF2B5EF4-FFF2-40B4-BE49-F238E27FC236}">
                <a16:creationId xmlns:a16="http://schemas.microsoft.com/office/drawing/2014/main" id="{87824988-BE9E-42FD-8B7D-9EB88B84E811}"/>
              </a:ext>
            </a:extLst>
          </p:cNvPr>
          <p:cNvSpPr>
            <a:spLocks xmlns:a="http://schemas.openxmlformats.org/drawingml/2006/main" noGrp="1"/>
          </p:cNvSpPr>
          <p:nvPr/>
        </p:nvSpPr>
        <p:spPr>
          <a:xfrm xmlns:a="http://schemas.openxmlformats.org/drawingml/2006/main">
            <a:off x="8286750" y="1438275"/>
            <a:ext cx="3286125" cy="1666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F2937"/>
              </a:buClr>
              <a:buSzPts val="1300"/>
              <a:buFont typeface="DM Sans"/>
              <a:buNone/>
              <a:defRPr sz="1650">
                <a:solidFill>
                  <a:srgbClr val="FFFFFF"/>
                </a:solidFill>
                <a:latin typeface="DM Sans"/>
                <a:ea typeface="DM Sans"/>
                <a:cs typeface="DM Sans"/>
              </a:defRPr>
            </a:pPr>
            <a:r>
              <a:rPr sz="1650" b="0" i="0" u="none" cap="none">
                <a:solidFill>
                  <a:srgbClr val="FFFFFF"/>
                </a:solidFill>
                <a:latin typeface="DM Sans"/>
                <a:ea typeface="DM Sans"/>
                <a:cs typeface="DM Sans"/>
              </a:rPr>
              <a:t>Évaluer, optimiser et interpréter des modèles.</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defRPr sz="1650">
                <a:solidFill>
                  <a:srgbClr val="FFFFFF"/>
                </a:solidFill>
                <a:latin typeface="DM Sans"/>
                <a:ea typeface="DM Sans"/>
                <a:cs typeface="DM Sans"/>
              </a:defRPr>
            </a:pPr>
            <a:r>
              <a:rPr sz="1650" b="0" i="0" u="none" cap="none">
                <a:solidFill>
                  <a:srgbClr val="FFFFFF"/>
                </a:solidFill>
                <a:latin typeface="DM Sans"/>
                <a:ea typeface="DM Sans"/>
                <a:cs typeface="DM Sans"/>
              </a:rPr>
              <a:t>Cours, TP Python et projet en binôme.</a:t>
            </a:r>
            <a:endParaRPr sz="1300" b="0" i="0" u="none" cap="none">
              <a:solidFill>
                <a:schemeClr val="lt1"/>
              </a:solidFill>
              <a:latin typeface="Calibri"/>
              <a:ea typeface="Calibri"/>
              <a:cs typeface="Calibri"/>
            </a:endParaRPr>
          </a:p>
        </p:txBody>
      </p:sp>
      <p:sp>
        <p:nvSpPr>
          <p:cNvPr id="89" name="Google Shape;89;p5">
            <a:extLst xmlns:a="http://schemas.openxmlformats.org/drawingml/2006/main">
              <a:ext uri="{FF2B5EF4-FFF2-40B4-BE49-F238E27FC236}">
                <a16:creationId xmlns:a16="http://schemas.microsoft.com/office/drawing/2014/main" id="{1F54C820-E0E0-4E45-AE90-E6F654BE85AB}"/>
              </a:ext>
            </a:extLst>
          </p:cNvPr>
          <p:cNvSpPr>
            <a:spLocks xmlns:a="http://schemas.openxmlformats.org/drawingml/2006/main" noGrp="1"/>
          </p:cNvSpPr>
          <p:nvPr/>
        </p:nvSpPr>
        <p:spPr>
          <a:xfrm xmlns:a="http://schemas.openxmlformats.org/drawingml/2006/main">
            <a:off x="8191500" y="3053684"/>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8" name="Google Shape;90;p5"/>
          <p:cNvPicPr>
            <a:picLocks xmlns:a="http://schemas.openxmlformats.org/drawingml/2006/main" noChangeAspect="1"/>
          </p:cNvPicPr>
          <p:nvPr/>
        </p:nvPicPr>
        <p:blipFill rotWithShape="1">
          <a:blip xmlns:r="http://schemas.openxmlformats.org/officeDocument/2006/relationships" xmlns:a="http://schemas.openxmlformats.org/drawingml/2006/main" r:embed="R69e75e0ae59444b7">
            <a:alphaModFix/>
          </a:blip>
          <a:srcRect xmlns:a="http://schemas.openxmlformats.org/drawingml/2006/main" l="0" t="0" r="0" b="0"/>
          <a:stretch xmlns:a="http://schemas.openxmlformats.org/drawingml/2006/main"/>
        </p:blipFill>
        <p:spPr>
          <a:xfrm xmlns:a="http://schemas.openxmlformats.org/drawingml/2006/main">
            <a:off x="8305800" y="3167984"/>
            <a:ext cx="152705" cy="152705"/>
          </a:xfrm>
          <a:prstGeom xmlns:a="http://schemas.openxmlformats.org/drawingml/2006/main" prst="rect">
            <a:avLst/>
          </a:prstGeom>
          <a:ln xmlns:a="http://schemas.openxmlformats.org/drawingml/2006/main">
            <a:noFill/>
          </a:ln>
        </p:spPr>
      </p:pic>
      <p:sp>
        <p:nvSpPr>
          <p:cNvPr id="91" name="Google Shape;91;p5">
            <a:extLst xmlns:a="http://schemas.openxmlformats.org/drawingml/2006/main">
              <a:ext uri="{FF2B5EF4-FFF2-40B4-BE49-F238E27FC236}">
                <a16:creationId xmlns:a16="http://schemas.microsoft.com/office/drawing/2014/main" id="{601F98C3-B8B9-4CA1-B296-C1BAA581409D}"/>
              </a:ext>
            </a:extLst>
          </p:cNvPr>
          <p:cNvSpPr>
            <a:spLocks xmlns:a="http://schemas.openxmlformats.org/drawingml/2006/main" noGrp="1"/>
          </p:cNvSpPr>
          <p:nvPr/>
        </p:nvSpPr>
        <p:spPr>
          <a:xfrm xmlns:a="http://schemas.openxmlformats.org/drawingml/2006/main">
            <a:off x="8715375" y="3133725"/>
            <a:ext cx="271462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defRPr sz="1500">
                <a:solidFill>
                  <a:srgbClr val="FFFFFF"/>
                </a:solidFill>
                <a:latin typeface="DM Sans"/>
                <a:ea typeface="DM Sans"/>
                <a:cs typeface="DM Sans"/>
              </a:defRPr>
            </a:pPr>
            <a:r>
              <a:rPr sz="1500" b="1">
                <a:solidFill>
                  <a:srgbClr val="FFFFFF"/>
                </a:solidFill>
                <a:latin typeface="DM Sans"/>
                <a:ea typeface="DM Sans"/>
                <a:cs typeface="DM Sans"/>
              </a:rPr>
              <a:t>35 h en présentiel</a:t>
            </a:r>
            <a:endParaRPr sz="1200" b="0" i="0" u="none" cap="none">
              <a:solidFill>
                <a:schemeClr val="lt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5F9EE4DB-9762-40DA-AEAA-C0FD346DC90D}"/>
              </a:ext>
            </a:extLst>
          </p:cNvPr>
          <p:cNvSpPr>
            <a:spLocks xmlns:a="http://schemas.openxmlformats.org/drawingml/2006/main" noGrp="1"/>
          </p:cNvSpPr>
          <p:nvPr/>
        </p:nvSpPr>
        <p:spPr>
          <a:xfrm xmlns:a="http://schemas.openxmlformats.org/drawingml/2006/main">
            <a:off x="8191500" y="3587693"/>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31" name="Google Shape;93;p5"/>
          <p:cNvPicPr>
            <a:picLocks xmlns:a="http://schemas.openxmlformats.org/drawingml/2006/main" noChangeAspect="1"/>
          </p:cNvPicPr>
          <p:nvPr/>
        </p:nvPicPr>
        <p:blipFill rotWithShape="1">
          <a:blip xmlns:r="http://schemas.openxmlformats.org/officeDocument/2006/relationships" xmlns:a="http://schemas.openxmlformats.org/drawingml/2006/main" r:embed="R02e50e630aef41dd">
            <a:alphaModFix/>
          </a:blip>
          <a:srcRect xmlns:a="http://schemas.openxmlformats.org/drawingml/2006/main" l="-30" t="0" r="-40" b="0"/>
          <a:stretch xmlns:a="http://schemas.openxmlformats.org/drawingml/2006/main"/>
        </p:blipFill>
        <p:spPr>
          <a:xfrm xmlns:a="http://schemas.openxmlformats.org/drawingml/2006/main">
            <a:off x="8296656" y="3701993"/>
            <a:ext cx="171907" cy="152705"/>
          </a:xfrm>
          <a:prstGeom xmlns:a="http://schemas.openxmlformats.org/drawingml/2006/main" prst="rect">
            <a:avLst/>
          </a:prstGeom>
          <a:ln xmlns:a="http://schemas.openxmlformats.org/drawingml/2006/main">
            <a:noFill/>
          </a:ln>
        </p:spPr>
      </p:pic>
      <p:sp>
        <p:nvSpPr>
          <p:cNvPr id="94" name="Google Shape;94;p5">
            <a:extLst xmlns:a="http://schemas.openxmlformats.org/drawingml/2006/main">
              <a:ext uri="{FF2B5EF4-FFF2-40B4-BE49-F238E27FC236}">
                <a16:creationId xmlns:a16="http://schemas.microsoft.com/office/drawing/2014/main" id="{6DBBD491-535F-4E2B-9626-C1781EBE87AD}"/>
              </a:ext>
            </a:extLst>
          </p:cNvPr>
          <p:cNvSpPr>
            <a:spLocks xmlns:a="http://schemas.openxmlformats.org/drawingml/2006/main" noGrp="1"/>
          </p:cNvSpPr>
          <p:nvPr/>
        </p:nvSpPr>
        <p:spPr>
          <a:xfrm xmlns:a="http://schemas.openxmlformats.org/drawingml/2006/main">
            <a:off x="8715375" y="3676650"/>
            <a:ext cx="271462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defRPr sz="1500">
                <a:solidFill>
                  <a:srgbClr val="FFFFFF"/>
                </a:solidFill>
                <a:latin typeface="DM Sans"/>
                <a:ea typeface="DM Sans"/>
                <a:cs typeface="DM Sans"/>
              </a:defRPr>
            </a:pPr>
            <a:r>
              <a:rPr sz="1500" b="1" i="0" u="none" cap="none">
                <a:solidFill>
                  <a:srgbClr val="FFFFFF"/>
                </a:solidFill>
                <a:latin typeface="DM Sans"/>
                <a:ea typeface="DM Sans"/>
                <a:cs typeface="DM Sans"/>
              </a:rPr>
              <a:t>5 journées</a:t>
            </a:r>
            <a:endParaRPr sz="1200" b="0" i="0" u="none" cap="none">
              <a:solidFill>
                <a:schemeClr val="lt1"/>
              </a:solidFill>
              <a:latin typeface="Calibri"/>
              <a:ea typeface="Calibri"/>
              <a:cs typeface="Calibri"/>
            </a:endParaRPr>
          </a:p>
        </p:txBody>
      </p:sp>
      <p:sp>
        <p:nvSpPr>
          <p:cNvPr id="95" name="Google Shape;95;p5">
            <a:extLst xmlns:a="http://schemas.openxmlformats.org/drawingml/2006/main">
              <a:ext uri="{FF2B5EF4-FFF2-40B4-BE49-F238E27FC236}">
                <a16:creationId xmlns:a16="http://schemas.microsoft.com/office/drawing/2014/main" id="{83A7E925-F0E0-430F-A8F2-DA2A96F116F4}"/>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003</a:t>
            </a:r>
            <a:endParaRPr sz="1300" b="0" i="0" u="none" cap="none">
              <a:solidFill>
                <a:schemeClr val="dk1"/>
              </a:solidFill>
              <a:latin typeface="Calibri"/>
              <a:ea typeface="Calibri"/>
              <a:cs typeface="Calibri"/>
            </a:endParaRPr>
          </a:p>
        </p:txBody>
      </p:sp>
      <p:pic>
        <p:nvPicPr>
          <p:cNvPr id="134" name="Google Shape;96;p5"/>
          <p:cNvPicPr>
            <a:picLocks xmlns:a="http://schemas.openxmlformats.org/drawingml/2006/main" noChangeAspect="1"/>
          </p:cNvPicPr>
          <p:nvPr/>
        </p:nvPicPr>
        <p:blipFill>
          <a:blip xmlns:r="http://schemas.openxmlformats.org/officeDocument/2006/relationships" xmlns:a="http://schemas.openxmlformats.org/drawingml/2006/main" r:embed="Rf22337a1846c47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97" name="Google Shape;97;p5">
            <a:extLst xmlns:a="http://schemas.openxmlformats.org/drawingml/2006/main">
              <a:ext uri="{FF2B5EF4-FFF2-40B4-BE49-F238E27FC236}">
                <a16:creationId xmlns:a16="http://schemas.microsoft.com/office/drawing/2014/main" id="{66877058-CE29-49A0-881E-D76830BEDCD3}"/>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01" name="Google Shape;101;p5">
            <a:extLst xmlns:a="http://schemas.openxmlformats.org/drawingml/2006/main">
              <a:ext uri="{FF2B5EF4-FFF2-40B4-BE49-F238E27FC236}">
                <a16:creationId xmlns:a16="http://schemas.microsoft.com/office/drawing/2014/main" id="{E28727D7-F442-464A-84B0-4B37FC4B0DCB}"/>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37" name="Google Shape;103;p5"/>
          <p:cNvPicPr>
            <a:picLocks xmlns:a="http://schemas.openxmlformats.org/drawingml/2006/main" noChangeAspect="1"/>
          </p:cNvPicPr>
          <p:nvPr/>
        </p:nvPicPr>
        <p:blipFill>
          <a:blip xmlns:r="http://schemas.openxmlformats.org/officeDocument/2006/relationships" xmlns:a="http://schemas.openxmlformats.org/drawingml/2006/main" r:embed="Rd420ca92ab2042a0">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pic>
        <p:nvPicPr>
          <p:cNvPr id="138" name="Google Shape;104;p5"/>
          <p:cNvPicPr>
            <a:picLocks xmlns:a="http://schemas.openxmlformats.org/drawingml/2006/main" noChangeAspect="1"/>
          </p:cNvPicPr>
          <p:nvPr/>
        </p:nvPicPr>
        <p:blipFill>
          <a:blip xmlns:r="http://schemas.openxmlformats.org/officeDocument/2006/relationships" xmlns:a="http://schemas.openxmlformats.org/drawingml/2006/main" r:embed="Rbb81549cbc534da0">
            <a:alphaModFix/>
          </a:blip>
          <a:stretch xmlns:a="http://schemas.openxmlformats.org/drawingml/2006/main">
            <a:fillRect l="0" t="0" r="0" b="0"/>
          </a:stretch>
        </p:blipFill>
        <p:spPr>
          <a:xfrm xmlns:a="http://schemas.openxmlformats.org/drawingml/2006/main">
            <a:off x="979165" y="6171138"/>
            <a:ext cx="333379" cy="345450"/>
          </a:xfrm>
          <a:prstGeom xmlns:a="http://schemas.openxmlformats.org/drawingml/2006/main" prst="rect">
            <a:avLst/>
          </a:prstGeom>
          <a:ln xmlns:a="http://schemas.openxmlformats.org/drawingml/2006/main">
            <a:noFill/>
          </a:ln>
        </p:spPr>
      </p:pic>
      <p:sp>
        <p:nvSpPr>
          <p:cNvPr id="105" name="Google Shape;105;p5">
            <a:extLst xmlns:a="http://schemas.openxmlformats.org/drawingml/2006/main">
              <a:ext uri="{FF2B5EF4-FFF2-40B4-BE49-F238E27FC236}">
                <a16:creationId xmlns:a16="http://schemas.microsoft.com/office/drawing/2014/main" id="{D34467AA-397E-4875-A1D5-083C18F6E026}"/>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6" name="Google Shape;106;p5">
            <a:extLst xmlns:a="http://schemas.openxmlformats.org/drawingml/2006/main">
              <a:ext uri="{FF2B5EF4-FFF2-40B4-BE49-F238E27FC236}">
                <a16:creationId xmlns:a16="http://schemas.microsoft.com/office/drawing/2014/main" id="{91EF6306-FAD0-4602-A8FD-016DB175AB78}"/>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Tree>
    <p:extLst>
      <p:ext uri="{BB962C8B-B14F-4D97-AF65-F5344CB8AC3E}">
        <p14:creationId xmlns:p14="http://schemas.microsoft.com/office/powerpoint/2010/main" val="6484312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004</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14df0ccd2eb942d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812170dcdef478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ix compétences à démontrer">
            <a:extLst xmlns:a="http://schemas.openxmlformats.org/drawingml/2006/main">
              <a:ext uri="{FF2B5EF4-FFF2-40B4-BE49-F238E27FC236}">
                <a16:creationId xmlns:a16="http://schemas.microsoft.com/office/drawing/2014/main" id="{DF463805-7D00-41BD-BA25-2CFCE127507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Six compétences à démontrer</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435429">
                <a:tc>
                  <a:txBody>
                    <a:bodyPr lIns="114300" tIns="95250" rIns="114300" bIns="95250"/>
                    <a:lstStyle/>
                    <a:p>
                      <a:r>
                        <a:rPr sz="1500" b="1">
                          <a:solidFill>
                            <a:srgbClr val="FFFFFF"/>
                          </a:solidFill>
                          <a:latin typeface="DM Sans"/>
                          <a:ea typeface="DM Sans"/>
                          <a:cs typeface="DM Sans"/>
                        </a:rPr>
                        <a:t>Compétence</a:t>
                      </a:r>
                    </a:p>
                  </a:txBody>
                  <a:tcPr marL="91440" marR="91440" marT="45720" marB="45720">
                    <a:solidFill>
                      <a:srgbClr val="303C8B"/>
                    </a:solidFill>
                  </a:tcPr>
                </a:tc>
                <a:tc>
                  <a:txBody>
                    <a:bodyPr lIns="114300" tIns="95250" rIns="114300" bIns="95250"/>
                    <a:lstStyle/>
                    <a:p>
                      <a:r>
                        <a:rPr sz="1500" b="1">
                          <a:solidFill>
                            <a:srgbClr val="FFFFFF"/>
                          </a:solidFill>
                          <a:latin typeface="DM Sans"/>
                          <a:ea typeface="DM Sans"/>
                          <a:cs typeface="DM Sans"/>
                        </a:rPr>
                        <a:t>Preuve attendue</a:t>
                      </a:r>
                    </a:p>
                  </a:txBody>
                  <a:tcPr marL="91440" marR="91440" marT="45720" marB="45720">
                    <a:solidFill>
                      <a:srgbClr val="303C8B"/>
                    </a:solidFill>
                  </a:tcPr>
                </a:tc>
              </a:tr>
              <a:tr h="435429">
                <a:tc>
                  <a:txBody>
                    <a:bodyPr lIns="114300" tIns="95250" rIns="114300" bIns="95250"/>
                    <a:lstStyle/>
                    <a:p>
                      <a:r>
                        <a:rPr sz="1500" b="0">
                          <a:solidFill>
                            <a:srgbClr val="12194C"/>
                          </a:solidFill>
                          <a:latin typeface="DM Sans"/>
                          <a:ea typeface="DM Sans"/>
                          <a:cs typeface="DM Sans"/>
                        </a:rPr>
                        <a:t>Choisir un ensemble ou un clustering</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Comparer des hypothèses et résultats</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Optimiser sans contaminer le test</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Pipeline et validation adaptée</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Gérer classes rares et features</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AP, calibration, seuil et ablations</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Interpréter les prédictions</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Diagnostic avec limites explicites</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Évaluer de façon fiable</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Protocole, variabilité et groupes</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Préparer la reproductibilité</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Environnement, manifeste et model card</a:t>
                      </a:r>
                    </a:p>
                  </a:txBody>
                  <a:tcPr marL="91440" marR="91440" marT="45720" marB="45720">
                    <a:solidFill>
                      <a:srgbClr val="FFFFFF"/>
                    </a:solidFill>
                  </a:tcPr>
                </a:tc>
              </a:tr>
            </a:tbl>
          </a:graphicData>
        </a:graphic>
      </p:graphicFrame>
      <p:sp>
        <p:nvSpPr>
          <p:cNvPr id="160" name="course-">
            <a:extLst xmlns:a="http://schemas.openxmlformats.org/drawingml/2006/main">
              <a:ext uri="{FF2B5EF4-FFF2-40B4-BE49-F238E27FC236}">
                <a16:creationId xmlns:a16="http://schemas.microsoft.com/office/drawing/2014/main" id="{E83B5C21-62B8-4701-BA26-2E35B0E64AFC}"/>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Exemple ou activité originale du co">
            <a:extLst xmlns:a="http://schemas.openxmlformats.org/drawingml/2006/main">
              <a:ext uri="{FF2B5EF4-FFF2-40B4-BE49-F238E27FC236}">
                <a16:creationId xmlns:a16="http://schemas.microsoft.com/office/drawing/2014/main" id="{1D3073F9-1B51-4D23-AD22-E80C8E8B139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6ba0e475277428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fefe958851d471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rérequis et diagnostic">
            <a:extLst xmlns:a="http://schemas.openxmlformats.org/drawingml/2006/main">
              <a:ext uri="{FF2B5EF4-FFF2-40B4-BE49-F238E27FC236}">
                <a16:creationId xmlns:a16="http://schemas.microsoft.com/office/drawing/2014/main" id="{035672E9-2D65-459A-89EA-CA978F9158A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Prérequis et diagnostic</a:t>
            </a:r>
          </a:p>
        </p:txBody>
      </p:sp>
      <p:sp>
        <p:nvSpPr>
          <p:cNvPr id="159" name="course-Python : fonctions, tableaux NumPy,">
            <a:extLst xmlns:a="http://schemas.openxmlformats.org/drawingml/2006/main">
              <a:ext uri="{FF2B5EF4-FFF2-40B4-BE49-F238E27FC236}">
                <a16:creationId xmlns:a16="http://schemas.microsoft.com/office/drawing/2014/main" id="{E22D0522-EABF-4745-A1C6-85D84B35CA07}"/>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Python : fonctions, tableaux NumPy, DataFrame pandas et graphiques simples.</a:t>
            </a:r>
          </a:p>
        </p:txBody>
      </p:sp>
      <p:sp>
        <p:nvSpPr>
          <p:cNvPr id="160" name="course-Statistiques : moyenne, variance, p">
            <a:extLst xmlns:a="http://schemas.openxmlformats.org/drawingml/2006/main">
              <a:ext uri="{FF2B5EF4-FFF2-40B4-BE49-F238E27FC236}">
                <a16:creationId xmlns:a16="http://schemas.microsoft.com/office/drawing/2014/main" id="{6E63FBB6-7417-4235-A60A-E0BAEC8CC02D}"/>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Statistiques : moyenne, variance, probabilité conditionnelle, corrélation.</a:t>
            </a:r>
          </a:p>
        </p:txBody>
      </p:sp>
      <p:sp>
        <p:nvSpPr>
          <p:cNvPr id="161" name="course-ML : entraînement/test, régression,">
            <a:extLst xmlns:a="http://schemas.openxmlformats.org/drawingml/2006/main">
              <a:ext uri="{FF2B5EF4-FFF2-40B4-BE49-F238E27FC236}">
                <a16:creationId xmlns:a16="http://schemas.microsoft.com/office/drawing/2014/main" id="{8DDC8B73-0EE2-4764-9A8F-B644D0E3FE6D}"/>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ML : entraînement/test, régression, classification et lecture d'une matrice de confusion.</a:t>
            </a:r>
          </a:p>
        </p:txBody>
      </p:sp>
      <p:sp>
        <p:nvSpPr>
          <p:cNvPr id="162" name="course-Diagnostic de 10 minutes puis group">
            <a:extLst xmlns:a="http://schemas.openxmlformats.org/drawingml/2006/main">
              <a:ext uri="{FF2B5EF4-FFF2-40B4-BE49-F238E27FC236}">
                <a16:creationId xmlns:a16="http://schemas.microsoft.com/office/drawing/2014/main" id="{A4C261FF-4DC3-446D-9491-E50750AA6F7A}"/>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Diagnostic de 10 minutes puis groupes de travail complémentaires</a:t>
            </a:r>
          </a:p>
        </p:txBody>
      </p:sp>
      <p:sp>
        <p:nvSpPr>
          <p:cNvPr id="163" name="course-Sources : R01, R33 · liens et détai">
            <a:extLst xmlns:a="http://schemas.openxmlformats.org/drawingml/2006/main">
              <a:ext uri="{FF2B5EF4-FFF2-40B4-BE49-F238E27FC236}">
                <a16:creationId xmlns:a16="http://schemas.microsoft.com/office/drawing/2014/main" id="{7E2EC79F-C983-49D3-AF65-FF547C1897F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R01, R33 · liens et détails dans les notes</a:t>
            </a:r>
          </a:p>
        </p:txBody>
      </p:sp>
    </p:spTree>
    <p:extLst>
      <p:ext uri="{BB962C8B-B14F-4D97-AF65-F5344CB8AC3E}">
        <p14:creationId xmlns:p14="http://schemas.microsoft.com/office/powerpoint/2010/main" val="4362208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006</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38d86f1e14d4f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7e2e0e0e84f495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rythme des cinq journées">
            <a:extLst xmlns:a="http://schemas.openxmlformats.org/drawingml/2006/main">
              <a:ext uri="{FF2B5EF4-FFF2-40B4-BE49-F238E27FC236}">
                <a16:creationId xmlns:a16="http://schemas.microsoft.com/office/drawing/2014/main" id="{FE8B3E07-6860-4F63-8112-266F065E814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rythme des cinq journées</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Jour</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Thème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Pratique principale</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Lun. 21/09</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Évaluation, régularisation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TP00 + TP01</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Mar. 22/09</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Ensembles, optimisation</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TP02 + TP03</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Mer. 23/09</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Classes rares, features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TP04</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Jeu. 24/09</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PCA, clustering, anomalies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TP05</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Ven. 25/09</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Explication, incertitude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TP06 + projet final</a:t>
                      </a:r>
                    </a:p>
                  </a:txBody>
                  <a:tcPr marL="91440" marR="91440" marT="45720" marB="45720">
                    <a:solidFill>
                      <a:srgbClr val="F4F5F8"/>
                    </a:solidFill>
                  </a:tcPr>
                </a:tc>
              </a:tr>
            </a:tbl>
          </a:graphicData>
        </a:graphic>
      </p:graphicFrame>
      <p:sp>
        <p:nvSpPr>
          <p:cNvPr id="160" name="course-Chaque jour : 7 heures pédagogiques">
            <a:extLst xmlns:a="http://schemas.openxmlformats.org/drawingml/2006/main">
              <a:ext uri="{FF2B5EF4-FFF2-40B4-BE49-F238E27FC236}">
                <a16:creationId xmlns:a16="http://schemas.microsoft.com/office/drawing/2014/main" id="{C9D412D1-091B-4B4A-AB4B-09C919606A21}"/>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Chaque jour : 7 heures pédagogiques, pauses exclues</a:t>
            </a:r>
          </a:p>
        </p:txBody>
      </p:sp>
      <p:sp>
        <p:nvSpPr>
          <p:cNvPr id="161" name="course-Exemple ou activité originale du co">
            <a:extLst xmlns:a="http://schemas.openxmlformats.org/drawingml/2006/main">
              <a:ext uri="{FF2B5EF4-FFF2-40B4-BE49-F238E27FC236}">
                <a16:creationId xmlns:a16="http://schemas.microsoft.com/office/drawing/2014/main" id="{03369807-362B-415E-8645-3D86D32997B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a8a879dfbe94e1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b9fa1d2bfd24d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fil rouge : prioriser des appels">
            <a:extLst xmlns:a="http://schemas.openxmlformats.org/drawingml/2006/main">
              <a:ext uri="{FF2B5EF4-FFF2-40B4-BE49-F238E27FC236}">
                <a16:creationId xmlns:a16="http://schemas.microsoft.com/office/drawing/2014/main" id="{7892DFE0-60B3-4D1A-9DEA-0F51953E063B}"/>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fil rouge : prioriser des appels</a:t>
            </a:r>
          </a:p>
        </p:txBody>
      </p:sp>
      <p:sp>
        <p:nvSpPr>
          <p:cNvPr id="159" name="course-Décision : quels clients contacter ">
            <a:extLst xmlns:a="http://schemas.openxmlformats.org/drawingml/2006/main">
              <a:ext uri="{FF2B5EF4-FFF2-40B4-BE49-F238E27FC236}">
                <a16:creationId xmlns:a16="http://schemas.microsoft.com/office/drawing/2014/main" id="{6270DE69-D7DE-4233-B89D-44EF22529B49}"/>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Décision : quels clients contacter avant une campagne ?</a:t>
            </a:r>
          </a:p>
        </p:txBody>
      </p:sp>
      <p:sp>
        <p:nvSpPr>
          <p:cNvPr id="160" name="course-Prédiction : estimer une probabilit">
            <a:extLst xmlns:a="http://schemas.openxmlformats.org/drawingml/2006/main">
              <a:ext uri="{FF2B5EF4-FFF2-40B4-BE49-F238E27FC236}">
                <a16:creationId xmlns:a16="http://schemas.microsoft.com/office/drawing/2014/main" id="{DA8DC991-D822-4E72-870C-2A15112B15B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Prédiction : estimer une probabilité de souscription à partir des informations disponibles.</a:t>
            </a:r>
          </a:p>
        </p:txBody>
      </p:sp>
      <p:sp>
        <p:nvSpPr>
          <p:cNvPr id="161" name="course-Évaluation : comparer au hasard, ju">
            <a:extLst xmlns:a="http://schemas.openxmlformats.org/drawingml/2006/main">
              <a:ext uri="{FF2B5EF4-FFF2-40B4-BE49-F238E27FC236}">
                <a16:creationId xmlns:a16="http://schemas.microsoft.com/office/drawing/2014/main" id="{5B5E46A9-5487-428B-8408-DC08BCE51C8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Évaluation : comparer au hasard, justifier le seuil et documenter les limites.</a:t>
            </a:r>
          </a:p>
        </p:txBody>
      </p:sp>
      <p:sp>
        <p:nvSpPr>
          <p:cNvPr id="162" name="course-Un score de propension n'est pas l'">
            <a:extLst xmlns:a="http://schemas.openxmlformats.org/drawingml/2006/main">
              <a:ext uri="{FF2B5EF4-FFF2-40B4-BE49-F238E27FC236}">
                <a16:creationId xmlns:a16="http://schemas.microsoft.com/office/drawing/2014/main" id="{3D982A30-EE67-4995-9C6C-FDCD664C968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score de propension n'est pas l'effet causal d'un appel</a:t>
            </a:r>
          </a:p>
        </p:txBody>
      </p:sp>
      <p:sp>
        <p:nvSpPr>
          <p:cNvPr id="163" name="course-Sources : R32, R39 · liens et détai">
            <a:extLst xmlns:a="http://schemas.openxmlformats.org/drawingml/2006/main">
              <a:ext uri="{FF2B5EF4-FFF2-40B4-BE49-F238E27FC236}">
                <a16:creationId xmlns:a16="http://schemas.microsoft.com/office/drawing/2014/main" id="{1BFE2E08-68B8-416F-868D-EF18B1F8DAA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R32, R39 · liens et détails dans les notes</a:t>
            </a:r>
          </a:p>
        </p:txBody>
      </p:sp>
    </p:spTree>
    <p:extLst>
      <p:ext uri="{BB962C8B-B14F-4D97-AF65-F5344CB8AC3E}">
        <p14:creationId xmlns:p14="http://schemas.microsoft.com/office/powerpoint/2010/main" val="43622080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35c152d47ae4d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5c4b5efb95a488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Nos ressources de travail">
            <a:extLst xmlns:a="http://schemas.openxmlformats.org/drawingml/2006/main">
              <a:ext uri="{FF2B5EF4-FFF2-40B4-BE49-F238E27FC236}">
                <a16:creationId xmlns:a16="http://schemas.microsoft.com/office/drawing/2014/main" id="{C661EB56-BA46-4841-A559-938440576DFE}"/>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Nos ressources de travail</a:t>
            </a:r>
          </a:p>
        </p:txBody>
      </p:sp>
      <p:sp>
        <p:nvSpPr>
          <p:cNvPr id="159" name="course-Le diaporama pose les mécanismes et">
            <a:extLst xmlns:a="http://schemas.openxmlformats.org/drawingml/2006/main">
              <a:ext uri="{FF2B5EF4-FFF2-40B4-BE49-F238E27FC236}">
                <a16:creationId xmlns:a16="http://schemas.microsoft.com/office/drawing/2014/main" id="{09EA9884-615F-46F0-A5C2-7920BBE69E6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diaporama pose les mécanismes et les questions à discuter.</a:t>
            </a:r>
          </a:p>
        </p:txBody>
      </p:sp>
      <p:sp>
        <p:nvSpPr>
          <p:cNvPr id="160" name="course-Les notebooks contiennent des exemp">
            <a:extLst xmlns:a="http://schemas.openxmlformats.org/drawingml/2006/main">
              <a:ext uri="{FF2B5EF4-FFF2-40B4-BE49-F238E27FC236}">
                <a16:creationId xmlns:a16="http://schemas.microsoft.com/office/drawing/2014/main" id="{6CE7C65A-86B8-4332-BBD2-B9DD4A8B67EA}"/>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notebooks contiennent des exemples, des exercices et des vérifications.</a:t>
            </a:r>
          </a:p>
        </p:txBody>
      </p:sp>
      <p:sp>
        <p:nvSpPr>
          <p:cNvPr id="161" name="course-Le dépôt conserve le programme, les">
            <a:extLst xmlns:a="http://schemas.openxmlformats.org/drawingml/2006/main">
              <a:ext uri="{FF2B5EF4-FFF2-40B4-BE49-F238E27FC236}">
                <a16:creationId xmlns:a16="http://schemas.microsoft.com/office/drawing/2014/main" id="{62CE6ADB-C126-4FCF-AB39-F354CA97A7A7}"/>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dépôt conserve le programme, les sources, le barème et les versions des dépendances.</a:t>
            </a:r>
          </a:p>
        </p:txBody>
      </p:sp>
      <p:sp>
        <p:nvSpPr>
          <p:cNvPr id="162" name="course-CPU suffisant ; données des TP disp">
            <a:extLst xmlns:a="http://schemas.openxmlformats.org/drawingml/2006/main">
              <a:ext uri="{FF2B5EF4-FFF2-40B4-BE49-F238E27FC236}">
                <a16:creationId xmlns:a16="http://schemas.microsoft.com/office/drawing/2014/main" id="{AA289270-966E-4314-902D-70EA398AF77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CPU suffisant ; données des TP disponibles hors ligne après installation</a:t>
            </a:r>
          </a:p>
        </p:txBody>
      </p:sp>
      <p:sp>
        <p:nvSpPr>
          <p:cNvPr id="163" name="course-Exemple ou activité originale du co">
            <a:extLst xmlns:a="http://schemas.openxmlformats.org/drawingml/2006/main">
              <a:ext uri="{FF2B5EF4-FFF2-40B4-BE49-F238E27FC236}">
                <a16:creationId xmlns:a16="http://schemas.microsoft.com/office/drawing/2014/main" id="{B76D89C7-82EF-443D-B7E3-ECD4700E388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009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538ccbab56c40f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f2b78adfe3c485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CYBERSUP</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e que nous reprenons des supports ">
            <a:extLst xmlns:a="http://schemas.openxmlformats.org/drawingml/2006/main">
              <a:ext uri="{FF2B5EF4-FFF2-40B4-BE49-F238E27FC236}">
                <a16:creationId xmlns:a16="http://schemas.microsoft.com/office/drawing/2014/main" id="{DBBC39E3-F333-4D1D-9F11-7F0A0C2908A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Ce que nous reprenons des supports de 2020</a:t>
            </a:r>
          </a:p>
        </p:txBody>
      </p:sp>
      <p:sp>
        <p:nvSpPr>
          <p:cNvPr id="159" name="course-Le cadrage du problème, les types d">
            <a:extLst xmlns:a="http://schemas.openxmlformats.org/drawingml/2006/main">
              <a:ext uri="{FF2B5EF4-FFF2-40B4-BE49-F238E27FC236}">
                <a16:creationId xmlns:a16="http://schemas.microsoft.com/office/drawing/2014/main" id="{C8FD82FB-4722-4F79-B322-517DEAEB962D}"/>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cadrage du problème, les types de variables et le cycle de projet.</a:t>
            </a:r>
          </a:p>
        </p:txBody>
      </p:sp>
      <p:sp>
        <p:nvSpPr>
          <p:cNvPr id="160" name="course-Les arbres, la matrice de confusion">
            <a:extLst xmlns:a="http://schemas.openxmlformats.org/drawingml/2006/main">
              <a:ext uri="{FF2B5EF4-FFF2-40B4-BE49-F238E27FC236}">
                <a16:creationId xmlns:a16="http://schemas.microsoft.com/office/drawing/2014/main" id="{0BEAD763-3515-46E1-A249-22DBF09F0F92}"/>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arbres, la matrice de confusion et le raisonnement par scoring.</a:t>
            </a:r>
          </a:p>
        </p:txBody>
      </p:sp>
      <p:sp>
        <p:nvSpPr>
          <p:cNvPr id="161" name="course-Une extension vers les ensembles, l">
            <a:extLst xmlns:a="http://schemas.openxmlformats.org/drawingml/2006/main">
              <a:ext uri="{FF2B5EF4-FFF2-40B4-BE49-F238E27FC236}">
                <a16:creationId xmlns:a16="http://schemas.microsoft.com/office/drawing/2014/main" id="{B5A32FF1-AF88-4364-878E-FE6CEEF4261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extension vers les ensembles, la validation robuste et l'incertitude.</a:t>
            </a:r>
          </a:p>
        </p:txBody>
      </p:sp>
      <p:sp>
        <p:nvSpPr>
          <p:cNvPr id="162" name="course-Exemples et illustrations du cours ">
            <a:extLst xmlns:a="http://schemas.openxmlformats.org/drawingml/2006/main">
              <a:ext uri="{FF2B5EF4-FFF2-40B4-BE49-F238E27FC236}">
                <a16:creationId xmlns:a16="http://schemas.microsoft.com/office/drawing/2014/main" id="{7D5D5671-97A2-4F85-A40C-26E741CC301A}"/>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Exemples et illustrations du cours reconstruits et attribués</a:t>
            </a:r>
          </a:p>
        </p:txBody>
      </p:sp>
      <p:sp>
        <p:nvSpPr>
          <p:cNvPr id="163" name="course-Sources : R38, R39 · liens et détai">
            <a:extLst xmlns:a="http://schemas.openxmlformats.org/drawingml/2006/main">
              <a:ext uri="{FF2B5EF4-FFF2-40B4-BE49-F238E27FC236}">
                <a16:creationId xmlns:a16="http://schemas.microsoft.com/office/drawing/2014/main" id="{D09328BA-171B-41AB-B359-C65D16AF088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R38, R39 · liens et détails dans les notes</a:t>
            </a:r>
          </a:p>
        </p:txBody>
      </p:sp>
    </p:spTree>
    <p:extLst>
      <p:ext uri="{BB962C8B-B14F-4D97-AF65-F5344CB8AC3E}">
        <p14:creationId xmlns:p14="http://schemas.microsoft.com/office/powerpoint/2010/main" val="436220805"/>
      </p:ext>
    </p:extLst>
  </p:cSld>
</p:sld>
</file>

<file path=ppt/slides/slide10.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D30FB88-3A64-4DDC-B6FB-A45D76E8720C}"/>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B6515DFA-C6BC-4740-AD89-5A6CFD255906}"/>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6000">
                <a:solidFill>
                  <a:srgbClr val="FFFFFF"/>
                </a:solidFill>
                <a:latin typeface="Roboto Mono"/>
                <a:ea typeface="Roboto Mono"/>
                <a:cs typeface="Roboto Mono"/>
              </a:defRPr>
            </a:pPr>
            <a:r>
              <a:rPr sz="6000" b="0" i="0" u="none" cap="none">
                <a:solidFill>
                  <a:srgbClr val="FFFFFF"/>
                </a:solidFill>
                <a:latin typeface="Roboto Mono"/>
                <a:ea typeface="Roboto Mono"/>
                <a:cs typeface="Roboto Mono"/>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50B8DDD-729E-486B-AEB1-AD033FCC7D35}"/>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E8E5135-6606-4F5B-9C6D-A32E421983FE}"/>
              </a:ext>
            </a:extLst>
          </p:cNvPr>
          <p:cNvSpPr>
            <a:spLocks xmlns:a="http://schemas.openxmlformats.org/drawingml/2006/main" noGrp="1"/>
          </p:cNvSpPr>
          <p:nvPr/>
        </p:nvSpPr>
        <p:spPr>
          <a:xfrm xmlns:a="http://schemas.openxmlformats.org/drawingml/2006/main">
            <a:off x="2619375" y="2209800"/>
            <a:ext cx="8620125" cy="16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050">
                <a:solidFill>
                  <a:srgbClr val="FFFFFF"/>
                </a:solidFill>
                <a:latin typeface="Archivo Black"/>
                <a:ea typeface="Archivo Black"/>
                <a:cs typeface="Archivo Black"/>
              </a:defRPr>
            </a:pPr>
            <a:r>
              <a:rPr sz="4050">
                <a:solidFill>
                  <a:srgbClr val="FFFFFF"/>
                </a:solidFill>
                <a:latin typeface="Archivo Black"/>
                <a:ea typeface="Archivo Black"/>
                <a:cs typeface="Archivo Black"/>
              </a:rPr>
              <a:t>Évaluer et régulariser</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07C33C7D-4DBF-4A1B-937A-40BA11DC5D81}"/>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C5B0E55E-D350-4972-97F4-240419483916}"/>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010</a:t>
            </a:r>
            <a:endParaRPr sz="1300" b="0" i="0" u="none" cap="none">
              <a:solidFill>
                <a:schemeClr val="dk1"/>
              </a:solidFill>
              <a:latin typeface="Calibri"/>
              <a:ea typeface="Calibri"/>
              <a:cs typeface="Calibri"/>
            </a:endParaRPr>
          </a:p>
        </p:txBody>
      </p:sp>
      <p:pic>
        <p:nvPicPr>
          <p:cNvPr id="150" name="Google Shape;137;p7"/>
          <p:cNvPicPr>
            <a:picLocks xmlns:a="http://schemas.openxmlformats.org/drawingml/2006/main" noChangeAspect="1"/>
          </p:cNvPicPr>
          <p:nvPr/>
        </p:nvPicPr>
        <p:blipFill>
          <a:blip xmlns:r="http://schemas.openxmlformats.org/officeDocument/2006/relationships" xmlns:a="http://schemas.openxmlformats.org/drawingml/2006/main" r:embed="R47508beb44b1400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1" name="Google Shape;138;p7"/>
          <p:cNvPicPr>
            <a:picLocks xmlns:a="http://schemas.openxmlformats.org/drawingml/2006/main" noChangeAspect="1"/>
          </p:cNvPicPr>
          <p:nvPr/>
        </p:nvPicPr>
        <p:blipFill>
          <a:blip xmlns:r="http://schemas.openxmlformats.org/officeDocument/2006/relationships" xmlns:a="http://schemas.openxmlformats.org/drawingml/2006/main" r:embed="R1b7cd2bec12f4d48">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5E19C1EB-9D5B-4724-9DF6-EA2A1693B50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8710095-3157-4D85-A4A3-C1C07ED06B95}"/>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Lundi 21 septembre · Construire une">
            <a:extLst xmlns:a="http://schemas.openxmlformats.org/drawingml/2006/main">
              <a:ext uri="{FF2B5EF4-FFF2-40B4-BE49-F238E27FC236}">
                <a16:creationId xmlns:a16="http://schemas.microsoft.com/office/drawing/2014/main" id="{B54EB9B6-C7E8-4F1F-A86C-5502D66C35BF}"/>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DM Sans"/>
                <a:ea typeface="DM Sans"/>
                <a:cs typeface="DM Sans"/>
              </a:defRPr>
            </a:pPr>
            <a:r>
              <a:rPr sz="2100" b="0">
                <a:solidFill>
                  <a:srgbClr val="FFFFFF"/>
                </a:solidFill>
                <a:latin typeface="DM Sans"/>
                <a:ea typeface="DM Sans"/>
                <a:cs typeface="DM Sans"/>
              </a:rPr>
              <a:t>Lundi 21 septembre · Construire une comparaison fiable</a:t>
            </a:r>
          </a:p>
        </p:txBody>
      </p:sp>
    </p:spTree>
    <p:extLst>
      <p:ext uri="{BB962C8B-B14F-4D97-AF65-F5344CB8AC3E}">
        <p14:creationId xmlns:p14="http://schemas.microsoft.com/office/powerpoint/2010/main" val="5002314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96b74cd675457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7b238d1bc344ff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problème avant l'algorithme">
            <a:extLst xmlns:a="http://schemas.openxmlformats.org/drawingml/2006/main">
              <a:ext uri="{FF2B5EF4-FFF2-40B4-BE49-F238E27FC236}">
                <a16:creationId xmlns:a16="http://schemas.microsoft.com/office/drawing/2014/main" id="{321662E5-E025-43A8-A658-A4801B49E79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problème avant l'algorithme</a:t>
            </a:r>
          </a:p>
        </p:txBody>
      </p:sp>
      <p:sp>
        <p:nvSpPr>
          <p:cNvPr id="159" name="course-Quelle décision sera prise, pour qu">
            <a:extLst xmlns:a="http://schemas.openxmlformats.org/drawingml/2006/main">
              <a:ext uri="{FF2B5EF4-FFF2-40B4-BE49-F238E27FC236}">
                <a16:creationId xmlns:a16="http://schemas.microsoft.com/office/drawing/2014/main" id="{74344DC3-803B-4B55-892A-3D244C0846ED}"/>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décision sera prise, pour qui et à quel moment ?</a:t>
            </a:r>
          </a:p>
        </p:txBody>
      </p:sp>
      <p:sp>
        <p:nvSpPr>
          <p:cNvPr id="160" name="course-Quelle cible observe-t-on, avec que">
            <a:extLst xmlns:a="http://schemas.openxmlformats.org/drawingml/2006/main">
              <a:ext uri="{FF2B5EF4-FFF2-40B4-BE49-F238E27FC236}">
                <a16:creationId xmlns:a16="http://schemas.microsoft.com/office/drawing/2014/main" id="{10F41879-EE0F-42C3-8C49-44C9723377F3}"/>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cible observe-t-on, avec quel délai et quelles erreurs de mesure ?</a:t>
            </a:r>
          </a:p>
        </p:txBody>
      </p:sp>
      <p:sp>
        <p:nvSpPr>
          <p:cNvPr id="161" name="course-Quelle population devra bénéficier ">
            <a:extLst xmlns:a="http://schemas.openxmlformats.org/drawingml/2006/main">
              <a:ext uri="{FF2B5EF4-FFF2-40B4-BE49-F238E27FC236}">
                <a16:creationId xmlns:a16="http://schemas.microsoft.com/office/drawing/2014/main" id="{EEBEFDB4-3A80-4CBB-9EF3-05C706932D5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population devra bénéficier du modèle une fois utilisé ?</a:t>
            </a:r>
          </a:p>
        </p:txBody>
      </p:sp>
      <p:sp>
        <p:nvSpPr>
          <p:cNvPr id="162" name="course-Écrire la décision, l'horizon et la">
            <a:extLst xmlns:a="http://schemas.openxmlformats.org/drawingml/2006/main">
              <a:ext uri="{FF2B5EF4-FFF2-40B4-BE49-F238E27FC236}">
                <a16:creationId xmlns:a16="http://schemas.microsoft.com/office/drawing/2014/main" id="{CE29F409-4B04-432C-A48E-C4D93AAF1CF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Écrire la décision, l'horizon et la métrique avant d'entraîner</a:t>
            </a:r>
          </a:p>
        </p:txBody>
      </p:sp>
      <p:sp>
        <p:nvSpPr>
          <p:cNvPr id="163" name="course-Sources : R38 · liens et détails da">
            <a:extLst xmlns:a="http://schemas.openxmlformats.org/drawingml/2006/main">
              <a:ext uri="{FF2B5EF4-FFF2-40B4-BE49-F238E27FC236}">
                <a16:creationId xmlns:a16="http://schemas.microsoft.com/office/drawing/2014/main" id="{F7DDC217-65CC-45EA-B5C9-E1C377C4DB1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R38 · liens et détails dans les notes</a:t>
            </a:r>
          </a:p>
        </p:txBody>
      </p:sp>
    </p:spTree>
    <p:extLst>
      <p:ext uri="{BB962C8B-B14F-4D97-AF65-F5344CB8AC3E}">
        <p14:creationId xmlns:p14="http://schemas.microsoft.com/office/powerpoint/2010/main" val="43622080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012</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71bfff432f2468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7b4c251635540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contrat des données du fil rouge">
            <a:extLst xmlns:a="http://schemas.openxmlformats.org/drawingml/2006/main">
              <a:ext uri="{FF2B5EF4-FFF2-40B4-BE49-F238E27FC236}">
                <a16:creationId xmlns:a16="http://schemas.microsoft.com/office/drawing/2014/main" id="{A76D7012-F9AF-4AD0-A85A-0A0A3B97A16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contrat des données du fil rouge</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435429">
                <a:tc>
                  <a:txBody>
                    <a:bodyPr lIns="114300" tIns="95250" rIns="114300" bIns="95250"/>
                    <a:lstStyle/>
                    <a:p>
                      <a:r>
                        <a:rPr sz="1500" b="1">
                          <a:solidFill>
                            <a:srgbClr val="FFFFFF"/>
                          </a:solidFill>
                          <a:latin typeface="DM Sans"/>
                          <a:ea typeface="DM Sans"/>
                          <a:cs typeface="DM Sans"/>
                        </a:rPr>
                        <a:t>Élément</a:t>
                      </a:r>
                    </a:p>
                  </a:txBody>
                  <a:tcPr marL="91440" marR="91440" marT="45720" marB="45720">
                    <a:solidFill>
                      <a:srgbClr val="303C8B"/>
                    </a:solidFill>
                  </a:tcPr>
                </a:tc>
                <a:tc>
                  <a:txBody>
                    <a:bodyPr lIns="114300" tIns="95250" rIns="114300" bIns="95250"/>
                    <a:lstStyle/>
                    <a:p>
                      <a:r>
                        <a:rPr sz="1500" b="1">
                          <a:solidFill>
                            <a:srgbClr val="FFFFFF"/>
                          </a:solidFill>
                          <a:latin typeface="DM Sans"/>
                          <a:ea typeface="DM Sans"/>
                          <a:cs typeface="DM Sans"/>
                        </a:rPr>
                        <a:t>Choix pédagogique</a:t>
                      </a:r>
                    </a:p>
                  </a:txBody>
                  <a:tcPr marL="91440" marR="91440" marT="45720" marB="45720">
                    <a:solidFill>
                      <a:srgbClr val="303C8B"/>
                    </a:solidFill>
                  </a:tcPr>
                </a:tc>
              </a:tr>
              <a:tr h="435429">
                <a:tc>
                  <a:txBody>
                    <a:bodyPr lIns="114300" tIns="95250" rIns="114300" bIns="95250"/>
                    <a:lstStyle/>
                    <a:p>
                      <a:r>
                        <a:rPr sz="1500" b="0">
                          <a:solidFill>
                            <a:srgbClr val="12194C"/>
                          </a:solidFill>
                          <a:latin typeface="DM Sans"/>
                          <a:ea typeface="DM Sans"/>
                          <a:cs typeface="DM Sans"/>
                        </a:rPr>
                        <a:t>Source</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UCI Bank Marketing, CC BY 4.0</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Fichier utilisé</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bank-additional.csv : 4 119 lignes</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Entrées</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20 variables originales, 19 après exclusion</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Cible</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y = souscription oui / non</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Variable exclue</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duration, connue après l'appel</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Limite</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Historique 2008–2010, pas de date complète ici</a:t>
                      </a:r>
                    </a:p>
                  </a:txBody>
                  <a:tcPr marL="91440" marR="91440" marT="45720" marB="45720">
                    <a:solidFill>
                      <a:srgbClr val="FFFFFF"/>
                    </a:solidFill>
                  </a:tcPr>
                </a:tc>
              </a:tr>
            </a:tbl>
          </a:graphicData>
        </a:graphic>
      </p:graphicFrame>
      <p:sp>
        <p:nvSpPr>
          <p:cNvPr id="160" name="course-">
            <a:extLst xmlns:a="http://schemas.openxmlformats.org/drawingml/2006/main">
              <a:ext uri="{FF2B5EF4-FFF2-40B4-BE49-F238E27FC236}">
                <a16:creationId xmlns:a16="http://schemas.microsoft.com/office/drawing/2014/main" id="{B941573F-29F0-4E8C-9494-5169520A207F}"/>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32 · liens et détails da">
            <a:extLst xmlns:a="http://schemas.openxmlformats.org/drawingml/2006/main">
              <a:ext uri="{FF2B5EF4-FFF2-40B4-BE49-F238E27FC236}">
                <a16:creationId xmlns:a16="http://schemas.microsoft.com/office/drawing/2014/main" id="{E139D8DE-E4A8-4531-BB28-9653C330ADF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R32 · liens et détails dans les notes</a:t>
            </a:r>
          </a:p>
        </p:txBody>
      </p:sp>
    </p:spTree>
    <p:extLst>
      <p:ext uri="{BB962C8B-B14F-4D97-AF65-F5344CB8AC3E}">
        <p14:creationId xmlns:p14="http://schemas.microsoft.com/office/powerpoint/2010/main" val="4362208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78adb46a313408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b975f3d8555461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rois familles de fuites">
            <a:extLst xmlns:a="http://schemas.openxmlformats.org/drawingml/2006/main">
              <a:ext uri="{FF2B5EF4-FFF2-40B4-BE49-F238E27FC236}">
                <a16:creationId xmlns:a16="http://schemas.microsoft.com/office/drawing/2014/main" id="{573561A9-5E78-43E8-A72E-D25E65ABD77E}"/>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Trois familles de fuites</a:t>
            </a:r>
          </a:p>
        </p:txBody>
      </p:sp>
      <p:sp>
        <p:nvSpPr>
          <p:cNvPr id="159" name="course-Fuite de cible : une variable encod">
            <a:extLst xmlns:a="http://schemas.openxmlformats.org/drawingml/2006/main">
              <a:ext uri="{FF2B5EF4-FFF2-40B4-BE49-F238E27FC236}">
                <a16:creationId xmlns:a16="http://schemas.microsoft.com/office/drawing/2014/main" id="{C95ED35C-3BA7-4A2E-B832-DB37AB89FFC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Fuite de cible : une variable encode directement ou indirectement le résultat.</a:t>
            </a:r>
          </a:p>
        </p:txBody>
      </p:sp>
      <p:sp>
        <p:nvSpPr>
          <p:cNvPr id="160" name="course-Fuite de prétraitement : une moyenn">
            <a:extLst xmlns:a="http://schemas.openxmlformats.org/drawingml/2006/main">
              <a:ext uri="{FF2B5EF4-FFF2-40B4-BE49-F238E27FC236}">
                <a16:creationId xmlns:a16="http://schemas.microsoft.com/office/drawing/2014/main" id="{28646DB4-6457-4D59-A187-5EEFD592170F}"/>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Fuite de prétraitement : une moyenne, une sélection ou un encodage utilise le test.</a:t>
            </a:r>
          </a:p>
        </p:txBody>
      </p:sp>
      <p:sp>
        <p:nvSpPr>
          <p:cNvPr id="161" name="course-Fuite de structure : le même client">
            <a:extLst xmlns:a="http://schemas.openxmlformats.org/drawingml/2006/main">
              <a:ext uri="{FF2B5EF4-FFF2-40B4-BE49-F238E27FC236}">
                <a16:creationId xmlns:a16="http://schemas.microsoft.com/office/drawing/2014/main" id="{E85EECB1-17FD-4B27-B6F8-FB8E84ADCAC9}"/>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Fuite de structure : le même client, document ou futur se retrouve des deux côtés.</a:t>
            </a:r>
          </a:p>
        </p:txBody>
      </p:sp>
      <p:sp>
        <p:nvSpPr>
          <p:cNvPr id="162" name="course-Une variable disponible dans le fic">
            <a:extLst xmlns:a="http://schemas.openxmlformats.org/drawingml/2006/main">
              <a:ext uri="{FF2B5EF4-FFF2-40B4-BE49-F238E27FC236}">
                <a16:creationId xmlns:a16="http://schemas.microsoft.com/office/drawing/2014/main" id="{62BA6774-6CF7-49CD-9A78-009E06CB6D49}"/>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variable disponible dans le fichier n'est pas forcément disponible à la décision</a:t>
            </a:r>
          </a:p>
        </p:txBody>
      </p:sp>
      <p:sp>
        <p:nvSpPr>
          <p:cNvPr id="163" name="course-Sources : R02, R32 · liens et détai">
            <a:extLst xmlns:a="http://schemas.openxmlformats.org/drawingml/2006/main">
              <a:ext uri="{FF2B5EF4-FFF2-40B4-BE49-F238E27FC236}">
                <a16:creationId xmlns:a16="http://schemas.microsoft.com/office/drawing/2014/main" id="{B5716EFF-59D6-41A5-A84B-C26928BF7EB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R02, R32 · liens et détails dans les notes</a:t>
            </a:r>
          </a:p>
        </p:txBody>
      </p:sp>
    </p:spTree>
    <p:extLst>
      <p:ext uri="{BB962C8B-B14F-4D97-AF65-F5344CB8AC3E}">
        <p14:creationId xmlns:p14="http://schemas.microsoft.com/office/powerpoint/2010/main" val="4362208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60d50f5a5d641c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73f6f336bca4d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Entraînement, validation et test">
            <a:extLst xmlns:a="http://schemas.openxmlformats.org/drawingml/2006/main">
              <a:ext uri="{FF2B5EF4-FFF2-40B4-BE49-F238E27FC236}">
                <a16:creationId xmlns:a16="http://schemas.microsoft.com/office/drawing/2014/main" id="{D6322B97-4B21-4FC6-9E58-7542B6A54BB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Entraînement, validation et test</a:t>
            </a:r>
          </a:p>
        </p:txBody>
      </p:sp>
      <p:sp>
        <p:nvSpPr>
          <p:cNvPr id="159" name="course-Entraînement : ajuster les paramètr">
            <a:extLst xmlns:a="http://schemas.openxmlformats.org/drawingml/2006/main">
              <a:ext uri="{FF2B5EF4-FFF2-40B4-BE49-F238E27FC236}">
                <a16:creationId xmlns:a16="http://schemas.microsoft.com/office/drawing/2014/main" id="{8FE1FBE3-80F9-46BD-A8AF-C3C1140A587D}"/>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Entraînement : ajuster les paramètres du modèle et les transformations.</a:t>
            </a:r>
          </a:p>
        </p:txBody>
      </p:sp>
      <p:sp>
        <p:nvSpPr>
          <p:cNvPr id="160" name="course-Validation : choisir la famille, le">
            <a:extLst xmlns:a="http://schemas.openxmlformats.org/drawingml/2006/main">
              <a:ext uri="{FF2B5EF4-FFF2-40B4-BE49-F238E27FC236}">
                <a16:creationId xmlns:a16="http://schemas.microsoft.com/office/drawing/2014/main" id="{FC277B22-E2E6-4530-8F39-7D7FE99577A7}"/>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Validation : choisir la famille, les hyperparamètres et le seuil.</a:t>
            </a:r>
          </a:p>
        </p:txBody>
      </p:sp>
      <p:sp>
        <p:nvSpPr>
          <p:cNvPr id="161" name="course-Test final : estimer la performance">
            <a:extLst xmlns:a="http://schemas.openxmlformats.org/drawingml/2006/main">
              <a:ext uri="{FF2B5EF4-FFF2-40B4-BE49-F238E27FC236}">
                <a16:creationId xmlns:a16="http://schemas.microsoft.com/office/drawing/2014/main" id="{13634DE5-0BAF-4230-822B-943D5596CBB5}"/>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Test final : estimer la performance d'une procédure désormais figée.</a:t>
            </a:r>
          </a:p>
        </p:txBody>
      </p:sp>
      <p:sp>
        <p:nvSpPr>
          <p:cNvPr id="162" name="course-Regarder souvent le test revient à ">
            <a:extLst xmlns:a="http://schemas.openxmlformats.org/drawingml/2006/main">
              <a:ext uri="{FF2B5EF4-FFF2-40B4-BE49-F238E27FC236}">
                <a16:creationId xmlns:a16="http://schemas.microsoft.com/office/drawing/2014/main" id="{2241CBE0-F555-43C7-ACDF-241181C1E74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Regarder souvent le test revient à l'utiliser pour choisir</a:t>
            </a:r>
          </a:p>
        </p:txBody>
      </p:sp>
      <p:sp>
        <p:nvSpPr>
          <p:cNvPr id="163" name="course-Sources : R03 · liens et détails da">
            <a:extLst xmlns:a="http://schemas.openxmlformats.org/drawingml/2006/main">
              <a:ext uri="{FF2B5EF4-FFF2-40B4-BE49-F238E27FC236}">
                <a16:creationId xmlns:a16="http://schemas.microsoft.com/office/drawing/2014/main" id="{C5001C6A-E728-49B4-8398-DA617ACADCE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R03 · liens et détails dans les notes</a:t>
            </a:r>
          </a:p>
        </p:txBody>
      </p:sp>
    </p:spTree>
    <p:extLst>
      <p:ext uri="{BB962C8B-B14F-4D97-AF65-F5344CB8AC3E}">
        <p14:creationId xmlns:p14="http://schemas.microsoft.com/office/powerpoint/2010/main" val="4362208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015</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bdfcfbc8126432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beccd1d28c34d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hoisir le bon découpage">
            <a:extLst xmlns:a="http://schemas.openxmlformats.org/drawingml/2006/main">
              <a:ext uri="{FF2B5EF4-FFF2-40B4-BE49-F238E27FC236}">
                <a16:creationId xmlns:a16="http://schemas.microsoft.com/office/drawing/2014/main" id="{8DF1F207-8848-4401-A54B-98FA9F56028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Choisir le bon découpage</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609600">
                <a:tc>
                  <a:txBody>
                    <a:bodyPr lIns="114300" tIns="95250" rIns="114300" bIns="95250"/>
                    <a:lstStyle/>
                    <a:p>
                      <a:r>
                        <a:rPr sz="1725" b="1">
                          <a:solidFill>
                            <a:srgbClr val="FFFFFF"/>
                          </a:solidFill>
                          <a:latin typeface="DM Sans"/>
                          <a:ea typeface="DM Sans"/>
                          <a:cs typeface="DM Sans"/>
                        </a:rPr>
                        <a:t>Situation</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Découpage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Risque si ignoré</a:t>
                      </a:r>
                    </a:p>
                  </a:txBody>
                  <a:tcPr marL="91440" marR="91440" marT="45720" marB="45720">
                    <a:solidFill>
                      <a:srgbClr val="303C8B"/>
                    </a:solidFill>
                  </a:tcPr>
                </a:tc>
              </a:tr>
              <a:tr h="609600">
                <a:tc>
                  <a:txBody>
                    <a:bodyPr lIns="114300" tIns="95250" rIns="114300" bIns="95250"/>
                    <a:lstStyle/>
                    <a:p>
                      <a:r>
                        <a:rPr sz="1725" b="0">
                          <a:solidFill>
                            <a:srgbClr val="12194C"/>
                          </a:solidFill>
                          <a:latin typeface="DM Sans"/>
                          <a:ea typeface="DM Sans"/>
                          <a:cs typeface="DM Sans"/>
                        </a:rPr>
                        <a:t>Lignes indépendantes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Stratifié si classification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Proportion de classe instable</a:t>
                      </a:r>
                    </a:p>
                  </a:txBody>
                  <a:tcPr marL="91440" marR="91440" marT="45720" marB="45720">
                    <a:solidFill>
                      <a:srgbClr val="F4F5F8"/>
                    </a:solidFill>
                  </a:tcPr>
                </a:tc>
              </a:tr>
              <a:tr h="609600">
                <a:tc>
                  <a:txBody>
                    <a:bodyPr lIns="114300" tIns="95250" rIns="114300" bIns="95250"/>
                    <a:lstStyle/>
                    <a:p>
                      <a:r>
                        <a:rPr sz="1725" b="0">
                          <a:solidFill>
                            <a:srgbClr val="12194C"/>
                          </a:solidFill>
                          <a:latin typeface="DM Sans"/>
                          <a:ea typeface="DM Sans"/>
                          <a:cs typeface="DM Sans"/>
                        </a:rPr>
                        <a:t>Plusieurs lignes par client</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GroupKFold / split par client</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Même personne des deux côtés</a:t>
                      </a:r>
                    </a:p>
                  </a:txBody>
                  <a:tcPr marL="91440" marR="91440" marT="45720" marB="45720">
                    <a:solidFill>
                      <a:srgbClr val="FFFFFF"/>
                    </a:solidFill>
                  </a:tcPr>
                </a:tc>
              </a:tr>
              <a:tr h="609600">
                <a:tc>
                  <a:txBody>
                    <a:bodyPr lIns="114300" tIns="95250" rIns="114300" bIns="95250"/>
                    <a:lstStyle/>
                    <a:p>
                      <a:r>
                        <a:rPr sz="1725" b="0">
                          <a:solidFill>
                            <a:srgbClr val="12194C"/>
                          </a:solidFill>
                          <a:latin typeface="DM Sans"/>
                          <a:ea typeface="DM Sans"/>
                          <a:cs typeface="DM Sans"/>
                        </a:rPr>
                        <a:t>Prédire le futur</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Blocs temporels + éventuel gap</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Information future</a:t>
                      </a:r>
                    </a:p>
                  </a:txBody>
                  <a:tcPr marL="91440" marR="91440" marT="45720" marB="45720">
                    <a:solidFill>
                      <a:srgbClr val="F4F5F8"/>
                    </a:solidFill>
                  </a:tcPr>
                </a:tc>
              </a:tr>
              <a:tr h="609600">
                <a:tc>
                  <a:txBody>
                    <a:bodyPr lIns="114300" tIns="95250" rIns="114300" bIns="95250"/>
                    <a:lstStyle/>
                    <a:p>
                      <a:r>
                        <a:rPr sz="1725" b="0">
                          <a:solidFill>
                            <a:srgbClr val="12194C"/>
                          </a:solidFill>
                          <a:latin typeface="DM Sans"/>
                          <a:ea typeface="DM Sans"/>
                          <a:cs typeface="DM Sans"/>
                        </a:rPr>
                        <a:t>Choisir des hyperparamètres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CV interne et externe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Score de sélection optimiste</a:t>
                      </a:r>
                    </a:p>
                  </a:txBody>
                  <a:tcPr marL="91440" marR="91440" marT="45720" marB="45720">
                    <a:solidFill>
                      <a:srgbClr val="FFFFFF"/>
                    </a:solidFill>
                  </a:tcPr>
                </a:tc>
              </a:tr>
            </a:tbl>
          </a:graphicData>
        </a:graphic>
      </p:graphicFrame>
      <p:sp>
        <p:nvSpPr>
          <p:cNvPr id="160" name="course-">
            <a:extLst xmlns:a="http://schemas.openxmlformats.org/drawingml/2006/main">
              <a:ext uri="{FF2B5EF4-FFF2-40B4-BE49-F238E27FC236}">
                <a16:creationId xmlns:a16="http://schemas.microsoft.com/office/drawing/2014/main" id="{6B276050-D824-4784-80CB-5FD039E1A506}"/>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03 · liens et détails da">
            <a:extLst xmlns:a="http://schemas.openxmlformats.org/drawingml/2006/main">
              <a:ext uri="{FF2B5EF4-FFF2-40B4-BE49-F238E27FC236}">
                <a16:creationId xmlns:a16="http://schemas.microsoft.com/office/drawing/2014/main" id="{DE6367BF-98F6-4B20-B1CD-B3D89C0C693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R03 · liens et détails dans les notes</a:t>
            </a:r>
          </a:p>
        </p:txBody>
      </p:sp>
    </p:spTree>
    <p:extLst>
      <p:ext uri="{BB962C8B-B14F-4D97-AF65-F5344CB8AC3E}">
        <p14:creationId xmlns:p14="http://schemas.microsoft.com/office/powerpoint/2010/main" val="43622080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a175f4064194c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9332a25e0b249d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a pipeline apprend dans chaque pli">
            <a:extLst xmlns:a="http://schemas.openxmlformats.org/drawingml/2006/main">
              <a:ext uri="{FF2B5EF4-FFF2-40B4-BE49-F238E27FC236}">
                <a16:creationId xmlns:a16="http://schemas.microsoft.com/office/drawing/2014/main" id="{B13F330A-3033-44E0-B361-8610DEDB3D6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La pipeline apprend dans chaque pli</a:t>
            </a:r>
          </a:p>
        </p:txBody>
      </p:sp>
      <p:sp>
        <p:nvSpPr>
          <p:cNvPr id="159" name="course-fit : apprendre l'imputation, les c">
            <a:extLst xmlns:a="http://schemas.openxmlformats.org/drawingml/2006/main">
              <a:ext uri="{FF2B5EF4-FFF2-40B4-BE49-F238E27FC236}">
                <a16:creationId xmlns:a16="http://schemas.microsoft.com/office/drawing/2014/main" id="{66366DBC-D574-49E0-8CB2-C35A1B49A758}"/>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fit : apprendre l'imputation, les catégories, le scaling et le modèle sur le train du pli.</a:t>
            </a:r>
          </a:p>
        </p:txBody>
      </p:sp>
      <p:sp>
        <p:nvSpPr>
          <p:cNvPr id="160" name="course-transform / predict : appliquer ces">
            <a:extLst xmlns:a="http://schemas.openxmlformats.org/drawingml/2006/main">
              <a:ext uri="{FF2B5EF4-FFF2-40B4-BE49-F238E27FC236}">
                <a16:creationId xmlns:a16="http://schemas.microsoft.com/office/drawing/2014/main" id="{65F07097-8B77-42C7-A2F0-B008C6E9E472}"/>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transform / predict : appliquer ces paramètres au pli de validation.</a:t>
            </a:r>
          </a:p>
        </p:txBody>
      </p:sp>
      <p:sp>
        <p:nvSpPr>
          <p:cNvPr id="161" name="course-La sélection de variables et le sam">
            <a:extLst xmlns:a="http://schemas.openxmlformats.org/drawingml/2006/main">
              <a:ext uri="{FF2B5EF4-FFF2-40B4-BE49-F238E27FC236}">
                <a16:creationId xmlns:a16="http://schemas.microsoft.com/office/drawing/2014/main" id="{D87A1889-CC99-408A-BEC3-11DCD1CA593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sélection de variables et le sampling font aussi partie de cette procédure.</a:t>
            </a:r>
          </a:p>
        </p:txBody>
      </p:sp>
      <p:sp>
        <p:nvSpPr>
          <p:cNvPr id="162" name="course-ColumnTransformer traite les colonn">
            <a:extLst xmlns:a="http://schemas.openxmlformats.org/drawingml/2006/main">
              <a:ext uri="{FF2B5EF4-FFF2-40B4-BE49-F238E27FC236}">
                <a16:creationId xmlns:a16="http://schemas.microsoft.com/office/drawing/2014/main" id="{B9149F99-ECE0-4C71-9AAD-BF170FDE5440}"/>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ColumnTransformer traite les colonnes ; Pipeline relie les étapes</a:t>
            </a:r>
          </a:p>
        </p:txBody>
      </p:sp>
      <p:sp>
        <p:nvSpPr>
          <p:cNvPr id="163" name="course-Sources : R02, R18 · liens et détai">
            <a:extLst xmlns:a="http://schemas.openxmlformats.org/drawingml/2006/main">
              <a:ext uri="{FF2B5EF4-FFF2-40B4-BE49-F238E27FC236}">
                <a16:creationId xmlns:a16="http://schemas.microsoft.com/office/drawing/2014/main" id="{0DF516C7-02E8-4D28-A3E0-D9C3F0968FF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R02, R18 · liens et détails dans les notes</a:t>
            </a:r>
          </a:p>
        </p:txBody>
      </p:sp>
    </p:spTree>
    <p:extLst>
      <p:ext uri="{BB962C8B-B14F-4D97-AF65-F5344CB8AC3E}">
        <p14:creationId xmlns:p14="http://schemas.microsoft.com/office/powerpoint/2010/main" val="43622080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366361828b2438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4dadb55d618a43e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a matrice de confusion se lit avec">
            <a:extLst xmlns:a="http://schemas.openxmlformats.org/drawingml/2006/main">
              <a:ext uri="{FF2B5EF4-FFF2-40B4-BE49-F238E27FC236}">
                <a16:creationId xmlns:a16="http://schemas.microsoft.com/office/drawing/2014/main" id="{8537AC13-CF12-46F2-8AD6-13E968D4848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La matrice de confusion se lit avec un coût</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1016000">
                <a:tc>
                  <a:txBody>
                    <a:bodyPr lIns="114300" tIns="95250" rIns="114300" bIns="95250"/>
                    <a:lstStyle/>
                    <a:p>
                      <a:r>
                        <a:rPr sz="1725" b="1">
                          <a:solidFill>
                            <a:srgbClr val="FFFFFF"/>
                          </a:solidFill>
                          <a:latin typeface="DM Sans"/>
                          <a:ea typeface="DM Sans"/>
                          <a:cs typeface="DM Sans"/>
                        </a:rPr>
                        <a:t>Réel / prédit</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Positif</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Négatif</a:t>
                      </a:r>
                    </a:p>
                  </a:txBody>
                  <a:tcPr marL="91440" marR="91440" marT="45720" marB="45720">
                    <a:solidFill>
                      <a:srgbClr val="303C8B"/>
                    </a:solidFill>
                  </a:tcPr>
                </a:tc>
              </a:tr>
              <a:tr h="1016000">
                <a:tc>
                  <a:txBody>
                    <a:bodyPr lIns="114300" tIns="95250" rIns="114300" bIns="95250"/>
                    <a:lstStyle/>
                    <a:p>
                      <a:r>
                        <a:rPr sz="1725" b="0">
                          <a:solidFill>
                            <a:srgbClr val="12194C"/>
                          </a:solidFill>
                          <a:latin typeface="DM Sans"/>
                          <a:ea typeface="DM Sans"/>
                          <a:cs typeface="DM Sans"/>
                        </a:rPr>
                        <a:t>Positif</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VP = 60</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FN = 40</a:t>
                      </a:r>
                    </a:p>
                  </a:txBody>
                  <a:tcPr marL="91440" marR="91440" marT="45720" marB="45720">
                    <a:solidFill>
                      <a:srgbClr val="F4F5F8"/>
                    </a:solidFill>
                  </a:tcPr>
                </a:tc>
              </a:tr>
              <a:tr h="1016000">
                <a:tc>
                  <a:txBody>
                    <a:bodyPr lIns="114300" tIns="95250" rIns="114300" bIns="95250"/>
                    <a:lstStyle/>
                    <a:p>
                      <a:r>
                        <a:rPr sz="1725" b="0">
                          <a:solidFill>
                            <a:srgbClr val="12194C"/>
                          </a:solidFill>
                          <a:latin typeface="DM Sans"/>
                          <a:ea typeface="DM Sans"/>
                          <a:cs typeface="DM Sans"/>
                        </a:rPr>
                        <a:t>Négatif</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FP = 90</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VN = 810</a:t>
                      </a:r>
                    </a:p>
                  </a:txBody>
                  <a:tcPr marL="91440" marR="91440" marT="45720" marB="45720">
                    <a:solidFill>
                      <a:srgbClr val="FFFFFF"/>
                    </a:solidFill>
                  </a:tcPr>
                </a:tc>
              </a:tr>
            </a:tbl>
          </a:graphicData>
        </a:graphic>
      </p:graphicFrame>
      <p:sp>
        <p:nvSpPr>
          <p:cNvPr id="160" name="course-1 000 observations : 60 vrais posit">
            <a:extLst xmlns:a="http://schemas.openxmlformats.org/drawingml/2006/main">
              <a:ext uri="{FF2B5EF4-FFF2-40B4-BE49-F238E27FC236}">
                <a16:creationId xmlns:a16="http://schemas.microsoft.com/office/drawing/2014/main" id="{03ABEE23-0FB4-43B4-A681-8A7DE4CAF492}"/>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1 000 observations : 60 vrais positifs et 90 faux positifs</a:t>
            </a:r>
          </a:p>
        </p:txBody>
      </p:sp>
      <p:sp>
        <p:nvSpPr>
          <p:cNvPr id="161" name="course-Sources : R04, R39 · liens et détai">
            <a:extLst xmlns:a="http://schemas.openxmlformats.org/drawingml/2006/main">
              <a:ext uri="{FF2B5EF4-FFF2-40B4-BE49-F238E27FC236}">
                <a16:creationId xmlns:a16="http://schemas.microsoft.com/office/drawing/2014/main" id="{12EEC499-D89B-493B-A646-989BE7A9444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R39 · liens et détails dans les notes</a:t>
            </a:r>
          </a:p>
        </p:txBody>
      </p:sp>
    </p:spTree>
    <p:extLst>
      <p:ext uri="{BB962C8B-B14F-4D97-AF65-F5344CB8AC3E}">
        <p14:creationId xmlns:p14="http://schemas.microsoft.com/office/powerpoint/2010/main" val="43622080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8966b53fee0447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e3dfb76e6dd41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piège de l'accuracy">
            <a:extLst xmlns:a="http://schemas.openxmlformats.org/drawingml/2006/main">
              <a:ext uri="{FF2B5EF4-FFF2-40B4-BE49-F238E27FC236}">
                <a16:creationId xmlns:a16="http://schemas.microsoft.com/office/drawing/2014/main" id="{A3D0C783-A92A-472C-9B66-FFAE65B7887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piège de l'accuracy</a:t>
            </a:r>
          </a:p>
        </p:txBody>
      </p:sp>
      <p:sp>
        <p:nvSpPr>
          <p:cNvPr id="159" name="course-Avec 99 % de négatifs, prédire touj">
            <a:extLst xmlns:a="http://schemas.openxmlformats.org/drawingml/2006/main">
              <a:ext uri="{FF2B5EF4-FFF2-40B4-BE49-F238E27FC236}">
                <a16:creationId xmlns:a16="http://schemas.microsoft.com/office/drawing/2014/main" id="{A2AD57B3-04C1-41B2-968D-B0F3465CF759}"/>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Avec 99 % de négatifs, prédire toujours « négatif » donne 99 % d'accuracy.</a:t>
            </a:r>
          </a:p>
        </p:txBody>
      </p:sp>
      <p:sp>
        <p:nvSpPr>
          <p:cNvPr id="160" name="course-Le rappel de la classe positive res">
            <a:extLst xmlns:a="http://schemas.openxmlformats.org/drawingml/2006/main">
              <a:ext uri="{FF2B5EF4-FFF2-40B4-BE49-F238E27FC236}">
                <a16:creationId xmlns:a16="http://schemas.microsoft.com/office/drawing/2014/main" id="{844F1324-17BB-472C-854B-48189A6EC073}"/>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rappel de la classe positive reste pourtant nul.</a:t>
            </a:r>
          </a:p>
        </p:txBody>
      </p:sp>
      <p:sp>
        <p:nvSpPr>
          <p:cNvPr id="161" name="course-Comparer à DummyClassifier et rappo">
            <a:extLst xmlns:a="http://schemas.openxmlformats.org/drawingml/2006/main">
              <a:ext uri="{FF2B5EF4-FFF2-40B4-BE49-F238E27FC236}">
                <a16:creationId xmlns:a16="http://schemas.microsoft.com/office/drawing/2014/main" id="{FB402C96-0399-4E43-AA24-D134D2536AA9}"/>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à DummyClassifier et rapporter les effectifs de chaque classe.</a:t>
            </a:r>
          </a:p>
        </p:txBody>
      </p:sp>
      <p:sp>
        <p:nvSpPr>
          <p:cNvPr id="162" name="course-La métrique dépend de la décision, ">
            <a:extLst xmlns:a="http://schemas.openxmlformats.org/drawingml/2006/main">
              <a:ext uri="{FF2B5EF4-FFF2-40B4-BE49-F238E27FC236}">
                <a16:creationId xmlns:a16="http://schemas.microsoft.com/office/drawing/2014/main" id="{11C97B1F-FF92-4941-8849-D28E10524460}"/>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La métrique dépend de la décision, pas de ce qui donne le plus grand nombre</a:t>
            </a:r>
          </a:p>
        </p:txBody>
      </p:sp>
      <p:sp>
        <p:nvSpPr>
          <p:cNvPr id="163" name="course-Sources : R04 · liens et détails da">
            <a:extLst xmlns:a="http://schemas.openxmlformats.org/drawingml/2006/main">
              <a:ext uri="{FF2B5EF4-FFF2-40B4-BE49-F238E27FC236}">
                <a16:creationId xmlns:a16="http://schemas.microsoft.com/office/drawing/2014/main" id="{482A58E1-C465-467A-AADC-C35EC4BDBC26}"/>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 liens et détails dans les notes</a:t>
            </a:r>
          </a:p>
        </p:txBody>
      </p:sp>
    </p:spTree>
    <p:extLst>
      <p:ext uri="{BB962C8B-B14F-4D97-AF65-F5344CB8AC3E}">
        <p14:creationId xmlns:p14="http://schemas.microsoft.com/office/powerpoint/2010/main" val="43622080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019</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2882dda9e3d043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25a3803292b47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ROC : ordonner les positifs et les ">
            <a:extLst xmlns:a="http://schemas.openxmlformats.org/drawingml/2006/main">
              <a:ext uri="{FF2B5EF4-FFF2-40B4-BE49-F238E27FC236}">
                <a16:creationId xmlns:a16="http://schemas.microsoft.com/office/drawing/2014/main" id="{1B8835D0-850D-48A9-869F-21121B4CEB0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ROC : ordonner les positifs et les négatifs</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c401d8311eef4be5"/>
          </a:graphicData>
        </a:graphic>
      </p:graphicFrame>
      <p:sp>
        <p:nvSpPr>
          <p:cNvPr id="160" name="course-Chaque point correspond à un seuil.">
            <a:extLst xmlns:a="http://schemas.openxmlformats.org/drawingml/2006/main">
              <a:ext uri="{FF2B5EF4-FFF2-40B4-BE49-F238E27FC236}">
                <a16:creationId xmlns:a16="http://schemas.microsoft.com/office/drawing/2014/main" id="{45FA2774-15E9-47F2-803E-F5C987C0B258}"/>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Chaque point correspond à un seuil.</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Axe horizontal : FP / négatifs.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Axe vertical : VP / positifs.</a:t>
            </a:r>
          </a:p>
        </p:txBody>
      </p:sp>
      <p:sp>
        <p:nvSpPr>
          <p:cNvPr id="161" name="course-Validation synthétique (n=420) ; le">
            <a:extLst xmlns:a="http://schemas.openxmlformats.org/drawingml/2006/main">
              <a:ext uri="{FF2B5EF4-FFF2-40B4-BE49-F238E27FC236}">
                <a16:creationId xmlns:a16="http://schemas.microsoft.com/office/drawing/2014/main" id="{80F2B0AA-C2D0-4597-B3BA-2BD53FA17D57}"/>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Validation synthétique (n=420) ; les points de la courbe correspondent à différents seuils.</a:t>
            </a:r>
          </a:p>
        </p:txBody>
      </p:sp>
      <p:sp>
        <p:nvSpPr>
          <p:cNvPr id="162" name="course-Sources : R04 · liens et détails da">
            <a:extLst xmlns:a="http://schemas.openxmlformats.org/drawingml/2006/main">
              <a:ext uri="{FF2B5EF4-FFF2-40B4-BE49-F238E27FC236}">
                <a16:creationId xmlns:a16="http://schemas.microsoft.com/office/drawing/2014/main" id="{AC32EB0B-CB0A-41AC-9391-B7C5AFC2110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 liens et détails dans les notes</a:t>
            </a:r>
          </a:p>
        </p:txBody>
      </p:sp>
    </p:spTree>
    <p:extLst>
      <p:ext uri="{BB962C8B-B14F-4D97-AF65-F5344CB8AC3E}">
        <p14:creationId xmlns:p14="http://schemas.microsoft.com/office/powerpoint/2010/main" val="43622080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020</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82025734d3f40f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4a98b151b41b42f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récision-rappel : regarder les ale">
            <a:extLst xmlns:a="http://schemas.openxmlformats.org/drawingml/2006/main">
              <a:ext uri="{FF2B5EF4-FFF2-40B4-BE49-F238E27FC236}">
                <a16:creationId xmlns:a16="http://schemas.microsoft.com/office/drawing/2014/main" id="{49404F40-6AE7-4975-8717-C85ACDB5BCE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Précision-rappel : regarder les alertes utiles</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aa1df4aa2d764765"/>
          </a:graphicData>
        </a:graphic>
      </p:graphicFrame>
      <p:sp>
        <p:nvSpPr>
          <p:cNvPr id="160" name="course-Précision : VP / (VP + FP).&#10;&#10;Rappel">
            <a:extLst xmlns:a="http://schemas.openxmlformats.org/drawingml/2006/main">
              <a:ext uri="{FF2B5EF4-FFF2-40B4-BE49-F238E27FC236}">
                <a16:creationId xmlns:a16="http://schemas.microsoft.com/office/drawing/2014/main" id="{7330BE4D-5091-494E-9D9B-7412EB8E6BDD}"/>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Précision : VP / (VP + FP).</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Rappel : VP / (VP + FN).</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La référence dépend de la prévalence.</a:t>
            </a:r>
          </a:p>
        </p:txBody>
      </p:sp>
      <p:sp>
        <p:nvSpPr>
          <p:cNvPr id="161" name="course-Même validation que la ROC ; ligne ">
            <a:extLst xmlns:a="http://schemas.openxmlformats.org/drawingml/2006/main">
              <a:ext uri="{FF2B5EF4-FFF2-40B4-BE49-F238E27FC236}">
                <a16:creationId xmlns:a16="http://schemas.microsoft.com/office/drawing/2014/main" id="{83847DE6-1599-4EB7-A4A8-5689E0E1C3DC}"/>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Même validation que la ROC ; ligne de référence = prévalence observée. AP et aire trapézoïdale diffèrent.</a:t>
            </a:r>
          </a:p>
        </p:txBody>
      </p:sp>
      <p:sp>
        <p:nvSpPr>
          <p:cNvPr id="162" name="course-Sources : R04 · liens et détails da">
            <a:extLst xmlns:a="http://schemas.openxmlformats.org/drawingml/2006/main">
              <a:ext uri="{FF2B5EF4-FFF2-40B4-BE49-F238E27FC236}">
                <a16:creationId xmlns:a16="http://schemas.microsoft.com/office/drawing/2014/main" id="{F0CB78FA-05FB-48A4-B4E7-8177E3F4818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 liens et détails dans les notes</a:t>
            </a:r>
          </a:p>
        </p:txBody>
      </p:sp>
    </p:spTree>
    <p:extLst>
      <p:ext uri="{BB962C8B-B14F-4D97-AF65-F5344CB8AC3E}">
        <p14:creationId xmlns:p14="http://schemas.microsoft.com/office/powerpoint/2010/main" val="43622080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e33991cd52d48c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97bd94000f492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Évaluer une régression">
            <a:extLst xmlns:a="http://schemas.openxmlformats.org/drawingml/2006/main">
              <a:ext uri="{FF2B5EF4-FFF2-40B4-BE49-F238E27FC236}">
                <a16:creationId xmlns:a16="http://schemas.microsoft.com/office/drawing/2014/main" id="{BDDCA320-8624-47B2-91E1-1D29E1CFF1A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Évaluer une régression</a:t>
            </a:r>
          </a:p>
        </p:txBody>
      </p:sp>
      <p:sp>
        <p:nvSpPr>
          <p:cNvPr id="159" name="course-MAE = moyenne |y − ŷ|     RMSE = √ ">
            <a:extLst xmlns:a="http://schemas.openxmlformats.org/drawingml/2006/main">
              <a:ext uri="{FF2B5EF4-FFF2-40B4-BE49-F238E27FC236}">
                <a16:creationId xmlns:a16="http://schemas.microsoft.com/office/drawing/2014/main" id="{4B092F8A-43EC-43FB-ADB9-61D564D78C23}"/>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MAE = moyenne |y − ŷ|     RMSE = √ moyenne (y − ŷ)²</a:t>
            </a:r>
          </a:p>
        </p:txBody>
      </p:sp>
      <p:sp>
        <p:nvSpPr>
          <p:cNvPr id="160" name="course-MAE conserve une lecture en unités ">
            <a:extLst xmlns:a="http://schemas.openxmlformats.org/drawingml/2006/main">
              <a:ext uri="{FF2B5EF4-FFF2-40B4-BE49-F238E27FC236}">
                <a16:creationId xmlns:a16="http://schemas.microsoft.com/office/drawing/2014/main" id="{3123918F-50EF-4BD2-B0AE-FB66963FB6BB}"/>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MAE conserve une lecture en unités de la cible.</a:t>
            </a:r>
          </a:p>
        </p:txBody>
      </p:sp>
      <p:sp>
        <p:nvSpPr>
          <p:cNvPr id="161" name="course-RMSE pénalise davantage les grandes">
            <a:extLst xmlns:a="http://schemas.openxmlformats.org/drawingml/2006/main">
              <a:ext uri="{FF2B5EF4-FFF2-40B4-BE49-F238E27FC236}">
                <a16:creationId xmlns:a16="http://schemas.microsoft.com/office/drawing/2014/main" id="{5E488762-E77E-44D7-959C-EE771B5E79F8}"/>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RMSE pénalise davantage les grandes erreurs.</a:t>
            </a:r>
          </a:p>
        </p:txBody>
      </p:sp>
      <p:sp>
        <p:nvSpPr>
          <p:cNvPr id="162" name="course-R² peut être négatif sur des donnée">
            <a:extLst xmlns:a="http://schemas.openxmlformats.org/drawingml/2006/main">
              <a:ext uri="{FF2B5EF4-FFF2-40B4-BE49-F238E27FC236}">
                <a16:creationId xmlns:a16="http://schemas.microsoft.com/office/drawing/2014/main" id="{FCA41324-B8DC-4F1E-8170-B68A20D920F8}"/>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R² peut être négatif sur des données nouvelles.</a:t>
            </a:r>
          </a:p>
        </p:txBody>
      </p:sp>
      <p:sp>
        <p:nvSpPr>
          <p:cNvPr id="163" name="course-Sources : R04 · liens et détails da">
            <a:extLst xmlns:a="http://schemas.openxmlformats.org/drawingml/2006/main">
              <a:ext uri="{FF2B5EF4-FFF2-40B4-BE49-F238E27FC236}">
                <a16:creationId xmlns:a16="http://schemas.microsoft.com/office/drawing/2014/main" id="{2AB77712-38A9-4801-AF8D-FF5FAD7601BE}"/>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 liens et détails dans les notes</a:t>
            </a:r>
          </a:p>
        </p:txBody>
      </p:sp>
    </p:spTree>
    <p:extLst>
      <p:ext uri="{BB962C8B-B14F-4D97-AF65-F5344CB8AC3E}">
        <p14:creationId xmlns:p14="http://schemas.microsoft.com/office/powerpoint/2010/main" val="43622080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b3a14133fcf4d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ecd3fb15bf443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Minimiser une perte avec une pénali">
            <a:extLst xmlns:a="http://schemas.openxmlformats.org/drawingml/2006/main">
              <a:ext uri="{FF2B5EF4-FFF2-40B4-BE49-F238E27FC236}">
                <a16:creationId xmlns:a16="http://schemas.microsoft.com/office/drawing/2014/main" id="{0B48EE7B-B014-45B9-A8BD-1F1D6939B4D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Minimiser une perte avec une pénalité</a:t>
            </a:r>
          </a:p>
        </p:txBody>
      </p:sp>
      <p:sp>
        <p:nvSpPr>
          <p:cNvPr id="159" name="course-θ* = argminθ [ (1/n) Σ ℓ(yi, fθ(xi)">
            <a:extLst xmlns:a="http://schemas.openxmlformats.org/drawingml/2006/main">
              <a:ext uri="{FF2B5EF4-FFF2-40B4-BE49-F238E27FC236}">
                <a16:creationId xmlns:a16="http://schemas.microsoft.com/office/drawing/2014/main" id="{CA279306-8246-4809-B0F8-02CCB7AE996B}"/>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θ* = argminθ [ (1/n) Σ ℓ(yi, fθ(xi)) + λ Ω(θ) ]</a:t>
            </a:r>
          </a:p>
        </p:txBody>
      </p:sp>
      <p:sp>
        <p:nvSpPr>
          <p:cNvPr id="160" name="course-La perte mesure une erreur sur l'en">
            <a:extLst xmlns:a="http://schemas.openxmlformats.org/drawingml/2006/main">
              <a:ext uri="{FF2B5EF4-FFF2-40B4-BE49-F238E27FC236}">
                <a16:creationId xmlns:a16="http://schemas.microsoft.com/office/drawing/2014/main" id="{6C5CF110-032B-4C8C-9644-3905C74BC470}"/>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perte mesure une erreur sur l'entraînement.</a:t>
            </a:r>
          </a:p>
        </p:txBody>
      </p:sp>
      <p:sp>
        <p:nvSpPr>
          <p:cNvPr id="161" name="course-La pénalité exprime une préférence ">
            <a:extLst xmlns:a="http://schemas.openxmlformats.org/drawingml/2006/main">
              <a:ext uri="{FF2B5EF4-FFF2-40B4-BE49-F238E27FC236}">
                <a16:creationId xmlns:a16="http://schemas.microsoft.com/office/drawing/2014/main" id="{8F02836F-BCD5-41E8-A7FB-4FAFC239D3CD}"/>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pénalité exprime une préférence pour certaines solutions.</a:t>
            </a:r>
          </a:p>
        </p:txBody>
      </p:sp>
      <p:sp>
        <p:nvSpPr>
          <p:cNvPr id="162" name="course-La validation choisit la force de c">
            <a:extLst xmlns:a="http://schemas.openxmlformats.org/drawingml/2006/main">
              <a:ext uri="{FF2B5EF4-FFF2-40B4-BE49-F238E27FC236}">
                <a16:creationId xmlns:a16="http://schemas.microsoft.com/office/drawing/2014/main" id="{DD81C142-091F-4DE8-8491-573F15EC1034}"/>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validation choisit la force de cette préférence.</a:t>
            </a:r>
          </a:p>
        </p:txBody>
      </p:sp>
      <p:sp>
        <p:nvSpPr>
          <p:cNvPr id="163" name="course-Sources : R05 · liens et détails da">
            <a:extLst xmlns:a="http://schemas.openxmlformats.org/drawingml/2006/main">
              <a:ext uri="{FF2B5EF4-FFF2-40B4-BE49-F238E27FC236}">
                <a16:creationId xmlns:a16="http://schemas.microsoft.com/office/drawing/2014/main" id="{7185C4FD-6E1A-49F8-8A7C-478933DBCFC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R05 · liens et détails dans les notes</a:t>
            </a:r>
          </a:p>
        </p:txBody>
      </p:sp>
    </p:spTree>
    <p:extLst>
      <p:ext uri="{BB962C8B-B14F-4D97-AF65-F5344CB8AC3E}">
        <p14:creationId xmlns:p14="http://schemas.microsoft.com/office/powerpoint/2010/main" val="43622080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023</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d1a1bb606faa45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f57fdd1162748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Biais et variance">
            <a:extLst xmlns:a="http://schemas.openxmlformats.org/drawingml/2006/main">
              <a:ext uri="{FF2B5EF4-FFF2-40B4-BE49-F238E27FC236}">
                <a16:creationId xmlns:a16="http://schemas.microsoft.com/office/drawing/2014/main" id="{9D318908-F265-463F-A7AB-7AD2B63DFC2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Biais et variance</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77d495a1805a4ad3"/>
          </a:graphicData>
        </a:graphic>
      </p:graphicFrame>
      <p:sp>
        <p:nvSpPr>
          <p:cNvPr id="160" name="course-Biais : erreur systématique liée à ">
            <a:extLst xmlns:a="http://schemas.openxmlformats.org/drawingml/2006/main">
              <a:ext uri="{FF2B5EF4-FFF2-40B4-BE49-F238E27FC236}">
                <a16:creationId xmlns:a16="http://schemas.microsoft.com/office/drawing/2014/main" id="{C8F17B54-9E28-4FCB-94A5-CB4609A84B19}"/>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Biais : erreur systématique liée à la famille de modèles.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Variance : sensibilité aux données d'entraînement.</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Bruit : part irréductible du problème.</a:t>
            </a:r>
          </a:p>
        </p:txBody>
      </p:sp>
      <p:sp>
        <p:nvSpPr>
          <p:cNvPr id="161" name="course-Courbes schématiques originales ; e">
            <a:extLst xmlns:a="http://schemas.openxmlformats.org/drawingml/2006/main">
              <a:ext uri="{FF2B5EF4-FFF2-40B4-BE49-F238E27FC236}">
                <a16:creationId xmlns:a16="http://schemas.microsoft.com/office/drawing/2014/main" id="{B9535EA0-8CB0-4C9F-93AF-8FEF2B5909B1}"/>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Courbes schématiques originales ; erreur = biais² + variance + bruit (0,5).</a:t>
            </a:r>
          </a:p>
        </p:txBody>
      </p:sp>
      <p:sp>
        <p:nvSpPr>
          <p:cNvPr id="162" name="course-Sources : R08 · liens et détails da">
            <a:extLst xmlns:a="http://schemas.openxmlformats.org/drawingml/2006/main">
              <a:ext uri="{FF2B5EF4-FFF2-40B4-BE49-F238E27FC236}">
                <a16:creationId xmlns:a16="http://schemas.microsoft.com/office/drawing/2014/main" id="{3D6C6C4D-DC56-4B7E-ACE3-66F5E16009F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R08 · liens et détails dans les notes</a:t>
            </a:r>
          </a:p>
        </p:txBody>
      </p:sp>
    </p:spTree>
    <p:extLst>
      <p:ext uri="{BB962C8B-B14F-4D97-AF65-F5344CB8AC3E}">
        <p14:creationId xmlns:p14="http://schemas.microsoft.com/office/powerpoint/2010/main" val="43622080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024</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a3726bab1fee4e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6992a1e857e44e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ourbes d'apprentissage">
            <a:extLst xmlns:a="http://schemas.openxmlformats.org/drawingml/2006/main">
              <a:ext uri="{FF2B5EF4-FFF2-40B4-BE49-F238E27FC236}">
                <a16:creationId xmlns:a16="http://schemas.microsoft.com/office/drawing/2014/main" id="{346A2AFA-3C08-462A-B885-5E861AFCD4BF}"/>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Courbes d'apprentissage</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e0ef6507f587477b"/>
          </a:graphicData>
        </a:graphic>
      </p:graphicFrame>
      <p:sp>
        <p:nvSpPr>
          <p:cNvPr id="160" name="course-Grand écart train/validation : exam">
            <a:extLst xmlns:a="http://schemas.openxmlformats.org/drawingml/2006/main">
              <a:ext uri="{FF2B5EF4-FFF2-40B4-BE49-F238E27FC236}">
                <a16:creationId xmlns:a16="http://schemas.microsoft.com/office/drawing/2014/main" id="{8DC4CA2C-EDA1-4412-87DE-54EF531CACD3}"/>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Grand écart train/validation : examiner la variance.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Scores tous deux faibles : examiner biais, features et labels.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La courbe aide à juger l'intérêt de données supplémentaires.</a:t>
            </a:r>
          </a:p>
        </p:txBody>
      </p:sp>
      <p:sp>
        <p:nvSpPr>
          <p:cNvPr id="161" name="course-Valeurs construites pour expliquer ">
            <a:extLst xmlns:a="http://schemas.openxmlformats.org/drawingml/2006/main">
              <a:ext uri="{FF2B5EF4-FFF2-40B4-BE49-F238E27FC236}">
                <a16:creationId xmlns:a16="http://schemas.microsoft.com/office/drawing/2014/main" id="{1D9CA251-0341-40CA-BCD4-E0B5B44649D1}"/>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Valeurs construites pour expliquer un diagnostic ; aucun résultat de benchmark.</a:t>
            </a:r>
          </a:p>
        </p:txBody>
      </p:sp>
      <p:sp>
        <p:nvSpPr>
          <p:cNvPr id="162" name="course-Sources : R08 · liens et détails da">
            <a:extLst xmlns:a="http://schemas.openxmlformats.org/drawingml/2006/main">
              <a:ext uri="{FF2B5EF4-FFF2-40B4-BE49-F238E27FC236}">
                <a16:creationId xmlns:a16="http://schemas.microsoft.com/office/drawing/2014/main" id="{1F09FEA4-8026-48E8-9D03-B4709FD3850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R08 · liens et détails dans les notes</a:t>
            </a:r>
          </a:p>
        </p:txBody>
      </p:sp>
    </p:spTree>
    <p:extLst>
      <p:ext uri="{BB962C8B-B14F-4D97-AF65-F5344CB8AC3E}">
        <p14:creationId xmlns:p14="http://schemas.microsoft.com/office/powerpoint/2010/main" val="43622080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025</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6f8f4eac742436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f72a736ecb4e45a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1 et L2 n'ont pas le même effet">
            <a:extLst xmlns:a="http://schemas.openxmlformats.org/drawingml/2006/main">
              <a:ext uri="{FF2B5EF4-FFF2-40B4-BE49-F238E27FC236}">
                <a16:creationId xmlns:a16="http://schemas.microsoft.com/office/drawing/2014/main" id="{54ACC736-FA3A-4A59-8F4A-C1D69352976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L1 et L2 n'ont pas le même effet</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83b88de52be34dda"/>
          </a:graphicData>
        </a:graphic>
      </p:graphicFrame>
      <p:sp>
        <p:nvSpPr>
          <p:cNvPr id="160" name="course-L2 réduit progressivement les coeff">
            <a:extLst xmlns:a="http://schemas.openxmlformats.org/drawingml/2006/main">
              <a:ext uri="{FF2B5EF4-FFF2-40B4-BE49-F238E27FC236}">
                <a16:creationId xmlns:a16="http://schemas.microsoft.com/office/drawing/2014/main" id="{6933CE49-1286-48BC-93B3-549D59901670}"/>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L2 réduit progressivement les coefficients.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L1 peut annuler certains coefficients.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 scaling modifie le sens d'une pénalité sur les poids.</a:t>
            </a:r>
          </a:p>
        </p:txBody>
      </p:sp>
      <p:sp>
        <p:nvSpPr>
          <p:cNvPr id="161" name="course-Exemple analytique à une variable, ">
            <a:extLst xmlns:a="http://schemas.openxmlformats.org/drawingml/2006/main">
              <a:ext uri="{FF2B5EF4-FFF2-40B4-BE49-F238E27FC236}">
                <a16:creationId xmlns:a16="http://schemas.microsoft.com/office/drawing/2014/main" id="{96F652C7-EC3E-4378-AF3B-AD41D98A7308}"/>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Exemple analytique à une variable, norme de x fixée et perte quadratique normalisée.</a:t>
            </a:r>
          </a:p>
        </p:txBody>
      </p:sp>
      <p:sp>
        <p:nvSpPr>
          <p:cNvPr id="162" name="course-Sources : R05 · liens et détails da">
            <a:extLst xmlns:a="http://schemas.openxmlformats.org/drawingml/2006/main">
              <a:ext uri="{FF2B5EF4-FFF2-40B4-BE49-F238E27FC236}">
                <a16:creationId xmlns:a16="http://schemas.microsoft.com/office/drawing/2014/main" id="{7B058E77-F9A5-496B-9C3B-3784D45D39E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R05 · liens et détails dans les notes</a:t>
            </a:r>
          </a:p>
        </p:txBody>
      </p:sp>
    </p:spTree>
    <p:extLst>
      <p:ext uri="{BB962C8B-B14F-4D97-AF65-F5344CB8AC3E}">
        <p14:creationId xmlns:p14="http://schemas.microsoft.com/office/powerpoint/2010/main" val="43622080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ca47616a7dc47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43c3dbb301141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Elastic Net et choix de régularisat">
            <a:extLst xmlns:a="http://schemas.openxmlformats.org/drawingml/2006/main">
              <a:ext uri="{FF2B5EF4-FFF2-40B4-BE49-F238E27FC236}">
                <a16:creationId xmlns:a16="http://schemas.microsoft.com/office/drawing/2014/main" id="{98CEF9B6-BA81-4C45-BE7D-E797D45954C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Elastic Net et choix de régularisation</a:t>
            </a:r>
          </a:p>
        </p:txBody>
      </p:sp>
      <p:sp>
        <p:nvSpPr>
          <p:cNvPr id="159" name="course-Ω(w) = α ||w||₁ + (1 − α) ||w||²₂ /">
            <a:extLst xmlns:a="http://schemas.openxmlformats.org/drawingml/2006/main">
              <a:ext uri="{FF2B5EF4-FFF2-40B4-BE49-F238E27FC236}">
                <a16:creationId xmlns:a16="http://schemas.microsoft.com/office/drawing/2014/main" id="{A460BDDC-5980-40FB-B102-28B7485DCA04}"/>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Ω(w) = α ||w||₁ + (1 − α) ||w||²₂ / 2</a:t>
            </a:r>
          </a:p>
        </p:txBody>
      </p:sp>
      <p:sp>
        <p:nvSpPr>
          <p:cNvPr id="160" name="course-Le mélange associe parcimonie et st">
            <a:extLst xmlns:a="http://schemas.openxmlformats.org/drawingml/2006/main">
              <a:ext uri="{FF2B5EF4-FFF2-40B4-BE49-F238E27FC236}">
                <a16:creationId xmlns:a16="http://schemas.microsoft.com/office/drawing/2014/main" id="{7FF5DE6D-EDEF-4BA3-9E02-C07E64EA1FCF}"/>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mélange associe parcimonie et stabilité de la pénalisation.</a:t>
            </a:r>
          </a:p>
        </p:txBody>
      </p:sp>
      <p:sp>
        <p:nvSpPr>
          <p:cNvPr id="161" name="course-Choisir l'intensité et le mélange d">
            <a:extLst xmlns:a="http://schemas.openxmlformats.org/drawingml/2006/main">
              <a:ext uri="{FF2B5EF4-FFF2-40B4-BE49-F238E27FC236}">
                <a16:creationId xmlns:a16="http://schemas.microsoft.com/office/drawing/2014/main" id="{B841140F-A318-4F30-8B97-A5837975B31A}"/>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l'intensité et le mélange dans la validation.</a:t>
            </a:r>
          </a:p>
        </p:txBody>
      </p:sp>
      <p:sp>
        <p:nvSpPr>
          <p:cNvPr id="162" name="course-Dans LogisticRegression, un C plus ">
            <a:extLst xmlns:a="http://schemas.openxmlformats.org/drawingml/2006/main">
              <a:ext uri="{FF2B5EF4-FFF2-40B4-BE49-F238E27FC236}">
                <a16:creationId xmlns:a16="http://schemas.microsoft.com/office/drawing/2014/main" id="{5ADD9B8D-B97B-4CA5-8E00-63440AEB389E}"/>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Dans LogisticRegression, un C plus petit renforce la régularisation.</a:t>
            </a:r>
          </a:p>
        </p:txBody>
      </p:sp>
      <p:sp>
        <p:nvSpPr>
          <p:cNvPr id="163" name="course-Sources : R05 · liens et détails da">
            <a:extLst xmlns:a="http://schemas.openxmlformats.org/drawingml/2006/main">
              <a:ext uri="{FF2B5EF4-FFF2-40B4-BE49-F238E27FC236}">
                <a16:creationId xmlns:a16="http://schemas.microsoft.com/office/drawing/2014/main" id="{3D610346-B2B8-46DB-8A08-82A8A441212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R05 · liens et détails dans les notes</a:t>
            </a:r>
          </a:p>
        </p:txBody>
      </p:sp>
    </p:spTree>
    <p:extLst>
      <p:ext uri="{BB962C8B-B14F-4D97-AF65-F5344CB8AC3E}">
        <p14:creationId xmlns:p14="http://schemas.microsoft.com/office/powerpoint/2010/main" val="43622080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a3852fa68bc4cb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97e231854644f3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VM : marge et noyaux">
            <a:extLst xmlns:a="http://schemas.openxmlformats.org/drawingml/2006/main">
              <a:ext uri="{FF2B5EF4-FFF2-40B4-BE49-F238E27FC236}">
                <a16:creationId xmlns:a16="http://schemas.microsoft.com/office/drawing/2014/main" id="{5FD9EB76-3E45-49B3-AB3A-237459B5712B}"/>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SVM : marge et noyaux</a:t>
            </a:r>
          </a:p>
        </p:txBody>
      </p:sp>
      <p:sp>
        <p:nvSpPr>
          <p:cNvPr id="159" name="course-La marge sépare les classes en limi">
            <a:extLst xmlns:a="http://schemas.openxmlformats.org/drawingml/2006/main">
              <a:ext uri="{FF2B5EF4-FFF2-40B4-BE49-F238E27FC236}">
                <a16:creationId xmlns:a16="http://schemas.microsoft.com/office/drawing/2014/main" id="{E676D20A-0711-4751-B9A1-1FF14FCD8D7A}"/>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marge sépare les classes en limitant certaines erreurs.</a:t>
            </a:r>
          </a:p>
        </p:txBody>
      </p:sp>
      <p:sp>
        <p:nvSpPr>
          <p:cNvPr id="160" name="course-C règle le compromis entre violatio">
            <a:extLst xmlns:a="http://schemas.openxmlformats.org/drawingml/2006/main">
              <a:ext uri="{FF2B5EF4-FFF2-40B4-BE49-F238E27FC236}">
                <a16:creationId xmlns:a16="http://schemas.microsoft.com/office/drawing/2014/main" id="{197C5ADD-B9E6-47BF-959F-C600F1B90BCE}"/>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 règle le compromis entre violations de marge et régularisation.</a:t>
            </a:r>
          </a:p>
        </p:txBody>
      </p:sp>
      <p:sp>
        <p:nvSpPr>
          <p:cNvPr id="161" name="course-Le noyau RBF introduit une portée l">
            <a:extLst xmlns:a="http://schemas.openxmlformats.org/drawingml/2006/main">
              <a:ext uri="{FF2B5EF4-FFF2-40B4-BE49-F238E27FC236}">
                <a16:creationId xmlns:a16="http://schemas.microsoft.com/office/drawing/2014/main" id="{28037F72-5891-43F6-AF76-2BD0EA4A29D2}"/>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noyau RBF introduit une portée locale contrôlée par gamma.</a:t>
            </a:r>
          </a:p>
        </p:txBody>
      </p:sp>
      <p:sp>
        <p:nvSpPr>
          <p:cNvPr id="162" name="course-Standardiser puis régler C et gamma">
            <a:extLst xmlns:a="http://schemas.openxmlformats.org/drawingml/2006/main">
              <a:ext uri="{FF2B5EF4-FFF2-40B4-BE49-F238E27FC236}">
                <a16:creationId xmlns:a16="http://schemas.microsoft.com/office/drawing/2014/main" id="{C295EC25-BD03-4F28-A6BD-D7A089B47D55}"/>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Standardiser puis régler C et gamma sur une échelle logarithmique</a:t>
            </a:r>
          </a:p>
        </p:txBody>
      </p:sp>
      <p:sp>
        <p:nvSpPr>
          <p:cNvPr id="163" name="course-Sources : R06 · liens et détails da">
            <a:extLst xmlns:a="http://schemas.openxmlformats.org/drawingml/2006/main">
              <a:ext uri="{FF2B5EF4-FFF2-40B4-BE49-F238E27FC236}">
                <a16:creationId xmlns:a16="http://schemas.microsoft.com/office/drawing/2014/main" id="{7F1FA2C0-5C41-48BF-8506-E0DCD2964B8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R06 · liens et détails dans les notes</a:t>
            </a:r>
          </a:p>
        </p:txBody>
      </p:sp>
    </p:spTree>
    <p:extLst>
      <p:ext uri="{BB962C8B-B14F-4D97-AF65-F5344CB8AC3E}">
        <p14:creationId xmlns:p14="http://schemas.microsoft.com/office/powerpoint/2010/main" val="43622080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efadd256dd44ae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e6a9b95e79d4e7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1 : établir la baseline">
            <a:extLst xmlns:a="http://schemas.openxmlformats.org/drawingml/2006/main">
              <a:ext uri="{FF2B5EF4-FFF2-40B4-BE49-F238E27FC236}">
                <a16:creationId xmlns:a16="http://schemas.microsoft.com/office/drawing/2014/main" id="{BFC35C3C-ECB4-4363-A7F0-164B93A3497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TP01 : établir la baseline</a:t>
            </a:r>
          </a:p>
        </p:txBody>
      </p:sp>
      <p:sp>
        <p:nvSpPr>
          <p:cNvPr id="159" name="course-Livrer une pipeline de prétraitemen">
            <a:extLst xmlns:a="http://schemas.openxmlformats.org/drawingml/2006/main">
              <a:ext uri="{FF2B5EF4-FFF2-40B4-BE49-F238E27FC236}">
                <a16:creationId xmlns:a16="http://schemas.microsoft.com/office/drawing/2014/main" id="{ECC126A7-E647-4F3A-8E4E-F0FBA635FE06}"/>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Livrer une pipeline de prétraitement et une comparaison à DummyClassifier.</a:t>
            </a:r>
          </a:p>
        </p:txBody>
      </p:sp>
      <p:sp>
        <p:nvSpPr>
          <p:cNvPr id="160" name="course-Comparer quatre valeurs de C avec l">
            <a:extLst xmlns:a="http://schemas.openxmlformats.org/drawingml/2006/main">
              <a:ext uri="{FF2B5EF4-FFF2-40B4-BE49-F238E27FC236}">
                <a16:creationId xmlns:a16="http://schemas.microsoft.com/office/drawing/2014/main" id="{8A53BD27-AF2F-432D-9164-A3ED4DAC2E2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quatre valeurs de C avec les mêmes plis et la même métrique.</a:t>
            </a:r>
          </a:p>
        </p:txBody>
      </p:sp>
      <p:sp>
        <p:nvSpPr>
          <p:cNvPr id="161" name="course-Rédiger les risques de fuite et les">
            <a:extLst xmlns:a="http://schemas.openxmlformats.org/drawingml/2006/main">
              <a:ext uri="{FF2B5EF4-FFF2-40B4-BE49-F238E27FC236}">
                <a16:creationId xmlns:a16="http://schemas.microsoft.com/office/drawing/2014/main" id="{B2949F48-583C-4B62-AA37-77875CF86A7C}"/>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Rédiger les risques de fuite et les limites du découpage.</a:t>
            </a:r>
          </a:p>
        </p:txBody>
      </p:sp>
      <p:sp>
        <p:nvSpPr>
          <p:cNvPr id="162" name="course-120 minutes · notebooks/etudiants/0">
            <a:extLst xmlns:a="http://schemas.openxmlformats.org/drawingml/2006/main">
              <a:ext uri="{FF2B5EF4-FFF2-40B4-BE49-F238E27FC236}">
                <a16:creationId xmlns:a16="http://schemas.microsoft.com/office/drawing/2014/main" id="{F59DCBCF-B96E-4CA3-860D-124E0B6BDC55}"/>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120 minutes · notebooks/etudiants/01_evaluation.ipynb</a:t>
            </a:r>
          </a:p>
        </p:txBody>
      </p:sp>
      <p:sp>
        <p:nvSpPr>
          <p:cNvPr id="163" name="course-Sources : R02, R03 · liens et détai">
            <a:extLst xmlns:a="http://schemas.openxmlformats.org/drawingml/2006/main">
              <a:ext uri="{FF2B5EF4-FFF2-40B4-BE49-F238E27FC236}">
                <a16:creationId xmlns:a16="http://schemas.microsoft.com/office/drawing/2014/main" id="{67FF730C-04A1-4BD9-809F-600C26D714D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R02, R03 · liens et détails dans les notes</a:t>
            </a:r>
          </a:p>
        </p:txBody>
      </p:sp>
    </p:spTree>
    <p:extLst>
      <p:ext uri="{BB962C8B-B14F-4D97-AF65-F5344CB8AC3E}">
        <p14:creationId xmlns:p14="http://schemas.microsoft.com/office/powerpoint/2010/main" val="43622080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029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cb1808eadd94ee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f766473501472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iz J1 : défendre son protocole">
            <a:extLst xmlns:a="http://schemas.openxmlformats.org/drawingml/2006/main">
              <a:ext uri="{FF2B5EF4-FFF2-40B4-BE49-F238E27FC236}">
                <a16:creationId xmlns:a16="http://schemas.microsoft.com/office/drawing/2014/main" id="{57ACA3CF-243F-4128-9F43-7C214306F2C1}"/>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Quiz J1 : défendre son protocole</a:t>
            </a:r>
          </a:p>
        </p:txBody>
      </p:sp>
      <p:sp>
        <p:nvSpPr>
          <p:cNvPr id="159" name="course-Peut-on standardiser tout le fichie">
            <a:extLst xmlns:a="http://schemas.openxmlformats.org/drawingml/2006/main">
              <a:ext uri="{FF2B5EF4-FFF2-40B4-BE49-F238E27FC236}">
                <a16:creationId xmlns:a16="http://schemas.microsoft.com/office/drawing/2014/main" id="{124C469C-BD29-4A96-9C60-516E4C5B765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Peut-on standardiser tout le fichier avant une CV ?</a:t>
            </a:r>
          </a:p>
        </p:txBody>
      </p:sp>
      <p:sp>
        <p:nvSpPr>
          <p:cNvPr id="160" name="course-Quel split choisir si un client pos">
            <a:extLst xmlns:a="http://schemas.openxmlformats.org/drawingml/2006/main">
              <a:ext uri="{FF2B5EF4-FFF2-40B4-BE49-F238E27FC236}">
                <a16:creationId xmlns:a16="http://schemas.microsoft.com/office/drawing/2014/main" id="{436D31A0-6E7D-45E0-8767-72195C0F279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 split choisir si un client possède dix lignes ?</a:t>
            </a:r>
          </a:p>
        </p:txBody>
      </p:sp>
      <p:sp>
        <p:nvSpPr>
          <p:cNvPr id="161" name="course-Que signifie une AP supérieure avec">
            <a:extLst xmlns:a="http://schemas.openxmlformats.org/drawingml/2006/main">
              <a:ext uri="{FF2B5EF4-FFF2-40B4-BE49-F238E27FC236}">
                <a16:creationId xmlns:a16="http://schemas.microsoft.com/office/drawing/2014/main" id="{D9B0617C-D075-407D-A06F-8D95D75F776B}"/>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 signifie une AP supérieure avec un Brier moins bon ?</a:t>
            </a:r>
          </a:p>
        </p:txBody>
      </p:sp>
      <p:sp>
        <p:nvSpPr>
          <p:cNvPr id="162" name="course-Répondre seul, comparer en binôme, ">
            <a:extLst xmlns:a="http://schemas.openxmlformats.org/drawingml/2006/main">
              <a:ext uri="{FF2B5EF4-FFF2-40B4-BE49-F238E27FC236}">
                <a16:creationId xmlns:a16="http://schemas.microsoft.com/office/drawing/2014/main" id="{F8239910-24E9-44B1-8510-9E0B7F794B13}"/>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Répondre seul, comparer en binôme, puis justifier</a:t>
            </a:r>
          </a:p>
        </p:txBody>
      </p:sp>
      <p:sp>
        <p:nvSpPr>
          <p:cNvPr id="163" name="course-Sources : R02, R03, R16 · liens et ">
            <a:extLst xmlns:a="http://schemas.openxmlformats.org/drawingml/2006/main">
              <a:ext uri="{FF2B5EF4-FFF2-40B4-BE49-F238E27FC236}">
                <a16:creationId xmlns:a16="http://schemas.microsoft.com/office/drawing/2014/main" id="{BA4E8CA7-11B2-4DDD-8490-408E0CE9BF3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R02, R03, R16 · liens et détails dans les notes</a:t>
            </a:r>
          </a:p>
        </p:txBody>
      </p:sp>
    </p:spTree>
    <p:extLst>
      <p:ext uri="{BB962C8B-B14F-4D97-AF65-F5344CB8AC3E}">
        <p14:creationId xmlns:p14="http://schemas.microsoft.com/office/powerpoint/2010/main" val="436220805"/>
      </p:ext>
    </p:extLst>
  </p:cSld>
</p:sld>
</file>

<file path=ppt/slides/slide30.xml><?xml version="1.0" encoding="utf-8"?>
<p:sld xmlns:p="http://schemas.openxmlformats.org/presentationml/2006/main">
  <p:cSld>
    <p:bg>
      <p:bgPr>
        <a:solidFill xmlns:a="http://schemas.openxmlformats.org/drawingml/2006/main">
          <a:srgbClr val="F7EEE5"/>
        </a:solidFill>
      </p:bgPr>
    </p:bg>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233c395eb8243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800b7bab19c402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1</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s acquis du jour 1">
            <a:extLst xmlns:a="http://schemas.openxmlformats.org/drawingml/2006/main">
              <a:ext uri="{FF2B5EF4-FFF2-40B4-BE49-F238E27FC236}">
                <a16:creationId xmlns:a16="http://schemas.microsoft.com/office/drawing/2014/main" id="{8A7051BC-7C1E-400F-8F9B-32F368328BC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Les acquis du jour 1</a:t>
            </a:r>
          </a:p>
        </p:txBody>
      </p:sp>
      <p:sp>
        <p:nvSpPr>
          <p:cNvPr id="159" name="course-Une cible et un instant de décision">
            <a:extLst xmlns:a="http://schemas.openxmlformats.org/drawingml/2006/main">
              <a:ext uri="{FF2B5EF4-FFF2-40B4-BE49-F238E27FC236}">
                <a16:creationId xmlns:a16="http://schemas.microsoft.com/office/drawing/2014/main" id="{2A29019A-A9FE-4912-8D73-6617F819BD9F}"/>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cible et un instant de décision explicites.</a:t>
            </a:r>
          </a:p>
        </p:txBody>
      </p:sp>
      <p:sp>
        <p:nvSpPr>
          <p:cNvPr id="160" name="course-Une pipeline validée avec un découp">
            <a:extLst xmlns:a="http://schemas.openxmlformats.org/drawingml/2006/main">
              <a:ext uri="{FF2B5EF4-FFF2-40B4-BE49-F238E27FC236}">
                <a16:creationId xmlns:a16="http://schemas.microsoft.com/office/drawing/2014/main" id="{869C687F-27F4-491B-8F34-2209E8985B2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pipeline validée avec un découpage justifié.</a:t>
            </a:r>
          </a:p>
        </p:txBody>
      </p:sp>
      <p:sp>
        <p:nvSpPr>
          <p:cNvPr id="161" name="course-Une baseline, des métriques adaptée">
            <a:extLst xmlns:a="http://schemas.openxmlformats.org/drawingml/2006/main">
              <a:ext uri="{FF2B5EF4-FFF2-40B4-BE49-F238E27FC236}">
                <a16:creationId xmlns:a16="http://schemas.microsoft.com/office/drawing/2014/main" id="{36DD6382-9840-4514-9EC5-EC2BFF5DF609}"/>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baseline, des métriques adaptées et un test final préservé.</a:t>
            </a:r>
          </a:p>
        </p:txBody>
      </p:sp>
      <p:sp>
        <p:nvSpPr>
          <p:cNvPr id="162" name="course-Demain : améliorer le modèle sans d">
            <a:extLst xmlns:a="http://schemas.openxmlformats.org/drawingml/2006/main">
              <a:ext uri="{FF2B5EF4-FFF2-40B4-BE49-F238E27FC236}">
                <a16:creationId xmlns:a16="http://schemas.microsoft.com/office/drawing/2014/main" id="{1CDA317E-D992-4FF1-9CBF-D145F154AD3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Demain : améliorer le modèle sans dégrader la qualité de la comparaison</a:t>
            </a:r>
          </a:p>
        </p:txBody>
      </p:sp>
      <p:sp>
        <p:nvSpPr>
          <p:cNvPr id="163" name="course-Exemple ou activité originale du co">
            <a:extLst xmlns:a="http://schemas.openxmlformats.org/drawingml/2006/main">
              <a:ext uri="{FF2B5EF4-FFF2-40B4-BE49-F238E27FC236}">
                <a16:creationId xmlns:a16="http://schemas.microsoft.com/office/drawing/2014/main" id="{D359FB0C-B683-448A-98B3-69F27677AD2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31.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D30FB88-3A64-4DDC-B6FB-A45D76E8720C}"/>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B6515DFA-C6BC-4740-AD89-5A6CFD255906}"/>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6000">
                <a:solidFill>
                  <a:srgbClr val="FFFFFF"/>
                </a:solidFill>
                <a:latin typeface="Roboto Mono"/>
                <a:ea typeface="Roboto Mono"/>
                <a:cs typeface="Roboto Mono"/>
              </a:defRPr>
            </a:pPr>
            <a:r>
              <a:rPr sz="6000" b="0" i="0" u="none" cap="none">
                <a:solidFill>
                  <a:srgbClr val="FFFFFF"/>
                </a:solidFill>
                <a:latin typeface="Roboto Mono"/>
                <a:ea typeface="Roboto Mono"/>
                <a:cs typeface="Roboto Mono"/>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50B8DDD-729E-486B-AEB1-AD033FCC7D35}"/>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E8E5135-6606-4F5B-9C6D-A32E421983FE}"/>
              </a:ext>
            </a:extLst>
          </p:cNvPr>
          <p:cNvSpPr>
            <a:spLocks xmlns:a="http://schemas.openxmlformats.org/drawingml/2006/main" noGrp="1"/>
          </p:cNvSpPr>
          <p:nvPr/>
        </p:nvSpPr>
        <p:spPr>
          <a:xfrm xmlns:a="http://schemas.openxmlformats.org/drawingml/2006/main">
            <a:off x="2619375" y="2209800"/>
            <a:ext cx="8620125" cy="16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050">
                <a:solidFill>
                  <a:srgbClr val="FFFFFF"/>
                </a:solidFill>
                <a:latin typeface="Archivo Black"/>
                <a:ea typeface="Archivo Black"/>
                <a:cs typeface="Archivo Black"/>
              </a:defRPr>
            </a:pPr>
            <a:r>
              <a:rPr sz="4050">
                <a:solidFill>
                  <a:srgbClr val="FFFFFF"/>
                </a:solidFill>
                <a:latin typeface="Archivo Black"/>
                <a:ea typeface="Archivo Black"/>
                <a:cs typeface="Archivo Black"/>
              </a:rPr>
              <a:t>Ensembles et optimisation</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07C33C7D-4DBF-4A1B-937A-40BA11DC5D81}"/>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C5B0E55E-D350-4972-97F4-240419483916}"/>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031</a:t>
            </a:r>
            <a:endParaRPr sz="1300" b="0" i="0" u="none" cap="none">
              <a:solidFill>
                <a:schemeClr val="dk1"/>
              </a:solidFill>
              <a:latin typeface="Calibri"/>
              <a:ea typeface="Calibri"/>
              <a:cs typeface="Calibri"/>
            </a:endParaRPr>
          </a:p>
        </p:txBody>
      </p:sp>
      <p:pic>
        <p:nvPicPr>
          <p:cNvPr id="150" name="Google Shape;137;p7"/>
          <p:cNvPicPr>
            <a:picLocks xmlns:a="http://schemas.openxmlformats.org/drawingml/2006/main" noChangeAspect="1"/>
          </p:cNvPicPr>
          <p:nvPr/>
        </p:nvPicPr>
        <p:blipFill>
          <a:blip xmlns:r="http://schemas.openxmlformats.org/officeDocument/2006/relationships" xmlns:a="http://schemas.openxmlformats.org/drawingml/2006/main" r:embed="Rc3db0bdc4f5641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1" name="Google Shape;138;p7"/>
          <p:cNvPicPr>
            <a:picLocks xmlns:a="http://schemas.openxmlformats.org/drawingml/2006/main" noChangeAspect="1"/>
          </p:cNvPicPr>
          <p:nvPr/>
        </p:nvPicPr>
        <p:blipFill>
          <a:blip xmlns:r="http://schemas.openxmlformats.org/officeDocument/2006/relationships" xmlns:a="http://schemas.openxmlformats.org/drawingml/2006/main" r:embed="R7b0d6bd2aa274569">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5E19C1EB-9D5B-4724-9DF6-EA2A1693B50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8710095-3157-4D85-A4A3-C1C07ED06B95}"/>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Mardi 22 septembre · Comparer perfo">
            <a:extLst xmlns:a="http://schemas.openxmlformats.org/drawingml/2006/main">
              <a:ext uri="{FF2B5EF4-FFF2-40B4-BE49-F238E27FC236}">
                <a16:creationId xmlns:a16="http://schemas.microsoft.com/office/drawing/2014/main" id="{641B2DAF-990E-429C-9128-1AA77EA3E6D3}"/>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DM Sans"/>
                <a:ea typeface="DM Sans"/>
                <a:cs typeface="DM Sans"/>
              </a:defRPr>
            </a:pPr>
            <a:r>
              <a:rPr sz="2100" b="0">
                <a:solidFill>
                  <a:srgbClr val="FFFFFF"/>
                </a:solidFill>
                <a:latin typeface="DM Sans"/>
                <a:ea typeface="DM Sans"/>
                <a:cs typeface="DM Sans"/>
              </a:rPr>
              <a:t>Mardi 22 septembre · Comparer performance, stabilité et coût</a:t>
            </a:r>
          </a:p>
        </p:txBody>
      </p:sp>
    </p:spTree>
    <p:extLst>
      <p:ext uri="{BB962C8B-B14F-4D97-AF65-F5344CB8AC3E}">
        <p14:creationId xmlns:p14="http://schemas.microsoft.com/office/powerpoint/2010/main" val="50023142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66439928b4d4ae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1db4460c220459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 arbre partitionne l'espace">
            <a:extLst xmlns:a="http://schemas.openxmlformats.org/drawingml/2006/main">
              <a:ext uri="{FF2B5EF4-FFF2-40B4-BE49-F238E27FC236}">
                <a16:creationId xmlns:a16="http://schemas.microsoft.com/office/drawing/2014/main" id="{DD121499-C0CB-4C4E-9275-A999E07EAF9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 arbre partitionne l'espace</a:t>
            </a:r>
          </a:p>
        </p:txBody>
      </p:sp>
      <p:sp>
        <p:nvSpPr>
          <p:cNvPr id="159" name="course-Une question sur une variable divis">
            <a:extLst xmlns:a="http://schemas.openxmlformats.org/drawingml/2006/main">
              <a:ext uri="{FF2B5EF4-FFF2-40B4-BE49-F238E27FC236}">
                <a16:creationId xmlns:a16="http://schemas.microsoft.com/office/drawing/2014/main" id="{45F5BDEB-51CC-45C4-BE45-CAFD1809ED60}"/>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question sur une variable divise les observations en deux groupes.</a:t>
            </a:r>
          </a:p>
        </p:txBody>
      </p:sp>
      <p:sp>
        <p:nvSpPr>
          <p:cNvPr id="160" name="course-Chaque feuille produit une valeur o">
            <a:extLst xmlns:a="http://schemas.openxmlformats.org/drawingml/2006/main">
              <a:ext uri="{FF2B5EF4-FFF2-40B4-BE49-F238E27FC236}">
                <a16:creationId xmlns:a16="http://schemas.microsoft.com/office/drawing/2014/main" id="{9AB5648F-CD08-42C5-B8A0-E63C28980FFE}"/>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Chaque feuille produit une valeur ou une distribution de classes.</a:t>
            </a:r>
          </a:p>
        </p:txBody>
      </p:sp>
      <p:sp>
        <p:nvSpPr>
          <p:cNvPr id="161" name="course-Le choix local d'une division ne ga">
            <a:extLst xmlns:a="http://schemas.openxmlformats.org/drawingml/2006/main">
              <a:ext uri="{FF2B5EF4-FFF2-40B4-BE49-F238E27FC236}">
                <a16:creationId xmlns:a16="http://schemas.microsoft.com/office/drawing/2014/main" id="{9BD759CA-1C18-40B9-9AC1-56C5642F8F4C}"/>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choix local d'une division ne garantit pas le meilleur arbre global.</a:t>
            </a:r>
          </a:p>
        </p:txBody>
      </p:sp>
      <p:sp>
        <p:nvSpPr>
          <p:cNvPr id="162" name="course-Une règle lisible peut appartenir à">
            <a:extLst xmlns:a="http://schemas.openxmlformats.org/drawingml/2006/main">
              <a:ext uri="{FF2B5EF4-FFF2-40B4-BE49-F238E27FC236}">
                <a16:creationId xmlns:a16="http://schemas.microsoft.com/office/drawing/2014/main" id="{90C68F32-FCF6-4CF4-8B03-C0CCEB2F66B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règle lisible peut appartenir à un arbre globalement instable</a:t>
            </a:r>
          </a:p>
        </p:txBody>
      </p:sp>
      <p:sp>
        <p:nvSpPr>
          <p:cNvPr id="163" name="course-Sources : R40, R39 · liens et détai">
            <a:extLst xmlns:a="http://schemas.openxmlformats.org/drawingml/2006/main">
              <a:ext uri="{FF2B5EF4-FFF2-40B4-BE49-F238E27FC236}">
                <a16:creationId xmlns:a16="http://schemas.microsoft.com/office/drawing/2014/main" id="{00741CE1-BBED-4BDC-8DAE-1DBEAA2A468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R40, R39 · liens et détails dans les notes</a:t>
            </a:r>
          </a:p>
        </p:txBody>
      </p:sp>
    </p:spTree>
    <p:extLst>
      <p:ext uri="{BB962C8B-B14F-4D97-AF65-F5344CB8AC3E}">
        <p14:creationId xmlns:p14="http://schemas.microsoft.com/office/powerpoint/2010/main" val="43622080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033</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1151ed8ed44461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846b609fdfd467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alculer un gain de Gini">
            <a:extLst xmlns:a="http://schemas.openxmlformats.org/drawingml/2006/main">
              <a:ext uri="{FF2B5EF4-FFF2-40B4-BE49-F238E27FC236}">
                <a16:creationId xmlns:a16="http://schemas.microsoft.com/office/drawing/2014/main" id="{A65DC8CB-84E5-451B-80FB-81365C8948E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Calculer un gain de Gini</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Nœud</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Positifs / total</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Gini</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Parent</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4 / 10</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0,48</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Gauche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1 / 5</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0,32</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Droite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3 / 5</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0,48</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Après division pondérée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0,5×0,32 + 0,5×0,48</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0,40</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Gain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0,48 − 0,40</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0,08</a:t>
                      </a:r>
                    </a:p>
                  </a:txBody>
                  <a:tcPr marL="91440" marR="91440" marT="45720" marB="45720">
                    <a:solidFill>
                      <a:srgbClr val="F4F5F8"/>
                    </a:solidFill>
                  </a:tcPr>
                </a:tc>
              </a:tr>
            </a:tbl>
          </a:graphicData>
        </a:graphic>
      </p:graphicFrame>
      <p:sp>
        <p:nvSpPr>
          <p:cNvPr id="160" name="course-">
            <a:extLst xmlns:a="http://schemas.openxmlformats.org/drawingml/2006/main">
              <a:ext uri="{FF2B5EF4-FFF2-40B4-BE49-F238E27FC236}">
                <a16:creationId xmlns:a16="http://schemas.microsoft.com/office/drawing/2014/main" id="{B6442AA8-73D8-4667-9D4C-9E9BB6ED418B}"/>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40 · liens et détails da">
            <a:extLst xmlns:a="http://schemas.openxmlformats.org/drawingml/2006/main">
              <a:ext uri="{FF2B5EF4-FFF2-40B4-BE49-F238E27FC236}">
                <a16:creationId xmlns:a16="http://schemas.microsoft.com/office/drawing/2014/main" id="{AD8C62DF-A289-415B-B119-3DAB2BE56C0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R40 · liens et détails dans les notes</a:t>
            </a:r>
          </a:p>
        </p:txBody>
      </p:sp>
    </p:spTree>
    <p:extLst>
      <p:ext uri="{BB962C8B-B14F-4D97-AF65-F5344CB8AC3E}">
        <p14:creationId xmlns:p14="http://schemas.microsoft.com/office/powerpoint/2010/main" val="43622080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958cf07bf5b48b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bbecb8a154b46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ontrôler la complexité d'un arbre">
            <a:extLst xmlns:a="http://schemas.openxmlformats.org/drawingml/2006/main">
              <a:ext uri="{FF2B5EF4-FFF2-40B4-BE49-F238E27FC236}">
                <a16:creationId xmlns:a16="http://schemas.microsoft.com/office/drawing/2014/main" id="{2DB70D08-3D8D-420A-B965-AD74BF6CD75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Contrôler la complexité d'un arbre</a:t>
            </a:r>
          </a:p>
        </p:txBody>
      </p:sp>
      <p:sp>
        <p:nvSpPr>
          <p:cNvPr id="159" name="course-max_depth limite la profondeur des ">
            <a:extLst xmlns:a="http://schemas.openxmlformats.org/drawingml/2006/main">
              <a:ext uri="{FF2B5EF4-FFF2-40B4-BE49-F238E27FC236}">
                <a16:creationId xmlns:a16="http://schemas.microsoft.com/office/drawing/2014/main" id="{82117581-E3F4-4BB4-8859-6199090F15D1}"/>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max_depth limite la profondeur des interactions.</a:t>
            </a:r>
          </a:p>
        </p:txBody>
      </p:sp>
      <p:sp>
        <p:nvSpPr>
          <p:cNvPr id="160" name="course-min_samples_leaf évite des feuilles">
            <a:extLst xmlns:a="http://schemas.openxmlformats.org/drawingml/2006/main">
              <a:ext uri="{FF2B5EF4-FFF2-40B4-BE49-F238E27FC236}">
                <a16:creationId xmlns:a16="http://schemas.microsoft.com/office/drawing/2014/main" id="{2DAAF371-6BC2-41BC-9A8A-074807197CC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min_samples_leaf évite des feuilles soutenues par trop peu d'observations.</a:t>
            </a:r>
          </a:p>
        </p:txBody>
      </p:sp>
      <p:sp>
        <p:nvSpPr>
          <p:cNvPr id="161" name="course-ccp_alpha pénalise la complexité lo">
            <a:extLst xmlns:a="http://schemas.openxmlformats.org/drawingml/2006/main">
              <a:ext uri="{FF2B5EF4-FFF2-40B4-BE49-F238E27FC236}">
                <a16:creationId xmlns:a16="http://schemas.microsoft.com/office/drawing/2014/main" id="{BB62A7B3-BFE1-4AF0-840B-8D3858022EB6}"/>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ccp_alpha pénalise la complexité lors de l'élagage.</a:t>
            </a:r>
          </a:p>
        </p:txBody>
      </p:sp>
      <p:sp>
        <p:nvSpPr>
          <p:cNvPr id="162" name="course-Les seuils se valident ; aucune tai">
            <a:extLst xmlns:a="http://schemas.openxmlformats.org/drawingml/2006/main">
              <a:ext uri="{FF2B5EF4-FFF2-40B4-BE49-F238E27FC236}">
                <a16:creationId xmlns:a16="http://schemas.microsoft.com/office/drawing/2014/main" id="{031F408A-04B7-451D-A90E-5F848FF3AB2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Les seuils se valident ; aucune taille minimale universelle de feuille</a:t>
            </a:r>
          </a:p>
        </p:txBody>
      </p:sp>
      <p:sp>
        <p:nvSpPr>
          <p:cNvPr id="163" name="course-Sources : R40, R39 · liens et détai">
            <a:extLst xmlns:a="http://schemas.openxmlformats.org/drawingml/2006/main">
              <a:ext uri="{FF2B5EF4-FFF2-40B4-BE49-F238E27FC236}">
                <a16:creationId xmlns:a16="http://schemas.microsoft.com/office/drawing/2014/main" id="{13952375-A86B-4EAA-BDF7-1B16AAFBCF4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R40, R39 · liens et détails dans les notes</a:t>
            </a:r>
          </a:p>
        </p:txBody>
      </p:sp>
    </p:spTree>
    <p:extLst>
      <p:ext uri="{BB962C8B-B14F-4D97-AF65-F5344CB8AC3E}">
        <p14:creationId xmlns:p14="http://schemas.microsoft.com/office/powerpoint/2010/main" val="43622080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56e363e5f864a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590874ae94e4e8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Bagging : moyenner des modèles inst">
            <a:extLst xmlns:a="http://schemas.openxmlformats.org/drawingml/2006/main">
              <a:ext uri="{FF2B5EF4-FFF2-40B4-BE49-F238E27FC236}">
                <a16:creationId xmlns:a16="http://schemas.microsoft.com/office/drawing/2014/main" id="{D6600E2B-A909-4F0F-A317-43C634AE2CD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Bagging : moyenner des modèles instables</a:t>
            </a:r>
          </a:p>
        </p:txBody>
      </p:sp>
      <p:sp>
        <p:nvSpPr>
          <p:cNvPr id="159" name="course-Tirer plusieurs échantillons avec r">
            <a:extLst xmlns:a="http://schemas.openxmlformats.org/drawingml/2006/main">
              <a:ext uri="{FF2B5EF4-FFF2-40B4-BE49-F238E27FC236}">
                <a16:creationId xmlns:a16="http://schemas.microsoft.com/office/drawing/2014/main" id="{4D876F75-0999-461A-8162-25DF274B078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Tirer plusieurs échantillons avec remise à partir du train.</a:t>
            </a:r>
          </a:p>
        </p:txBody>
      </p:sp>
      <p:sp>
        <p:nvSpPr>
          <p:cNvPr id="160" name="course-Ajuster un estimateur sur chaque éc">
            <a:extLst xmlns:a="http://schemas.openxmlformats.org/drawingml/2006/main">
              <a:ext uri="{FF2B5EF4-FFF2-40B4-BE49-F238E27FC236}">
                <a16:creationId xmlns:a16="http://schemas.microsoft.com/office/drawing/2014/main" id="{1B0CC0F2-E60E-418C-AA4D-F8CDDB8A0D78}"/>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Ajuster un estimateur sur chaque échantillon bootstrap.</a:t>
            </a:r>
          </a:p>
        </p:txBody>
      </p:sp>
      <p:sp>
        <p:nvSpPr>
          <p:cNvPr id="161" name="course-Agréger les prédictions pour réduir">
            <a:extLst xmlns:a="http://schemas.openxmlformats.org/drawingml/2006/main">
              <a:ext uri="{FF2B5EF4-FFF2-40B4-BE49-F238E27FC236}">
                <a16:creationId xmlns:a16="http://schemas.microsoft.com/office/drawing/2014/main" id="{68CEB210-FE65-4F09-9387-3E5414F699AA}"/>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Agréger les prédictions pour réduire une partie de la variance.</a:t>
            </a:r>
          </a:p>
        </p:txBody>
      </p:sp>
      <p:sp>
        <p:nvSpPr>
          <p:cNvPr id="162" name="course-Le bénéfice dépend autant de la div">
            <a:extLst xmlns:a="http://schemas.openxmlformats.org/drawingml/2006/main">
              <a:ext uri="{FF2B5EF4-FFF2-40B4-BE49-F238E27FC236}">
                <a16:creationId xmlns:a16="http://schemas.microsoft.com/office/drawing/2014/main" id="{42389410-69F7-4860-9AEA-36B34364D954}"/>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Le bénéfice dépend autant de la diversité que du nombre d'estimateurs</a:t>
            </a:r>
          </a:p>
        </p:txBody>
      </p:sp>
      <p:sp>
        <p:nvSpPr>
          <p:cNvPr id="163" name="course-Sources : R07, R08 · liens et détai">
            <a:extLst xmlns:a="http://schemas.openxmlformats.org/drawingml/2006/main">
              <a:ext uri="{FF2B5EF4-FFF2-40B4-BE49-F238E27FC236}">
                <a16:creationId xmlns:a16="http://schemas.microsoft.com/office/drawing/2014/main" id="{059093B5-852B-4106-A5BC-25ECBAE1728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R08 · liens et détails dans les notes</a:t>
            </a:r>
          </a:p>
        </p:txBody>
      </p:sp>
    </p:spTree>
    <p:extLst>
      <p:ext uri="{BB962C8B-B14F-4D97-AF65-F5344CB8AC3E}">
        <p14:creationId xmlns:p14="http://schemas.microsoft.com/office/powerpoint/2010/main" val="4362208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036</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25e867c6132e4b9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4f85f3f58f8c42f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ourquoi la corrélation limite le g">
            <a:extLst xmlns:a="http://schemas.openxmlformats.org/drawingml/2006/main">
              <a:ext uri="{FF2B5EF4-FFF2-40B4-BE49-F238E27FC236}">
                <a16:creationId xmlns:a16="http://schemas.microsoft.com/office/drawing/2014/main" id="{4A94034E-6FA1-495B-81A8-A886E99974E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Pourquoi la corrélation limite le gain</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2e99dd9117c146cf"/>
          </a:graphicData>
        </a:graphic>
      </p:graphicFrame>
      <p:sp>
        <p:nvSpPr>
          <p:cNvPr id="160" name="course-Erreurs identiques : ajouter des ar">
            <a:extLst xmlns:a="http://schemas.openxmlformats.org/drawingml/2006/main">
              <a:ext uri="{FF2B5EF4-FFF2-40B4-BE49-F238E27FC236}">
                <a16:creationId xmlns:a16="http://schemas.microsoft.com/office/drawing/2014/main" id="{80216DE6-9E04-4301-85D0-24015B685B4F}"/>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Erreurs identiques : ajouter des arbres apporte peu.</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Erreurs diversifiées : la moyenne devient plus stable.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Une variance résiduelle reste lorsque ρ est positif.</a:t>
            </a:r>
          </a:p>
        </p:txBody>
      </p:sp>
      <p:sp>
        <p:nvSpPr>
          <p:cNvPr id="161" name="course-Formule théorique avec variance éga">
            <a:extLst xmlns:a="http://schemas.openxmlformats.org/drawingml/2006/main">
              <a:ext uri="{FF2B5EF4-FFF2-40B4-BE49-F238E27FC236}">
                <a16:creationId xmlns:a16="http://schemas.microsoft.com/office/drawing/2014/main" id="{7CD2D9E1-115D-43C4-892F-68C67D1AC5EE}"/>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Formule théorique avec variance égale et corrélation commune ρ.</a:t>
            </a:r>
          </a:p>
        </p:txBody>
      </p:sp>
      <p:sp>
        <p:nvSpPr>
          <p:cNvPr id="162" name="course-Sources : R08 · liens et détails da">
            <a:extLst xmlns:a="http://schemas.openxmlformats.org/drawingml/2006/main">
              <a:ext uri="{FF2B5EF4-FFF2-40B4-BE49-F238E27FC236}">
                <a16:creationId xmlns:a16="http://schemas.microsoft.com/office/drawing/2014/main" id="{C18F6C61-8C12-4FCB-B385-BDD3F42F4C3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R08 · liens et détails dans les notes</a:t>
            </a:r>
          </a:p>
        </p:txBody>
      </p:sp>
    </p:spTree>
    <p:extLst>
      <p:ext uri="{BB962C8B-B14F-4D97-AF65-F5344CB8AC3E}">
        <p14:creationId xmlns:p14="http://schemas.microsoft.com/office/powerpoint/2010/main" val="43622080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99da5fa0e9741e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c3dcaa597ba46e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Random Forest : diversifier les div">
            <a:extLst xmlns:a="http://schemas.openxmlformats.org/drawingml/2006/main">
              <a:ext uri="{FF2B5EF4-FFF2-40B4-BE49-F238E27FC236}">
                <a16:creationId xmlns:a16="http://schemas.microsoft.com/office/drawing/2014/main" id="{A4697B69-7453-4E0F-A1FC-61F5CA36B67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Random Forest : diversifier les divisions</a:t>
            </a:r>
          </a:p>
        </p:txBody>
      </p:sp>
      <p:sp>
        <p:nvSpPr>
          <p:cNvPr id="159" name="course-Le bootstrap diversifie les lignes ">
            <a:extLst xmlns:a="http://schemas.openxmlformats.org/drawingml/2006/main">
              <a:ext uri="{FF2B5EF4-FFF2-40B4-BE49-F238E27FC236}">
                <a16:creationId xmlns:a16="http://schemas.microsoft.com/office/drawing/2014/main" id="{BEE077D2-9B06-4C40-992B-0975ED066857}"/>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bootstrap diversifie les lignes vues par chaque arbre.</a:t>
            </a:r>
          </a:p>
        </p:txBody>
      </p:sp>
      <p:sp>
        <p:nvSpPr>
          <p:cNvPr id="160" name="course-max_features diversifie les variabl">
            <a:extLst xmlns:a="http://schemas.openxmlformats.org/drawingml/2006/main">
              <a:ext uri="{FF2B5EF4-FFF2-40B4-BE49-F238E27FC236}">
                <a16:creationId xmlns:a16="http://schemas.microsoft.com/office/drawing/2014/main" id="{CB994FBE-DB37-4F3E-A9F1-5AD12AB23CA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max_features diversifie les variables candidates à chaque division.</a:t>
            </a:r>
          </a:p>
        </p:txBody>
      </p:sp>
      <p:sp>
        <p:nvSpPr>
          <p:cNvPr id="161" name="course-n_estimators stabilise l'ensemble, ">
            <a:extLst xmlns:a="http://schemas.openxmlformats.org/drawingml/2006/main">
              <a:ext uri="{FF2B5EF4-FFF2-40B4-BE49-F238E27FC236}">
                <a16:creationId xmlns:a16="http://schemas.microsoft.com/office/drawing/2014/main" id="{1D0D5C7D-4765-44FF-A422-971C31DBDA30}"/>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n_estimators stabilise l'ensemble, au prix du calcul et du stockage.</a:t>
            </a:r>
          </a:p>
        </p:txBody>
      </p:sp>
      <p:sp>
        <p:nvSpPr>
          <p:cNvPr id="162" name="course-Comparer la force des arbres et la ">
            <a:extLst xmlns:a="http://schemas.openxmlformats.org/drawingml/2006/main">
              <a:ext uri="{FF2B5EF4-FFF2-40B4-BE49-F238E27FC236}">
                <a16:creationId xmlns:a16="http://schemas.microsoft.com/office/drawing/2014/main" id="{68498343-D3DA-4850-991C-964F9E053223}"/>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Comparer la force des arbres et la corrélation de leurs erreurs</a:t>
            </a:r>
          </a:p>
        </p:txBody>
      </p:sp>
      <p:sp>
        <p:nvSpPr>
          <p:cNvPr id="163" name="course-Sources : R07 · liens et détails da">
            <a:extLst xmlns:a="http://schemas.openxmlformats.org/drawingml/2006/main">
              <a:ext uri="{FF2B5EF4-FFF2-40B4-BE49-F238E27FC236}">
                <a16:creationId xmlns:a16="http://schemas.microsoft.com/office/drawing/2014/main" id="{97F66294-C881-4479-BF64-687D740B436E}"/>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 liens et détails dans les notes</a:t>
            </a:r>
          </a:p>
        </p:txBody>
      </p:sp>
    </p:spTree>
    <p:extLst>
      <p:ext uri="{BB962C8B-B14F-4D97-AF65-F5344CB8AC3E}">
        <p14:creationId xmlns:p14="http://schemas.microsoft.com/office/powerpoint/2010/main" val="4362208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5a846deb96f4cc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fe77e974d8046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Out-of-bag : utile avec ses limites">
            <a:extLst xmlns:a="http://schemas.openxmlformats.org/drawingml/2006/main">
              <a:ext uri="{FF2B5EF4-FFF2-40B4-BE49-F238E27FC236}">
                <a16:creationId xmlns:a16="http://schemas.microsoft.com/office/drawing/2014/main" id="{82484E6C-48C0-49AA-8B8A-C49DAC628F3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Out-of-bag : utile avec ses limites</a:t>
            </a:r>
          </a:p>
        </p:txBody>
      </p:sp>
      <p:sp>
        <p:nvSpPr>
          <p:cNvPr id="159" name="course-Pour une observation, agréger les a">
            <a:extLst xmlns:a="http://schemas.openxmlformats.org/drawingml/2006/main">
              <a:ext uri="{FF2B5EF4-FFF2-40B4-BE49-F238E27FC236}">
                <a16:creationId xmlns:a16="http://schemas.microsoft.com/office/drawing/2014/main" id="{64823574-9FBA-4614-A8B1-11E70C83369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 une observation, agréger les arbres qui ne l'ont pas utilisée.</a:t>
            </a:r>
          </a:p>
        </p:txBody>
      </p:sp>
      <p:sp>
        <p:nvSpPr>
          <p:cNvPr id="160" name="course-Obtenir une estimation interne sans">
            <a:extLst xmlns:a="http://schemas.openxmlformats.org/drawingml/2006/main">
              <a:ext uri="{FF2B5EF4-FFF2-40B4-BE49-F238E27FC236}">
                <a16:creationId xmlns:a16="http://schemas.microsoft.com/office/drawing/2014/main" id="{2AEFA5F8-EB15-41D2-ADB3-7AF5E9332342}"/>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Obtenir une estimation interne sans découpage de validation supplémentaire.</a:t>
            </a:r>
          </a:p>
        </p:txBody>
      </p:sp>
      <p:sp>
        <p:nvSpPr>
          <p:cNvPr id="161" name="course-Vérifier que groupes, temps et prét">
            <a:extLst xmlns:a="http://schemas.openxmlformats.org/drawingml/2006/main">
              <a:ext uri="{FF2B5EF4-FFF2-40B4-BE49-F238E27FC236}">
                <a16:creationId xmlns:a16="http://schemas.microsoft.com/office/drawing/2014/main" id="{3DBDB762-B951-4A94-8B81-802365DAA2F4}"/>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Vérifier que groupes, temps et prétraitements ne rendent pas l'estimation trompeuse.</a:t>
            </a:r>
          </a:p>
        </p:txBody>
      </p:sp>
      <p:sp>
        <p:nvSpPr>
          <p:cNvPr id="162" name="course-OOB ne remplace pas un test cohéren">
            <a:extLst xmlns:a="http://schemas.openxmlformats.org/drawingml/2006/main">
              <a:ext uri="{FF2B5EF4-FFF2-40B4-BE49-F238E27FC236}">
                <a16:creationId xmlns:a16="http://schemas.microsoft.com/office/drawing/2014/main" id="{90F14560-2FFF-45D5-8F96-9B524E319E86}"/>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OOB ne remplace pas un test cohérent avec l'usage futur</a:t>
            </a:r>
          </a:p>
        </p:txBody>
      </p:sp>
      <p:sp>
        <p:nvSpPr>
          <p:cNvPr id="163" name="course-Sources : R07, R03 · liens et détai">
            <a:extLst xmlns:a="http://schemas.openxmlformats.org/drawingml/2006/main">
              <a:ext uri="{FF2B5EF4-FFF2-40B4-BE49-F238E27FC236}">
                <a16:creationId xmlns:a16="http://schemas.microsoft.com/office/drawing/2014/main" id="{1E31F43F-70F4-40BC-B270-65AEC2117DB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R03 · liens et détails dans les notes</a:t>
            </a:r>
          </a:p>
        </p:txBody>
      </p:sp>
    </p:spTree>
    <p:extLst>
      <p:ext uri="{BB962C8B-B14F-4D97-AF65-F5344CB8AC3E}">
        <p14:creationId xmlns:p14="http://schemas.microsoft.com/office/powerpoint/2010/main" val="43622080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039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60c35e9caf4b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081514d50d84af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Boosting : corriger progressivement">
            <a:extLst xmlns:a="http://schemas.openxmlformats.org/drawingml/2006/main">
              <a:ext uri="{FF2B5EF4-FFF2-40B4-BE49-F238E27FC236}">
                <a16:creationId xmlns:a16="http://schemas.microsoft.com/office/drawing/2014/main" id="{A82D4BC1-5292-4659-8BD7-6A62CE79ED4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Boosting : corriger progressivement le modèle</a:t>
            </a:r>
          </a:p>
        </p:txBody>
      </p:sp>
      <p:sp>
        <p:nvSpPr>
          <p:cNvPr id="159" name="course-Fm(x) = Fm−1(x) + η hm(x)">
            <a:extLst xmlns:a="http://schemas.openxmlformats.org/drawingml/2006/main">
              <a:ext uri="{FF2B5EF4-FFF2-40B4-BE49-F238E27FC236}">
                <a16:creationId xmlns:a16="http://schemas.microsoft.com/office/drawing/2014/main" id="{F401F947-50F6-401B-A06C-C1AB8BEFBD73}"/>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Fm(x) = Fm−1(x) + η hm(x)</a:t>
            </a:r>
          </a:p>
        </p:txBody>
      </p:sp>
      <p:sp>
        <p:nvSpPr>
          <p:cNvPr id="160" name="course-Fm−1 représente la prédiction coura">
            <a:extLst xmlns:a="http://schemas.openxmlformats.org/drawingml/2006/main">
              <a:ext uri="{FF2B5EF4-FFF2-40B4-BE49-F238E27FC236}">
                <a16:creationId xmlns:a16="http://schemas.microsoft.com/office/drawing/2014/main" id="{6742484E-616C-488B-9534-3DEA63D5B12E}"/>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Fm−1 représente la prédiction courante.</a:t>
            </a:r>
          </a:p>
        </p:txBody>
      </p:sp>
      <p:sp>
        <p:nvSpPr>
          <p:cNvPr id="161" name="course-hm apprend une direction de correct">
            <a:extLst xmlns:a="http://schemas.openxmlformats.org/drawingml/2006/main">
              <a:ext uri="{FF2B5EF4-FFF2-40B4-BE49-F238E27FC236}">
                <a16:creationId xmlns:a16="http://schemas.microsoft.com/office/drawing/2014/main" id="{405A7D8A-985D-4C9E-AAF2-AB2FFCBFBAEA}"/>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hm apprend une direction de correction.</a:t>
            </a:r>
          </a:p>
        </p:txBody>
      </p:sp>
      <p:sp>
        <p:nvSpPr>
          <p:cNvPr id="162" name="course-η règle l'amplitude de chaque nouve">
            <a:extLst xmlns:a="http://schemas.openxmlformats.org/drawingml/2006/main">
              <a:ext uri="{FF2B5EF4-FFF2-40B4-BE49-F238E27FC236}">
                <a16:creationId xmlns:a16="http://schemas.microsoft.com/office/drawing/2014/main" id="{47324B12-D6B5-4D00-988F-34A96954FE27}"/>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η règle l'amplitude de chaque nouvelle correction.</a:t>
            </a:r>
          </a:p>
        </p:txBody>
      </p:sp>
      <p:sp>
        <p:nvSpPr>
          <p:cNvPr id="163" name="course-Sources : R11 · liens et détails da">
            <a:extLst xmlns:a="http://schemas.openxmlformats.org/drawingml/2006/main">
              <a:ext uri="{FF2B5EF4-FFF2-40B4-BE49-F238E27FC236}">
                <a16:creationId xmlns:a16="http://schemas.microsoft.com/office/drawing/2014/main" id="{BA5434B3-F80B-4116-8C86-A2521A1FD16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R11 · liens et détails dans les notes</a:t>
            </a:r>
          </a:p>
        </p:txBody>
      </p:sp>
    </p:spTree>
    <p:extLst>
      <p:ext uri="{BB962C8B-B14F-4D97-AF65-F5344CB8AC3E}">
        <p14:creationId xmlns:p14="http://schemas.microsoft.com/office/powerpoint/2010/main" val="43622080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040</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c30138d1148f49e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5c0a1c1624e411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itération de boosting à la main">
            <a:extLst xmlns:a="http://schemas.openxmlformats.org/drawingml/2006/main">
              <a:ext uri="{FF2B5EF4-FFF2-40B4-BE49-F238E27FC236}">
                <a16:creationId xmlns:a16="http://schemas.microsoft.com/office/drawing/2014/main" id="{5BB9D06D-0804-453B-93FC-EA44BA91EDB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itération de boosting à la main</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2133600"/>
                <a:gridCol w="2133600"/>
                <a:gridCol w="2133600"/>
                <a:gridCol w="2133600"/>
                <a:gridCol w="2133600"/>
              </a:tblGrid>
              <a:tr h="762000">
                <a:tc>
                  <a:txBody>
                    <a:bodyPr lIns="114300" tIns="95250" rIns="114300" bIns="95250"/>
                    <a:lstStyle/>
                    <a:p>
                      <a:r>
                        <a:rPr sz="1575" b="1">
                          <a:solidFill>
                            <a:srgbClr val="FFFFFF"/>
                          </a:solidFill>
                          <a:latin typeface="DM Sans"/>
                          <a:ea typeface="DM Sans"/>
                          <a:cs typeface="DM Sans"/>
                        </a:rPr>
                        <a:t>Observation</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y</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F₀</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Résidu</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F₁ (η=0,5)</a:t>
                      </a:r>
                    </a:p>
                  </a:txBody>
                  <a:tcPr marL="91440" marR="91440" marT="45720" marB="45720">
                    <a:solidFill>
                      <a:srgbClr val="303C8B"/>
                    </a:solidFill>
                  </a:tcPr>
                </a:tc>
              </a:tr>
              <a:tr h="762000">
                <a:tc>
                  <a:txBody>
                    <a:bodyPr lIns="114300" tIns="95250" rIns="114300" bIns="95250"/>
                    <a:lstStyle/>
                    <a:p>
                      <a:r>
                        <a:rPr sz="1575" b="0">
                          <a:solidFill>
                            <a:srgbClr val="12194C"/>
                          </a:solidFill>
                          <a:latin typeface="DM Sans"/>
                          <a:ea typeface="DM Sans"/>
                          <a:cs typeface="DM Sans"/>
                        </a:rPr>
                        <a:t>1</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2</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4</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−2</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3,25</a:t>
                      </a:r>
                    </a:p>
                  </a:txBody>
                  <a:tcPr marL="91440" marR="91440" marT="45720" marB="45720">
                    <a:solidFill>
                      <a:srgbClr val="F4F5F8"/>
                    </a:solidFill>
                  </a:tcPr>
                </a:tc>
              </a:tr>
              <a:tr h="762000">
                <a:tc>
                  <a:txBody>
                    <a:bodyPr lIns="114300" tIns="95250" rIns="114300" bIns="95250"/>
                    <a:lstStyle/>
                    <a:p>
                      <a:r>
                        <a:rPr sz="1575" b="0">
                          <a:solidFill>
                            <a:srgbClr val="12194C"/>
                          </a:solidFill>
                          <a:latin typeface="DM Sans"/>
                          <a:ea typeface="DM Sans"/>
                          <a:cs typeface="DM Sans"/>
                        </a:rPr>
                        <a:t>2</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3</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4</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−1</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3,25</a:t>
                      </a:r>
                    </a:p>
                  </a:txBody>
                  <a:tcPr marL="91440" marR="91440" marT="45720" marB="45720">
                    <a:solidFill>
                      <a:srgbClr val="FFFFFF"/>
                    </a:solidFill>
                  </a:tcPr>
                </a:tc>
              </a:tr>
              <a:tr h="762000">
                <a:tc>
                  <a:txBody>
                    <a:bodyPr lIns="114300" tIns="95250" rIns="114300" bIns="95250"/>
                    <a:lstStyle/>
                    <a:p>
                      <a:r>
                        <a:rPr sz="1575" b="0">
                          <a:solidFill>
                            <a:srgbClr val="12194C"/>
                          </a:solidFill>
                          <a:latin typeface="DM Sans"/>
                          <a:ea typeface="DM Sans"/>
                          <a:cs typeface="DM Sans"/>
                        </a:rPr>
                        <a:t>3</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7</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4</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3</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5,50</a:t>
                      </a:r>
                    </a:p>
                  </a:txBody>
                  <a:tcPr marL="91440" marR="91440" marT="45720" marB="45720">
                    <a:solidFill>
                      <a:srgbClr val="F4F5F8"/>
                    </a:solidFill>
                  </a:tcPr>
                </a:tc>
              </a:tr>
            </a:tbl>
          </a:graphicData>
        </a:graphic>
      </p:graphicFrame>
      <p:sp>
        <p:nvSpPr>
          <p:cNvPr id="160" name="course-La souche prédit −1,5 pour les deux">
            <a:extLst xmlns:a="http://schemas.openxmlformats.org/drawingml/2006/main">
              <a:ext uri="{FF2B5EF4-FFF2-40B4-BE49-F238E27FC236}">
                <a16:creationId xmlns:a16="http://schemas.microsoft.com/office/drawing/2014/main" id="{E74090C0-6300-487F-97AF-FE18E06CAB55}"/>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La souche prédit −1,5 pour les deux premiers points et +3 pour le troisième</a:t>
            </a:r>
          </a:p>
        </p:txBody>
      </p:sp>
      <p:sp>
        <p:nvSpPr>
          <p:cNvPr id="161" name="course-Sources : R11 · liens et détails da">
            <a:extLst xmlns:a="http://schemas.openxmlformats.org/drawingml/2006/main">
              <a:ext uri="{FF2B5EF4-FFF2-40B4-BE49-F238E27FC236}">
                <a16:creationId xmlns:a16="http://schemas.microsoft.com/office/drawing/2014/main" id="{6A36CD6E-9C81-4517-84F7-5B722C29B79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R11 · liens et détails dans les notes</a:t>
            </a:r>
          </a:p>
        </p:txBody>
      </p:sp>
    </p:spTree>
    <p:extLst>
      <p:ext uri="{BB962C8B-B14F-4D97-AF65-F5344CB8AC3E}">
        <p14:creationId xmlns:p14="http://schemas.microsoft.com/office/powerpoint/2010/main" val="43622080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48c30d29e514d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9d58752e2f1476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gradient généralise le résidu">
            <a:extLst xmlns:a="http://schemas.openxmlformats.org/drawingml/2006/main">
              <a:ext uri="{FF2B5EF4-FFF2-40B4-BE49-F238E27FC236}">
                <a16:creationId xmlns:a16="http://schemas.microsoft.com/office/drawing/2014/main" id="{8BBF0FB9-C7B7-4C22-94F5-E51E688FC3B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gradient généralise le résidu</a:t>
            </a:r>
          </a:p>
        </p:txBody>
      </p:sp>
      <p:sp>
        <p:nvSpPr>
          <p:cNvPr id="159" name="course-rim = − ∂ℓ(yi, F(xi)) / ∂F(xi) à l'">
            <a:extLst xmlns:a="http://schemas.openxmlformats.org/drawingml/2006/main">
              <a:ext uri="{FF2B5EF4-FFF2-40B4-BE49-F238E27FC236}">
                <a16:creationId xmlns:a16="http://schemas.microsoft.com/office/drawing/2014/main" id="{5D2D7A5E-399C-4103-92C7-010251B71C97}"/>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rim = − ∂ℓ(yi, F(xi)) / ∂F(xi) à l'étape m−1</a:t>
            </a:r>
          </a:p>
        </p:txBody>
      </p:sp>
      <p:sp>
        <p:nvSpPr>
          <p:cNvPr id="160" name="course-Ajuster un modèle faible sur cette ">
            <a:extLst xmlns:a="http://schemas.openxmlformats.org/drawingml/2006/main">
              <a:ext uri="{FF2B5EF4-FFF2-40B4-BE49-F238E27FC236}">
                <a16:creationId xmlns:a16="http://schemas.microsoft.com/office/drawing/2014/main" id="{B9CE929E-406A-4E9C-8297-086A4B480FC6}"/>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Ajuster un modèle faible sur cette direction de descente.</a:t>
            </a:r>
          </a:p>
        </p:txBody>
      </p:sp>
      <p:sp>
        <p:nvSpPr>
          <p:cNvPr id="161" name="course-Pour la log-loss, corriger une préd">
            <a:extLst xmlns:a="http://schemas.openxmlformats.org/drawingml/2006/main">
              <a:ext uri="{FF2B5EF4-FFF2-40B4-BE49-F238E27FC236}">
                <a16:creationId xmlns:a16="http://schemas.microsoft.com/office/drawing/2014/main" id="{0516493A-F7E9-4804-BD81-25D71C0B6A9D}"/>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 la log-loss, corriger une prédiction sur son échelle appropriée.</a:t>
            </a:r>
          </a:p>
        </p:txBody>
      </p:sp>
      <p:sp>
        <p:nvSpPr>
          <p:cNvPr id="162" name="course-Répéter en contrôlant la capacité e">
            <a:extLst xmlns:a="http://schemas.openxmlformats.org/drawingml/2006/main">
              <a:ext uri="{FF2B5EF4-FFF2-40B4-BE49-F238E27FC236}">
                <a16:creationId xmlns:a16="http://schemas.microsoft.com/office/drawing/2014/main" id="{E9926064-8791-4F23-8FEB-823BD2503512}"/>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Répéter en contrôlant la capacité et la taille des mises à jour.</a:t>
            </a:r>
          </a:p>
        </p:txBody>
      </p:sp>
      <p:sp>
        <p:nvSpPr>
          <p:cNvPr id="163" name="course-Sources : R11 · liens et détails da">
            <a:extLst xmlns:a="http://schemas.openxmlformats.org/drawingml/2006/main">
              <a:ext uri="{FF2B5EF4-FFF2-40B4-BE49-F238E27FC236}">
                <a16:creationId xmlns:a16="http://schemas.microsoft.com/office/drawing/2014/main" id="{F9E7BCCE-AD36-4635-9413-F796FFA1435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R11 · liens et détails dans les notes</a:t>
            </a:r>
          </a:p>
        </p:txBody>
      </p:sp>
    </p:spTree>
    <p:extLst>
      <p:ext uri="{BB962C8B-B14F-4D97-AF65-F5344CB8AC3E}">
        <p14:creationId xmlns:p14="http://schemas.microsoft.com/office/powerpoint/2010/main" val="4362208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042</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6f33c206b1ce4ad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a79f4b9b25b949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and arrêter le boosting ?">
            <a:extLst xmlns:a="http://schemas.openxmlformats.org/drawingml/2006/main">
              <a:ext uri="{FF2B5EF4-FFF2-40B4-BE49-F238E27FC236}">
                <a16:creationId xmlns:a16="http://schemas.microsoft.com/office/drawing/2014/main" id="{4A9D389B-AC39-41DC-86DD-DA82125337C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Quand arrêter le boosting ?</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003d3a0d7e174270"/>
          </a:graphicData>
        </a:graphic>
      </p:graphicFrame>
      <p:sp>
        <p:nvSpPr>
          <p:cNvPr id="160" name="course-Mesurer la RMSE sur une validation ">
            <a:extLst xmlns:a="http://schemas.openxmlformats.org/drawingml/2006/main">
              <a:ext uri="{FF2B5EF4-FFF2-40B4-BE49-F238E27FC236}">
                <a16:creationId xmlns:a16="http://schemas.microsoft.com/office/drawing/2014/main" id="{2E873D1C-CF37-4A2D-9D15-7B8D58A93CD1}"/>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Mesurer la RMSE sur une validation indépendante.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Réduire la complexité ou arrêter si la validation cesse de progresser.</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Conserver un test indépendant de cette décision.</a:t>
            </a:r>
          </a:p>
        </p:txBody>
      </p:sp>
      <p:sp>
        <p:nvSpPr>
          <p:cNvPr id="161" name="course-Expérience synthétique Friedman, n=">
            <a:extLst xmlns:a="http://schemas.openxmlformats.org/drawingml/2006/main">
              <a:ext uri="{FF2B5EF4-FFF2-40B4-BE49-F238E27FC236}">
                <a16:creationId xmlns:a16="http://schemas.microsoft.com/office/drawing/2014/main" id="{7879736C-8E7B-4E23-9729-2F74CD01CBD3}"/>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Expérience synthétique Friedman, n=600, graine 42 ; code dans scripts/build_assets.py.</a:t>
            </a:r>
          </a:p>
        </p:txBody>
      </p:sp>
      <p:sp>
        <p:nvSpPr>
          <p:cNvPr id="162" name="course-Sources : R07, R09 · liens et détai">
            <a:extLst xmlns:a="http://schemas.openxmlformats.org/drawingml/2006/main">
              <a:ext uri="{FF2B5EF4-FFF2-40B4-BE49-F238E27FC236}">
                <a16:creationId xmlns:a16="http://schemas.microsoft.com/office/drawing/2014/main" id="{A37A553F-704D-4C35-AE48-D5EA224A055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R09 · liens et détails dans les notes</a:t>
            </a:r>
          </a:p>
        </p:txBody>
      </p:sp>
    </p:spTree>
    <p:extLst>
      <p:ext uri="{BB962C8B-B14F-4D97-AF65-F5344CB8AC3E}">
        <p14:creationId xmlns:p14="http://schemas.microsoft.com/office/powerpoint/2010/main" val="43622080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d876f3e0c644f7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a525d257b84e2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Boosting par histogrammes">
            <a:extLst xmlns:a="http://schemas.openxmlformats.org/drawingml/2006/main">
              <a:ext uri="{FF2B5EF4-FFF2-40B4-BE49-F238E27FC236}">
                <a16:creationId xmlns:a16="http://schemas.microsoft.com/office/drawing/2014/main" id="{1CC5E74B-1872-41AA-85CF-D04CA4E0749B}"/>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Boosting par histogrammes</a:t>
            </a:r>
          </a:p>
        </p:txBody>
      </p:sp>
      <p:sp>
        <p:nvSpPr>
          <p:cNvPr id="159" name="course-Regrouper les valeurs continues dan">
            <a:extLst xmlns:a="http://schemas.openxmlformats.org/drawingml/2006/main">
              <a:ext uri="{FF2B5EF4-FFF2-40B4-BE49-F238E27FC236}">
                <a16:creationId xmlns:a16="http://schemas.microsoft.com/office/drawing/2014/main" id="{C26C7D5D-6538-4858-92FE-611C5BCF734A}"/>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Regrouper les valeurs continues dans un nombre fini de bins.</a:t>
            </a:r>
          </a:p>
        </p:txBody>
      </p:sp>
      <p:sp>
        <p:nvSpPr>
          <p:cNvPr id="160" name="course-Évaluer les divisions sur ces bins ">
            <a:extLst xmlns:a="http://schemas.openxmlformats.org/drawingml/2006/main">
              <a:ext uri="{FF2B5EF4-FFF2-40B4-BE49-F238E27FC236}">
                <a16:creationId xmlns:a16="http://schemas.microsoft.com/office/drawing/2014/main" id="{77ED9618-4F98-45BD-B8BB-EFD6629DF85B}"/>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Évaluer les divisions sur ces bins pour réduire le coût.</a:t>
            </a:r>
          </a:p>
        </p:txBody>
      </p:sp>
      <p:sp>
        <p:nvSpPr>
          <p:cNvPr id="161" name="course-Régler feuilles, taux d'apprentissa">
            <a:extLst xmlns:a="http://schemas.openxmlformats.org/drawingml/2006/main">
              <a:ext uri="{FF2B5EF4-FFF2-40B4-BE49-F238E27FC236}">
                <a16:creationId xmlns:a16="http://schemas.microsoft.com/office/drawing/2014/main" id="{19FA1CF7-BFDE-433C-8DD2-0E0EA00DD572}"/>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Régler feuilles, taux d'apprentissage, itérations et régularisation.</a:t>
            </a:r>
          </a:p>
        </p:txBody>
      </p:sp>
      <p:sp>
        <p:nvSpPr>
          <p:cNvPr id="162" name="course-Un gain de calcul permet davantage ">
            <a:extLst xmlns:a="http://schemas.openxmlformats.org/drawingml/2006/main">
              <a:ext uri="{FF2B5EF4-FFF2-40B4-BE49-F238E27FC236}">
                <a16:creationId xmlns:a16="http://schemas.microsoft.com/office/drawing/2014/main" id="{F1526BF3-AD29-4829-8AF5-7B6ED3A2451B}"/>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gain de calcul permet davantage d'expériences, pas un protocole moins strict</a:t>
            </a:r>
          </a:p>
        </p:txBody>
      </p:sp>
      <p:sp>
        <p:nvSpPr>
          <p:cNvPr id="163" name="course-Sources : R07, R12 · liens et détai">
            <a:extLst xmlns:a="http://schemas.openxmlformats.org/drawingml/2006/main">
              <a:ext uri="{FF2B5EF4-FFF2-40B4-BE49-F238E27FC236}">
                <a16:creationId xmlns:a16="http://schemas.microsoft.com/office/drawing/2014/main" id="{AF53D306-E9C5-4FC6-8FAA-EF9460A9135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R12 · liens et détails dans les notes</a:t>
            </a:r>
          </a:p>
        </p:txBody>
      </p:sp>
    </p:spTree>
    <p:extLst>
      <p:ext uri="{BB962C8B-B14F-4D97-AF65-F5344CB8AC3E}">
        <p14:creationId xmlns:p14="http://schemas.microsoft.com/office/powerpoint/2010/main" val="43622080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044</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dd16e83c40d4f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f9aab196646644a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atre implémentations à connaître">
            <a:extLst xmlns:a="http://schemas.openxmlformats.org/drawingml/2006/main">
              <a:ext uri="{FF2B5EF4-FFF2-40B4-BE49-F238E27FC236}">
                <a16:creationId xmlns:a16="http://schemas.microsoft.com/office/drawing/2014/main" id="{E384AA72-2705-4EBE-8D8F-60221CB9602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Quatre implémentations à connaître</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609600">
                <a:tc>
                  <a:txBody>
                    <a:bodyPr lIns="114300" tIns="95250" rIns="114300" bIns="95250"/>
                    <a:lstStyle/>
                    <a:p>
                      <a:r>
                        <a:rPr sz="1725" b="1">
                          <a:solidFill>
                            <a:srgbClr val="FFFFFF"/>
                          </a:solidFill>
                          <a:latin typeface="DM Sans"/>
                          <a:ea typeface="DM Sans"/>
                          <a:cs typeface="DM Sans"/>
                        </a:rPr>
                        <a:t>Implémentation</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Idée à retenir</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Vigilance</a:t>
                      </a:r>
                    </a:p>
                  </a:txBody>
                  <a:tcPr marL="91440" marR="91440" marT="45720" marB="45720">
                    <a:solidFill>
                      <a:srgbClr val="303C8B"/>
                    </a:solidFill>
                  </a:tcPr>
                </a:tc>
              </a:tr>
              <a:tr h="609600">
                <a:tc>
                  <a:txBody>
                    <a:bodyPr lIns="114300" tIns="95250" rIns="114300" bIns="95250"/>
                    <a:lstStyle/>
                    <a:p>
                      <a:r>
                        <a:rPr sz="1725" b="0">
                          <a:solidFill>
                            <a:srgbClr val="12194C"/>
                          </a:solidFill>
                          <a:latin typeface="DM Sans"/>
                          <a:ea typeface="DM Sans"/>
                          <a:cs typeface="DM Sans"/>
                        </a:rPr>
                        <a:t>HistGradientBoosting</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Histogrammes intégrés à sklearn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Encoder/typer selon le pipeline</a:t>
                      </a:r>
                    </a:p>
                  </a:txBody>
                  <a:tcPr marL="91440" marR="91440" marT="45720" marB="45720">
                    <a:solidFill>
                      <a:srgbClr val="F4F5F8"/>
                    </a:solidFill>
                  </a:tcPr>
                </a:tc>
              </a:tr>
              <a:tr h="609600">
                <a:tc>
                  <a:txBody>
                    <a:bodyPr lIns="114300" tIns="95250" rIns="114300" bIns="95250"/>
                    <a:lstStyle/>
                    <a:p>
                      <a:r>
                        <a:rPr sz="1725" b="0">
                          <a:solidFill>
                            <a:srgbClr val="12194C"/>
                          </a:solidFill>
                          <a:latin typeface="DM Sans"/>
                          <a:ea typeface="DM Sans"/>
                          <a:cs typeface="DM Sans"/>
                        </a:rPr>
                        <a:t>XGBoost</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Objectif régularisé, second ordre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Paramètres et DMatrix</a:t>
                      </a:r>
                    </a:p>
                  </a:txBody>
                  <a:tcPr marL="91440" marR="91440" marT="45720" marB="45720">
                    <a:solidFill>
                      <a:srgbClr val="FFFFFF"/>
                    </a:solidFill>
                  </a:tcPr>
                </a:tc>
              </a:tr>
              <a:tr h="609600">
                <a:tc>
                  <a:txBody>
                    <a:bodyPr lIns="114300" tIns="95250" rIns="114300" bIns="95250"/>
                    <a:lstStyle/>
                    <a:p>
                      <a:r>
                        <a:rPr sz="1725" b="0">
                          <a:solidFill>
                            <a:srgbClr val="12194C"/>
                          </a:solidFill>
                          <a:latin typeface="DM Sans"/>
                          <a:ea typeface="DM Sans"/>
                          <a:cs typeface="DM Sans"/>
                        </a:rPr>
                        <a:t>LightGBM</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Croissance par feuille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Limiter feuilles et profondeur</a:t>
                      </a:r>
                    </a:p>
                  </a:txBody>
                  <a:tcPr marL="91440" marR="91440" marT="45720" marB="45720">
                    <a:solidFill>
                      <a:srgbClr val="F4F5F8"/>
                    </a:solidFill>
                  </a:tcPr>
                </a:tc>
              </a:tr>
              <a:tr h="609600">
                <a:tc>
                  <a:txBody>
                    <a:bodyPr lIns="114300" tIns="95250" rIns="114300" bIns="95250"/>
                    <a:lstStyle/>
                    <a:p>
                      <a:r>
                        <a:rPr sz="1725" b="0">
                          <a:solidFill>
                            <a:srgbClr val="12194C"/>
                          </a:solidFill>
                          <a:latin typeface="DM Sans"/>
                          <a:ea typeface="DM Sans"/>
                          <a:cs typeface="DM Sans"/>
                        </a:rPr>
                        <a:t>CatBoost</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Catégorielles et ordered boosting</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Ne pas déléguer le split au modèle</a:t>
                      </a:r>
                    </a:p>
                  </a:txBody>
                  <a:tcPr marL="91440" marR="91440" marT="45720" marB="45720">
                    <a:solidFill>
                      <a:srgbClr val="FFFFFF"/>
                    </a:solidFill>
                  </a:tcPr>
                </a:tc>
              </a:tr>
            </a:tbl>
          </a:graphicData>
        </a:graphic>
      </p:graphicFrame>
      <p:sp>
        <p:nvSpPr>
          <p:cNvPr id="160" name="course-">
            <a:extLst xmlns:a="http://schemas.openxmlformats.org/drawingml/2006/main">
              <a:ext uri="{FF2B5EF4-FFF2-40B4-BE49-F238E27FC236}">
                <a16:creationId xmlns:a16="http://schemas.microsoft.com/office/drawing/2014/main" id="{C4610310-25BC-4CA6-9673-D3B673ABA208}"/>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11, R12, R13 · liens et ">
            <a:extLst xmlns:a="http://schemas.openxmlformats.org/drawingml/2006/main">
              <a:ext uri="{FF2B5EF4-FFF2-40B4-BE49-F238E27FC236}">
                <a16:creationId xmlns:a16="http://schemas.microsoft.com/office/drawing/2014/main" id="{D446BAA0-5F12-4FFF-A1B3-8622A8F25D4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R11, R12, R13 · liens et détails dans les notes</a:t>
            </a:r>
          </a:p>
        </p:txBody>
      </p:sp>
    </p:spTree>
    <p:extLst>
      <p:ext uri="{BB962C8B-B14F-4D97-AF65-F5344CB8AC3E}">
        <p14:creationId xmlns:p14="http://schemas.microsoft.com/office/powerpoint/2010/main" val="43622080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90e2956b63340b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9f50d7ab01d434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Voting et stacking">
            <a:extLst xmlns:a="http://schemas.openxmlformats.org/drawingml/2006/main">
              <a:ext uri="{FF2B5EF4-FFF2-40B4-BE49-F238E27FC236}">
                <a16:creationId xmlns:a16="http://schemas.microsoft.com/office/drawing/2014/main" id="{32FA45DC-94DD-4AC0-8243-3E2CB6DA44B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Voting et stacking</a:t>
            </a:r>
          </a:p>
        </p:txBody>
      </p:sp>
      <p:sp>
        <p:nvSpPr>
          <p:cNvPr id="159" name="course-Voting : combiner plusieurs prédict">
            <a:extLst xmlns:a="http://schemas.openxmlformats.org/drawingml/2006/main">
              <a:ext uri="{FF2B5EF4-FFF2-40B4-BE49-F238E27FC236}">
                <a16:creationId xmlns:a16="http://schemas.microsoft.com/office/drawing/2014/main" id="{19E4204D-01A8-47D4-A66F-EFF4F329A93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Voting : combiner plusieurs prédictions selon une règle fixée.</a:t>
            </a:r>
          </a:p>
        </p:txBody>
      </p:sp>
      <p:sp>
        <p:nvSpPr>
          <p:cNvPr id="160" name="course-Stacking : apprendre un méta-modèle">
            <a:extLst xmlns:a="http://schemas.openxmlformats.org/drawingml/2006/main">
              <a:ext uri="{FF2B5EF4-FFF2-40B4-BE49-F238E27FC236}">
                <a16:creationId xmlns:a16="http://schemas.microsoft.com/office/drawing/2014/main" id="{8C98C279-D296-4A5F-8FFF-CF281A577CA0}"/>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Stacking : apprendre un méta-modèle sur les prédictions de modèles de base.</a:t>
            </a:r>
          </a:p>
        </p:txBody>
      </p:sp>
      <p:sp>
        <p:nvSpPr>
          <p:cNvPr id="161" name="course-Pour le stacking, fabriquer ces pré">
            <a:extLst xmlns:a="http://schemas.openxmlformats.org/drawingml/2006/main">
              <a:ext uri="{FF2B5EF4-FFF2-40B4-BE49-F238E27FC236}">
                <a16:creationId xmlns:a16="http://schemas.microsoft.com/office/drawing/2014/main" id="{A369E732-8D23-496E-AC76-489DEDFD1C8E}"/>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 le stacking, fabriquer ces prédictions sans avoir entraîné sur leur cible.</a:t>
            </a:r>
          </a:p>
        </p:txBody>
      </p:sp>
      <p:sp>
        <p:nvSpPr>
          <p:cNvPr id="162" name="course-Prédictions hors pli pour le méta-m">
            <a:extLst xmlns:a="http://schemas.openxmlformats.org/drawingml/2006/main">
              <a:ext uri="{FF2B5EF4-FFF2-40B4-BE49-F238E27FC236}">
                <a16:creationId xmlns:a16="http://schemas.microsoft.com/office/drawing/2014/main" id="{973C13E3-5383-40A2-9ED6-3D48CD825BC4}"/>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Prédictions hors pli pour le méta-modèle, test final pour l'ensemble</a:t>
            </a:r>
          </a:p>
        </p:txBody>
      </p:sp>
      <p:sp>
        <p:nvSpPr>
          <p:cNvPr id="163" name="course-Sources : R07 · liens et détails da">
            <a:extLst xmlns:a="http://schemas.openxmlformats.org/drawingml/2006/main">
              <a:ext uri="{FF2B5EF4-FFF2-40B4-BE49-F238E27FC236}">
                <a16:creationId xmlns:a16="http://schemas.microsoft.com/office/drawing/2014/main" id="{A7E27264-DC4E-4373-A139-1D06D9A7050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 liens et détails dans les notes</a:t>
            </a:r>
          </a:p>
        </p:txBody>
      </p:sp>
    </p:spTree>
    <p:extLst>
      <p:ext uri="{BB962C8B-B14F-4D97-AF65-F5344CB8AC3E}">
        <p14:creationId xmlns:p14="http://schemas.microsoft.com/office/powerpoint/2010/main" val="43622080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534b485698444a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fd843283d9461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2 : comparer les ensembles">
            <a:extLst xmlns:a="http://schemas.openxmlformats.org/drawingml/2006/main">
              <a:ext uri="{FF2B5EF4-FFF2-40B4-BE49-F238E27FC236}">
                <a16:creationId xmlns:a16="http://schemas.microsoft.com/office/drawing/2014/main" id="{7F1E2F5A-F6CC-4E80-9A9B-13D04B6275F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TP02 : comparer les ensembles</a:t>
            </a:r>
          </a:p>
        </p:txBody>
      </p:sp>
      <p:sp>
        <p:nvSpPr>
          <p:cNvPr id="159" name="course-Comparer Ridge, arbre, forêt et boo">
            <a:extLst xmlns:a="http://schemas.openxmlformats.org/drawingml/2006/main">
              <a:ext uri="{FF2B5EF4-FFF2-40B4-BE49-F238E27FC236}">
                <a16:creationId xmlns:a16="http://schemas.microsoft.com/office/drawing/2014/main" id="{C77D8119-A75D-488F-B3D8-C166B06505A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Ridge, arbre, forêt et boosting sur les mêmes plis.</a:t>
            </a:r>
          </a:p>
        </p:txBody>
      </p:sp>
      <p:sp>
        <p:nvSpPr>
          <p:cNvPr id="160" name="course-Tracer l'erreur du boosting au fil ">
            <a:extLst xmlns:a="http://schemas.openxmlformats.org/drawingml/2006/main">
              <a:ext uri="{FF2B5EF4-FFF2-40B4-BE49-F238E27FC236}">
                <a16:creationId xmlns:a16="http://schemas.microsoft.com/office/drawing/2014/main" id="{A7F2430C-0AA5-473A-BC57-546BB52925C6}"/>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Tracer l'erreur du boosting au fil des itérations.</a:t>
            </a:r>
          </a:p>
        </p:txBody>
      </p:sp>
      <p:sp>
        <p:nvSpPr>
          <p:cNvPr id="161" name="course-Justifier un compromis entre RMSE, ">
            <a:extLst xmlns:a="http://schemas.openxmlformats.org/drawingml/2006/main">
              <a:ext uri="{FF2B5EF4-FFF2-40B4-BE49-F238E27FC236}">
                <a16:creationId xmlns:a16="http://schemas.microsoft.com/office/drawing/2014/main" id="{163E2B1D-D8DD-405F-AB24-91BD5E9AF71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Justifier un compromis entre RMSE, coût et complexité.</a:t>
            </a:r>
          </a:p>
        </p:txBody>
      </p:sp>
      <p:sp>
        <p:nvSpPr>
          <p:cNvPr id="162" name="course-90 minutes · notebooks/etudiants/02">
            <a:extLst xmlns:a="http://schemas.openxmlformats.org/drawingml/2006/main">
              <a:ext uri="{FF2B5EF4-FFF2-40B4-BE49-F238E27FC236}">
                <a16:creationId xmlns:a16="http://schemas.microsoft.com/office/drawing/2014/main" id="{DF8E31B5-3435-4D39-8B8C-B700189F4EA3}"/>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90 minutes · notebooks/etudiants/02_ensembles.ipynb</a:t>
            </a:r>
          </a:p>
        </p:txBody>
      </p:sp>
      <p:sp>
        <p:nvSpPr>
          <p:cNvPr id="163" name="course-Sources : R07 · liens et détails da">
            <a:extLst xmlns:a="http://schemas.openxmlformats.org/drawingml/2006/main">
              <a:ext uri="{FF2B5EF4-FFF2-40B4-BE49-F238E27FC236}">
                <a16:creationId xmlns:a16="http://schemas.microsoft.com/office/drawing/2014/main" id="{F1088450-8C89-4F3D-A87A-04CE56354BB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R07 · liens et détails dans les notes</a:t>
            </a:r>
          </a:p>
        </p:txBody>
      </p:sp>
    </p:spTree>
    <p:extLst>
      <p:ext uri="{BB962C8B-B14F-4D97-AF65-F5344CB8AC3E}">
        <p14:creationId xmlns:p14="http://schemas.microsoft.com/office/powerpoint/2010/main" val="43622080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d6460d8d3264b1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a0e2a0dc0b74b1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Définir un espace d'hyperparamètres">
            <a:extLst xmlns:a="http://schemas.openxmlformats.org/drawingml/2006/main">
              <a:ext uri="{FF2B5EF4-FFF2-40B4-BE49-F238E27FC236}">
                <a16:creationId xmlns:a16="http://schemas.microsoft.com/office/drawing/2014/main" id="{202B9B8B-8C6C-41E0-B48A-131A39108AE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Définir un espace d'hyperparamètres</a:t>
            </a:r>
          </a:p>
        </p:txBody>
      </p:sp>
      <p:sp>
        <p:nvSpPr>
          <p:cNvPr id="159" name="course-Séparer les paramètres appris des r">
            <a:extLst xmlns:a="http://schemas.openxmlformats.org/drawingml/2006/main">
              <a:ext uri="{FF2B5EF4-FFF2-40B4-BE49-F238E27FC236}">
                <a16:creationId xmlns:a16="http://schemas.microsoft.com/office/drawing/2014/main" id="{D7122876-CC61-4D90-BB8C-069A45791B0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Séparer les paramètres appris des réglages choisis avant fit.</a:t>
            </a:r>
          </a:p>
        </p:txBody>
      </p:sp>
      <p:sp>
        <p:nvSpPr>
          <p:cNvPr id="160" name="course-Utiliser une échelle logarithmique ">
            <a:extLst xmlns:a="http://schemas.openxmlformats.org/drawingml/2006/main">
              <a:ext uri="{FF2B5EF4-FFF2-40B4-BE49-F238E27FC236}">
                <a16:creationId xmlns:a16="http://schemas.microsoft.com/office/drawing/2014/main" id="{5831F520-6011-4DC0-9B2F-B8CA461A324A}"/>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Utiliser une échelle logarithmique pour C, λ ou le learning rate.</a:t>
            </a:r>
          </a:p>
        </p:txBody>
      </p:sp>
      <p:sp>
        <p:nvSpPr>
          <p:cNvPr id="161" name="course-Limiter les plages grâce aux contra">
            <a:extLst xmlns:a="http://schemas.openxmlformats.org/drawingml/2006/main">
              <a:ext uri="{FF2B5EF4-FFF2-40B4-BE49-F238E27FC236}">
                <a16:creationId xmlns:a16="http://schemas.microsoft.com/office/drawing/2014/main" id="{AADBDE51-CF33-4026-8EFD-34F99099A70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Limiter les plages grâce aux contraintes de temps et de mémoire.</a:t>
            </a:r>
          </a:p>
        </p:txBody>
      </p:sp>
      <p:sp>
        <p:nvSpPr>
          <p:cNvPr id="162" name="course-Écrire le budget d'essais avant de ">
            <a:extLst xmlns:a="http://schemas.openxmlformats.org/drawingml/2006/main">
              <a:ext uri="{FF2B5EF4-FFF2-40B4-BE49-F238E27FC236}">
                <a16:creationId xmlns:a16="http://schemas.microsoft.com/office/drawing/2014/main" id="{CC0DD52B-DE89-4B4E-AC58-B202811A3D6E}"/>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Écrire le budget d'essais avant de lancer la recherche</a:t>
            </a:r>
          </a:p>
        </p:txBody>
      </p:sp>
      <p:sp>
        <p:nvSpPr>
          <p:cNvPr id="163" name="course-Sources : R09 · liens et détails da">
            <a:extLst xmlns:a="http://schemas.openxmlformats.org/drawingml/2006/main">
              <a:ext uri="{FF2B5EF4-FFF2-40B4-BE49-F238E27FC236}">
                <a16:creationId xmlns:a16="http://schemas.microsoft.com/office/drawing/2014/main" id="{F4997B3D-B7E3-43A1-95E3-A121665F7E7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R09 · liens et détails dans les notes</a:t>
            </a:r>
          </a:p>
        </p:txBody>
      </p:sp>
    </p:spTree>
    <p:extLst>
      <p:ext uri="{BB962C8B-B14F-4D97-AF65-F5344CB8AC3E}">
        <p14:creationId xmlns:p14="http://schemas.microsoft.com/office/powerpoint/2010/main" val="436220805"/>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f598b6198b446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ad230b8eae846f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Grille, recherche aléatoire et TPE">
            <a:extLst xmlns:a="http://schemas.openxmlformats.org/drawingml/2006/main">
              <a:ext uri="{FF2B5EF4-FFF2-40B4-BE49-F238E27FC236}">
                <a16:creationId xmlns:a16="http://schemas.microsoft.com/office/drawing/2014/main" id="{9BD52289-103E-472F-B071-BA816B4DC74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Grille, recherche aléatoire et TPE</a:t>
            </a:r>
          </a:p>
        </p:txBody>
      </p:sp>
      <p:sp>
        <p:nvSpPr>
          <p:cNvPr id="159" name="course-La grille couvre une liste cartésie">
            <a:extLst xmlns:a="http://schemas.openxmlformats.org/drawingml/2006/main">
              <a:ext uri="{FF2B5EF4-FFF2-40B4-BE49-F238E27FC236}">
                <a16:creationId xmlns:a16="http://schemas.microsoft.com/office/drawing/2014/main" id="{F8CDF574-2D87-4C3D-9676-CA06B0387356}"/>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grille couvre une liste cartésienne de choix.</a:t>
            </a:r>
          </a:p>
        </p:txBody>
      </p:sp>
      <p:sp>
        <p:nvSpPr>
          <p:cNvPr id="160" name="course-La recherche aléatoire explore une ">
            <a:extLst xmlns:a="http://schemas.openxmlformats.org/drawingml/2006/main">
              <a:ext uri="{FF2B5EF4-FFF2-40B4-BE49-F238E27FC236}">
                <a16:creationId xmlns:a16="http://schemas.microsoft.com/office/drawing/2014/main" id="{950129E0-3BDF-4170-B142-6A3375F1E2CE}"/>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recherche aléatoire explore une distribution de configurations.</a:t>
            </a:r>
          </a:p>
        </p:txBody>
      </p:sp>
      <p:sp>
        <p:nvSpPr>
          <p:cNvPr id="161" name="course-TPE adapte les essais à l'historiqu">
            <a:extLst xmlns:a="http://schemas.openxmlformats.org/drawingml/2006/main">
              <a:ext uri="{FF2B5EF4-FFF2-40B4-BE49-F238E27FC236}">
                <a16:creationId xmlns:a16="http://schemas.microsoft.com/office/drawing/2014/main" id="{7FA3390F-61C1-4B98-ABCB-3CBBCEE9FF78}"/>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TPE adapte les essais à l'historique de la recherche.</a:t>
            </a:r>
          </a:p>
        </p:txBody>
      </p:sp>
      <p:sp>
        <p:nvSpPr>
          <p:cNvPr id="162" name="course-Le meilleur score interne est un ré">
            <a:extLst xmlns:a="http://schemas.openxmlformats.org/drawingml/2006/main">
              <a:ext uri="{FF2B5EF4-FFF2-40B4-BE49-F238E27FC236}">
                <a16:creationId xmlns:a16="http://schemas.microsoft.com/office/drawing/2014/main" id="{C473CA77-1E6E-42EE-B62D-B7B9FA73545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Le meilleur score interne est un résultat de sélection</a:t>
            </a:r>
          </a:p>
        </p:txBody>
      </p:sp>
      <p:sp>
        <p:nvSpPr>
          <p:cNvPr id="163" name="course-Sources : R09, R10 · liens et détai">
            <a:extLst xmlns:a="http://schemas.openxmlformats.org/drawingml/2006/main">
              <a:ext uri="{FF2B5EF4-FFF2-40B4-BE49-F238E27FC236}">
                <a16:creationId xmlns:a16="http://schemas.microsoft.com/office/drawing/2014/main" id="{C5A07D88-12CC-4E95-901E-8DCB8F3E99A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R09, R10 · liens et détails dans les notes</a:t>
            </a:r>
          </a:p>
        </p:txBody>
      </p:sp>
    </p:spTree>
    <p:extLst>
      <p:ext uri="{BB962C8B-B14F-4D97-AF65-F5344CB8AC3E}">
        <p14:creationId xmlns:p14="http://schemas.microsoft.com/office/powerpoint/2010/main" val="436220805"/>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049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680c6567ee745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70d6eb248354a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Validation croisée imbriquée">
            <a:extLst xmlns:a="http://schemas.openxmlformats.org/drawingml/2006/main">
              <a:ext uri="{FF2B5EF4-FFF2-40B4-BE49-F238E27FC236}">
                <a16:creationId xmlns:a16="http://schemas.microsoft.com/office/drawing/2014/main" id="{1CA6FF83-7E8F-4D17-A550-534BA69B992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Validation croisée imbriquée</a:t>
            </a:r>
          </a:p>
        </p:txBody>
      </p:sp>
      <p:sp>
        <p:nvSpPr>
          <p:cNvPr id="159" name="course-Boucle interne : choisir les hyperp">
            <a:extLst xmlns:a="http://schemas.openxmlformats.org/drawingml/2006/main">
              <a:ext uri="{FF2B5EF4-FFF2-40B4-BE49-F238E27FC236}">
                <a16:creationId xmlns:a16="http://schemas.microsoft.com/office/drawing/2014/main" id="{39CCEBA4-F3F1-4ADA-821C-219583E5428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Boucle interne : choisir les hyperparamètres sur le train externe.</a:t>
            </a:r>
          </a:p>
        </p:txBody>
      </p:sp>
      <p:sp>
        <p:nvSpPr>
          <p:cNvPr id="160" name="course-Boucle externe : évaluer le choix s">
            <a:extLst xmlns:a="http://schemas.openxmlformats.org/drawingml/2006/main">
              <a:ext uri="{FF2B5EF4-FFF2-40B4-BE49-F238E27FC236}">
                <a16:creationId xmlns:a16="http://schemas.microsoft.com/office/drawing/2014/main" id="{8686029E-9355-457E-963F-E64AC8445CD0}"/>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Boucle externe : évaluer le choix sur un pli qu'il n'a pas vu.</a:t>
            </a:r>
          </a:p>
        </p:txBody>
      </p:sp>
      <p:sp>
        <p:nvSpPr>
          <p:cNvPr id="161" name="course-Répéter pour estimer la performance">
            <a:extLst xmlns:a="http://schemas.openxmlformats.org/drawingml/2006/main">
              <a:ext uri="{FF2B5EF4-FFF2-40B4-BE49-F238E27FC236}">
                <a16:creationId xmlns:a16="http://schemas.microsoft.com/office/drawing/2014/main" id="{782C9CCD-B186-491A-8988-D3C25A782233}"/>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Répéter pour estimer la performance de la procédure de sélection.</a:t>
            </a:r>
          </a:p>
        </p:txBody>
      </p:sp>
      <p:sp>
        <p:nvSpPr>
          <p:cNvPr id="162" name="course-La boucle externe évalue une méthod">
            <a:extLst xmlns:a="http://schemas.openxmlformats.org/drawingml/2006/main">
              <a:ext uri="{FF2B5EF4-FFF2-40B4-BE49-F238E27FC236}">
                <a16:creationId xmlns:a16="http://schemas.microsoft.com/office/drawing/2014/main" id="{E177ED17-BBEF-4BAA-A55F-BCE1D2AD5797}"/>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La boucle externe évalue une méthode de travail, pas un unique modèle final</a:t>
            </a:r>
          </a:p>
        </p:txBody>
      </p:sp>
      <p:sp>
        <p:nvSpPr>
          <p:cNvPr id="163" name="course-Sources : R03, R09 · liens et détai">
            <a:extLst xmlns:a="http://schemas.openxmlformats.org/drawingml/2006/main">
              <a:ext uri="{FF2B5EF4-FFF2-40B4-BE49-F238E27FC236}">
                <a16:creationId xmlns:a16="http://schemas.microsoft.com/office/drawing/2014/main" id="{EC6468FB-B5F5-46BA-A3A1-3FD78B0730B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R03, R09 · liens et détails dans les notes</a:t>
            </a:r>
          </a:p>
        </p:txBody>
      </p:sp>
    </p:spTree>
    <p:extLst>
      <p:ext uri="{BB962C8B-B14F-4D97-AF65-F5344CB8AC3E}">
        <p14:creationId xmlns:p14="http://schemas.microsoft.com/office/powerpoint/2010/main" val="43622080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b5739c5a61e4c8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0875201b859467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optimisation a un coût mesurable">
            <a:extLst xmlns:a="http://schemas.openxmlformats.org/drawingml/2006/main">
              <a:ext uri="{FF2B5EF4-FFF2-40B4-BE49-F238E27FC236}">
                <a16:creationId xmlns:a16="http://schemas.microsoft.com/office/drawing/2014/main" id="{14C0479B-F0A1-412C-B8D4-6973E199CC9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L'optimisation a un coût mesurable</a:t>
            </a:r>
          </a:p>
        </p:txBody>
      </p:sp>
      <p:sp>
        <p:nvSpPr>
          <p:cNvPr id="159" name="course-3 × (8 × 3 + 1) = 75 ajustements">
            <a:extLst xmlns:a="http://schemas.openxmlformats.org/drawingml/2006/main">
              <a:ext uri="{FF2B5EF4-FFF2-40B4-BE49-F238E27FC236}">
                <a16:creationId xmlns:a16="http://schemas.microsoft.com/office/drawing/2014/main" id="{769FE443-48E9-497D-B3AC-24CA490A3318}"/>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3 × (8 × 3 + 1) = 75 ajustements</a:t>
            </a:r>
          </a:p>
        </p:txBody>
      </p:sp>
      <p:sp>
        <p:nvSpPr>
          <p:cNvPr id="160" name="course-Trois plis externes, huit essais, t">
            <a:extLst xmlns:a="http://schemas.openxmlformats.org/drawingml/2006/main">
              <a:ext uri="{FF2B5EF4-FFF2-40B4-BE49-F238E27FC236}">
                <a16:creationId xmlns:a16="http://schemas.microsoft.com/office/drawing/2014/main" id="{1CC56DA7-C2F2-4629-8A45-37D586C7647A}"/>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Trois plis externes, huit essais, trois plis internes.</a:t>
            </a:r>
          </a:p>
        </p:txBody>
      </p:sp>
      <p:sp>
        <p:nvSpPr>
          <p:cNvPr id="161" name="course-Un réajustement du gagnant dans cha">
            <a:extLst xmlns:a="http://schemas.openxmlformats.org/drawingml/2006/main">
              <a:ext uri="{FF2B5EF4-FFF2-40B4-BE49-F238E27FC236}">
                <a16:creationId xmlns:a16="http://schemas.microsoft.com/office/drawing/2014/main" id="{B5E0EDE0-C7EB-4765-A92D-A1771C00276E}"/>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réajustement du gagnant dans chaque train externe.</a:t>
            </a:r>
          </a:p>
        </p:txBody>
      </p:sp>
      <p:sp>
        <p:nvSpPr>
          <p:cNvPr id="162" name="course-Fixer le parallélisme pour ne pas s">
            <a:extLst xmlns:a="http://schemas.openxmlformats.org/drawingml/2006/main">
              <a:ext uri="{FF2B5EF4-FFF2-40B4-BE49-F238E27FC236}">
                <a16:creationId xmlns:a16="http://schemas.microsoft.com/office/drawing/2014/main" id="{6A0A1EFC-9475-40B6-91D8-78B992F88E4E}"/>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Fixer le parallélisme pour ne pas saturer les machines.</a:t>
            </a:r>
          </a:p>
        </p:txBody>
      </p:sp>
      <p:sp>
        <p:nvSpPr>
          <p:cNvPr id="163" name="course-Sources : R09 · liens et détails da">
            <a:extLst xmlns:a="http://schemas.openxmlformats.org/drawingml/2006/main">
              <a:ext uri="{FF2B5EF4-FFF2-40B4-BE49-F238E27FC236}">
                <a16:creationId xmlns:a16="http://schemas.microsoft.com/office/drawing/2014/main" id="{6FBA6438-634C-488B-83D8-BB3A189300D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R09 · liens et détails dans les notes</a:t>
            </a:r>
          </a:p>
        </p:txBody>
      </p:sp>
    </p:spTree>
    <p:extLst>
      <p:ext uri="{BB962C8B-B14F-4D97-AF65-F5344CB8AC3E}">
        <p14:creationId xmlns:p14="http://schemas.microsoft.com/office/powerpoint/2010/main" val="436220805"/>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0feee2ab2cf41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9df13de2221484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Interpréter une petite différence">
            <a:extLst xmlns:a="http://schemas.openxmlformats.org/drawingml/2006/main">
              <a:ext uri="{FF2B5EF4-FFF2-40B4-BE49-F238E27FC236}">
                <a16:creationId xmlns:a16="http://schemas.microsoft.com/office/drawing/2014/main" id="{96D2AEFD-BB6C-467D-9F0E-01CAD0BF853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Interpréter une petite différence</a:t>
            </a:r>
          </a:p>
        </p:txBody>
      </p:sp>
      <p:sp>
        <p:nvSpPr>
          <p:cNvPr id="159" name="course-Comparer les modèles sur les mêmes ">
            <a:extLst xmlns:a="http://schemas.openxmlformats.org/drawingml/2006/main">
              <a:ext uri="{FF2B5EF4-FFF2-40B4-BE49-F238E27FC236}">
                <a16:creationId xmlns:a16="http://schemas.microsoft.com/office/drawing/2014/main" id="{0DB33753-E2DE-46D2-A1FC-25077A67FB4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les modèles sur les mêmes splits.</a:t>
            </a:r>
          </a:p>
        </p:txBody>
      </p:sp>
      <p:sp>
        <p:nvSpPr>
          <p:cNvPr id="160" name="course-Examiner la dispersion, les segment">
            <a:extLst xmlns:a="http://schemas.openxmlformats.org/drawingml/2006/main">
              <a:ext uri="{FF2B5EF4-FFF2-40B4-BE49-F238E27FC236}">
                <a16:creationId xmlns:a16="http://schemas.microsoft.com/office/drawing/2014/main" id="{8B439C28-142A-4F5E-91D0-B0A48DD0FDAE}"/>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Examiner la dispersion, les segments et le coût d'usage.</a:t>
            </a:r>
          </a:p>
        </p:txBody>
      </p:sp>
      <p:sp>
        <p:nvSpPr>
          <p:cNvPr id="161" name="course-Une différence de 0,003 AP n'est pa">
            <a:extLst xmlns:a="http://schemas.openxmlformats.org/drawingml/2006/main">
              <a:ext uri="{FF2B5EF4-FFF2-40B4-BE49-F238E27FC236}">
                <a16:creationId xmlns:a16="http://schemas.microsoft.com/office/drawing/2014/main" id="{54B34B1C-D51F-47A0-9A74-5A8243A88C99}"/>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différence de 0,003 AP n'est pas automatiquement utile ni robuste.</a:t>
            </a:r>
          </a:p>
        </p:txBody>
      </p:sp>
      <p:sp>
        <p:nvSpPr>
          <p:cNvPr id="162" name="course-Les scores de plis corrélés ne sont">
            <a:extLst xmlns:a="http://schemas.openxmlformats.org/drawingml/2006/main">
              <a:ext uri="{FF2B5EF4-FFF2-40B4-BE49-F238E27FC236}">
                <a16:creationId xmlns:a16="http://schemas.microsoft.com/office/drawing/2014/main" id="{9DAA84BC-9095-428B-A1DC-ACDD139A072A}"/>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Les scores de plis corrélés ne sont pas des répétitions indépendantes</a:t>
            </a:r>
          </a:p>
        </p:txBody>
      </p:sp>
      <p:sp>
        <p:nvSpPr>
          <p:cNvPr id="163" name="course-Sources : R03 · liens et détails da">
            <a:extLst xmlns:a="http://schemas.openxmlformats.org/drawingml/2006/main">
              <a:ext uri="{FF2B5EF4-FFF2-40B4-BE49-F238E27FC236}">
                <a16:creationId xmlns:a16="http://schemas.microsoft.com/office/drawing/2014/main" id="{FF502DFA-41EC-4340-8D8E-AA0E16B7EBE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R03 · liens et détails dans les notes</a:t>
            </a:r>
          </a:p>
        </p:txBody>
      </p:sp>
    </p:spTree>
    <p:extLst>
      <p:ext uri="{BB962C8B-B14F-4D97-AF65-F5344CB8AC3E}">
        <p14:creationId xmlns:p14="http://schemas.microsoft.com/office/powerpoint/2010/main" val="436220805"/>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407b1f0b37442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cf40d02705245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3 : optimiser avec un budget fix">
            <a:extLst xmlns:a="http://schemas.openxmlformats.org/drawingml/2006/main">
              <a:ext uri="{FF2B5EF4-FFF2-40B4-BE49-F238E27FC236}">
                <a16:creationId xmlns:a16="http://schemas.microsoft.com/office/drawing/2014/main" id="{2ED76B28-7ABA-41C7-8C47-93E4FA5BC10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TP03 : optimiser avec un budget fixé</a:t>
            </a:r>
          </a:p>
        </p:txBody>
      </p:sp>
      <p:sp>
        <p:nvSpPr>
          <p:cNvPr id="159" name="course-Huit essais aléatoires et huit essa">
            <a:extLst xmlns:a="http://schemas.openxmlformats.org/drawingml/2006/main">
              <a:ext uri="{FF2B5EF4-FFF2-40B4-BE49-F238E27FC236}">
                <a16:creationId xmlns:a16="http://schemas.microsoft.com/office/drawing/2014/main" id="{BA574BEF-C826-4053-90D7-227F0C755E2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Huit essais aléatoires et huit essais TPE par pli externe.</a:t>
            </a:r>
          </a:p>
        </p:txBody>
      </p:sp>
      <p:sp>
        <p:nvSpPr>
          <p:cNvPr id="160" name="course-Même modèle, mêmes bornes et même m">
            <a:extLst xmlns:a="http://schemas.openxmlformats.org/drawingml/2006/main">
              <a:ext uri="{FF2B5EF4-FFF2-40B4-BE49-F238E27FC236}">
                <a16:creationId xmlns:a16="http://schemas.microsoft.com/office/drawing/2014/main" id="{C83062AC-4D2E-4DDF-8492-2EAF255B549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Même modèle, mêmes bornes et même métrique.</a:t>
            </a:r>
          </a:p>
        </p:txBody>
      </p:sp>
      <p:sp>
        <p:nvSpPr>
          <p:cNvPr id="161" name="course-Restituer les scores externes et le">
            <a:extLst xmlns:a="http://schemas.openxmlformats.org/drawingml/2006/main">
              <a:ext uri="{FF2B5EF4-FFF2-40B4-BE49-F238E27FC236}">
                <a16:creationId xmlns:a16="http://schemas.microsoft.com/office/drawing/2014/main" id="{9C65E34B-8BFA-4D99-B9C7-B78CA9EC0004}"/>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Restituer les scores externes et les limites de la comparaison.</a:t>
            </a:r>
          </a:p>
        </p:txBody>
      </p:sp>
      <p:sp>
        <p:nvSpPr>
          <p:cNvPr id="162" name="course-90 minutes · notebooks/etudiants/03">
            <a:extLst xmlns:a="http://schemas.openxmlformats.org/drawingml/2006/main">
              <a:ext uri="{FF2B5EF4-FFF2-40B4-BE49-F238E27FC236}">
                <a16:creationId xmlns:a16="http://schemas.microsoft.com/office/drawing/2014/main" id="{F3FB9B09-4B26-4AC8-AF22-4FDEE9A269B6}"/>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90 minutes · notebooks/etudiants/03_optimisation.ipynb</a:t>
            </a:r>
          </a:p>
        </p:txBody>
      </p:sp>
      <p:sp>
        <p:nvSpPr>
          <p:cNvPr id="163" name="course-Sources : R09, R10 · liens et détai">
            <a:extLst xmlns:a="http://schemas.openxmlformats.org/drawingml/2006/main">
              <a:ext uri="{FF2B5EF4-FFF2-40B4-BE49-F238E27FC236}">
                <a16:creationId xmlns:a16="http://schemas.microsoft.com/office/drawing/2014/main" id="{8779C566-6F1E-464A-A7D4-002D584ABFB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R09, R10 · liens et détails dans les notes</a:t>
            </a:r>
          </a:p>
        </p:txBody>
      </p:sp>
    </p:spTree>
    <p:extLst>
      <p:ext uri="{BB962C8B-B14F-4D97-AF65-F5344CB8AC3E}">
        <p14:creationId xmlns:p14="http://schemas.microsoft.com/office/powerpoint/2010/main" val="436220805"/>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d989f9eea70498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357f90aff6542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iz J2 : mécanismes et protocole">
            <a:extLst xmlns:a="http://schemas.openxmlformats.org/drawingml/2006/main">
              <a:ext uri="{FF2B5EF4-FFF2-40B4-BE49-F238E27FC236}">
                <a16:creationId xmlns:a16="http://schemas.microsoft.com/office/drawing/2014/main" id="{538A1DE5-DE4A-4C16-927B-6586424E29D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Quiz J2 : mécanismes et protocole</a:t>
            </a:r>
          </a:p>
        </p:txBody>
      </p:sp>
      <p:sp>
        <p:nvSpPr>
          <p:cNvPr id="159" name="course-Pourquoi 1 000 arbres identiques n'">
            <a:extLst xmlns:a="http://schemas.openxmlformats.org/drawingml/2006/main">
              <a:ext uri="{FF2B5EF4-FFF2-40B4-BE49-F238E27FC236}">
                <a16:creationId xmlns:a16="http://schemas.microsoft.com/office/drawing/2014/main" id="{A2115F50-4745-46AE-B6F8-CC65ED703ED3}"/>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Pourquoi 1 000 arbres identiques n'améliorent-ils pas une moyenne ?</a:t>
            </a:r>
          </a:p>
        </p:txBody>
      </p:sp>
      <p:sp>
        <p:nvSpPr>
          <p:cNvPr id="160" name="course-Quel objet est appris à chaque étap">
            <a:extLst xmlns:a="http://schemas.openxmlformats.org/drawingml/2006/main">
              <a:ext uri="{FF2B5EF4-FFF2-40B4-BE49-F238E27FC236}">
                <a16:creationId xmlns:a16="http://schemas.microsoft.com/office/drawing/2014/main" id="{87EDDDD4-E823-4E6F-86F5-313F2D8FBDA8}"/>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 objet est appris à chaque étape du gradient boosting ?</a:t>
            </a:r>
          </a:p>
        </p:txBody>
      </p:sp>
      <p:sp>
        <p:nvSpPr>
          <p:cNvPr id="161" name="course-Pourquoi le score du meilleur essai">
            <a:extLst xmlns:a="http://schemas.openxmlformats.org/drawingml/2006/main">
              <a:ext uri="{FF2B5EF4-FFF2-40B4-BE49-F238E27FC236}">
                <a16:creationId xmlns:a16="http://schemas.microsoft.com/office/drawing/2014/main" id="{E855146B-8787-428B-BD5D-790150E1305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Pourquoi le score du meilleur essai surestime-t-il sa performance future ?</a:t>
            </a:r>
          </a:p>
        </p:txBody>
      </p:sp>
      <p:sp>
        <p:nvSpPr>
          <p:cNvPr id="162" name="course-Donner une justification avant de c">
            <a:extLst xmlns:a="http://schemas.openxmlformats.org/drawingml/2006/main">
              <a:ext uri="{FF2B5EF4-FFF2-40B4-BE49-F238E27FC236}">
                <a16:creationId xmlns:a16="http://schemas.microsoft.com/office/drawing/2014/main" id="{3764BB70-841A-4C77-A40E-5F76DE5AC8A2}"/>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Donner une justification avant de citer une bibliothèque</a:t>
            </a:r>
          </a:p>
        </p:txBody>
      </p:sp>
      <p:sp>
        <p:nvSpPr>
          <p:cNvPr id="163" name="course-Sources : R08, R11, R09 · liens et ">
            <a:extLst xmlns:a="http://schemas.openxmlformats.org/drawingml/2006/main">
              <a:ext uri="{FF2B5EF4-FFF2-40B4-BE49-F238E27FC236}">
                <a16:creationId xmlns:a16="http://schemas.microsoft.com/office/drawing/2014/main" id="{FDC4E311-2A63-40C6-89D1-928FD18453D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R08, R11, R09 · liens et détails dans les notes</a:t>
            </a:r>
          </a:p>
        </p:txBody>
      </p:sp>
    </p:spTree>
    <p:extLst>
      <p:ext uri="{BB962C8B-B14F-4D97-AF65-F5344CB8AC3E}">
        <p14:creationId xmlns:p14="http://schemas.microsoft.com/office/powerpoint/2010/main" val="436220805"/>
      </p:ext>
    </p:extLst>
  </p:cSld>
</p:sld>
</file>

<file path=ppt/slides/slide54.xml><?xml version="1.0" encoding="utf-8"?>
<p:sld xmlns:p="http://schemas.openxmlformats.org/presentationml/2006/main">
  <p:cSld>
    <p:bg>
      <p:bgPr>
        <a:solidFill xmlns:a="http://schemas.openxmlformats.org/drawingml/2006/main">
          <a:srgbClr val="F7EEE5"/>
        </a:solidFill>
      </p:bgPr>
    </p:bg>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2fc3b35be88420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987102df141453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s acquis du jour 2">
            <a:extLst xmlns:a="http://schemas.openxmlformats.org/drawingml/2006/main">
              <a:ext uri="{FF2B5EF4-FFF2-40B4-BE49-F238E27FC236}">
                <a16:creationId xmlns:a16="http://schemas.microsoft.com/office/drawing/2014/main" id="{1E4EBE90-8AC1-4AC9-8794-64DA5EB1F7D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Les acquis du jour 2</a:t>
            </a:r>
          </a:p>
        </p:txBody>
      </p:sp>
      <p:sp>
        <p:nvSpPr>
          <p:cNvPr id="159" name="course-Diversifier pour stabiliser et corr">
            <a:extLst xmlns:a="http://schemas.openxmlformats.org/drawingml/2006/main">
              <a:ext uri="{FF2B5EF4-FFF2-40B4-BE49-F238E27FC236}">
                <a16:creationId xmlns:a16="http://schemas.microsoft.com/office/drawing/2014/main" id="{D77D9771-94F7-41A0-9A9E-34BB53CF95C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Diversifier pour stabiliser et corriger progressivement pour réduire l'erreur.</a:t>
            </a:r>
          </a:p>
        </p:txBody>
      </p:sp>
      <p:sp>
        <p:nvSpPr>
          <p:cNvPr id="160" name="course-Régulariser les ensembles et survei">
            <a:extLst xmlns:a="http://schemas.openxmlformats.org/drawingml/2006/main">
              <a:ext uri="{FF2B5EF4-FFF2-40B4-BE49-F238E27FC236}">
                <a16:creationId xmlns:a16="http://schemas.microsoft.com/office/drawing/2014/main" id="{166EDDCF-979A-4E29-91D0-8E01FD4F4AF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Régulariser les ensembles et surveiller le coût.</a:t>
            </a:r>
          </a:p>
        </p:txBody>
      </p:sp>
      <p:sp>
        <p:nvSpPr>
          <p:cNvPr id="161" name="course-Évaluer la recherche elle-même avec">
            <a:extLst xmlns:a="http://schemas.openxmlformats.org/drawingml/2006/main">
              <a:ext uri="{FF2B5EF4-FFF2-40B4-BE49-F238E27FC236}">
                <a16:creationId xmlns:a16="http://schemas.microsoft.com/office/drawing/2014/main" id="{EEF61BF3-4C39-49E4-B10F-B27584CC6AF4}"/>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Évaluer la recherche elle-même avec une validation indépendante.</a:t>
            </a:r>
          </a:p>
        </p:txBody>
      </p:sp>
      <p:sp>
        <p:nvSpPr>
          <p:cNvPr id="162" name="course-Demain : transformer une probabilit">
            <a:extLst xmlns:a="http://schemas.openxmlformats.org/drawingml/2006/main">
              <a:ext uri="{FF2B5EF4-FFF2-40B4-BE49-F238E27FC236}">
                <a16:creationId xmlns:a16="http://schemas.microsoft.com/office/drawing/2014/main" id="{CCACC366-EB85-43A9-B260-67E47F4C20E2}"/>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Demain : transformer une probabilité en décision dans un problème déséquilibré</a:t>
            </a:r>
          </a:p>
        </p:txBody>
      </p:sp>
      <p:sp>
        <p:nvSpPr>
          <p:cNvPr id="163" name="course-Exemple ou activité originale du co">
            <a:extLst xmlns:a="http://schemas.openxmlformats.org/drawingml/2006/main">
              <a:ext uri="{FF2B5EF4-FFF2-40B4-BE49-F238E27FC236}">
                <a16:creationId xmlns:a16="http://schemas.microsoft.com/office/drawing/2014/main" id="{7B7447DC-EA36-41C1-9A27-410A1BBA333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55.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D30FB88-3A64-4DDC-B6FB-A45D76E8720C}"/>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B6515DFA-C6BC-4740-AD89-5A6CFD255906}"/>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6000">
                <a:solidFill>
                  <a:srgbClr val="FFFFFF"/>
                </a:solidFill>
                <a:latin typeface="Roboto Mono"/>
                <a:ea typeface="Roboto Mono"/>
                <a:cs typeface="Roboto Mono"/>
              </a:defRPr>
            </a:pPr>
            <a:r>
              <a:rPr sz="6000" b="0" i="0" u="none" cap="none">
                <a:solidFill>
                  <a:srgbClr val="FFFFFF"/>
                </a:solidFill>
                <a:latin typeface="Roboto Mono"/>
                <a:ea typeface="Roboto Mono"/>
                <a:cs typeface="Roboto Mono"/>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50B8DDD-729E-486B-AEB1-AD033FCC7D35}"/>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E8E5135-6606-4F5B-9C6D-A32E421983FE}"/>
              </a:ext>
            </a:extLst>
          </p:cNvPr>
          <p:cNvSpPr>
            <a:spLocks xmlns:a="http://schemas.openxmlformats.org/drawingml/2006/main" noGrp="1"/>
          </p:cNvSpPr>
          <p:nvPr/>
        </p:nvSpPr>
        <p:spPr>
          <a:xfrm xmlns:a="http://schemas.openxmlformats.org/drawingml/2006/main">
            <a:off x="2619375" y="2209800"/>
            <a:ext cx="8620125" cy="16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050">
                <a:solidFill>
                  <a:srgbClr val="FFFFFF"/>
                </a:solidFill>
                <a:latin typeface="Archivo Black"/>
                <a:ea typeface="Archivo Black"/>
                <a:cs typeface="Archivo Black"/>
              </a:defRPr>
            </a:pPr>
            <a:r>
              <a:rPr sz="4050">
                <a:solidFill>
                  <a:srgbClr val="FFFFFF"/>
                </a:solidFill>
                <a:latin typeface="Archivo Black"/>
                <a:ea typeface="Archivo Black"/>
                <a:cs typeface="Archivo Black"/>
              </a:rPr>
              <a:t>Déséquilibre et features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07C33C7D-4DBF-4A1B-937A-40BA11DC5D81}"/>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C5B0E55E-D350-4972-97F4-240419483916}"/>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055</a:t>
            </a:r>
            <a:endParaRPr sz="1300" b="0" i="0" u="none" cap="none">
              <a:solidFill>
                <a:schemeClr val="dk1"/>
              </a:solidFill>
              <a:latin typeface="Calibri"/>
              <a:ea typeface="Calibri"/>
              <a:cs typeface="Calibri"/>
            </a:endParaRPr>
          </a:p>
        </p:txBody>
      </p:sp>
      <p:pic>
        <p:nvPicPr>
          <p:cNvPr id="150" name="Google Shape;137;p7"/>
          <p:cNvPicPr>
            <a:picLocks xmlns:a="http://schemas.openxmlformats.org/drawingml/2006/main" noChangeAspect="1"/>
          </p:cNvPicPr>
          <p:nvPr/>
        </p:nvPicPr>
        <p:blipFill>
          <a:blip xmlns:r="http://schemas.openxmlformats.org/officeDocument/2006/relationships" xmlns:a="http://schemas.openxmlformats.org/drawingml/2006/main" r:embed="Rd5d6f3b70d7a4d8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1" name="Google Shape;138;p7"/>
          <p:cNvPicPr>
            <a:picLocks xmlns:a="http://schemas.openxmlformats.org/drawingml/2006/main" noChangeAspect="1"/>
          </p:cNvPicPr>
          <p:nvPr/>
        </p:nvPicPr>
        <p:blipFill>
          <a:blip xmlns:r="http://schemas.openxmlformats.org/officeDocument/2006/relationships" xmlns:a="http://schemas.openxmlformats.org/drawingml/2006/main" r:embed="Re51176c1c1e74ae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5E19C1EB-9D5B-4724-9DF6-EA2A1693B50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8710095-3157-4D85-A4A3-C1C07ED06B95}"/>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Mercredi 23 septembre · Relier donn">
            <a:extLst xmlns:a="http://schemas.openxmlformats.org/drawingml/2006/main">
              <a:ext uri="{FF2B5EF4-FFF2-40B4-BE49-F238E27FC236}">
                <a16:creationId xmlns:a16="http://schemas.microsoft.com/office/drawing/2014/main" id="{B7E94CDC-009A-416A-83AA-EB876E299760}"/>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DM Sans"/>
                <a:ea typeface="DM Sans"/>
                <a:cs typeface="DM Sans"/>
              </a:defRPr>
            </a:pPr>
            <a:r>
              <a:rPr sz="2100" b="0">
                <a:solidFill>
                  <a:srgbClr val="FFFFFF"/>
                </a:solidFill>
                <a:latin typeface="DM Sans"/>
                <a:ea typeface="DM Sans"/>
                <a:cs typeface="DM Sans"/>
              </a:rPr>
              <a:t>Mercredi 23 septembre · Relier données, probabilités et décisions</a:t>
            </a:r>
          </a:p>
        </p:txBody>
      </p:sp>
    </p:spTree>
    <p:extLst>
      <p:ext uri="{BB962C8B-B14F-4D97-AF65-F5344CB8AC3E}">
        <p14:creationId xmlns:p14="http://schemas.microsoft.com/office/powerpoint/2010/main" val="500231423"/>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06355b14454445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bff6caaa2ce4dc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rois décisions différentes">
            <a:extLst xmlns:a="http://schemas.openxmlformats.org/drawingml/2006/main">
              <a:ext uri="{FF2B5EF4-FFF2-40B4-BE49-F238E27FC236}">
                <a16:creationId xmlns:a16="http://schemas.microsoft.com/office/drawing/2014/main" id="{754B7F59-B960-4337-99F9-ACE232E5E0B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Trois décisions différentes</a:t>
            </a:r>
          </a:p>
        </p:txBody>
      </p:sp>
      <p:sp>
        <p:nvSpPr>
          <p:cNvPr id="159" name="course-Apprendre un score qui classe les o">
            <a:extLst xmlns:a="http://schemas.openxmlformats.org/drawingml/2006/main">
              <a:ext uri="{FF2B5EF4-FFF2-40B4-BE49-F238E27FC236}">
                <a16:creationId xmlns:a16="http://schemas.microsoft.com/office/drawing/2014/main" id="{F320FE57-5E63-46DD-94C2-F6C9C921710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Apprendre un score qui classe les observations.</a:t>
            </a:r>
          </a:p>
        </p:txBody>
      </p:sp>
      <p:sp>
        <p:nvSpPr>
          <p:cNvPr id="160" name="course-Calibrer ce score pour estimer une ">
            <a:extLst xmlns:a="http://schemas.openxmlformats.org/drawingml/2006/main">
              <a:ext uri="{FF2B5EF4-FFF2-40B4-BE49-F238E27FC236}">
                <a16:creationId xmlns:a16="http://schemas.microsoft.com/office/drawing/2014/main" id="{022E6B5F-28DF-4447-88E5-D464DF67B3E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Calibrer ce score pour estimer une probabilité.</a:t>
            </a:r>
          </a:p>
        </p:txBody>
      </p:sp>
      <p:sp>
        <p:nvSpPr>
          <p:cNvPr id="161" name="course-Choisir une règle d'action selon le">
            <a:extLst xmlns:a="http://schemas.openxmlformats.org/drawingml/2006/main">
              <a:ext uri="{FF2B5EF4-FFF2-40B4-BE49-F238E27FC236}">
                <a16:creationId xmlns:a16="http://schemas.microsoft.com/office/drawing/2014/main" id="{39720923-8637-43C3-A5D8-B014FE89D18A}"/>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une règle d'action selon les coûts et la capacité.</a:t>
            </a:r>
          </a:p>
        </p:txBody>
      </p:sp>
      <p:sp>
        <p:nvSpPr>
          <p:cNvPr id="162" name="course-Améliorer l'une de ces étapes n'amé">
            <a:extLst xmlns:a="http://schemas.openxmlformats.org/drawingml/2006/main">
              <a:ext uri="{FF2B5EF4-FFF2-40B4-BE49-F238E27FC236}">
                <a16:creationId xmlns:a16="http://schemas.microsoft.com/office/drawing/2014/main" id="{99CA4089-E773-42AE-97AA-91259F54727F}"/>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Améliorer l'une de ces étapes n'améliore pas automatiquement les autres</a:t>
            </a:r>
          </a:p>
        </p:txBody>
      </p:sp>
      <p:sp>
        <p:nvSpPr>
          <p:cNvPr id="163" name="course-Sources : R16, R17 · liens et détai">
            <a:extLst xmlns:a="http://schemas.openxmlformats.org/drawingml/2006/main">
              <a:ext uri="{FF2B5EF4-FFF2-40B4-BE49-F238E27FC236}">
                <a16:creationId xmlns:a16="http://schemas.microsoft.com/office/drawing/2014/main" id="{D81D386E-ACDE-49DD-A94E-9BF4D438DE2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R16, R17 · liens et détails dans les notes</a:t>
            </a:r>
          </a:p>
        </p:txBody>
      </p:sp>
    </p:spTree>
    <p:extLst>
      <p:ext uri="{BB962C8B-B14F-4D97-AF65-F5344CB8AC3E}">
        <p14:creationId xmlns:p14="http://schemas.microsoft.com/office/powerpoint/2010/main" val="436220805"/>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6d28948dbb94dd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df5f5b36fe64b6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Donner un coût aux erreurs">
            <a:extLst xmlns:a="http://schemas.openxmlformats.org/drawingml/2006/main">
              <a:ext uri="{FF2B5EF4-FFF2-40B4-BE49-F238E27FC236}">
                <a16:creationId xmlns:a16="http://schemas.microsoft.com/office/drawing/2014/main" id="{9BC3162B-10E3-47B3-8B25-C41EC5E8CBCB}"/>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Donner un coût aux erreurs</a:t>
            </a:r>
          </a:p>
        </p:txBody>
      </p:sp>
      <p:sp>
        <p:nvSpPr>
          <p:cNvPr id="159" name="course-Coût(t) = CFP × FP(t) + CFN × FN(t)">
            <a:extLst xmlns:a="http://schemas.openxmlformats.org/drawingml/2006/main">
              <a:ext uri="{FF2B5EF4-FFF2-40B4-BE49-F238E27FC236}">
                <a16:creationId xmlns:a16="http://schemas.microsoft.com/office/drawing/2014/main" id="{3DFDF10A-EE3F-414B-AF5B-02C4FF214289}"/>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Coût(t) = CFP × FP(t) + CFN × FN(t)</a:t>
            </a:r>
          </a:p>
        </p:txBody>
      </p:sp>
      <p:sp>
        <p:nvSpPr>
          <p:cNvPr id="160" name="course-Définir les coûts avec les personne">
            <a:extLst xmlns:a="http://schemas.openxmlformats.org/drawingml/2006/main">
              <a:ext uri="{FF2B5EF4-FFF2-40B4-BE49-F238E27FC236}">
                <a16:creationId xmlns:a16="http://schemas.microsoft.com/office/drawing/2014/main" id="{5888213D-FC92-42E9-AC5B-0CA98B35B1B8}"/>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Définir les coûts avec les personnes qui prennent la décision.</a:t>
            </a:r>
          </a:p>
        </p:txBody>
      </p:sp>
      <p:sp>
        <p:nvSpPr>
          <p:cNvPr id="161" name="course-Tester leur sensibilité plutôt que ">
            <a:extLst xmlns:a="http://schemas.openxmlformats.org/drawingml/2006/main">
              <a:ext uri="{FF2B5EF4-FFF2-40B4-BE49-F238E27FC236}">
                <a16:creationId xmlns:a16="http://schemas.microsoft.com/office/drawing/2014/main" id="{DD9854F8-CAC3-41AB-983E-A76AE1E48649}"/>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Tester leur sensibilité plutôt que figer une valeur arbitraire.</a:t>
            </a:r>
          </a:p>
        </p:txBody>
      </p:sp>
      <p:sp>
        <p:nvSpPr>
          <p:cNvPr id="162" name="course-Distinguer coût moyen, nombre d'ale">
            <a:extLst xmlns:a="http://schemas.openxmlformats.org/drawingml/2006/main">
              <a:ext uri="{FF2B5EF4-FFF2-40B4-BE49-F238E27FC236}">
                <a16:creationId xmlns:a16="http://schemas.microsoft.com/office/drawing/2014/main" id="{DF11B489-85CA-4D41-8DB5-E98716B0DE91}"/>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Distinguer coût moyen, nombre d'alertes et contraintes de capacité.</a:t>
            </a:r>
          </a:p>
        </p:txBody>
      </p:sp>
      <p:sp>
        <p:nvSpPr>
          <p:cNvPr id="163" name="course-Sources : R17 · liens et détails da">
            <a:extLst xmlns:a="http://schemas.openxmlformats.org/drawingml/2006/main">
              <a:ext uri="{FF2B5EF4-FFF2-40B4-BE49-F238E27FC236}">
                <a16:creationId xmlns:a16="http://schemas.microsoft.com/office/drawing/2014/main" id="{D78CE70A-ACC9-4426-B03D-2F6B29B31C51}"/>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R17 · liens et détails dans les notes</a:t>
            </a:r>
          </a:p>
        </p:txBody>
      </p:sp>
    </p:spTree>
    <p:extLst>
      <p:ext uri="{BB962C8B-B14F-4D97-AF65-F5344CB8AC3E}">
        <p14:creationId xmlns:p14="http://schemas.microsoft.com/office/powerpoint/2010/main" val="436220805"/>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058</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837a514065e417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623584b261b4e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 seuil doit être choisi sur valid">
            <a:extLst xmlns:a="http://schemas.openxmlformats.org/drawingml/2006/main">
              <a:ext uri="{FF2B5EF4-FFF2-40B4-BE49-F238E27FC236}">
                <a16:creationId xmlns:a16="http://schemas.microsoft.com/office/drawing/2014/main" id="{241023C6-622E-48D0-8AA9-ADBFDB0D7FB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 seuil doit être choisi sur validation</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2a80ee4010f54ebe"/>
          </a:graphicData>
        </a:graphic>
      </p:graphicFrame>
      <p:sp>
        <p:nvSpPr>
          <p:cNvPr id="160" name="course-Un seuil bas augmente souvent rappe">
            <a:extLst xmlns:a="http://schemas.openxmlformats.org/drawingml/2006/main">
              <a:ext uri="{FF2B5EF4-FFF2-40B4-BE49-F238E27FC236}">
                <a16:creationId xmlns:a16="http://schemas.microsoft.com/office/drawing/2014/main" id="{11A6EDEA-32B4-4BC1-B959-807CBD2BD2AA}"/>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Un seuil bas augmente souvent rappel et volume d'alertes.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 minimum de coût dépend des coûts choisis.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 test final reste fermé pendant ce réglage.</a:t>
            </a:r>
          </a:p>
        </p:txBody>
      </p:sp>
      <p:sp>
        <p:nvSpPr>
          <p:cNvPr id="161" name="course-Coûts pédagogiques sur validation s">
            <a:extLst xmlns:a="http://schemas.openxmlformats.org/drawingml/2006/main">
              <a:ext uri="{FF2B5EF4-FFF2-40B4-BE49-F238E27FC236}">
                <a16:creationId xmlns:a16="http://schemas.microsoft.com/office/drawing/2014/main" id="{30FB8FAB-7E1A-43F9-BA3A-4BDDDCCB335B}"/>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Coûts pédagogiques sur validation synthétique. Le test ne sert pas à choisir le seuil.</a:t>
            </a:r>
          </a:p>
        </p:txBody>
      </p:sp>
      <p:sp>
        <p:nvSpPr>
          <p:cNvPr id="162" name="course-Sources : R17 · liens et détails da">
            <a:extLst xmlns:a="http://schemas.openxmlformats.org/drawingml/2006/main">
              <a:ext uri="{FF2B5EF4-FFF2-40B4-BE49-F238E27FC236}">
                <a16:creationId xmlns:a16="http://schemas.microsoft.com/office/drawing/2014/main" id="{9B9F6B34-2DFB-4126-8229-D2CCBF27120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R17 · liens et détails dans les notes</a:t>
            </a:r>
          </a:p>
        </p:txBody>
      </p:sp>
    </p:spTree>
    <p:extLst>
      <p:ext uri="{BB962C8B-B14F-4D97-AF65-F5344CB8AC3E}">
        <p14:creationId xmlns:p14="http://schemas.microsoft.com/office/powerpoint/2010/main" val="436220805"/>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059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a2e0b5b805942b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51429b2d3304b8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 seuil théorique sous hypothèses">
            <a:extLst xmlns:a="http://schemas.openxmlformats.org/drawingml/2006/main">
              <a:ext uri="{FF2B5EF4-FFF2-40B4-BE49-F238E27FC236}">
                <a16:creationId xmlns:a16="http://schemas.microsoft.com/office/drawing/2014/main" id="{E4F205B5-3DB6-44D2-B29E-5F1970284AC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 seuil théorique sous hypothèses</a:t>
            </a:r>
          </a:p>
        </p:txBody>
      </p:sp>
      <p:sp>
        <p:nvSpPr>
          <p:cNvPr id="159" name="course-Agir si p(y=1|x) &gt; CFP / (CFP + CFN">
            <a:extLst xmlns:a="http://schemas.openxmlformats.org/drawingml/2006/main">
              <a:ext uri="{FF2B5EF4-FFF2-40B4-BE49-F238E27FC236}">
                <a16:creationId xmlns:a16="http://schemas.microsoft.com/office/drawing/2014/main" id="{FFAC7C73-2970-47DC-8DA7-56F754C111E2}"/>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Agir si p(y=1|x) &gt; CFP / (CFP + CFN)</a:t>
            </a:r>
          </a:p>
        </p:txBody>
      </p:sp>
      <p:sp>
        <p:nvSpPr>
          <p:cNvPr id="160" name="course-Hypothèse : probabilités calibrées ">
            <a:extLst xmlns:a="http://schemas.openxmlformats.org/drawingml/2006/main">
              <a:ext uri="{FF2B5EF4-FFF2-40B4-BE49-F238E27FC236}">
                <a16:creationId xmlns:a16="http://schemas.microsoft.com/office/drawing/2014/main" id="{CD88175E-928E-4CC4-8E61-CDA3A69AA294}"/>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Hypothèse : probabilités calibrées pour la population d'usage.</a:t>
            </a:r>
          </a:p>
        </p:txBody>
      </p:sp>
      <p:sp>
        <p:nvSpPr>
          <p:cNvPr id="161" name="course-Hypothèse : deux coûts fixes et auc">
            <a:extLst xmlns:a="http://schemas.openxmlformats.org/drawingml/2006/main">
              <a:ext uri="{FF2B5EF4-FFF2-40B4-BE49-F238E27FC236}">
                <a16:creationId xmlns:a16="http://schemas.microsoft.com/office/drawing/2014/main" id="{BFC9F413-3E5A-4C79-8077-1179D3DFDD7E}"/>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Hypothèse : deux coûts fixes et aucun coût pour les décisions correctes.</a:t>
            </a:r>
          </a:p>
        </p:txBody>
      </p:sp>
      <p:sp>
        <p:nvSpPr>
          <p:cNvPr id="162" name="course-Avec CFP=1 et CFN=5, le seuil théor">
            <a:extLst xmlns:a="http://schemas.openxmlformats.org/drawingml/2006/main">
              <a:ext uri="{FF2B5EF4-FFF2-40B4-BE49-F238E27FC236}">
                <a16:creationId xmlns:a16="http://schemas.microsoft.com/office/drawing/2014/main" id="{BFB2E656-9F9C-4352-8A61-B22836DB20E2}"/>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Avec CFP=1 et CFN=5, le seuil théorique vaut 1/6.</a:t>
            </a:r>
          </a:p>
        </p:txBody>
      </p:sp>
      <p:sp>
        <p:nvSpPr>
          <p:cNvPr id="163" name="course-Sources : R17 · liens et détails da">
            <a:extLst xmlns:a="http://schemas.openxmlformats.org/drawingml/2006/main">
              <a:ext uri="{FF2B5EF4-FFF2-40B4-BE49-F238E27FC236}">
                <a16:creationId xmlns:a16="http://schemas.microsoft.com/office/drawing/2014/main" id="{EB228954-AAD1-495C-B052-0131A23B4CA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R17 · liens et détails dans les notes</a:t>
            </a:r>
          </a:p>
        </p:txBody>
      </p:sp>
    </p:spTree>
    <p:extLst>
      <p:ext uri="{BB962C8B-B14F-4D97-AF65-F5344CB8AC3E}">
        <p14:creationId xmlns:p14="http://schemas.microsoft.com/office/powerpoint/2010/main" val="436220805"/>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5c9f03ad48a49c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c56cb3268740f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Fβ et rappel sous contrainte">
            <a:extLst xmlns:a="http://schemas.openxmlformats.org/drawingml/2006/main">
              <a:ext uri="{FF2B5EF4-FFF2-40B4-BE49-F238E27FC236}">
                <a16:creationId xmlns:a16="http://schemas.microsoft.com/office/drawing/2014/main" id="{4534D386-BC68-4D15-B95A-AD9EC3ADDACF}"/>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Fβ et rappel sous contrainte</a:t>
            </a:r>
          </a:p>
        </p:txBody>
      </p:sp>
      <p:sp>
        <p:nvSpPr>
          <p:cNvPr id="159" name="course-Fβ = (1 + β²) × précision × rappel ">
            <a:extLst xmlns:a="http://schemas.openxmlformats.org/drawingml/2006/main">
              <a:ext uri="{FF2B5EF4-FFF2-40B4-BE49-F238E27FC236}">
                <a16:creationId xmlns:a16="http://schemas.microsoft.com/office/drawing/2014/main" id="{ACCCACF7-6C0A-4214-8489-DC9EECEF2294}"/>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Fβ = (1 + β²) × précision × rappel / (β² × précision + rappel)</a:t>
            </a:r>
          </a:p>
        </p:txBody>
      </p:sp>
      <p:sp>
        <p:nvSpPr>
          <p:cNvPr id="160" name="course-β &gt; 1 donne plus de poids au rappel">
            <a:extLst xmlns:a="http://schemas.openxmlformats.org/drawingml/2006/main">
              <a:ext uri="{FF2B5EF4-FFF2-40B4-BE49-F238E27FC236}">
                <a16:creationId xmlns:a16="http://schemas.microsoft.com/office/drawing/2014/main" id="{41182429-E1A2-428A-A16C-31458AE3E8CA}"/>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β &gt; 1 donne plus de poids au rappel dans la moyenne harmonique.</a:t>
            </a:r>
          </a:p>
        </p:txBody>
      </p:sp>
      <p:sp>
        <p:nvSpPr>
          <p:cNvPr id="161" name="course-Un objectif « rappel maximal avec p">
            <a:extLst xmlns:a="http://schemas.openxmlformats.org/drawingml/2006/main">
              <a:ext uri="{FF2B5EF4-FFF2-40B4-BE49-F238E27FC236}">
                <a16:creationId xmlns:a16="http://schemas.microsoft.com/office/drawing/2014/main" id="{C93EB308-6B60-4E22-AD45-0E2081BA1FA1}"/>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objectif « rappel maximal avec précision ≥ 60 % » est une autre règle.</a:t>
            </a:r>
          </a:p>
        </p:txBody>
      </p:sp>
      <p:sp>
        <p:nvSpPr>
          <p:cNvPr id="162" name="course-Toujours rapporter les effectifs et">
            <a:extLst xmlns:a="http://schemas.openxmlformats.org/drawingml/2006/main">
              <a:ext uri="{FF2B5EF4-FFF2-40B4-BE49-F238E27FC236}">
                <a16:creationId xmlns:a16="http://schemas.microsoft.com/office/drawing/2014/main" id="{E7CFF593-99A2-45C9-9E54-43ED3477B737}"/>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Toujours rapporter les effectifs et la capacité nécessaire.</a:t>
            </a:r>
          </a:p>
        </p:txBody>
      </p:sp>
      <p:sp>
        <p:nvSpPr>
          <p:cNvPr id="163" name="course-Sources : R04 · liens et détails da">
            <a:extLst xmlns:a="http://schemas.openxmlformats.org/drawingml/2006/main">
              <a:ext uri="{FF2B5EF4-FFF2-40B4-BE49-F238E27FC236}">
                <a16:creationId xmlns:a16="http://schemas.microsoft.com/office/drawing/2014/main" id="{24FD0191-D106-4597-B645-C6C270C93A9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R04 · liens et détails dans les notes</a:t>
            </a:r>
          </a:p>
        </p:txBody>
      </p:sp>
    </p:spTree>
    <p:extLst>
      <p:ext uri="{BB962C8B-B14F-4D97-AF65-F5344CB8AC3E}">
        <p14:creationId xmlns:p14="http://schemas.microsoft.com/office/powerpoint/2010/main" val="436220805"/>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061</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601cd8d66e94f8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aa57e92d16248c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inq leviers contre le déséquilibre">
            <a:extLst xmlns:a="http://schemas.openxmlformats.org/drawingml/2006/main">
              <a:ext uri="{FF2B5EF4-FFF2-40B4-BE49-F238E27FC236}">
                <a16:creationId xmlns:a16="http://schemas.microsoft.com/office/drawing/2014/main" id="{4FC17E77-788E-4B27-A5CE-2718CB1E5E0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Cinq leviers contre le déséquilibre</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Action</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Ce qui change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Ce qui reste à évaluer</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Poids de classes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Perte d'entraînement</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Calibration et seuil</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Sous-échantillonnage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Données majoritaires vues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Information perdue</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Sur-échantillonnage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Fréquence des minoritaires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Surapprentissage</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SMOTE / SMOTENC</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Observations synthétiques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Géométrie, bruit, catégories</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Réglage du seuil</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Décision finale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Coût et capacité opérationnelle</a:t>
                      </a:r>
                    </a:p>
                  </a:txBody>
                  <a:tcPr marL="91440" marR="91440" marT="45720" marB="45720">
                    <a:solidFill>
                      <a:srgbClr val="F4F5F8"/>
                    </a:solidFill>
                  </a:tcPr>
                </a:tc>
              </a:tr>
            </a:tbl>
          </a:graphicData>
        </a:graphic>
      </p:graphicFrame>
      <p:sp>
        <p:nvSpPr>
          <p:cNvPr id="160" name="course-">
            <a:extLst xmlns:a="http://schemas.openxmlformats.org/drawingml/2006/main">
              <a:ext uri="{FF2B5EF4-FFF2-40B4-BE49-F238E27FC236}">
                <a16:creationId xmlns:a16="http://schemas.microsoft.com/office/drawing/2014/main" id="{48C95D2F-5692-4127-9090-806EE38445C3}"/>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14, R17 · liens et détai">
            <a:extLst xmlns:a="http://schemas.openxmlformats.org/drawingml/2006/main">
              <a:ext uri="{FF2B5EF4-FFF2-40B4-BE49-F238E27FC236}">
                <a16:creationId xmlns:a16="http://schemas.microsoft.com/office/drawing/2014/main" id="{920B2954-ACCA-472B-BDD4-F5D950A8808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R14, R17 · liens et détails dans les notes</a:t>
            </a:r>
          </a:p>
        </p:txBody>
      </p:sp>
    </p:spTree>
    <p:extLst>
      <p:ext uri="{BB962C8B-B14F-4D97-AF65-F5344CB8AC3E}">
        <p14:creationId xmlns:p14="http://schemas.microsoft.com/office/powerpoint/2010/main" val="436220805"/>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70d540e084d48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8b5135bc054e9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ondérer la fonction de perte">
            <a:extLst xmlns:a="http://schemas.openxmlformats.org/drawingml/2006/main">
              <a:ext uri="{FF2B5EF4-FFF2-40B4-BE49-F238E27FC236}">
                <a16:creationId xmlns:a16="http://schemas.microsoft.com/office/drawing/2014/main" id="{78610391-92E9-4FAA-8087-EBEA540E79B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Pondérer la fonction de perte</a:t>
            </a:r>
          </a:p>
        </p:txBody>
      </p:sp>
      <p:sp>
        <p:nvSpPr>
          <p:cNvPr id="159" name="course-L = Σi wi ℓ(yi, f(xi))">
            <a:extLst xmlns:a="http://schemas.openxmlformats.org/drawingml/2006/main">
              <a:ext uri="{FF2B5EF4-FFF2-40B4-BE49-F238E27FC236}">
                <a16:creationId xmlns:a16="http://schemas.microsoft.com/office/drawing/2014/main" id="{8A3E4B7C-7961-4E59-A35C-16B35282AA68}"/>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L = Σi wi ℓ(yi, f(xi))</a:t>
            </a:r>
          </a:p>
        </p:txBody>
      </p:sp>
      <p:sp>
        <p:nvSpPr>
          <p:cNvPr id="160" name="course-Les observations coûteuses ou minor">
            <a:extLst xmlns:a="http://schemas.openxmlformats.org/drawingml/2006/main">
              <a:ext uri="{FF2B5EF4-FFF2-40B4-BE49-F238E27FC236}">
                <a16:creationId xmlns:a16="http://schemas.microsoft.com/office/drawing/2014/main" id="{C6FFEE3F-12F4-4399-A212-5881E8B4A68A}"/>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observations coûteuses ou minoritaires contribuent davantage à l'objectif.</a:t>
            </a:r>
          </a:p>
        </p:txBody>
      </p:sp>
      <p:sp>
        <p:nvSpPr>
          <p:cNvPr id="161" name="course-class_weight ne crée aucune observa">
            <a:extLst xmlns:a="http://schemas.openxmlformats.org/drawingml/2006/main">
              <a:ext uri="{FF2B5EF4-FFF2-40B4-BE49-F238E27FC236}">
                <a16:creationId xmlns:a16="http://schemas.microsoft.com/office/drawing/2014/main" id="{8B07F797-ECE2-49BB-AAED-172C8BCD5A0A}"/>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class_weight ne crée aucune observation supplémentaire.</a:t>
            </a:r>
          </a:p>
        </p:txBody>
      </p:sp>
      <p:sp>
        <p:nvSpPr>
          <p:cNvPr id="162" name="course-La probabilité produite peut nécess">
            <a:extLst xmlns:a="http://schemas.openxmlformats.org/drawingml/2006/main">
              <a:ext uri="{FF2B5EF4-FFF2-40B4-BE49-F238E27FC236}">
                <a16:creationId xmlns:a16="http://schemas.microsoft.com/office/drawing/2014/main" id="{E31649B3-F872-4016-B35B-61040C7DD41C}"/>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probabilité produite peut nécessiter une recalibration.</a:t>
            </a:r>
          </a:p>
        </p:txBody>
      </p:sp>
      <p:sp>
        <p:nvSpPr>
          <p:cNvPr id="163" name="course-Sources : R14, R16 · liens et détai">
            <a:extLst xmlns:a="http://schemas.openxmlformats.org/drawingml/2006/main">
              <a:ext uri="{FF2B5EF4-FFF2-40B4-BE49-F238E27FC236}">
                <a16:creationId xmlns:a16="http://schemas.microsoft.com/office/drawing/2014/main" id="{032F0BBA-2CEB-469C-8C13-87D681F6E48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R14, R16 · liens et détails dans les notes</a:t>
            </a:r>
          </a:p>
        </p:txBody>
      </p:sp>
    </p:spTree>
    <p:extLst>
      <p:ext uri="{BB962C8B-B14F-4D97-AF65-F5344CB8AC3E}">
        <p14:creationId xmlns:p14="http://schemas.microsoft.com/office/powerpoint/2010/main" val="43622080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6a185ab01742e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c91de9abd5a429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MOTE : interpoler dans la classe m">
            <a:extLst xmlns:a="http://schemas.openxmlformats.org/drawingml/2006/main">
              <a:ext uri="{FF2B5EF4-FFF2-40B4-BE49-F238E27FC236}">
                <a16:creationId xmlns:a16="http://schemas.microsoft.com/office/drawing/2014/main" id="{335910FF-7BE8-4ED1-869B-0F6728C51B2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SMOTE : interpoler dans la classe minoritaire</a:t>
            </a:r>
          </a:p>
        </p:txBody>
      </p:sp>
      <p:sp>
        <p:nvSpPr>
          <p:cNvPr id="159" name="course-xnouveau = xi + u (xvoisin − xi), a">
            <a:extLst xmlns:a="http://schemas.openxmlformats.org/drawingml/2006/main">
              <a:ext uri="{FF2B5EF4-FFF2-40B4-BE49-F238E27FC236}">
                <a16:creationId xmlns:a16="http://schemas.microsoft.com/office/drawing/2014/main" id="{D28B9452-28CC-47DD-953C-E7A278F654DE}"/>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xnouveau = xi + u (xvoisin − xi), avec u ∈ [0,1]</a:t>
            </a:r>
          </a:p>
        </p:txBody>
      </p:sp>
      <p:sp>
        <p:nvSpPr>
          <p:cNvPr id="160" name="course-Choisir un voisin minoritaire selon">
            <a:extLst xmlns:a="http://schemas.openxmlformats.org/drawingml/2006/main">
              <a:ext uri="{FF2B5EF4-FFF2-40B4-BE49-F238E27FC236}">
                <a16:creationId xmlns:a16="http://schemas.microsoft.com/office/drawing/2014/main" id="{E840153B-66E9-4D0E-9ADC-F1F42098B1D1}"/>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un voisin minoritaire selon une distance.</a:t>
            </a:r>
          </a:p>
        </p:txBody>
      </p:sp>
      <p:sp>
        <p:nvSpPr>
          <p:cNvPr id="161" name="course-Créer un point sur le segment qui r">
            <a:extLst xmlns:a="http://schemas.openxmlformats.org/drawingml/2006/main">
              <a:ext uri="{FF2B5EF4-FFF2-40B4-BE49-F238E27FC236}">
                <a16:creationId xmlns:a16="http://schemas.microsoft.com/office/drawing/2014/main" id="{1A237C8A-C52B-4845-BFA2-DDCEAC8D42C1}"/>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Créer un point sur le segment qui relie deux observations.</a:t>
            </a:r>
          </a:p>
        </p:txBody>
      </p:sp>
      <p:sp>
        <p:nvSpPr>
          <p:cNvPr id="162" name="course-Vérifier que cette interpolation re">
            <a:extLst xmlns:a="http://schemas.openxmlformats.org/drawingml/2006/main">
              <a:ext uri="{FF2B5EF4-FFF2-40B4-BE49-F238E27FC236}">
                <a16:creationId xmlns:a16="http://schemas.microsoft.com/office/drawing/2014/main" id="{3C28F730-CDA6-423E-A8A4-E3F2787EB62D}"/>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Vérifier que cette interpolation reste plausible.</a:t>
            </a:r>
          </a:p>
        </p:txBody>
      </p:sp>
      <p:sp>
        <p:nvSpPr>
          <p:cNvPr id="163" name="course-Sources : R15 · liens et détails da">
            <a:extLst xmlns:a="http://schemas.openxmlformats.org/drawingml/2006/main">
              <a:ext uri="{FF2B5EF4-FFF2-40B4-BE49-F238E27FC236}">
                <a16:creationId xmlns:a16="http://schemas.microsoft.com/office/drawing/2014/main" id="{D22A0223-7C4E-42B7-A38B-418254C9E98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R15 · liens et détails dans les notes</a:t>
            </a:r>
          </a:p>
        </p:txBody>
      </p:sp>
    </p:spTree>
    <p:extLst>
      <p:ext uri="{BB962C8B-B14F-4D97-AF65-F5344CB8AC3E}">
        <p14:creationId xmlns:p14="http://schemas.microsoft.com/office/powerpoint/2010/main" val="436220805"/>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03cb5b470d142f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01fe618b2a44b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Où placer le rééchantillonnage ?">
            <a:extLst xmlns:a="http://schemas.openxmlformats.org/drawingml/2006/main">
              <a:ext uri="{FF2B5EF4-FFF2-40B4-BE49-F238E27FC236}">
                <a16:creationId xmlns:a16="http://schemas.microsoft.com/office/drawing/2014/main" id="{B7EFC1AC-61ED-4444-96CF-B60EE86AD60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Où placer le rééchantillonnage ?</a:t>
            </a:r>
          </a:p>
        </p:txBody>
      </p:sp>
      <p:sp>
        <p:nvSpPr>
          <p:cNvPr id="159" name="course-Réserver le test avant tout samplin">
            <a:extLst xmlns:a="http://schemas.openxmlformats.org/drawingml/2006/main">
              <a:ext uri="{FF2B5EF4-FFF2-40B4-BE49-F238E27FC236}">
                <a16:creationId xmlns:a16="http://schemas.microsoft.com/office/drawing/2014/main" id="{0CBA6BF3-08FF-4CDB-92DA-B430BA3CDB2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Réserver le test avant tout sampling.</a:t>
            </a:r>
          </a:p>
        </p:txBody>
      </p:sp>
      <p:sp>
        <p:nvSpPr>
          <p:cNvPr id="160" name="course-Dans chaque pli : apprendre le prét">
            <a:extLst xmlns:a="http://schemas.openxmlformats.org/drawingml/2006/main">
              <a:ext uri="{FF2B5EF4-FFF2-40B4-BE49-F238E27FC236}">
                <a16:creationId xmlns:a16="http://schemas.microsoft.com/office/drawing/2014/main" id="{1BF993CC-2AB9-4763-803E-55E0CF9AB0E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Dans chaque pli : apprendre le prétraitement et sampler uniquement le train.</a:t>
            </a:r>
          </a:p>
        </p:txBody>
      </p:sp>
      <p:sp>
        <p:nvSpPr>
          <p:cNvPr id="161" name="course-Évaluer sur la distribution naturel">
            <a:extLst xmlns:a="http://schemas.openxmlformats.org/drawingml/2006/main">
              <a:ext uri="{FF2B5EF4-FFF2-40B4-BE49-F238E27FC236}">
                <a16:creationId xmlns:a16="http://schemas.microsoft.com/office/drawing/2014/main" id="{855C41B5-6C14-4EB9-A1C5-CDC08F7DD91D}"/>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Évaluer sur la distribution naturelle du pli de validation.</a:t>
            </a:r>
          </a:p>
        </p:txBody>
      </p:sp>
      <p:sp>
        <p:nvSpPr>
          <p:cNvPr id="162" name="course-Utiliser imblearn.Pipeline pour enc">
            <a:extLst xmlns:a="http://schemas.openxmlformats.org/drawingml/2006/main">
              <a:ext uri="{FF2B5EF4-FFF2-40B4-BE49-F238E27FC236}">
                <a16:creationId xmlns:a16="http://schemas.microsoft.com/office/drawing/2014/main" id="{3DC3CB2B-931B-4BA3-B5BE-0D4B6DA6AB2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Utiliser imblearn.Pipeline pour encapsuler cette procédure</a:t>
            </a:r>
          </a:p>
        </p:txBody>
      </p:sp>
      <p:sp>
        <p:nvSpPr>
          <p:cNvPr id="163" name="course-Sources : R14, R15 · liens et détai">
            <a:extLst xmlns:a="http://schemas.openxmlformats.org/drawingml/2006/main">
              <a:ext uri="{FF2B5EF4-FFF2-40B4-BE49-F238E27FC236}">
                <a16:creationId xmlns:a16="http://schemas.microsoft.com/office/drawing/2014/main" id="{0683D459-D0F0-47A3-8ABC-DDA707D17C2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R14, R15 · liens et détails dans les notes</a:t>
            </a:r>
          </a:p>
        </p:txBody>
      </p:sp>
    </p:spTree>
    <p:extLst>
      <p:ext uri="{BB962C8B-B14F-4D97-AF65-F5344CB8AC3E}">
        <p14:creationId xmlns:p14="http://schemas.microsoft.com/office/powerpoint/2010/main" val="436220805"/>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065</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a1f966da2bce41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3684a8c3fb5f4c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ire une courbe de calibration">
            <a:extLst xmlns:a="http://schemas.openxmlformats.org/drawingml/2006/main">
              <a:ext uri="{FF2B5EF4-FFF2-40B4-BE49-F238E27FC236}">
                <a16:creationId xmlns:a16="http://schemas.microsoft.com/office/drawing/2014/main" id="{81F34AEF-45FD-4B82-BA17-7569B74DF39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Lire une courbe de calibration</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9921f8de1fef4e51"/>
          </a:graphicData>
        </a:graphic>
      </p:graphicFrame>
      <p:sp>
        <p:nvSpPr>
          <p:cNvPr id="160" name="course-Une probabilité annoncée de 0,8 doi">
            <a:extLst xmlns:a="http://schemas.openxmlformats.org/drawingml/2006/main">
              <a:ext uri="{FF2B5EF4-FFF2-40B4-BE49-F238E27FC236}">
                <a16:creationId xmlns:a16="http://schemas.microsoft.com/office/drawing/2014/main" id="{3D8307C5-391A-4C28-A9B2-06DDDBBE8A58}"/>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Une probabilité annoncée de 0,8 doit correspondre à environ 80 % de positifs.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La diagonale représente la calibration idéale.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Les bins rares rendent l'estimation incertaine.</a:t>
            </a:r>
          </a:p>
        </p:txBody>
      </p:sp>
      <p:sp>
        <p:nvSpPr>
          <p:cNvPr id="161" name="course-Exemple schématique : une prédictio">
            <a:extLst xmlns:a="http://schemas.openxmlformats.org/drawingml/2006/main">
              <a:ext uri="{FF2B5EF4-FFF2-40B4-BE49-F238E27FC236}">
                <a16:creationId xmlns:a16="http://schemas.microsoft.com/office/drawing/2014/main" id="{F77D36DA-2849-4510-9C0B-FB063FCC2539}"/>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Exemple schématique : une prédiction à 0,8 correspond ici à 0,64 observé.</a:t>
            </a:r>
          </a:p>
        </p:txBody>
      </p:sp>
      <p:sp>
        <p:nvSpPr>
          <p:cNvPr id="162" name="course-Sources : R16 · liens et détails da">
            <a:extLst xmlns:a="http://schemas.openxmlformats.org/drawingml/2006/main">
              <a:ext uri="{FF2B5EF4-FFF2-40B4-BE49-F238E27FC236}">
                <a16:creationId xmlns:a16="http://schemas.microsoft.com/office/drawing/2014/main" id="{C00BE245-3F98-4448-B1C5-3492A20C92F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R16 · liens et détails dans les notes</a:t>
            </a:r>
          </a:p>
        </p:txBody>
      </p:sp>
    </p:spTree>
    <p:extLst>
      <p:ext uri="{BB962C8B-B14F-4D97-AF65-F5344CB8AC3E}">
        <p14:creationId xmlns:p14="http://schemas.microsoft.com/office/powerpoint/2010/main" val="436220805"/>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747be9c137d44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364679146b7499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Apprendre une calibration sans fuit">
            <a:extLst xmlns:a="http://schemas.openxmlformats.org/drawingml/2006/main">
              <a:ext uri="{FF2B5EF4-FFF2-40B4-BE49-F238E27FC236}">
                <a16:creationId xmlns:a16="http://schemas.microsoft.com/office/drawing/2014/main" id="{D462E30F-4F88-413A-B03E-6498BB48208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Apprendre une calibration sans fuite</a:t>
            </a:r>
          </a:p>
        </p:txBody>
      </p:sp>
      <p:sp>
        <p:nvSpPr>
          <p:cNvPr id="159" name="course-Sigmoïde : transformation paramétri">
            <a:extLst xmlns:a="http://schemas.openxmlformats.org/drawingml/2006/main">
              <a:ext uri="{FF2B5EF4-FFF2-40B4-BE49-F238E27FC236}">
                <a16:creationId xmlns:a16="http://schemas.microsoft.com/office/drawing/2014/main" id="{E28B7C58-82A2-4D9D-97A1-5F4B6335E4B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Sigmoïde : transformation paramétrique relativement simple.</a:t>
            </a:r>
          </a:p>
        </p:txBody>
      </p:sp>
      <p:sp>
        <p:nvSpPr>
          <p:cNvPr id="160" name="course-Isotone : transformation monotone p">
            <a:extLst xmlns:a="http://schemas.openxmlformats.org/drawingml/2006/main">
              <a:ext uri="{FF2B5EF4-FFF2-40B4-BE49-F238E27FC236}">
                <a16:creationId xmlns:a16="http://schemas.microsoft.com/office/drawing/2014/main" id="{5EC8713B-36EE-4934-901D-5083573194ED}"/>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Isotone : transformation monotone plus flexible, exigeant assez de données.</a:t>
            </a:r>
          </a:p>
        </p:txBody>
      </p:sp>
      <p:sp>
        <p:nvSpPr>
          <p:cNvPr id="161" name="course-Les prédictions utilisées pour cali">
            <a:extLst xmlns:a="http://schemas.openxmlformats.org/drawingml/2006/main">
              <a:ext uri="{FF2B5EF4-FFF2-40B4-BE49-F238E27FC236}">
                <a16:creationId xmlns:a16="http://schemas.microsoft.com/office/drawing/2014/main" id="{90E8B0A1-7262-41B5-88B3-9A3C0C91E857}"/>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prédictions utilisées pour calibrer doivent venir de modèles qui n'ont pas vu ces labels.</a:t>
            </a:r>
          </a:p>
        </p:txBody>
      </p:sp>
      <p:sp>
        <p:nvSpPr>
          <p:cNvPr id="162" name="course-CalibratedClassifierCV puis validat">
            <a:extLst xmlns:a="http://schemas.openxmlformats.org/drawingml/2006/main">
              <a:ext uri="{FF2B5EF4-FFF2-40B4-BE49-F238E27FC236}">
                <a16:creationId xmlns:a16="http://schemas.microsoft.com/office/drawing/2014/main" id="{97B7112C-3BA0-4935-86F4-35F4D986C954}"/>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CalibratedClassifierCV puis validation du seuil</a:t>
            </a:r>
          </a:p>
        </p:txBody>
      </p:sp>
      <p:sp>
        <p:nvSpPr>
          <p:cNvPr id="163" name="course-Sources : R16 · liens et détails da">
            <a:extLst xmlns:a="http://schemas.openxmlformats.org/drawingml/2006/main">
              <a:ext uri="{FF2B5EF4-FFF2-40B4-BE49-F238E27FC236}">
                <a16:creationId xmlns:a16="http://schemas.microsoft.com/office/drawing/2014/main" id="{832590A3-0F8F-417A-9991-397DF568BE8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R16 · liens et détails dans les notes</a:t>
            </a:r>
          </a:p>
        </p:txBody>
      </p:sp>
    </p:spTree>
    <p:extLst>
      <p:ext uri="{BB962C8B-B14F-4D97-AF65-F5344CB8AC3E}">
        <p14:creationId xmlns:p14="http://schemas.microsoft.com/office/powerpoint/2010/main" val="436220805"/>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1084070f879a478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aa7b28a9ae143e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oncevoir des variables utiles">
            <a:extLst xmlns:a="http://schemas.openxmlformats.org/drawingml/2006/main">
              <a:ext uri="{FF2B5EF4-FFF2-40B4-BE49-F238E27FC236}">
                <a16:creationId xmlns:a16="http://schemas.microsoft.com/office/drawing/2014/main" id="{3DC780E0-C024-4A9D-B7D3-91A2B8B0897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Concevoir des variables utiles</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Famille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Exemple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Contrôle</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Valeurs manquantes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Imputation + indicateur</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Appris sur train</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Catégorielles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One-hot / target encoding</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Inconnues et cross-fitting</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Numériques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log1p, ratios, interactions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Domaine et unités</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Temporelles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Retards, fenêtres passées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Aucune observation future</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Sélection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L1, filtres, permutation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Ablation dans les plis</a:t>
                      </a:r>
                    </a:p>
                  </a:txBody>
                  <a:tcPr marL="91440" marR="91440" marT="45720" marB="45720">
                    <a:solidFill>
                      <a:srgbClr val="F4F5F8"/>
                    </a:solidFill>
                  </a:tcPr>
                </a:tc>
              </a:tr>
            </a:tbl>
          </a:graphicData>
        </a:graphic>
      </p:graphicFrame>
      <p:sp>
        <p:nvSpPr>
          <p:cNvPr id="160" name="course-">
            <a:extLst xmlns:a="http://schemas.openxmlformats.org/drawingml/2006/main">
              <a:ext uri="{FF2B5EF4-FFF2-40B4-BE49-F238E27FC236}">
                <a16:creationId xmlns:a16="http://schemas.microsoft.com/office/drawing/2014/main" id="{313C3AD5-933D-4617-AC40-D41C1E582488}"/>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18, R41 · liens et détai">
            <a:extLst xmlns:a="http://schemas.openxmlformats.org/drawingml/2006/main">
              <a:ext uri="{FF2B5EF4-FFF2-40B4-BE49-F238E27FC236}">
                <a16:creationId xmlns:a16="http://schemas.microsoft.com/office/drawing/2014/main" id="{3F776B26-4DEE-4024-8321-6BAC0BBEC42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R18, R41 · liens et détails dans les notes</a:t>
            </a:r>
          </a:p>
        </p:txBody>
      </p:sp>
    </p:spTree>
    <p:extLst>
      <p:ext uri="{BB962C8B-B14F-4D97-AF65-F5344CB8AC3E}">
        <p14:creationId xmlns:p14="http://schemas.microsoft.com/office/powerpoint/2010/main" val="436220805"/>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1b84e4fa95c460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ef0ff121c443e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Valeurs manquantes et catégories in">
            <a:extLst xmlns:a="http://schemas.openxmlformats.org/drawingml/2006/main">
              <a:ext uri="{FF2B5EF4-FFF2-40B4-BE49-F238E27FC236}">
                <a16:creationId xmlns:a16="http://schemas.microsoft.com/office/drawing/2014/main" id="{1DB6A4BC-6A83-4A18-AC1D-B1DC7FFC44E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Valeurs manquantes et catégories inconnues</a:t>
            </a:r>
          </a:p>
        </p:txBody>
      </p:sp>
      <p:sp>
        <p:nvSpPr>
          <p:cNvPr id="159" name="course-L'absence d'une valeur peut elle-mê">
            <a:extLst xmlns:a="http://schemas.openxmlformats.org/drawingml/2006/main">
              <a:ext uri="{FF2B5EF4-FFF2-40B4-BE49-F238E27FC236}">
                <a16:creationId xmlns:a16="http://schemas.microsoft.com/office/drawing/2014/main" id="{F88627DD-99C1-4ACE-AFF5-0F6E751B4F3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L'absence d'une valeur peut elle-même contenir un signal.</a:t>
            </a:r>
          </a:p>
        </p:txBody>
      </p:sp>
      <p:sp>
        <p:nvSpPr>
          <p:cNvPr id="160" name="course-Distinguer « inconnu », « non appli">
            <a:extLst xmlns:a="http://schemas.openxmlformats.org/drawingml/2006/main">
              <a:ext uri="{FF2B5EF4-FFF2-40B4-BE49-F238E27FC236}">
                <a16:creationId xmlns:a16="http://schemas.microsoft.com/office/drawing/2014/main" id="{970A6973-AE7B-4D07-A83C-16051E9B978F}"/>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Distinguer « inconnu », « non applicable » et une vraie valeur nulle.</a:t>
            </a:r>
          </a:p>
        </p:txBody>
      </p:sp>
      <p:sp>
        <p:nvSpPr>
          <p:cNvPr id="161" name="course-Prévoir les catégories inédites au ">
            <a:extLst xmlns:a="http://schemas.openxmlformats.org/drawingml/2006/main">
              <a:ext uri="{FF2B5EF4-FFF2-40B4-BE49-F238E27FC236}">
                <a16:creationId xmlns:a16="http://schemas.microsoft.com/office/drawing/2014/main" id="{89438115-F1F2-4743-BBB5-BE06507758E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Prévoir les catégories inédites au moment de prédire.</a:t>
            </a:r>
          </a:p>
        </p:txBody>
      </p:sp>
      <p:sp>
        <p:nvSpPr>
          <p:cNvPr id="162" name="course-L'imputation est une hypothèse, pas">
            <a:extLst xmlns:a="http://schemas.openxmlformats.org/drawingml/2006/main">
              <a:ext uri="{FF2B5EF4-FFF2-40B4-BE49-F238E27FC236}">
                <a16:creationId xmlns:a16="http://schemas.microsoft.com/office/drawing/2014/main" id="{F4B154B6-F401-435D-8CE4-AA40F9C4FCEB}"/>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L'imputation est une hypothèse, pas une restauration de la vérité</a:t>
            </a:r>
          </a:p>
        </p:txBody>
      </p:sp>
      <p:sp>
        <p:nvSpPr>
          <p:cNvPr id="163" name="course-Sources : R18, R32 · liens et détai">
            <a:extLst xmlns:a="http://schemas.openxmlformats.org/drawingml/2006/main">
              <a:ext uri="{FF2B5EF4-FFF2-40B4-BE49-F238E27FC236}">
                <a16:creationId xmlns:a16="http://schemas.microsoft.com/office/drawing/2014/main" id="{CD498498-7526-4E89-92E9-AE311F7FD2B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R18, R32 · liens et détails dans les notes</a:t>
            </a:r>
          </a:p>
        </p:txBody>
      </p:sp>
    </p:spTree>
    <p:extLst>
      <p:ext uri="{BB962C8B-B14F-4D97-AF65-F5344CB8AC3E}">
        <p14:creationId xmlns:p14="http://schemas.microsoft.com/office/powerpoint/2010/main" val="436220805"/>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069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fedd51a454644c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a07ffa81d0b414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arget encoding et cross-fitting">
            <a:extLst xmlns:a="http://schemas.openxmlformats.org/drawingml/2006/main">
              <a:ext uri="{FF2B5EF4-FFF2-40B4-BE49-F238E27FC236}">
                <a16:creationId xmlns:a16="http://schemas.microsoft.com/office/drawing/2014/main" id="{80CDC7A8-E0F9-4E27-8B05-A9EA48EF57F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Target encoding et cross-fitting</a:t>
            </a:r>
          </a:p>
        </p:txBody>
      </p:sp>
      <p:sp>
        <p:nvSpPr>
          <p:cNvPr id="159" name="course-enc(c) = (nc × moyenne_c + m × moye">
            <a:extLst xmlns:a="http://schemas.openxmlformats.org/drawingml/2006/main">
              <a:ext uri="{FF2B5EF4-FFF2-40B4-BE49-F238E27FC236}">
                <a16:creationId xmlns:a16="http://schemas.microsoft.com/office/drawing/2014/main" id="{9E8E1CC0-A523-4336-9355-A524D74B3419}"/>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enc(c) = (nc × moyenne_c + m × moyenne_globale) / (nc + m)</a:t>
            </a:r>
          </a:p>
        </p:txBody>
      </p:sp>
      <p:sp>
        <p:nvSpPr>
          <p:cNvPr id="160" name="course-Résumer une catégorie avec une stat">
            <a:extLst xmlns:a="http://schemas.openxmlformats.org/drawingml/2006/main">
              <a:ext uri="{FF2B5EF4-FFF2-40B4-BE49-F238E27FC236}">
                <a16:creationId xmlns:a16="http://schemas.microsoft.com/office/drawing/2014/main" id="{EE8C7579-7164-41F2-996D-FF6FAE9A1362}"/>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Résumer une catégorie avec une statistique de la cible et un lissage.</a:t>
            </a:r>
          </a:p>
        </p:txBody>
      </p:sp>
      <p:sp>
        <p:nvSpPr>
          <p:cNvPr id="161" name="course-Ne jamais calculer cette statistiqu">
            <a:extLst xmlns:a="http://schemas.openxmlformats.org/drawingml/2006/main">
              <a:ext uri="{FF2B5EF4-FFF2-40B4-BE49-F238E27FC236}">
                <a16:creationId xmlns:a16="http://schemas.microsoft.com/office/drawing/2014/main" id="{4D99A58B-09A3-434D-A98E-D65C6BBB9C11}"/>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Ne jamais calculer cette statistique à partir de sa propre cible sans contrôle.</a:t>
            </a:r>
          </a:p>
        </p:txBody>
      </p:sp>
      <p:sp>
        <p:nvSpPr>
          <p:cNvPr id="162" name="course-Produire l'encodage d'entraînement ">
            <a:extLst xmlns:a="http://schemas.openxmlformats.org/drawingml/2006/main">
              <a:ext uri="{FF2B5EF4-FFF2-40B4-BE49-F238E27FC236}">
                <a16:creationId xmlns:a16="http://schemas.microsoft.com/office/drawing/2014/main" id="{184F95D2-64F3-4A20-9623-CFFF73CD1D04}"/>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Produire l'encodage d'entraînement par sous-plis adaptés au problème.</a:t>
            </a:r>
          </a:p>
        </p:txBody>
      </p:sp>
      <p:sp>
        <p:nvSpPr>
          <p:cNvPr id="163" name="course-Sources : R19 · liens et détails da">
            <a:extLst xmlns:a="http://schemas.openxmlformats.org/drawingml/2006/main">
              <a:ext uri="{FF2B5EF4-FFF2-40B4-BE49-F238E27FC236}">
                <a16:creationId xmlns:a16="http://schemas.microsoft.com/office/drawing/2014/main" id="{FD04E724-F6FA-4911-92E5-4CE35F38804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R19 · liens et détails dans les notes</a:t>
            </a:r>
          </a:p>
        </p:txBody>
      </p:sp>
    </p:spTree>
    <p:extLst>
      <p:ext uri="{BB962C8B-B14F-4D97-AF65-F5344CB8AC3E}">
        <p14:creationId xmlns:p14="http://schemas.microsoft.com/office/powerpoint/2010/main" val="436220805"/>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3a5b5a0014148b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8b1c14104b84e3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Ratios, interactions et variables t">
            <a:extLst xmlns:a="http://schemas.openxmlformats.org/drawingml/2006/main">
              <a:ext uri="{FF2B5EF4-FFF2-40B4-BE49-F238E27FC236}">
                <a16:creationId xmlns:a16="http://schemas.microsoft.com/office/drawing/2014/main" id="{9D34D50C-DA21-487F-B3DD-42D588F22B5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Ratios, interactions et variables temporelles</a:t>
            </a:r>
          </a:p>
        </p:txBody>
      </p:sp>
      <p:sp>
        <p:nvSpPr>
          <p:cNvPr id="159" name="course-Ratio : protéger le dénominateur et">
            <a:extLst xmlns:a="http://schemas.openxmlformats.org/drawingml/2006/main">
              <a:ext uri="{FF2B5EF4-FFF2-40B4-BE49-F238E27FC236}">
                <a16:creationId xmlns:a16="http://schemas.microsoft.com/office/drawing/2014/main" id="{EC552F7C-F027-4100-B63A-0C3D0A38A543}"/>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Ratio : protéger le dénominateur et documenter les unités.</a:t>
            </a:r>
          </a:p>
        </p:txBody>
      </p:sp>
      <p:sp>
        <p:nvSpPr>
          <p:cNvPr id="160" name="course-Interaction : exprimer une hypothès">
            <a:extLst xmlns:a="http://schemas.openxmlformats.org/drawingml/2006/main">
              <a:ext uri="{FF2B5EF4-FFF2-40B4-BE49-F238E27FC236}">
                <a16:creationId xmlns:a16="http://schemas.microsoft.com/office/drawing/2014/main" id="{68898954-75A2-4A61-BC32-C4FEBD10DE1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Interaction : exprimer une hypothèse entre deux facteurs.</a:t>
            </a:r>
          </a:p>
        </p:txBody>
      </p:sp>
      <p:sp>
        <p:nvSpPr>
          <p:cNvPr id="161" name="course-Fenêtre : ne retenir que les événem">
            <a:extLst xmlns:a="http://schemas.openxmlformats.org/drawingml/2006/main">
              <a:ext uri="{FF2B5EF4-FFF2-40B4-BE49-F238E27FC236}">
                <a16:creationId xmlns:a16="http://schemas.microsoft.com/office/drawing/2014/main" id="{AB8423B8-9E22-4ACF-A9E0-B77EA092B5A5}"/>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Fenêtre : ne retenir que les événements antérieurs à la décision.</a:t>
            </a:r>
          </a:p>
        </p:txBody>
      </p:sp>
      <p:sp>
        <p:nvSpPr>
          <p:cNvPr id="162" name="course-Une agrégation correcte dans le pas">
            <a:extLst xmlns:a="http://schemas.openxmlformats.org/drawingml/2006/main">
              <a:ext uri="{FF2B5EF4-FFF2-40B4-BE49-F238E27FC236}">
                <a16:creationId xmlns:a16="http://schemas.microsoft.com/office/drawing/2014/main" id="{D77B177A-91D4-427B-830D-AAFD382E0614}"/>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agrégation correcte dans le passé peut devenir une fuite si elle inclut le futur</a:t>
            </a:r>
          </a:p>
        </p:txBody>
      </p:sp>
      <p:sp>
        <p:nvSpPr>
          <p:cNvPr id="163" name="course-Sources : R18, R32 · liens et détai">
            <a:extLst xmlns:a="http://schemas.openxmlformats.org/drawingml/2006/main">
              <a:ext uri="{FF2B5EF4-FFF2-40B4-BE49-F238E27FC236}">
                <a16:creationId xmlns:a16="http://schemas.microsoft.com/office/drawing/2014/main" id="{B65B63A1-FA62-4C22-998A-E2A7EE3A9BB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R18, R32 · liens et détails dans les notes</a:t>
            </a:r>
          </a:p>
        </p:txBody>
      </p:sp>
    </p:spTree>
    <p:extLst>
      <p:ext uri="{BB962C8B-B14F-4D97-AF65-F5344CB8AC3E}">
        <p14:creationId xmlns:p14="http://schemas.microsoft.com/office/powerpoint/2010/main" val="436220805"/>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8b0c89e8e744ee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0ea0d85b970487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élection de variables et ablation">
            <a:extLst xmlns:a="http://schemas.openxmlformats.org/drawingml/2006/main">
              <a:ext uri="{FF2B5EF4-FFF2-40B4-BE49-F238E27FC236}">
                <a16:creationId xmlns:a16="http://schemas.microsoft.com/office/drawing/2014/main" id="{7F368829-7554-4CFD-8E74-A4E229495A1A}"/>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Sélection de variables et ablation</a:t>
            </a:r>
          </a:p>
        </p:txBody>
      </p:sp>
      <p:sp>
        <p:nvSpPr>
          <p:cNvPr id="159" name="course-Filtre : sélectionner selon une sta">
            <a:extLst xmlns:a="http://schemas.openxmlformats.org/drawingml/2006/main">
              <a:ext uri="{FF2B5EF4-FFF2-40B4-BE49-F238E27FC236}">
                <a16:creationId xmlns:a16="http://schemas.microsoft.com/office/drawing/2014/main" id="{BBD0174B-1BB2-4E88-B226-111C87C277A4}"/>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Filtre : sélectionner selon une statistique avant le modèle, dans les plis.</a:t>
            </a:r>
          </a:p>
        </p:txBody>
      </p:sp>
      <p:sp>
        <p:nvSpPr>
          <p:cNvPr id="160" name="course-Méthode embarquée : utiliser une pé">
            <a:extLst xmlns:a="http://schemas.openxmlformats.org/drawingml/2006/main">
              <a:ext uri="{FF2B5EF4-FFF2-40B4-BE49-F238E27FC236}">
                <a16:creationId xmlns:a16="http://schemas.microsoft.com/office/drawing/2014/main" id="{FFE0A0A4-A1A6-4FFE-BDBB-2CA869EDAF5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Méthode embarquée : utiliser une pénalité ou le mécanisme du modèle.</a:t>
            </a:r>
          </a:p>
        </p:txBody>
      </p:sp>
      <p:sp>
        <p:nvSpPr>
          <p:cNvPr id="161" name="course-Ablation : retirer un groupe de var">
            <a:extLst xmlns:a="http://schemas.openxmlformats.org/drawingml/2006/main">
              <a:ext uri="{FF2B5EF4-FFF2-40B4-BE49-F238E27FC236}">
                <a16:creationId xmlns:a16="http://schemas.microsoft.com/office/drawing/2014/main" id="{8E7B9785-4762-4628-AF11-7F188C36E37E}"/>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Ablation : retirer un groupe de variables puis réévaluer la procédure.</a:t>
            </a:r>
          </a:p>
        </p:txBody>
      </p:sp>
      <p:sp>
        <p:nvSpPr>
          <p:cNvPr id="162" name="course-La sélection supervisée fait partie">
            <a:extLst xmlns:a="http://schemas.openxmlformats.org/drawingml/2006/main">
              <a:ext uri="{FF2B5EF4-FFF2-40B4-BE49-F238E27FC236}">
                <a16:creationId xmlns:a16="http://schemas.microsoft.com/office/drawing/2014/main" id="{AE715E71-B862-463A-BE01-836064BA8EA2}"/>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La sélection supervisée fait partie de l'entraînement</a:t>
            </a:r>
          </a:p>
        </p:txBody>
      </p:sp>
      <p:sp>
        <p:nvSpPr>
          <p:cNvPr id="163" name="course-Sources : R41, R25 · liens et détai">
            <a:extLst xmlns:a="http://schemas.openxmlformats.org/drawingml/2006/main">
              <a:ext uri="{FF2B5EF4-FFF2-40B4-BE49-F238E27FC236}">
                <a16:creationId xmlns:a16="http://schemas.microsoft.com/office/drawing/2014/main" id="{1CDBE393-7F8F-48CD-8B78-C66B933CB61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R41, R25 · liens et détails dans les notes</a:t>
            </a:r>
          </a:p>
        </p:txBody>
      </p:sp>
    </p:spTree>
    <p:extLst>
      <p:ext uri="{BB962C8B-B14F-4D97-AF65-F5344CB8AC3E}">
        <p14:creationId xmlns:p14="http://schemas.microsoft.com/office/powerpoint/2010/main" val="436220805"/>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0882fb0ca44450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ab989f09f774ae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orrélation : deux précisions utile">
            <a:extLst xmlns:a="http://schemas.openxmlformats.org/drawingml/2006/main">
              <a:ext uri="{FF2B5EF4-FFF2-40B4-BE49-F238E27FC236}">
                <a16:creationId xmlns:a16="http://schemas.microsoft.com/office/drawing/2014/main" id="{5E474B63-8015-491D-ACA7-3A14916DF10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Corrélation : deux précisions utiles</a:t>
            </a:r>
          </a:p>
        </p:txBody>
      </p:sp>
      <p:sp>
        <p:nvSpPr>
          <p:cNvPr id="159" name="course-Pearson mesure une association liné">
            <a:extLst xmlns:a="http://schemas.openxmlformats.org/drawingml/2006/main">
              <a:ext uri="{FF2B5EF4-FFF2-40B4-BE49-F238E27FC236}">
                <a16:creationId xmlns:a16="http://schemas.microsoft.com/office/drawing/2014/main" id="{3B2EC946-FA47-4F49-8C43-DDFF7CE98C28}"/>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Pearson mesure une association linéaire, pas une causalité.</a:t>
            </a:r>
          </a:p>
        </p:txBody>
      </p:sp>
      <p:sp>
        <p:nvSpPr>
          <p:cNvPr id="160" name="course-Un changement positif d'unité ne ch">
            <a:extLst xmlns:a="http://schemas.openxmlformats.org/drawingml/2006/main">
              <a:ext uri="{FF2B5EF4-FFF2-40B4-BE49-F238E27FC236}">
                <a16:creationId xmlns:a16="http://schemas.microsoft.com/office/drawing/2014/main" id="{17261D33-476F-4A37-BAF9-382311BB1D30}"/>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changement positif d'unité ne change pas Pearson.</a:t>
            </a:r>
          </a:p>
        </p:txBody>
      </p:sp>
      <p:sp>
        <p:nvSpPr>
          <p:cNvPr id="161" name="course-Standardiser reste utile pour les d">
            <a:extLst xmlns:a="http://schemas.openxmlformats.org/drawingml/2006/main">
              <a:ext uri="{FF2B5EF4-FFF2-40B4-BE49-F238E27FC236}">
                <a16:creationId xmlns:a16="http://schemas.microsoft.com/office/drawing/2014/main" id="{A8C9150F-770C-47BC-9A50-AC29D4AABA7D}"/>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Standardiser reste utile pour les distances, les pénalités et certaines optimisations.</a:t>
            </a:r>
          </a:p>
        </p:txBody>
      </p:sp>
      <p:sp>
        <p:nvSpPr>
          <p:cNvPr id="162" name="course-Ne pas confondre covariance, corrél">
            <a:extLst xmlns:a="http://schemas.openxmlformats.org/drawingml/2006/main">
              <a:ext uri="{FF2B5EF4-FFF2-40B4-BE49-F238E27FC236}">
                <a16:creationId xmlns:a16="http://schemas.microsoft.com/office/drawing/2014/main" id="{C900455B-3013-4EF1-B6A3-CFA859B6561E}"/>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Ne pas confondre covariance, corrélation et distance</a:t>
            </a:r>
          </a:p>
        </p:txBody>
      </p:sp>
      <p:sp>
        <p:nvSpPr>
          <p:cNvPr id="163" name="course-Sources : R39, R18 · liens et détai">
            <a:extLst xmlns:a="http://schemas.openxmlformats.org/drawingml/2006/main">
              <a:ext uri="{FF2B5EF4-FFF2-40B4-BE49-F238E27FC236}">
                <a16:creationId xmlns:a16="http://schemas.microsoft.com/office/drawing/2014/main" id="{64067C81-5D90-4702-ADBD-0CB9947D7E26}"/>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R39, R18 · liens et détails dans les notes</a:t>
            </a:r>
          </a:p>
        </p:txBody>
      </p:sp>
    </p:spTree>
    <p:extLst>
      <p:ext uri="{BB962C8B-B14F-4D97-AF65-F5344CB8AC3E}">
        <p14:creationId xmlns:p14="http://schemas.microsoft.com/office/powerpoint/2010/main" val="436220805"/>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326ae38339e471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a95c12f40104a0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4 : une décision validée">
            <a:extLst xmlns:a="http://schemas.openxmlformats.org/drawingml/2006/main">
              <a:ext uri="{FF2B5EF4-FFF2-40B4-BE49-F238E27FC236}">
                <a16:creationId xmlns:a16="http://schemas.microsoft.com/office/drawing/2014/main" id="{E51EC5A7-F7E9-4F7D-AD04-22ECC793111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TP04 : une décision validée</a:t>
            </a:r>
          </a:p>
        </p:txBody>
      </p:sp>
      <p:sp>
        <p:nvSpPr>
          <p:cNvPr id="159" name="course-Comparer modèle simple, poids de cl">
            <a:extLst xmlns:a="http://schemas.openxmlformats.org/drawingml/2006/main">
              <a:ext uri="{FF2B5EF4-FFF2-40B4-BE49-F238E27FC236}">
                <a16:creationId xmlns:a16="http://schemas.microsoft.com/office/drawing/2014/main" id="{03F1EA0F-82A6-41AB-A545-74B333AA01B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modèle simple, poids de classes et SMOTE sur train.</a:t>
            </a:r>
          </a:p>
        </p:txBody>
      </p:sp>
      <p:sp>
        <p:nvSpPr>
          <p:cNvPr id="160" name="course-Calibrer, puis choisir le seuil sur">
            <a:extLst xmlns:a="http://schemas.openxmlformats.org/drawingml/2006/main">
              <a:ext uri="{FF2B5EF4-FFF2-40B4-BE49-F238E27FC236}">
                <a16:creationId xmlns:a16="http://schemas.microsoft.com/office/drawing/2014/main" id="{C625CAD8-CCB5-4C0C-8993-B514B85CB5C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Calibrer, puis choisir le seuil sur validation avec les coûts fixés.</a:t>
            </a:r>
          </a:p>
        </p:txBody>
      </p:sp>
      <p:sp>
        <p:nvSpPr>
          <p:cNvPr id="161" name="course-Ouvrir le test une fois et commente">
            <a:extLst xmlns:a="http://schemas.openxmlformats.org/drawingml/2006/main">
              <a:ext uri="{FF2B5EF4-FFF2-40B4-BE49-F238E27FC236}">
                <a16:creationId xmlns:a16="http://schemas.microsoft.com/office/drawing/2014/main" id="{07773FAA-EF11-44DA-814A-2E819FA10740}"/>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Ouvrir le test une fois et commenter les résultats, même décevants.</a:t>
            </a:r>
          </a:p>
        </p:txBody>
      </p:sp>
      <p:sp>
        <p:nvSpPr>
          <p:cNvPr id="162" name="course-120 minutes · notebooks/etudiants/0">
            <a:extLst xmlns:a="http://schemas.openxmlformats.org/drawingml/2006/main">
              <a:ext uri="{FF2B5EF4-FFF2-40B4-BE49-F238E27FC236}">
                <a16:creationId xmlns:a16="http://schemas.microsoft.com/office/drawing/2014/main" id="{836F8A18-92B1-42DF-ADB4-411C40721736}"/>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120 minutes · notebooks/etudiants/04_desequilibre.ipynb</a:t>
            </a:r>
          </a:p>
        </p:txBody>
      </p:sp>
      <p:sp>
        <p:nvSpPr>
          <p:cNvPr id="163" name="course-Sources : R14, R16, R17 · liens et ">
            <a:extLst xmlns:a="http://schemas.openxmlformats.org/drawingml/2006/main">
              <a:ext uri="{FF2B5EF4-FFF2-40B4-BE49-F238E27FC236}">
                <a16:creationId xmlns:a16="http://schemas.microsoft.com/office/drawing/2014/main" id="{90B0963C-84AA-48A2-AE36-22E7DB77CBB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R14, R16, R17 · liens et détails dans les notes</a:t>
            </a:r>
          </a:p>
        </p:txBody>
      </p:sp>
    </p:spTree>
    <p:extLst>
      <p:ext uri="{BB962C8B-B14F-4D97-AF65-F5344CB8AC3E}">
        <p14:creationId xmlns:p14="http://schemas.microsoft.com/office/powerpoint/2010/main" val="436220805"/>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e2b3845abb5436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36de0104efc467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Atelier : auditer et enrichir les f">
            <a:extLst xmlns:a="http://schemas.openxmlformats.org/drawingml/2006/main">
              <a:ext uri="{FF2B5EF4-FFF2-40B4-BE49-F238E27FC236}">
                <a16:creationId xmlns:a16="http://schemas.microsoft.com/office/drawing/2014/main" id="{B5C107DD-0A53-4E24-B848-9263FA129D6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Atelier : auditer et enrichir les features</a:t>
            </a:r>
          </a:p>
        </p:txBody>
      </p:sp>
      <p:sp>
        <p:nvSpPr>
          <p:cNvPr id="159" name="course-Examiner le dictionnaire UCI et l'i">
            <a:extLst xmlns:a="http://schemas.openxmlformats.org/drawingml/2006/main">
              <a:ext uri="{FF2B5EF4-FFF2-40B4-BE49-F238E27FC236}">
                <a16:creationId xmlns:a16="http://schemas.microsoft.com/office/drawing/2014/main" id="{54EA286F-422A-412D-BEFE-A4A969903BB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Examiner le dictionnaire UCI et l'instant de disponibilité de cinq variables.</a:t>
            </a:r>
          </a:p>
        </p:txBody>
      </p:sp>
      <p:sp>
        <p:nvSpPr>
          <p:cNvPr id="160" name="course-Proposer deux transformations, dont">
            <a:extLst xmlns:a="http://schemas.openxmlformats.org/drawingml/2006/main">
              <a:ext uri="{FF2B5EF4-FFF2-40B4-BE49-F238E27FC236}">
                <a16:creationId xmlns:a16="http://schemas.microsoft.com/office/drawing/2014/main" id="{243BE2A4-9C84-4194-AB94-0DA44230CBD1}"/>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Proposer deux transformations, dont une pour la sentinelle pdays=999.</a:t>
            </a:r>
          </a:p>
        </p:txBody>
      </p:sp>
      <p:sp>
        <p:nvSpPr>
          <p:cNvPr id="161" name="course-Définir une ablation et le split pe">
            <a:extLst xmlns:a="http://schemas.openxmlformats.org/drawingml/2006/main">
              <a:ext uri="{FF2B5EF4-FFF2-40B4-BE49-F238E27FC236}">
                <a16:creationId xmlns:a16="http://schemas.microsoft.com/office/drawing/2014/main" id="{A05076E7-7FCC-4FAA-A5EB-391DCF3D64F5}"/>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Définir une ablation et le split permettant d'en mesurer l'intérêt.</a:t>
            </a:r>
          </a:p>
        </p:txBody>
      </p:sp>
      <p:sp>
        <p:nvSpPr>
          <p:cNvPr id="162" name="course-60 minutes · docs/ATELIER_FEATURES.">
            <a:extLst xmlns:a="http://schemas.openxmlformats.org/drawingml/2006/main">
              <a:ext uri="{FF2B5EF4-FFF2-40B4-BE49-F238E27FC236}">
                <a16:creationId xmlns:a16="http://schemas.microsoft.com/office/drawing/2014/main" id="{3FFDB920-B945-4F53-8437-7D2913827415}"/>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60 minutes · docs/ATELIER_FEATURES.md</a:t>
            </a:r>
          </a:p>
        </p:txBody>
      </p:sp>
      <p:sp>
        <p:nvSpPr>
          <p:cNvPr id="163" name="course-Sources : R19, R32 · liens et détai">
            <a:extLst xmlns:a="http://schemas.openxmlformats.org/drawingml/2006/main">
              <a:ext uri="{FF2B5EF4-FFF2-40B4-BE49-F238E27FC236}">
                <a16:creationId xmlns:a16="http://schemas.microsoft.com/office/drawing/2014/main" id="{BD573E4F-4B09-42D3-BB41-BC0BEF5DFF6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R19, R32 · liens et détails dans les notes</a:t>
            </a:r>
          </a:p>
        </p:txBody>
      </p:sp>
    </p:spTree>
    <p:extLst>
      <p:ext uri="{BB962C8B-B14F-4D97-AF65-F5344CB8AC3E}">
        <p14:creationId xmlns:p14="http://schemas.microsoft.com/office/powerpoint/2010/main" val="436220805"/>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d33ff6e575a43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2f592e479b449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iz J3 : expliquer les compromis">
            <a:extLst xmlns:a="http://schemas.openxmlformats.org/drawingml/2006/main">
              <a:ext uri="{FF2B5EF4-FFF2-40B4-BE49-F238E27FC236}">
                <a16:creationId xmlns:a16="http://schemas.microsoft.com/office/drawing/2014/main" id="{C6693518-5154-4E15-B866-38CE1DADB01E}"/>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Quiz J3 : expliquer les compromis</a:t>
            </a:r>
          </a:p>
        </p:txBody>
      </p:sp>
      <p:sp>
        <p:nvSpPr>
          <p:cNvPr id="159" name="course-Une probabilité bien calibrée impos">
            <a:extLst xmlns:a="http://schemas.openxmlformats.org/drawingml/2006/main">
              <a:ext uri="{FF2B5EF4-FFF2-40B4-BE49-F238E27FC236}">
                <a16:creationId xmlns:a16="http://schemas.microsoft.com/office/drawing/2014/main" id="{D8F04473-8FDE-4A29-A15F-2302C1C4C7E1}"/>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probabilité bien calibrée impose-t-elle un seuil de 0,5 ?</a:t>
            </a:r>
          </a:p>
        </p:txBody>
      </p:sp>
      <p:sp>
        <p:nvSpPr>
          <p:cNvPr id="160" name="course-Pourquoi ne pas équilibrer le test ">
            <a:extLst xmlns:a="http://schemas.openxmlformats.org/drawingml/2006/main">
              <a:ext uri="{FF2B5EF4-FFF2-40B4-BE49-F238E27FC236}">
                <a16:creationId xmlns:a16="http://schemas.microsoft.com/office/drawing/2014/main" id="{0D21B301-BD7A-494C-A593-88B2A2CB553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Pourquoi ne pas équilibrer le test ?</a:t>
            </a:r>
          </a:p>
        </p:txBody>
      </p:sp>
      <p:sp>
        <p:nvSpPr>
          <p:cNvPr id="161" name="course-Pourquoi une variable catégorielle ">
            <a:extLst xmlns:a="http://schemas.openxmlformats.org/drawingml/2006/main">
              <a:ext uri="{FF2B5EF4-FFF2-40B4-BE49-F238E27FC236}">
                <a16:creationId xmlns:a16="http://schemas.microsoft.com/office/drawing/2014/main" id="{2747340A-1188-4830-A4E4-2FA25E78259C}"/>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Pourquoi une variable catégorielle presque unique est-elle risquée ?</a:t>
            </a:r>
          </a:p>
        </p:txBody>
      </p:sp>
      <p:sp>
        <p:nvSpPr>
          <p:cNvPr id="162" name="course-Une réponse correcte doit préciser ">
            <a:extLst xmlns:a="http://schemas.openxmlformats.org/drawingml/2006/main">
              <a:ext uri="{FF2B5EF4-FFF2-40B4-BE49-F238E27FC236}">
                <a16:creationId xmlns:a16="http://schemas.microsoft.com/office/drawing/2014/main" id="{489054B1-3EA5-454C-BFE2-5812B1247253}"/>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réponse correcte doit préciser la population et le protocole</a:t>
            </a:r>
          </a:p>
        </p:txBody>
      </p:sp>
      <p:sp>
        <p:nvSpPr>
          <p:cNvPr id="163" name="course-Sources : R14, R17, R19 · liens et ">
            <a:extLst xmlns:a="http://schemas.openxmlformats.org/drawingml/2006/main">
              <a:ext uri="{FF2B5EF4-FFF2-40B4-BE49-F238E27FC236}">
                <a16:creationId xmlns:a16="http://schemas.microsoft.com/office/drawing/2014/main" id="{0C54907E-4D4D-4179-9FE3-974D44A7400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R14, R17, R19 · liens et détails dans les notes</a:t>
            </a:r>
          </a:p>
        </p:txBody>
      </p:sp>
    </p:spTree>
    <p:extLst>
      <p:ext uri="{BB962C8B-B14F-4D97-AF65-F5344CB8AC3E}">
        <p14:creationId xmlns:p14="http://schemas.microsoft.com/office/powerpoint/2010/main" val="436220805"/>
      </p:ext>
    </p:extLst>
  </p:cSld>
</p:sld>
</file>

<file path=ppt/slides/slide76.xml><?xml version="1.0" encoding="utf-8"?>
<p:sld xmlns:p="http://schemas.openxmlformats.org/presentationml/2006/main">
  <p:cSld>
    <p:bg>
      <p:bgPr>
        <a:solidFill xmlns:a="http://schemas.openxmlformats.org/drawingml/2006/main">
          <a:srgbClr val="F7EEE5"/>
        </a:solidFill>
      </p:bgPr>
    </p:bg>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add42d380dd44a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3bda5e52be54c2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3</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s acquis du jour 3">
            <a:extLst xmlns:a="http://schemas.openxmlformats.org/drawingml/2006/main">
              <a:ext uri="{FF2B5EF4-FFF2-40B4-BE49-F238E27FC236}">
                <a16:creationId xmlns:a16="http://schemas.microsoft.com/office/drawing/2014/main" id="{7498F386-4CC7-41F2-BFB1-2670E81B10F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Les acquis du jour 3</a:t>
            </a:r>
          </a:p>
        </p:txBody>
      </p:sp>
      <p:sp>
        <p:nvSpPr>
          <p:cNvPr id="159" name="course-Des features disponibles à l'instan">
            <a:extLst xmlns:a="http://schemas.openxmlformats.org/drawingml/2006/main">
              <a:ext uri="{FF2B5EF4-FFF2-40B4-BE49-F238E27FC236}">
                <a16:creationId xmlns:a16="http://schemas.microsoft.com/office/drawing/2014/main" id="{B3C3FF41-2AED-412A-8264-31C7367DB2C2}"/>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Des features disponibles à l'instant de décision et définies précisément.</a:t>
            </a:r>
          </a:p>
        </p:txBody>
      </p:sp>
      <p:sp>
        <p:nvSpPr>
          <p:cNvPr id="160" name="course-Une stratégie de classes rares comp">
            <a:extLst xmlns:a="http://schemas.openxmlformats.org/drawingml/2006/main">
              <a:ext uri="{FF2B5EF4-FFF2-40B4-BE49-F238E27FC236}">
                <a16:creationId xmlns:a16="http://schemas.microsoft.com/office/drawing/2014/main" id="{1CFE115F-417F-4870-8771-E197FA540084}"/>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stratégie de classes rares comparée sans fuite.</a:t>
            </a:r>
          </a:p>
        </p:txBody>
      </p:sp>
      <p:sp>
        <p:nvSpPr>
          <p:cNvPr id="161" name="course-Une calibration et un seuil évalués">
            <a:extLst xmlns:a="http://schemas.openxmlformats.org/drawingml/2006/main">
              <a:ext uri="{FF2B5EF4-FFF2-40B4-BE49-F238E27FC236}">
                <a16:creationId xmlns:a16="http://schemas.microsoft.com/office/drawing/2014/main" id="{91E59AFC-62F6-4894-978A-05034F3E6A43}"/>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calibration et un seuil évalués dans le bon ordre.</a:t>
            </a:r>
          </a:p>
        </p:txBody>
      </p:sp>
      <p:sp>
        <p:nvSpPr>
          <p:cNvPr id="162" name="course-Demain : découvrir une structure qu">
            <a:extLst xmlns:a="http://schemas.openxmlformats.org/drawingml/2006/main">
              <a:ext uri="{FF2B5EF4-FFF2-40B4-BE49-F238E27FC236}">
                <a16:creationId xmlns:a16="http://schemas.microsoft.com/office/drawing/2014/main" id="{9BBC8C19-7C5E-4363-81EF-235CA8E52DFC}"/>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Demain : découvrir une structure quand la cible n'est pas donnée</a:t>
            </a:r>
          </a:p>
        </p:txBody>
      </p:sp>
      <p:sp>
        <p:nvSpPr>
          <p:cNvPr id="163" name="course-Exemple ou activité originale du co">
            <a:extLst xmlns:a="http://schemas.openxmlformats.org/drawingml/2006/main">
              <a:ext uri="{FF2B5EF4-FFF2-40B4-BE49-F238E27FC236}">
                <a16:creationId xmlns:a16="http://schemas.microsoft.com/office/drawing/2014/main" id="{2777D9F8-33F0-4C9E-9F61-F3DAE514FE3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77.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D30FB88-3A64-4DDC-B6FB-A45D76E8720C}"/>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B6515DFA-C6BC-4740-AD89-5A6CFD255906}"/>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6000">
                <a:solidFill>
                  <a:srgbClr val="FFFFFF"/>
                </a:solidFill>
                <a:latin typeface="Roboto Mono"/>
                <a:ea typeface="Roboto Mono"/>
                <a:cs typeface="Roboto Mono"/>
              </a:defRPr>
            </a:pPr>
            <a:r>
              <a:rPr sz="6000" b="0" i="0" u="none" cap="none">
                <a:solidFill>
                  <a:srgbClr val="FFFFFF"/>
                </a:solidFill>
                <a:latin typeface="Roboto Mono"/>
                <a:ea typeface="Roboto Mono"/>
                <a:cs typeface="Roboto Mono"/>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50B8DDD-729E-486B-AEB1-AD033FCC7D35}"/>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E8E5135-6606-4F5B-9C6D-A32E421983FE}"/>
              </a:ext>
            </a:extLst>
          </p:cNvPr>
          <p:cNvSpPr>
            <a:spLocks xmlns:a="http://schemas.openxmlformats.org/drawingml/2006/main" noGrp="1"/>
          </p:cNvSpPr>
          <p:nvPr/>
        </p:nvSpPr>
        <p:spPr>
          <a:xfrm xmlns:a="http://schemas.openxmlformats.org/drawingml/2006/main">
            <a:off x="2619375" y="2209800"/>
            <a:ext cx="8620125" cy="16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050">
                <a:solidFill>
                  <a:srgbClr val="FFFFFF"/>
                </a:solidFill>
                <a:latin typeface="Archivo Black"/>
                <a:ea typeface="Archivo Black"/>
                <a:cs typeface="Archivo Black"/>
              </a:defRPr>
            </a:pPr>
            <a:r>
              <a:rPr sz="4050">
                <a:solidFill>
                  <a:srgbClr val="FFFFFF"/>
                </a:solidFill>
                <a:latin typeface="Archivo Black"/>
                <a:ea typeface="Archivo Black"/>
                <a:cs typeface="Archivo Black"/>
              </a:rPr>
              <a:t>Clustering et anomalies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07C33C7D-4DBF-4A1B-937A-40BA11DC5D81}"/>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C5B0E55E-D350-4972-97F4-240419483916}"/>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077</a:t>
            </a:r>
            <a:endParaRPr sz="1300" b="0" i="0" u="none" cap="none">
              <a:solidFill>
                <a:schemeClr val="dk1"/>
              </a:solidFill>
              <a:latin typeface="Calibri"/>
              <a:ea typeface="Calibri"/>
              <a:cs typeface="Calibri"/>
            </a:endParaRPr>
          </a:p>
        </p:txBody>
      </p:sp>
      <p:pic>
        <p:nvPicPr>
          <p:cNvPr id="150" name="Google Shape;137;p7"/>
          <p:cNvPicPr>
            <a:picLocks xmlns:a="http://schemas.openxmlformats.org/drawingml/2006/main" noChangeAspect="1"/>
          </p:cNvPicPr>
          <p:nvPr/>
        </p:nvPicPr>
        <p:blipFill>
          <a:blip xmlns:r="http://schemas.openxmlformats.org/officeDocument/2006/relationships" xmlns:a="http://schemas.openxmlformats.org/drawingml/2006/main" r:embed="R42388a187bd441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1" name="Google Shape;138;p7"/>
          <p:cNvPicPr>
            <a:picLocks xmlns:a="http://schemas.openxmlformats.org/drawingml/2006/main" noChangeAspect="1"/>
          </p:cNvPicPr>
          <p:nvPr/>
        </p:nvPicPr>
        <p:blipFill>
          <a:blip xmlns:r="http://schemas.openxmlformats.org/officeDocument/2006/relationships" xmlns:a="http://schemas.openxmlformats.org/drawingml/2006/main" r:embed="Rb2bf0df3e8d941c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5E19C1EB-9D5B-4724-9DF6-EA2A1693B50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8710095-3157-4D85-A4A3-C1C07ED06B95}"/>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Jeudi 24 septembre · Explorer une s">
            <a:extLst xmlns:a="http://schemas.openxmlformats.org/drawingml/2006/main">
              <a:ext uri="{FF2B5EF4-FFF2-40B4-BE49-F238E27FC236}">
                <a16:creationId xmlns:a16="http://schemas.microsoft.com/office/drawing/2014/main" id="{42AAA96A-AF72-47D8-BDE9-D34529C50475}"/>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DM Sans"/>
                <a:ea typeface="DM Sans"/>
                <a:cs typeface="DM Sans"/>
              </a:defRPr>
            </a:pPr>
            <a:r>
              <a:rPr sz="2100" b="0">
                <a:solidFill>
                  <a:srgbClr val="FFFFFF"/>
                </a:solidFill>
                <a:latin typeface="DM Sans"/>
                <a:ea typeface="DM Sans"/>
                <a:cs typeface="DM Sans"/>
              </a:rPr>
              <a:t>Jeudi 24 septembre · Explorer une structure sans inventer une vérité</a:t>
            </a:r>
          </a:p>
        </p:txBody>
      </p:sp>
    </p:spTree>
    <p:extLst>
      <p:ext uri="{BB962C8B-B14F-4D97-AF65-F5344CB8AC3E}">
        <p14:creationId xmlns:p14="http://schemas.microsoft.com/office/powerpoint/2010/main" val="500231423"/>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bd08e7a3527416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fa5e61635d64f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 cluster dépend de la représentat">
            <a:extLst xmlns:a="http://schemas.openxmlformats.org/drawingml/2006/main">
              <a:ext uri="{FF2B5EF4-FFF2-40B4-BE49-F238E27FC236}">
                <a16:creationId xmlns:a16="http://schemas.microsoft.com/office/drawing/2014/main" id="{034BF71E-3EDE-453F-A088-59E05A17A4F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 cluster dépend de la représentation</a:t>
            </a:r>
          </a:p>
        </p:txBody>
      </p:sp>
      <p:sp>
        <p:nvSpPr>
          <p:cNvPr id="159" name="course-Choisir les variables définit ce qu">
            <a:extLst xmlns:a="http://schemas.openxmlformats.org/drawingml/2006/main">
              <a:ext uri="{FF2B5EF4-FFF2-40B4-BE49-F238E27FC236}">
                <a16:creationId xmlns:a16="http://schemas.microsoft.com/office/drawing/2014/main" id="{42090F96-2CB9-4CD3-B77F-719B1E11B894}"/>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les variables définit ce qui peut rendre deux observations proches.</a:t>
            </a:r>
          </a:p>
        </p:txBody>
      </p:sp>
      <p:sp>
        <p:nvSpPr>
          <p:cNvPr id="160" name="course-Choisir une distance définit la not">
            <a:extLst xmlns:a="http://schemas.openxmlformats.org/drawingml/2006/main">
              <a:ext uri="{FF2B5EF4-FFF2-40B4-BE49-F238E27FC236}">
                <a16:creationId xmlns:a16="http://schemas.microsoft.com/office/drawing/2014/main" id="{EB8C5EC1-95EC-4FD1-9AA8-59F5C1B235F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une distance définit la notion de ressemblance.</a:t>
            </a:r>
          </a:p>
        </p:txBody>
      </p:sp>
      <p:sp>
        <p:nvSpPr>
          <p:cNvPr id="161" name="course-Choisir un algorithme ajoute des hy">
            <a:extLst xmlns:a="http://schemas.openxmlformats.org/drawingml/2006/main">
              <a:ext uri="{FF2B5EF4-FFF2-40B4-BE49-F238E27FC236}">
                <a16:creationId xmlns:a16="http://schemas.microsoft.com/office/drawing/2014/main" id="{6A9B97C0-9CFD-4F95-970C-9FE75857A52C}"/>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Choisir un algorithme ajoute des hypothèses sur la forme des groupes.</a:t>
            </a:r>
          </a:p>
        </p:txBody>
      </p:sp>
      <p:sp>
        <p:nvSpPr>
          <p:cNvPr id="162" name="course-Un identifiant de cluster est un ré">
            <a:extLst xmlns:a="http://schemas.openxmlformats.org/drawingml/2006/main">
              <a:ext uri="{FF2B5EF4-FFF2-40B4-BE49-F238E27FC236}">
                <a16:creationId xmlns:a16="http://schemas.microsoft.com/office/drawing/2014/main" id="{BFABDF61-3159-489B-884E-B3464647C1A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identifiant de cluster est un résultat d'algorithme, pas une classe naturelle</a:t>
            </a:r>
          </a:p>
        </p:txBody>
      </p:sp>
      <p:sp>
        <p:nvSpPr>
          <p:cNvPr id="163" name="course-Sources : R20 · liens et détails da">
            <a:extLst xmlns:a="http://schemas.openxmlformats.org/drawingml/2006/main">
              <a:ext uri="{FF2B5EF4-FFF2-40B4-BE49-F238E27FC236}">
                <a16:creationId xmlns:a16="http://schemas.microsoft.com/office/drawing/2014/main" id="{FF80F54F-90FF-43F6-9994-6175513EA0D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079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436680991294c5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23aa2e5b8d643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Distances et échelles">
            <a:extLst xmlns:a="http://schemas.openxmlformats.org/drawingml/2006/main">
              <a:ext uri="{FF2B5EF4-FFF2-40B4-BE49-F238E27FC236}">
                <a16:creationId xmlns:a16="http://schemas.microsoft.com/office/drawing/2014/main" id="{E5237C71-271D-422D-886B-BB230163AF21}"/>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Distances et échelles</a:t>
            </a:r>
          </a:p>
        </p:txBody>
      </p:sp>
      <p:sp>
        <p:nvSpPr>
          <p:cNvPr id="159" name="course-Euclidienne : compare les écarts nu">
            <a:extLst xmlns:a="http://schemas.openxmlformats.org/drawingml/2006/main">
              <a:ext uri="{FF2B5EF4-FFF2-40B4-BE49-F238E27FC236}">
                <a16:creationId xmlns:a16="http://schemas.microsoft.com/office/drawing/2014/main" id="{DCCEAB33-1138-4F3C-B586-4706E53C3B09}"/>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Euclidienne : compare les écarts numériques coordonnée par coordonnée.</a:t>
            </a:r>
          </a:p>
        </p:txBody>
      </p:sp>
      <p:sp>
        <p:nvSpPr>
          <p:cNvPr id="160" name="course-Cosinus : compare l'orientation de ">
            <a:extLst xmlns:a="http://schemas.openxmlformats.org/drawingml/2006/main">
              <a:ext uri="{FF2B5EF4-FFF2-40B4-BE49-F238E27FC236}">
                <a16:creationId xmlns:a16="http://schemas.microsoft.com/office/drawing/2014/main" id="{1614BF5B-CD55-4DE2-ACB6-349FB492AE58}"/>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Cosinus : compare l'orientation de vecteurs, utile dans certains espaces textuels.</a:t>
            </a:r>
          </a:p>
        </p:txBody>
      </p:sp>
      <p:sp>
        <p:nvSpPr>
          <p:cNvPr id="161" name="course-Des variables de grande amplitude p">
            <a:extLst xmlns:a="http://schemas.openxmlformats.org/drawingml/2006/main">
              <a:ext uri="{FF2B5EF4-FFF2-40B4-BE49-F238E27FC236}">
                <a16:creationId xmlns:a16="http://schemas.microsoft.com/office/drawing/2014/main" id="{411B9BCF-3114-4748-A45C-2BC2AA05C52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Des variables de grande amplitude peuvent dominer une distance brute.</a:t>
            </a:r>
          </a:p>
        </p:txBody>
      </p:sp>
      <p:sp>
        <p:nvSpPr>
          <p:cNvPr id="162" name="course-Standardiser selon le sens métier, ">
            <a:extLst xmlns:a="http://schemas.openxmlformats.org/drawingml/2006/main">
              <a:ext uri="{FF2B5EF4-FFF2-40B4-BE49-F238E27FC236}">
                <a16:creationId xmlns:a16="http://schemas.microsoft.com/office/drawing/2014/main" id="{E7F2495E-FDAD-4780-B956-95D05DFE6C9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Standardiser selon le sens métier, pas par automatisme</a:t>
            </a:r>
          </a:p>
        </p:txBody>
      </p:sp>
      <p:sp>
        <p:nvSpPr>
          <p:cNvPr id="163" name="course-Sources : R18, R20 · liens et détai">
            <a:extLst xmlns:a="http://schemas.openxmlformats.org/drawingml/2006/main">
              <a:ext uri="{FF2B5EF4-FFF2-40B4-BE49-F238E27FC236}">
                <a16:creationId xmlns:a16="http://schemas.microsoft.com/office/drawing/2014/main" id="{A3EEFB3B-44F0-4010-B72F-E2A0C9487136}"/>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R18, R20 · liens et détails dans les notes</a:t>
            </a:r>
          </a:p>
        </p:txBody>
      </p:sp>
    </p:spTree>
    <p:extLst>
      <p:ext uri="{BB962C8B-B14F-4D97-AF65-F5344CB8AC3E}">
        <p14:creationId xmlns:p14="http://schemas.microsoft.com/office/powerpoint/2010/main" val="436220805"/>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4714362d26945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ae0bc2b073747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CA : projeter en conservant de la ">
            <a:extLst xmlns:a="http://schemas.openxmlformats.org/drawingml/2006/main">
              <a:ext uri="{FF2B5EF4-FFF2-40B4-BE49-F238E27FC236}">
                <a16:creationId xmlns:a16="http://schemas.microsoft.com/office/drawing/2014/main" id="{EA8F052C-19E1-4242-BFCE-C7F351799BD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PCA : projeter en conservant de la variance</a:t>
            </a:r>
          </a:p>
        </p:txBody>
      </p:sp>
      <p:sp>
        <p:nvSpPr>
          <p:cNvPr id="159" name="course-Xcentré = U Σ Vᵀ     Zk = Xcentré V">
            <a:extLst xmlns:a="http://schemas.openxmlformats.org/drawingml/2006/main">
              <a:ext uri="{FF2B5EF4-FFF2-40B4-BE49-F238E27FC236}">
                <a16:creationId xmlns:a16="http://schemas.microsoft.com/office/drawing/2014/main" id="{89A88DC1-5EA7-4ADF-8347-26E8DD7A62AA}"/>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Xcentré = U Σ Vᵀ     Zk = Xcentré Vk</a:t>
            </a:r>
          </a:p>
        </p:txBody>
      </p:sp>
      <p:sp>
        <p:nvSpPr>
          <p:cNvPr id="160" name="course-Les axes principaux sont orthogonau">
            <a:extLst xmlns:a="http://schemas.openxmlformats.org/drawingml/2006/main">
              <a:ext uri="{FF2B5EF4-FFF2-40B4-BE49-F238E27FC236}">
                <a16:creationId xmlns:a16="http://schemas.microsoft.com/office/drawing/2014/main" id="{F806A23C-A3A2-49D0-ACBE-C219C5673CC4}"/>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axes principaux sont orthogonaux.</a:t>
            </a:r>
          </a:p>
        </p:txBody>
      </p:sp>
      <p:sp>
        <p:nvSpPr>
          <p:cNvPr id="161" name="course-Les premières composantes maximisen">
            <a:extLst xmlns:a="http://schemas.openxmlformats.org/drawingml/2006/main">
              <a:ext uri="{FF2B5EF4-FFF2-40B4-BE49-F238E27FC236}">
                <a16:creationId xmlns:a16="http://schemas.microsoft.com/office/drawing/2014/main" id="{5BD51CA1-1BF8-4388-8535-29DF12988B3F}"/>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premières composantes maximisent la variance projetée.</a:t>
            </a:r>
          </a:p>
        </p:txBody>
      </p:sp>
      <p:sp>
        <p:nvSpPr>
          <p:cNvPr id="162" name="course-Réduire la dimension perd de l'info">
            <a:extLst xmlns:a="http://schemas.openxmlformats.org/drawingml/2006/main">
              <a:ext uri="{FF2B5EF4-FFF2-40B4-BE49-F238E27FC236}">
                <a16:creationId xmlns:a16="http://schemas.microsoft.com/office/drawing/2014/main" id="{B36B549F-779D-41D9-9D70-292FCA04DD7D}"/>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Réduire la dimension perd de l'information.</a:t>
            </a:r>
          </a:p>
        </p:txBody>
      </p:sp>
      <p:sp>
        <p:nvSpPr>
          <p:cNvPr id="163" name="course-Sources : R22 · liens et détails da">
            <a:extLst xmlns:a="http://schemas.openxmlformats.org/drawingml/2006/main">
              <a:ext uri="{FF2B5EF4-FFF2-40B4-BE49-F238E27FC236}">
                <a16:creationId xmlns:a16="http://schemas.microsoft.com/office/drawing/2014/main" id="{251E0AC8-F4CB-454F-BE46-391AFB9BE91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R22 · liens et détails dans les notes</a:t>
            </a:r>
          </a:p>
        </p:txBody>
      </p:sp>
    </p:spTree>
    <p:extLst>
      <p:ext uri="{BB962C8B-B14F-4D97-AF65-F5344CB8AC3E}">
        <p14:creationId xmlns:p14="http://schemas.microsoft.com/office/powerpoint/2010/main" val="436220805"/>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081</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7f348896f9f4454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b391ff6f75cf43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ire la variance expliquée">
            <a:extLst xmlns:a="http://schemas.openxmlformats.org/drawingml/2006/main">
              <a:ext uri="{FF2B5EF4-FFF2-40B4-BE49-F238E27FC236}">
                <a16:creationId xmlns:a16="http://schemas.microsoft.com/office/drawing/2014/main" id="{4F0EDBA7-56DD-48A4-BF2B-0DB196BC117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Lire la variance expliquée</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e8a54c9e08134ed3"/>
          </a:graphicData>
        </a:graphic>
      </p:graphicFrame>
      <p:sp>
        <p:nvSpPr>
          <p:cNvPr id="160" name="course-Deux axes expliquent ici 75 %.&#10;&#10;Tro">
            <a:extLst xmlns:a="http://schemas.openxmlformats.org/drawingml/2006/main">
              <a:ext uri="{FF2B5EF4-FFF2-40B4-BE49-F238E27FC236}">
                <a16:creationId xmlns:a16="http://schemas.microsoft.com/office/drawing/2014/main" id="{A27B9220-74FD-4792-8123-1C51ECE5CEB7}"/>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Deux axes expliquent ici 75 %.</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Trois axes expliquent 88 %.</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Quatre axes sont nécessaires pour dépasser 90 %.</a:t>
            </a:r>
          </a:p>
        </p:txBody>
      </p:sp>
      <p:sp>
        <p:nvSpPr>
          <p:cNvPr id="161" name="course-Spectre construit pour l'exercice :">
            <a:extLst xmlns:a="http://schemas.openxmlformats.org/drawingml/2006/main">
              <a:ext uri="{FF2B5EF4-FFF2-40B4-BE49-F238E27FC236}">
                <a16:creationId xmlns:a16="http://schemas.microsoft.com/office/drawing/2014/main" id="{1F299086-C600-4FE8-A923-BB42C175455E}"/>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Spectre construit pour l'exercice : les 3 premiers axes expliquent 88%, les 4 premiers 96%.</a:t>
            </a:r>
          </a:p>
        </p:txBody>
      </p:sp>
      <p:sp>
        <p:nvSpPr>
          <p:cNvPr id="162" name="course-Sources : R22 · liens et détails da">
            <a:extLst xmlns:a="http://schemas.openxmlformats.org/drawingml/2006/main">
              <a:ext uri="{FF2B5EF4-FFF2-40B4-BE49-F238E27FC236}">
                <a16:creationId xmlns:a16="http://schemas.microsoft.com/office/drawing/2014/main" id="{F8181704-E4AC-4168-BB74-ADD3CF74FD0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R22 · liens et détails dans les notes</a:t>
            </a:r>
          </a:p>
        </p:txBody>
      </p:sp>
    </p:spTree>
    <p:extLst>
      <p:ext uri="{BB962C8B-B14F-4D97-AF65-F5344CB8AC3E}">
        <p14:creationId xmlns:p14="http://schemas.microsoft.com/office/powerpoint/2010/main" val="436220805"/>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473c0bac9bb411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3d5c0151422455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K-means : minimiser l'inertie">
            <a:extLst xmlns:a="http://schemas.openxmlformats.org/drawingml/2006/main">
              <a:ext uri="{FF2B5EF4-FFF2-40B4-BE49-F238E27FC236}">
                <a16:creationId xmlns:a16="http://schemas.microsoft.com/office/drawing/2014/main" id="{2A0152D3-4ECD-4D67-9044-AA8E75933F8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K-means : minimiser l'inertie</a:t>
            </a:r>
          </a:p>
        </p:txBody>
      </p:sp>
      <p:sp>
        <p:nvSpPr>
          <p:cNvPr id="159" name="course-J = Σk Σi∈Ck ||xi − μk||²">
            <a:extLst xmlns:a="http://schemas.openxmlformats.org/drawingml/2006/main">
              <a:ext uri="{FF2B5EF4-FFF2-40B4-BE49-F238E27FC236}">
                <a16:creationId xmlns:a16="http://schemas.microsoft.com/office/drawing/2014/main" id="{930C21D2-D65A-4441-A2EE-A9F351171FB3}"/>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J = Σk Σi∈Ck ||xi − μk||²</a:t>
            </a:r>
          </a:p>
        </p:txBody>
      </p:sp>
      <p:sp>
        <p:nvSpPr>
          <p:cNvPr id="160" name="course-Affecter chaque point au centre le ">
            <a:extLst xmlns:a="http://schemas.openxmlformats.org/drawingml/2006/main">
              <a:ext uri="{FF2B5EF4-FFF2-40B4-BE49-F238E27FC236}">
                <a16:creationId xmlns:a16="http://schemas.microsoft.com/office/drawing/2014/main" id="{E683EF0C-5DFB-4DE5-AFCC-4E06758E3DC7}"/>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Affecter chaque point au centre le plus proche.</a:t>
            </a:r>
          </a:p>
        </p:txBody>
      </p:sp>
      <p:sp>
        <p:nvSpPr>
          <p:cNvPr id="161" name="course-Recalculer chaque centre comme la m">
            <a:extLst xmlns:a="http://schemas.openxmlformats.org/drawingml/2006/main">
              <a:ext uri="{FF2B5EF4-FFF2-40B4-BE49-F238E27FC236}">
                <a16:creationId xmlns:a16="http://schemas.microsoft.com/office/drawing/2014/main" id="{5CFFD357-22A7-42FB-B1D9-814EE16C89C3}"/>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Recalculer chaque centre comme la moyenne de son groupe.</a:t>
            </a:r>
          </a:p>
        </p:txBody>
      </p:sp>
      <p:sp>
        <p:nvSpPr>
          <p:cNvPr id="162" name="course-Répéter jusqu'à convergence vers un">
            <a:extLst xmlns:a="http://schemas.openxmlformats.org/drawingml/2006/main">
              <a:ext uri="{FF2B5EF4-FFF2-40B4-BE49-F238E27FC236}">
                <a16:creationId xmlns:a16="http://schemas.microsoft.com/office/drawing/2014/main" id="{9FA49A25-FCD7-48F0-84C2-47F2229538F6}"/>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Répéter jusqu'à convergence vers une solution locale.</a:t>
            </a:r>
          </a:p>
        </p:txBody>
      </p:sp>
      <p:sp>
        <p:nvSpPr>
          <p:cNvPr id="163" name="course-Sources : R20 · liens et détails da">
            <a:extLst xmlns:a="http://schemas.openxmlformats.org/drawingml/2006/main">
              <a:ext uri="{FF2B5EF4-FFF2-40B4-BE49-F238E27FC236}">
                <a16:creationId xmlns:a16="http://schemas.microsoft.com/office/drawing/2014/main" id="{F53909FD-4734-4F84-B150-F150372DCE8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083</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633c43a1be0441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6abae93cad4484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itération de K-means">
            <a:extLst xmlns:a="http://schemas.openxmlformats.org/drawingml/2006/main">
              <a:ext uri="{FF2B5EF4-FFF2-40B4-BE49-F238E27FC236}">
                <a16:creationId xmlns:a16="http://schemas.microsoft.com/office/drawing/2014/main" id="{33D3288F-3926-4AF2-A10B-1FC0B729216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itération de K-means</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2667000"/>
                <a:gridCol w="2667000"/>
                <a:gridCol w="2667000"/>
                <a:gridCol w="2667000"/>
              </a:tblGrid>
              <a:tr h="609600">
                <a:tc>
                  <a:txBody>
                    <a:bodyPr lIns="114300" tIns="95250" rIns="114300" bIns="95250"/>
                    <a:lstStyle/>
                    <a:p>
                      <a:r>
                        <a:rPr sz="1575" b="1">
                          <a:solidFill>
                            <a:srgbClr val="FFFFFF"/>
                          </a:solidFill>
                          <a:latin typeface="DM Sans"/>
                          <a:ea typeface="DM Sans"/>
                          <a:cs typeface="DM Sans"/>
                        </a:rPr>
                        <a:t>Points en 1D</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Centre initial</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Affectation</a:t>
                      </a:r>
                    </a:p>
                  </a:txBody>
                  <a:tcPr marL="91440" marR="91440" marT="45720" marB="45720">
                    <a:solidFill>
                      <a:srgbClr val="303C8B"/>
                    </a:solidFill>
                  </a:tcPr>
                </a:tc>
                <a:tc>
                  <a:txBody>
                    <a:bodyPr lIns="114300" tIns="95250" rIns="114300" bIns="95250"/>
                    <a:lstStyle/>
                    <a:p>
                      <a:r>
                        <a:rPr sz="1575" b="1">
                          <a:solidFill>
                            <a:srgbClr val="FFFFFF"/>
                          </a:solidFill>
                          <a:latin typeface="DM Sans"/>
                          <a:ea typeface="DM Sans"/>
                          <a:cs typeface="DM Sans"/>
                        </a:rPr>
                        <a:t>Nouveau centre</a:t>
                      </a:r>
                    </a:p>
                  </a:txBody>
                  <a:tcPr marL="91440" marR="91440" marT="45720" marB="45720">
                    <a:solidFill>
                      <a:srgbClr val="303C8B"/>
                    </a:solidFill>
                  </a:tcPr>
                </a:tc>
              </a:tr>
              <a:tr h="609600">
                <a:tc>
                  <a:txBody>
                    <a:bodyPr lIns="114300" tIns="95250" rIns="114300" bIns="95250"/>
                    <a:lstStyle/>
                    <a:p>
                      <a:r>
                        <a:rPr sz="1575" b="0">
                          <a:solidFill>
                            <a:srgbClr val="12194C"/>
                          </a:solidFill>
                          <a:latin typeface="DM Sans"/>
                          <a:ea typeface="DM Sans"/>
                          <a:cs typeface="DM Sans"/>
                        </a:rPr>
                        <a:t>1, 2</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0</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Groupe A</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1,5</a:t>
                      </a:r>
                    </a:p>
                  </a:txBody>
                  <a:tcPr marL="91440" marR="91440" marT="45720" marB="45720">
                    <a:solidFill>
                      <a:srgbClr val="F4F5F8"/>
                    </a:solidFill>
                  </a:tcPr>
                </a:tc>
              </a:tr>
              <a:tr h="609600">
                <a:tc>
                  <a:txBody>
                    <a:bodyPr lIns="114300" tIns="95250" rIns="114300" bIns="95250"/>
                    <a:lstStyle/>
                    <a:p>
                      <a:r>
                        <a:rPr sz="1575" b="0">
                          <a:solidFill>
                            <a:srgbClr val="12194C"/>
                          </a:solidFill>
                          <a:latin typeface="DM Sans"/>
                          <a:ea typeface="DM Sans"/>
                          <a:cs typeface="DM Sans"/>
                        </a:rPr>
                        <a:t>8, 9</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10</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Groupe B</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8,5</a:t>
                      </a:r>
                    </a:p>
                  </a:txBody>
                  <a:tcPr marL="91440" marR="91440" marT="45720" marB="45720">
                    <a:solidFill>
                      <a:srgbClr val="FFFFFF"/>
                    </a:solidFill>
                  </a:tcPr>
                </a:tc>
              </a:tr>
              <a:tr h="609600">
                <a:tc>
                  <a:txBody>
                    <a:bodyPr lIns="114300" tIns="95250" rIns="114300" bIns="95250"/>
                    <a:lstStyle/>
                    <a:p>
                      <a:r>
                        <a:rPr sz="1575" b="0">
                          <a:solidFill>
                            <a:srgbClr val="12194C"/>
                          </a:solidFill>
                          <a:latin typeface="DM Sans"/>
                          <a:ea typeface="DM Sans"/>
                          <a:cs typeface="DM Sans"/>
                        </a:rPr>
                        <a:t>Inertie avant mise à jour</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10</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Somme des carrés</a:t>
                      </a:r>
                    </a:p>
                  </a:txBody>
                  <a:tcPr marL="91440" marR="91440" marT="45720" marB="45720">
                    <a:solidFill>
                      <a:srgbClr val="F4F5F8"/>
                    </a:solidFill>
                  </a:tcPr>
                </a:tc>
                <a:tc>
                  <a:txBody>
                    <a:bodyPr lIns="114300" tIns="95250" rIns="114300" bIns="95250"/>
                    <a:lstStyle/>
                    <a:p>
                      <a:r>
                        <a:rPr sz="1575" b="0">
                          <a:solidFill>
                            <a:srgbClr val="12194C"/>
                          </a:solidFill>
                          <a:latin typeface="DM Sans"/>
                          <a:ea typeface="DM Sans"/>
                          <a:cs typeface="DM Sans"/>
                        </a:rPr>
                        <a:t/>
                      </a:r>
                    </a:p>
                  </a:txBody>
                  <a:tcPr marL="91440" marR="91440" marT="45720" marB="45720">
                    <a:solidFill>
                      <a:srgbClr val="F4F5F8"/>
                    </a:solidFill>
                  </a:tcPr>
                </a:tc>
              </a:tr>
              <a:tr h="609600">
                <a:tc>
                  <a:txBody>
                    <a:bodyPr lIns="114300" tIns="95250" rIns="114300" bIns="95250"/>
                    <a:lstStyle/>
                    <a:p>
                      <a:r>
                        <a:rPr sz="1575" b="0">
                          <a:solidFill>
                            <a:srgbClr val="12194C"/>
                          </a:solidFill>
                          <a:latin typeface="DM Sans"/>
                          <a:ea typeface="DM Sans"/>
                          <a:cs typeface="DM Sans"/>
                        </a:rPr>
                        <a:t>Inertie après mise à jour</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1</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Somme des carrés</a:t>
                      </a:r>
                    </a:p>
                  </a:txBody>
                  <a:tcPr marL="91440" marR="91440" marT="45720" marB="45720">
                    <a:solidFill>
                      <a:srgbClr val="FFFFFF"/>
                    </a:solidFill>
                  </a:tcPr>
                </a:tc>
                <a:tc>
                  <a:txBody>
                    <a:bodyPr lIns="114300" tIns="95250" rIns="114300" bIns="95250"/>
                    <a:lstStyle/>
                    <a:p>
                      <a:r>
                        <a:rPr sz="1575" b="0">
                          <a:solidFill>
                            <a:srgbClr val="12194C"/>
                          </a:solidFill>
                          <a:latin typeface="DM Sans"/>
                          <a:ea typeface="DM Sans"/>
                          <a:cs typeface="DM Sans"/>
                        </a:rPr>
                        <a:t/>
                      </a:r>
                    </a:p>
                  </a:txBody>
                  <a:tcPr marL="91440" marR="91440" marT="45720" marB="45720">
                    <a:solidFill>
                      <a:srgbClr val="FFFFFF"/>
                    </a:solidFill>
                  </a:tcPr>
                </a:tc>
              </a:tr>
            </a:tbl>
          </a:graphicData>
        </a:graphic>
      </p:graphicFrame>
      <p:sp>
        <p:nvSpPr>
          <p:cNvPr id="160" name="course-Points 1, 2, 8, 9 : les deux moyenn">
            <a:extLst xmlns:a="http://schemas.openxmlformats.org/drawingml/2006/main">
              <a:ext uri="{FF2B5EF4-FFF2-40B4-BE49-F238E27FC236}">
                <a16:creationId xmlns:a16="http://schemas.microsoft.com/office/drawing/2014/main" id="{DA7938CE-9727-4B24-A6CA-D4324433F8C3}"/>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Points 1, 2, 8, 9 : les deux moyennes sont 1,5 et 8,5</a:t>
            </a:r>
          </a:p>
        </p:txBody>
      </p:sp>
      <p:sp>
        <p:nvSpPr>
          <p:cNvPr id="161" name="course-Sources : R20 · liens et détails da">
            <a:extLst xmlns:a="http://schemas.openxmlformats.org/drawingml/2006/main">
              <a:ext uri="{FF2B5EF4-FFF2-40B4-BE49-F238E27FC236}">
                <a16:creationId xmlns:a16="http://schemas.microsoft.com/office/drawing/2014/main" id="{738665CA-4DA1-47C8-AEC5-1ACD7E3FB06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084</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f8a458856fc4d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b8f77474ce074c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géométrie que K-means représent">
            <a:extLst xmlns:a="http://schemas.openxmlformats.org/drawingml/2006/main">
              <a:ext uri="{FF2B5EF4-FFF2-40B4-BE49-F238E27FC236}">
                <a16:creationId xmlns:a16="http://schemas.microsoft.com/office/drawing/2014/main" id="{F892A10C-F02A-4730-9613-574310FCE38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géométrie que K-means représente mal</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a477fa528fbc45f8"/>
          </a:graphicData>
        </a:graphic>
      </p:graphicFrame>
      <p:sp>
        <p:nvSpPr>
          <p:cNvPr id="160" name="course-Les deux lunes sont des groupes cou">
            <a:extLst xmlns:a="http://schemas.openxmlformats.org/drawingml/2006/main">
              <a:ext uri="{FF2B5EF4-FFF2-40B4-BE49-F238E27FC236}">
                <a16:creationId xmlns:a16="http://schemas.microsoft.com/office/drawing/2014/main" id="{DF45A3EC-AB34-48FA-BEE6-A04BB9135B32}"/>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Les deux lunes sont des groupes courbes.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K-means favorise des régions proches de centres.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Une partition peut être stable et mal correspondre à la structure voulue.</a:t>
            </a:r>
          </a:p>
        </p:txBody>
      </p:sp>
      <p:sp>
        <p:nvSpPr>
          <p:cNvPr id="161" name="course-Mêmes 180 lunes synthétiques, grain">
            <a:extLst xmlns:a="http://schemas.openxmlformats.org/drawingml/2006/main">
              <a:ext uri="{FF2B5EF4-FFF2-40B4-BE49-F238E27FC236}">
                <a16:creationId xmlns:a16="http://schemas.microsoft.com/office/drawing/2014/main" id="{BCB98683-BDD8-4526-AF8D-E7F225741711}"/>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Mêmes 180 lunes synthétiques, graine 42. Les couleurs représentent les clusters estimés.</a:t>
            </a:r>
          </a:p>
        </p:txBody>
      </p:sp>
      <p:sp>
        <p:nvSpPr>
          <p:cNvPr id="162" name="course-Sources : R20 · liens et détails da">
            <a:extLst xmlns:a="http://schemas.openxmlformats.org/drawingml/2006/main">
              <a:ext uri="{FF2B5EF4-FFF2-40B4-BE49-F238E27FC236}">
                <a16:creationId xmlns:a16="http://schemas.microsoft.com/office/drawing/2014/main" id="{299D803C-B2FD-41F8-8FE9-965A754BE62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085</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88c6a22e8fd466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3def4ec0b34447c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inertie ne choisit pas K à votre ">
            <a:extLst xmlns:a="http://schemas.openxmlformats.org/drawingml/2006/main">
              <a:ext uri="{FF2B5EF4-FFF2-40B4-BE49-F238E27FC236}">
                <a16:creationId xmlns:a16="http://schemas.microsoft.com/office/drawing/2014/main" id="{AC361493-CE06-40BC-869D-6DA4E27C00FF}"/>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L'inertie ne choisit pas K à votre place</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267035499fc54ebb"/>
          </a:graphicData>
        </a:graphic>
      </p:graphicFrame>
      <p:sp>
        <p:nvSpPr>
          <p:cNvPr id="160" name="course-Ajouter des centres peut toujours r">
            <a:extLst xmlns:a="http://schemas.openxmlformats.org/drawingml/2006/main">
              <a:ext uri="{FF2B5EF4-FFF2-40B4-BE49-F238E27FC236}">
                <a16:creationId xmlns:a16="http://schemas.microsoft.com/office/drawing/2014/main" id="{7E1EF5CB-C181-4D5A-9DFE-1FAAB6EF87AF}"/>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Ajouter des centres peut toujours réduire l'inertie optimale.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 coude n'est pas toujours visible ni unique.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Croiser le diagnostic avec stabilité et utilité métier.</a:t>
            </a:r>
          </a:p>
        </p:txBody>
      </p:sp>
      <p:sp>
        <p:nvSpPr>
          <p:cNvPr id="161" name="course-L'inertie optimale décroît avec K ;">
            <a:extLst xmlns:a="http://schemas.openxmlformats.org/drawingml/2006/main">
              <a:ext uri="{FF2B5EF4-FFF2-40B4-BE49-F238E27FC236}">
                <a16:creationId xmlns:a16="http://schemas.microsoft.com/office/drawing/2014/main" id="{2AD6E165-826E-4E00-8362-4AB44DE2D082}"/>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L'inertie optimale décroît avec K ; cette courbe ne prouve pas le vrai nombre de groupes.</a:t>
            </a:r>
          </a:p>
        </p:txBody>
      </p:sp>
      <p:sp>
        <p:nvSpPr>
          <p:cNvPr id="162" name="course-Sources : R20 · liens et détails da">
            <a:extLst xmlns:a="http://schemas.openxmlformats.org/drawingml/2006/main">
              <a:ext uri="{FF2B5EF4-FFF2-40B4-BE49-F238E27FC236}">
                <a16:creationId xmlns:a16="http://schemas.microsoft.com/office/drawing/2014/main" id="{27AE2C81-CEBC-42FA-B243-1D4E5F3F64F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91cd12d3a4143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61a26a99c7f49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ilhouette : séparation et compacit">
            <a:extLst xmlns:a="http://schemas.openxmlformats.org/drawingml/2006/main">
              <a:ext uri="{FF2B5EF4-FFF2-40B4-BE49-F238E27FC236}">
                <a16:creationId xmlns:a16="http://schemas.microsoft.com/office/drawing/2014/main" id="{CA6885F5-82C1-4A1F-B2F5-B22FC0DA5A1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Silhouette : séparation et compacité</a:t>
            </a:r>
          </a:p>
        </p:txBody>
      </p:sp>
      <p:sp>
        <p:nvSpPr>
          <p:cNvPr id="159" name="course-s(i) = [ b(i) − a(i) ] / max(a(i), ">
            <a:extLst xmlns:a="http://schemas.openxmlformats.org/drawingml/2006/main">
              <a:ext uri="{FF2B5EF4-FFF2-40B4-BE49-F238E27FC236}">
                <a16:creationId xmlns:a16="http://schemas.microsoft.com/office/drawing/2014/main" id="{E557884F-3034-453B-9D8C-5AC3C1A86159}"/>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s(i) = [ b(i) − a(i) ] / max(a(i), b(i))</a:t>
            </a:r>
          </a:p>
        </p:txBody>
      </p:sp>
      <p:sp>
        <p:nvSpPr>
          <p:cNvPr id="160" name="course-a(i) : distance moyenne aux membres">
            <a:extLst xmlns:a="http://schemas.openxmlformats.org/drawingml/2006/main">
              <a:ext uri="{FF2B5EF4-FFF2-40B4-BE49-F238E27FC236}">
                <a16:creationId xmlns:a16="http://schemas.microsoft.com/office/drawing/2014/main" id="{E53B1954-96D8-4B94-ACC8-39F8A283EC3B}"/>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a(i) : distance moyenne aux membres de son groupe.</a:t>
            </a:r>
          </a:p>
        </p:txBody>
      </p:sp>
      <p:sp>
        <p:nvSpPr>
          <p:cNvPr id="161" name="course-b(i) : plus petite distance moyenne">
            <a:extLst xmlns:a="http://schemas.openxmlformats.org/drawingml/2006/main">
              <a:ext uri="{FF2B5EF4-FFF2-40B4-BE49-F238E27FC236}">
                <a16:creationId xmlns:a16="http://schemas.microsoft.com/office/drawing/2014/main" id="{29144244-4940-49BC-A349-6652639ECEAE}"/>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b(i) : plus petite distance moyenne vers un autre groupe.</a:t>
            </a:r>
          </a:p>
        </p:txBody>
      </p:sp>
      <p:sp>
        <p:nvSpPr>
          <p:cNvPr id="162" name="course-Une silhouette négative signale une">
            <a:extLst xmlns:a="http://schemas.openxmlformats.org/drawingml/2006/main">
              <a:ext uri="{FF2B5EF4-FFF2-40B4-BE49-F238E27FC236}">
                <a16:creationId xmlns:a16="http://schemas.microsoft.com/office/drawing/2014/main" id="{FCE2371C-FDA5-417F-B48F-647DC8445A85}"/>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silhouette négative signale une affectation localement discutable.</a:t>
            </a:r>
          </a:p>
        </p:txBody>
      </p:sp>
      <p:sp>
        <p:nvSpPr>
          <p:cNvPr id="163" name="course-Sources : R20 · liens et détails da">
            <a:extLst xmlns:a="http://schemas.openxmlformats.org/drawingml/2006/main">
              <a:ext uri="{FF2B5EF4-FFF2-40B4-BE49-F238E27FC236}">
                <a16:creationId xmlns:a16="http://schemas.microsoft.com/office/drawing/2014/main" id="{9DA745D6-04B3-4457-8821-F579F616DBD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de2c14eb76d439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3a78de5b2b4461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GMM : une appartenance probabiliste">
            <a:extLst xmlns:a="http://schemas.openxmlformats.org/drawingml/2006/main">
              <a:ext uri="{FF2B5EF4-FFF2-40B4-BE49-F238E27FC236}">
                <a16:creationId xmlns:a16="http://schemas.microsoft.com/office/drawing/2014/main" id="{D7826749-178A-4F63-9193-FDB47E4AE6D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GMM : une appartenance probabiliste</a:t>
            </a:r>
          </a:p>
        </p:txBody>
      </p:sp>
      <p:sp>
        <p:nvSpPr>
          <p:cNvPr id="159" name="course-p(x) = Σk πk N(x ; μk, Σk)">
            <a:extLst xmlns:a="http://schemas.openxmlformats.org/drawingml/2006/main">
              <a:ext uri="{FF2B5EF4-FFF2-40B4-BE49-F238E27FC236}">
                <a16:creationId xmlns:a16="http://schemas.microsoft.com/office/drawing/2014/main" id="{1BB5CD03-CB75-414E-84BC-25DCDCE30F03}"/>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p(x) = Σk πk N(x ; μk, Σk)</a:t>
            </a:r>
          </a:p>
        </p:txBody>
      </p:sp>
      <p:sp>
        <p:nvSpPr>
          <p:cNvPr id="160" name="course-Une composante porte un poids, une ">
            <a:extLst xmlns:a="http://schemas.openxmlformats.org/drawingml/2006/main">
              <a:ext uri="{FF2B5EF4-FFF2-40B4-BE49-F238E27FC236}">
                <a16:creationId xmlns:a16="http://schemas.microsoft.com/office/drawing/2014/main" id="{ADFC904A-8C1A-4258-97CC-D3C32C16521D}"/>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composante porte un poids, une moyenne et une covariance.</a:t>
            </a:r>
          </a:p>
        </p:txBody>
      </p:sp>
      <p:sp>
        <p:nvSpPr>
          <p:cNvPr id="161" name="course-Les covariances autorisent des form">
            <a:extLst xmlns:a="http://schemas.openxmlformats.org/drawingml/2006/main">
              <a:ext uri="{FF2B5EF4-FFF2-40B4-BE49-F238E27FC236}">
                <a16:creationId xmlns:a16="http://schemas.microsoft.com/office/drawing/2014/main" id="{629A751A-E495-473B-AB11-C6E26808D0F3}"/>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covariances autorisent des formes elliptiques.</a:t>
            </a:r>
          </a:p>
        </p:txBody>
      </p:sp>
      <p:sp>
        <p:nvSpPr>
          <p:cNvPr id="162" name="course-Une observation peut avoir des resp">
            <a:extLst xmlns:a="http://schemas.openxmlformats.org/drawingml/2006/main">
              <a:ext uri="{FF2B5EF4-FFF2-40B4-BE49-F238E27FC236}">
                <a16:creationId xmlns:a16="http://schemas.microsoft.com/office/drawing/2014/main" id="{554A76A5-3CF5-4A7F-803F-23F71C888D9C}"/>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observation peut avoir des responsabilités réparties entre composantes.</a:t>
            </a:r>
          </a:p>
        </p:txBody>
      </p:sp>
      <p:sp>
        <p:nvSpPr>
          <p:cNvPr id="163" name="course-Sources : R21 · liens et détails da">
            <a:extLst xmlns:a="http://schemas.openxmlformats.org/drawingml/2006/main">
              <a:ext uri="{FF2B5EF4-FFF2-40B4-BE49-F238E27FC236}">
                <a16:creationId xmlns:a16="http://schemas.microsoft.com/office/drawing/2014/main" id="{5752A628-6536-4091-BC54-D009935F285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R21 · liens et détails dans les notes</a:t>
            </a:r>
          </a:p>
        </p:txBody>
      </p:sp>
    </p:spTree>
    <p:extLst>
      <p:ext uri="{BB962C8B-B14F-4D97-AF65-F5344CB8AC3E}">
        <p14:creationId xmlns:p14="http://schemas.microsoft.com/office/powerpoint/2010/main" val="436220805"/>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c206938994a46d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4f3aa1d6c474d3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EM : alterner deux problèmes plus s">
            <a:extLst xmlns:a="http://schemas.openxmlformats.org/drawingml/2006/main">
              <a:ext uri="{FF2B5EF4-FFF2-40B4-BE49-F238E27FC236}">
                <a16:creationId xmlns:a16="http://schemas.microsoft.com/office/drawing/2014/main" id="{96D53F6A-F1C7-487D-8D14-4C1C5846F71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EM : alterner deux problèmes plus simples</a:t>
            </a:r>
          </a:p>
        </p:txBody>
      </p:sp>
      <p:sp>
        <p:nvSpPr>
          <p:cNvPr id="159" name="course-Étape E : estimer les responsabilit">
            <a:extLst xmlns:a="http://schemas.openxmlformats.org/drawingml/2006/main">
              <a:ext uri="{FF2B5EF4-FFF2-40B4-BE49-F238E27FC236}">
                <a16:creationId xmlns:a16="http://schemas.microsoft.com/office/drawing/2014/main" id="{01A2BC6E-9830-4AE3-9413-907CE366C4CE}"/>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Étape E : estimer les responsabilités avec les paramètres courants.</a:t>
            </a:r>
          </a:p>
        </p:txBody>
      </p:sp>
      <p:sp>
        <p:nvSpPr>
          <p:cNvPr id="160" name="course-Étape M : réestimer poids, moyennes">
            <a:extLst xmlns:a="http://schemas.openxmlformats.org/drawingml/2006/main">
              <a:ext uri="{FF2B5EF4-FFF2-40B4-BE49-F238E27FC236}">
                <a16:creationId xmlns:a16="http://schemas.microsoft.com/office/drawing/2014/main" id="{A418B22F-8361-4B40-B985-F4C8FD19B53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Étape M : réestimer poids, moyennes et covariances avec ces responsabilités.</a:t>
            </a:r>
          </a:p>
        </p:txBody>
      </p:sp>
      <p:sp>
        <p:nvSpPr>
          <p:cNvPr id="161" name="course-Répéter, puis comparer initialisati">
            <a:extLst xmlns:a="http://schemas.openxmlformats.org/drawingml/2006/main">
              <a:ext uri="{FF2B5EF4-FFF2-40B4-BE49-F238E27FC236}">
                <a16:creationId xmlns:a16="http://schemas.microsoft.com/office/drawing/2014/main" id="{68380216-4A48-447D-A6EE-05C226D878B8}"/>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Répéter, puis comparer initialisations et complexités.</a:t>
            </a:r>
          </a:p>
        </p:txBody>
      </p:sp>
      <p:sp>
        <p:nvSpPr>
          <p:cNvPr id="162" name="course-EM peut converger vers un optimum l">
            <a:extLst xmlns:a="http://schemas.openxmlformats.org/drawingml/2006/main">
              <a:ext uri="{FF2B5EF4-FFF2-40B4-BE49-F238E27FC236}">
                <a16:creationId xmlns:a16="http://schemas.microsoft.com/office/drawing/2014/main" id="{8EA6F6AC-E026-4ADC-AC23-270AEABFE3CF}"/>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EM peut converger vers un optimum local</a:t>
            </a:r>
          </a:p>
        </p:txBody>
      </p:sp>
      <p:sp>
        <p:nvSpPr>
          <p:cNvPr id="163" name="course-Sources : R21 · liens et détails da">
            <a:extLst xmlns:a="http://schemas.openxmlformats.org/drawingml/2006/main">
              <a:ext uri="{FF2B5EF4-FFF2-40B4-BE49-F238E27FC236}">
                <a16:creationId xmlns:a16="http://schemas.microsoft.com/office/drawing/2014/main" id="{2A56A00F-D608-4108-8AC5-7C8963D685A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R21 · liens et détails dans les notes</a:t>
            </a:r>
          </a:p>
        </p:txBody>
      </p:sp>
    </p:spTree>
    <p:extLst>
      <p:ext uri="{BB962C8B-B14F-4D97-AF65-F5344CB8AC3E}">
        <p14:creationId xmlns:p14="http://schemas.microsoft.com/office/powerpoint/2010/main" val="436220805"/>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089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36ce7499270458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0144a510a144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lassification hiérarchique agglomé">
            <a:extLst xmlns:a="http://schemas.openxmlformats.org/drawingml/2006/main">
              <a:ext uri="{FF2B5EF4-FFF2-40B4-BE49-F238E27FC236}">
                <a16:creationId xmlns:a16="http://schemas.microsoft.com/office/drawing/2014/main" id="{DC158954-EB86-462C-BD74-1FED8EFA6D1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Classification hiérarchique agglomérative</a:t>
            </a:r>
          </a:p>
        </p:txBody>
      </p:sp>
      <p:sp>
        <p:nvSpPr>
          <p:cNvPr id="159" name="course-Partir de petits groupes puis fusio">
            <a:extLst xmlns:a="http://schemas.openxmlformats.org/drawingml/2006/main">
              <a:ext uri="{FF2B5EF4-FFF2-40B4-BE49-F238E27FC236}">
                <a16:creationId xmlns:a16="http://schemas.microsoft.com/office/drawing/2014/main" id="{09E11EEF-9DF1-4F5C-936D-91C6E21F7185}"/>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Partir de petits groupes puis fusionner progressivement.</a:t>
            </a:r>
          </a:p>
        </p:txBody>
      </p:sp>
      <p:sp>
        <p:nvSpPr>
          <p:cNvPr id="160" name="course-Le linkage définit le coût ou la di">
            <a:extLst xmlns:a="http://schemas.openxmlformats.org/drawingml/2006/main">
              <a:ext uri="{FF2B5EF4-FFF2-40B4-BE49-F238E27FC236}">
                <a16:creationId xmlns:a16="http://schemas.microsoft.com/office/drawing/2014/main" id="{A0E106B6-A0BC-42D4-AF78-BF61F81BF8E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 linkage définit le coût ou la distance entre groupes.</a:t>
            </a:r>
          </a:p>
        </p:txBody>
      </p:sp>
      <p:sp>
        <p:nvSpPr>
          <p:cNvPr id="161" name="course-La coupe du dendrogramme fixe la gr">
            <a:extLst xmlns:a="http://schemas.openxmlformats.org/drawingml/2006/main">
              <a:ext uri="{FF2B5EF4-FFF2-40B4-BE49-F238E27FC236}">
                <a16:creationId xmlns:a16="http://schemas.microsoft.com/office/drawing/2014/main" id="{29005342-E4B0-43C4-B49F-C2BABFF8743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coupe du dendrogramme fixe la granularité retenue.</a:t>
            </a:r>
          </a:p>
        </p:txBody>
      </p:sp>
      <p:sp>
        <p:nvSpPr>
          <p:cNvPr id="162" name="course-Ward s'appuie sur la variance et un">
            <a:extLst xmlns:a="http://schemas.openxmlformats.org/drawingml/2006/main">
              <a:ext uri="{FF2B5EF4-FFF2-40B4-BE49-F238E27FC236}">
                <a16:creationId xmlns:a16="http://schemas.microsoft.com/office/drawing/2014/main" id="{6FBAC5C9-F416-4E85-A334-C492203C144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Ward s'appuie sur la variance et une géométrie euclidienne</a:t>
            </a:r>
          </a:p>
        </p:txBody>
      </p:sp>
      <p:sp>
        <p:nvSpPr>
          <p:cNvPr id="163" name="course-Sources : R20 · liens et détails da">
            <a:extLst xmlns:a="http://schemas.openxmlformats.org/drawingml/2006/main">
              <a:ext uri="{FF2B5EF4-FFF2-40B4-BE49-F238E27FC236}">
                <a16:creationId xmlns:a16="http://schemas.microsoft.com/office/drawing/2014/main" id="{96035253-2B06-47FE-B5ED-E751C1DB10D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b0708c10cc04a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87b6b92f5cb417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DBSCAN : relier les régions denses">
            <a:extLst xmlns:a="http://schemas.openxmlformats.org/drawingml/2006/main">
              <a:ext uri="{FF2B5EF4-FFF2-40B4-BE49-F238E27FC236}">
                <a16:creationId xmlns:a16="http://schemas.microsoft.com/office/drawing/2014/main" id="{DBE23540-385C-48F6-8F5C-138FF87D60B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DBSCAN : relier les régions denses</a:t>
            </a:r>
          </a:p>
        </p:txBody>
      </p:sp>
      <p:sp>
        <p:nvSpPr>
          <p:cNvPr id="159" name="course-eps définit le rayon du voisinage.">
            <a:extLst xmlns:a="http://schemas.openxmlformats.org/drawingml/2006/main">
              <a:ext uri="{FF2B5EF4-FFF2-40B4-BE49-F238E27FC236}">
                <a16:creationId xmlns:a16="http://schemas.microsoft.com/office/drawing/2014/main" id="{C0DBF994-9943-4906-B0CD-18A2D2EBE6E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eps définit le rayon du voisinage.</a:t>
            </a:r>
          </a:p>
        </p:txBody>
      </p:sp>
      <p:sp>
        <p:nvSpPr>
          <p:cNvPr id="160" name="course-min_samples définit le soutien loca">
            <a:extLst xmlns:a="http://schemas.openxmlformats.org/drawingml/2006/main">
              <a:ext uri="{FF2B5EF4-FFF2-40B4-BE49-F238E27FC236}">
                <a16:creationId xmlns:a16="http://schemas.microsoft.com/office/drawing/2014/main" id="{104D3BD5-4F60-4E3B-93FB-53F601ED3CA7}"/>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min_samples définit le soutien local requis pour un point cœur.</a:t>
            </a:r>
          </a:p>
        </p:txBody>
      </p:sp>
      <p:sp>
        <p:nvSpPr>
          <p:cNvPr id="161" name="course-Les points non rattachés à une régi">
            <a:extLst xmlns:a="http://schemas.openxmlformats.org/drawingml/2006/main">
              <a:ext uri="{FF2B5EF4-FFF2-40B4-BE49-F238E27FC236}">
                <a16:creationId xmlns:a16="http://schemas.microsoft.com/office/drawing/2014/main" id="{65DEE236-A0C1-44FF-B7BF-FA771A0A4D25}"/>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points non rattachés à une région dense peuvent être marqués bruit.</a:t>
            </a:r>
          </a:p>
        </p:txBody>
      </p:sp>
      <p:sp>
        <p:nvSpPr>
          <p:cNvPr id="162" name="course-Densité et distance dépendent de l'">
            <a:extLst xmlns:a="http://schemas.openxmlformats.org/drawingml/2006/main">
              <a:ext uri="{FF2B5EF4-FFF2-40B4-BE49-F238E27FC236}">
                <a16:creationId xmlns:a16="http://schemas.microsoft.com/office/drawing/2014/main" id="{EC56AFBC-78AB-4C32-B813-3E41B92B263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Densité et distance dépendent de l'échelle des variables</a:t>
            </a:r>
          </a:p>
        </p:txBody>
      </p:sp>
      <p:sp>
        <p:nvSpPr>
          <p:cNvPr id="163" name="course-Sources : R20 · liens et détails da">
            <a:extLst xmlns:a="http://schemas.openxmlformats.org/drawingml/2006/main">
              <a:ext uri="{FF2B5EF4-FFF2-40B4-BE49-F238E27FC236}">
                <a16:creationId xmlns:a16="http://schemas.microsoft.com/office/drawing/2014/main" id="{9FD33870-7D49-484B-8FD6-D62351D6764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091</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8e075db7f9da452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4d05f75c48e94ea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s mêmes lunes avec DBSCAN">
            <a:extLst xmlns:a="http://schemas.openxmlformats.org/drawingml/2006/main">
              <a:ext uri="{FF2B5EF4-FFF2-40B4-BE49-F238E27FC236}">
                <a16:creationId xmlns:a16="http://schemas.microsoft.com/office/drawing/2014/main" id="{CF1A145F-2270-4FAD-B6F8-CF2AB230B694}"/>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Les mêmes lunes avec DBSCAN</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43ead36e1403445a"/>
          </a:graphicData>
        </a:graphic>
      </p:graphicFrame>
      <p:sp>
        <p:nvSpPr>
          <p:cNvPr id="160" name="course-La connexité locale suit ici les fo">
            <a:extLst xmlns:a="http://schemas.openxmlformats.org/drawingml/2006/main">
              <a:ext uri="{FF2B5EF4-FFF2-40B4-BE49-F238E27FC236}">
                <a16:creationId xmlns:a16="http://schemas.microsoft.com/office/drawing/2014/main" id="{365C912C-585F-40A5-B96A-C282BF8634B7}"/>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La connexité locale suit ici les formes courbes.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Les points isolés peuvent rester sans groupe.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Changer eps peut fusionner ou fragmenter la partition.</a:t>
            </a:r>
          </a:p>
        </p:txBody>
      </p:sp>
      <p:sp>
        <p:nvSpPr>
          <p:cNvPr id="161" name="course-Mêmes 180 lunes synthétiques, grain">
            <a:extLst xmlns:a="http://schemas.openxmlformats.org/drawingml/2006/main">
              <a:ext uri="{FF2B5EF4-FFF2-40B4-BE49-F238E27FC236}">
                <a16:creationId xmlns:a16="http://schemas.microsoft.com/office/drawing/2014/main" id="{7F8776F2-365F-4855-BC91-D6233AF4682B}"/>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Mêmes 180 lunes synthétiques, graine 42. Les couleurs représentent les clusters estimés.</a:t>
            </a:r>
          </a:p>
        </p:txBody>
      </p:sp>
      <p:sp>
        <p:nvSpPr>
          <p:cNvPr id="162" name="course-Sources : R20 · liens et détails da">
            <a:extLst xmlns:a="http://schemas.openxmlformats.org/drawingml/2006/main">
              <a:ext uri="{FF2B5EF4-FFF2-40B4-BE49-F238E27FC236}">
                <a16:creationId xmlns:a16="http://schemas.microsoft.com/office/drawing/2014/main" id="{14D1B33E-2D7D-45F7-8744-EE58E7922D7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5b0de3d57dd42e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eb35790cb6d45c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HDBSCAN : examiner plusieurs échell">
            <a:extLst xmlns:a="http://schemas.openxmlformats.org/drawingml/2006/main">
              <a:ext uri="{FF2B5EF4-FFF2-40B4-BE49-F238E27FC236}">
                <a16:creationId xmlns:a16="http://schemas.microsoft.com/office/drawing/2014/main" id="{1A8C061D-BCFA-48F0-AEA3-F7AE84AA7DB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HDBSCAN : examiner plusieurs échelles</a:t>
            </a:r>
          </a:p>
        </p:txBody>
      </p:sp>
      <p:sp>
        <p:nvSpPr>
          <p:cNvPr id="159" name="course-Construire une hiérarchie fondée su">
            <a:extLst xmlns:a="http://schemas.openxmlformats.org/drawingml/2006/main">
              <a:ext uri="{FF2B5EF4-FFF2-40B4-BE49-F238E27FC236}">
                <a16:creationId xmlns:a16="http://schemas.microsoft.com/office/drawing/2014/main" id="{66AAC626-C68D-4FE6-BFA9-8514BC19B81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Construire une hiérarchie fondée sur la densité.</a:t>
            </a:r>
          </a:p>
        </p:txBody>
      </p:sp>
      <p:sp>
        <p:nvSpPr>
          <p:cNvPr id="160" name="course-Extraire des groupes selon leur per">
            <a:extLst xmlns:a="http://schemas.openxmlformats.org/drawingml/2006/main">
              <a:ext uri="{FF2B5EF4-FFF2-40B4-BE49-F238E27FC236}">
                <a16:creationId xmlns:a16="http://schemas.microsoft.com/office/drawing/2014/main" id="{791DAA6C-A30E-48C2-86D7-7933BC0E764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Extraire des groupes selon leur persistance dans cette hiérarchie.</a:t>
            </a:r>
          </a:p>
        </p:txBody>
      </p:sp>
      <p:sp>
        <p:nvSpPr>
          <p:cNvPr id="161" name="course-Régler min_cluster_size et examiner">
            <a:extLst xmlns:a="http://schemas.openxmlformats.org/drawingml/2006/main">
              <a:ext uri="{FF2B5EF4-FFF2-40B4-BE49-F238E27FC236}">
                <a16:creationId xmlns:a16="http://schemas.microsoft.com/office/drawing/2014/main" id="{CB71EE6C-02A5-4B2F-A432-C6C06F37D9B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Régler min_cluster_size et examiner le taux de bruit.</a:t>
            </a:r>
          </a:p>
        </p:txBody>
      </p:sp>
      <p:sp>
        <p:nvSpPr>
          <p:cNvPr id="162" name="course-Vérifier la convention de min_sampl">
            <a:extLst xmlns:a="http://schemas.openxmlformats.org/drawingml/2006/main">
              <a:ext uri="{FF2B5EF4-FFF2-40B4-BE49-F238E27FC236}">
                <a16:creationId xmlns:a16="http://schemas.microsoft.com/office/drawing/2014/main" id="{F2783502-DF24-454D-A4FF-DA07AB180ED0}"/>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Vérifier la convention de min_samples selon l'implémentation</a:t>
            </a:r>
          </a:p>
        </p:txBody>
      </p:sp>
      <p:sp>
        <p:nvSpPr>
          <p:cNvPr id="163" name="course-Sources : R23 · liens et détails da">
            <a:extLst xmlns:a="http://schemas.openxmlformats.org/drawingml/2006/main">
              <a:ext uri="{FF2B5EF4-FFF2-40B4-BE49-F238E27FC236}">
                <a16:creationId xmlns:a16="http://schemas.microsoft.com/office/drawing/2014/main" id="{059169D9-0B43-48CF-B039-A6F4FA04EE4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R23 · liens et détails dans les notes</a:t>
            </a:r>
          </a:p>
        </p:txBody>
      </p:sp>
    </p:spTree>
    <p:extLst>
      <p:ext uri="{BB962C8B-B14F-4D97-AF65-F5344CB8AC3E}">
        <p14:creationId xmlns:p14="http://schemas.microsoft.com/office/powerpoint/2010/main" val="436220805"/>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093</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710df612e3549f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554729c17f74a2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omparer les familles de clustering">
            <a:extLst xmlns:a="http://schemas.openxmlformats.org/drawingml/2006/main">
              <a:ext uri="{FF2B5EF4-FFF2-40B4-BE49-F238E27FC236}">
                <a16:creationId xmlns:a16="http://schemas.microsoft.com/office/drawing/2014/main" id="{92649B6A-6339-4D66-B9C7-F8FE47F4A0CE}"/>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Comparer les familles de clustering</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Méthode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Forme / hypothèse</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Paramètre principal</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K-means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Groupes compacts euclidiens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K</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GMM</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Mélange de gaussiennes</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K + covariance</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CAH Ward</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Fusion selon variance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Coupe / nombre de groupes</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DBSCAN</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Connexité par densité</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eps + min_samples</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HDBSCAN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Densités à plusieurs échelles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min_cluster_size</a:t>
                      </a:r>
                    </a:p>
                  </a:txBody>
                  <a:tcPr marL="91440" marR="91440" marT="45720" marB="45720">
                    <a:solidFill>
                      <a:srgbClr val="F4F5F8"/>
                    </a:solidFill>
                  </a:tcPr>
                </a:tc>
              </a:tr>
            </a:tbl>
          </a:graphicData>
        </a:graphic>
      </p:graphicFrame>
      <p:sp>
        <p:nvSpPr>
          <p:cNvPr id="160" name="course-">
            <a:extLst xmlns:a="http://schemas.openxmlformats.org/drawingml/2006/main">
              <a:ext uri="{FF2B5EF4-FFF2-40B4-BE49-F238E27FC236}">
                <a16:creationId xmlns:a16="http://schemas.microsoft.com/office/drawing/2014/main" id="{4C940B8A-A366-4F82-B467-76DB16466A73}"/>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20, R21, R23 · liens et ">
            <a:extLst xmlns:a="http://schemas.openxmlformats.org/drawingml/2006/main">
              <a:ext uri="{FF2B5EF4-FFF2-40B4-BE49-F238E27FC236}">
                <a16:creationId xmlns:a16="http://schemas.microsoft.com/office/drawing/2014/main" id="{EE596057-3892-400F-92D0-4FF864734E6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R21, R23 · liens et détails dans les notes</a:t>
            </a:r>
          </a:p>
        </p:txBody>
      </p:sp>
    </p:spTree>
    <p:extLst>
      <p:ext uri="{BB962C8B-B14F-4D97-AF65-F5344CB8AC3E}">
        <p14:creationId xmlns:p14="http://schemas.microsoft.com/office/powerpoint/2010/main" val="436220805"/>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c6a7013e9314fb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b918bd5d61248d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Évaluer sans labels">
            <a:extLst xmlns:a="http://schemas.openxmlformats.org/drawingml/2006/main">
              <a:ext uri="{FF2B5EF4-FFF2-40B4-BE49-F238E27FC236}">
                <a16:creationId xmlns:a16="http://schemas.microsoft.com/office/drawing/2014/main" id="{9F7963E8-D22D-4137-8746-EC60AA24F5A1}"/>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Évaluer sans labels</a:t>
            </a:r>
          </a:p>
        </p:txBody>
      </p:sp>
      <p:sp>
        <p:nvSpPr>
          <p:cNvPr id="159" name="course-Tester la sensibilité aux graines, ">
            <a:extLst xmlns:a="http://schemas.openxmlformats.org/drawingml/2006/main">
              <a:ext uri="{FF2B5EF4-FFF2-40B4-BE49-F238E27FC236}">
                <a16:creationId xmlns:a16="http://schemas.microsoft.com/office/drawing/2014/main" id="{1DBB1C12-1F80-4063-BAEF-49A33589183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Tester la sensibilité aux graines, aux sous-échantillons et aux paramètres.</a:t>
            </a:r>
          </a:p>
        </p:txBody>
      </p:sp>
      <p:sp>
        <p:nvSpPr>
          <p:cNvPr id="160" name="course-Décrire tailles, profils, bruit et ">
            <a:extLst xmlns:a="http://schemas.openxmlformats.org/drawingml/2006/main">
              <a:ext uri="{FF2B5EF4-FFF2-40B4-BE49-F238E27FC236}">
                <a16:creationId xmlns:a16="http://schemas.microsoft.com/office/drawing/2014/main" id="{19FB385A-7B8F-430F-AAB7-1DA604F1836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Décrire tailles, profils, bruit et cas atypiques de chaque groupe.</a:t>
            </a:r>
          </a:p>
        </p:txBody>
      </p:sp>
      <p:sp>
        <p:nvSpPr>
          <p:cNvPr id="161" name="course-Faire valider une utilité concrète ">
            <a:extLst xmlns:a="http://schemas.openxmlformats.org/drawingml/2006/main">
              <a:ext uri="{FF2B5EF4-FFF2-40B4-BE49-F238E27FC236}">
                <a16:creationId xmlns:a16="http://schemas.microsoft.com/office/drawing/2014/main" id="{BF5A4A96-3EEE-467C-AF6A-BF994F20E30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Faire valider une utilité concrète avec les personnes concernées.</a:t>
            </a:r>
          </a:p>
        </p:txBody>
      </p:sp>
      <p:sp>
        <p:nvSpPr>
          <p:cNvPr id="162" name="course-Stabilité, séparation et utilité ré">
            <a:extLst xmlns:a="http://schemas.openxmlformats.org/drawingml/2006/main">
              <a:ext uri="{FF2B5EF4-FFF2-40B4-BE49-F238E27FC236}">
                <a16:creationId xmlns:a16="http://schemas.microsoft.com/office/drawing/2014/main" id="{F6E6780F-E8BC-43E2-964F-EF69FC8D2E95}"/>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Stabilité, séparation et utilité répondent à des questions différentes</a:t>
            </a:r>
          </a:p>
        </p:txBody>
      </p:sp>
      <p:sp>
        <p:nvSpPr>
          <p:cNvPr id="163" name="course-Sources : R20 · liens et détails da">
            <a:extLst xmlns:a="http://schemas.openxmlformats.org/drawingml/2006/main">
              <a:ext uri="{FF2B5EF4-FFF2-40B4-BE49-F238E27FC236}">
                <a16:creationId xmlns:a16="http://schemas.microsoft.com/office/drawing/2014/main" id="{914C925E-FD1E-43DA-8D88-973286E529B6}"/>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 liens et détails dans les notes</a:t>
            </a:r>
          </a:p>
        </p:txBody>
      </p:sp>
    </p:spTree>
    <p:extLst>
      <p:ext uri="{BB962C8B-B14F-4D97-AF65-F5344CB8AC3E}">
        <p14:creationId xmlns:p14="http://schemas.microsoft.com/office/powerpoint/2010/main" val="436220805"/>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028cb667c2e4ba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230d09d30da4a2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rojections : explorer avec prudenc">
            <a:extLst xmlns:a="http://schemas.openxmlformats.org/drawingml/2006/main">
              <a:ext uri="{FF2B5EF4-FFF2-40B4-BE49-F238E27FC236}">
                <a16:creationId xmlns:a16="http://schemas.microsoft.com/office/drawing/2014/main" id="{6F850641-36B3-4558-9320-F1B7E181E06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Projections : explorer avec prudence</a:t>
            </a:r>
          </a:p>
        </p:txBody>
      </p:sp>
      <p:sp>
        <p:nvSpPr>
          <p:cNvPr id="159" name="course-PCA représente principalement de la">
            <a:extLst xmlns:a="http://schemas.openxmlformats.org/drawingml/2006/main">
              <a:ext uri="{FF2B5EF4-FFF2-40B4-BE49-F238E27FC236}">
                <a16:creationId xmlns:a16="http://schemas.microsoft.com/office/drawing/2014/main" id="{F928EE24-44A9-4980-A291-C778ABBAB5A9}"/>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PCA représente principalement de la variance linéaire.</a:t>
            </a:r>
          </a:p>
        </p:txBody>
      </p:sp>
      <p:sp>
        <p:nvSpPr>
          <p:cNvPr id="160" name="course-t-SNE privilégie certaines relation">
            <a:extLst xmlns:a="http://schemas.openxmlformats.org/drawingml/2006/main">
              <a:ext uri="{FF2B5EF4-FFF2-40B4-BE49-F238E27FC236}">
                <a16:creationId xmlns:a16="http://schemas.microsoft.com/office/drawing/2014/main" id="{23A41F51-C161-45BC-AC5B-6E784959B146}"/>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t-SNE privilégie certaines relations de voisinage local.</a:t>
            </a:r>
          </a:p>
        </p:txBody>
      </p:sp>
      <p:sp>
        <p:nvSpPr>
          <p:cNvPr id="161" name="course-Les paramètres peuvent modifier l'a">
            <a:extLst xmlns:a="http://schemas.openxmlformats.org/drawingml/2006/main">
              <a:ext uri="{FF2B5EF4-FFF2-40B4-BE49-F238E27FC236}">
                <a16:creationId xmlns:a16="http://schemas.microsoft.com/office/drawing/2014/main" id="{2E50F038-EA9F-4EE9-8130-E0E8DDE78112}"/>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paramètres peuvent modifier l'apparence des « îlots ».</a:t>
            </a:r>
          </a:p>
        </p:txBody>
      </p:sp>
      <p:sp>
        <p:nvSpPr>
          <p:cNvPr id="162" name="course-Un joli nuage 2D ne démontre pas le">
            <a:extLst xmlns:a="http://schemas.openxmlformats.org/drawingml/2006/main">
              <a:ext uri="{FF2B5EF4-FFF2-40B4-BE49-F238E27FC236}">
                <a16:creationId xmlns:a16="http://schemas.microsoft.com/office/drawing/2014/main" id="{5A30339E-BAE3-40F7-914D-5FA761DAC529}"/>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joli nuage 2D ne démontre pas le nombre de clusters</a:t>
            </a:r>
          </a:p>
        </p:txBody>
      </p:sp>
      <p:sp>
        <p:nvSpPr>
          <p:cNvPr id="163" name="course-Sources : R22, R42 · liens et détai">
            <a:extLst xmlns:a="http://schemas.openxmlformats.org/drawingml/2006/main">
              <a:ext uri="{FF2B5EF4-FFF2-40B4-BE49-F238E27FC236}">
                <a16:creationId xmlns:a16="http://schemas.microsoft.com/office/drawing/2014/main" id="{288526C2-C415-4F12-A238-16129E714EA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R22, R42 · liens et détails dans les notes</a:t>
            </a:r>
          </a:p>
        </p:txBody>
      </p:sp>
    </p:spTree>
    <p:extLst>
      <p:ext uri="{BB962C8B-B14F-4D97-AF65-F5344CB8AC3E}">
        <p14:creationId xmlns:p14="http://schemas.microsoft.com/office/powerpoint/2010/main" val="436220805"/>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91e6312a0494c2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430b93c591f4d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Anomalie, nouveauté et classe rare">
            <a:extLst xmlns:a="http://schemas.openxmlformats.org/drawingml/2006/main">
              <a:ext uri="{FF2B5EF4-FFF2-40B4-BE49-F238E27FC236}">
                <a16:creationId xmlns:a16="http://schemas.microsoft.com/office/drawing/2014/main" id="{2038A906-98EA-4067-B122-58ED0E405AA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Anomalie, nouveauté et classe rare</a:t>
            </a:r>
          </a:p>
        </p:txBody>
      </p:sp>
      <p:sp>
        <p:nvSpPr>
          <p:cNvPr id="159" name="course-Une anomalie est atypique selon une">
            <a:extLst xmlns:a="http://schemas.openxmlformats.org/drawingml/2006/main">
              <a:ext uri="{FF2B5EF4-FFF2-40B4-BE49-F238E27FC236}">
                <a16:creationId xmlns:a16="http://schemas.microsoft.com/office/drawing/2014/main" id="{2C9DF095-D017-40D1-8420-E5D87F571BB4}"/>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anomalie est atypique selon une représentation et un modèle de référence.</a:t>
            </a:r>
          </a:p>
        </p:txBody>
      </p:sp>
      <p:sp>
        <p:nvSpPr>
          <p:cNvPr id="160" name="course-Une classe rare peut être parfaitem">
            <a:extLst xmlns:a="http://schemas.openxmlformats.org/drawingml/2006/main">
              <a:ext uri="{FF2B5EF4-FFF2-40B4-BE49-F238E27FC236}">
                <a16:creationId xmlns:a16="http://schemas.microsoft.com/office/drawing/2014/main" id="{65F6A672-39D0-4438-8A23-B256EAA41DE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classe rare peut être parfaitement normale.</a:t>
            </a:r>
          </a:p>
        </p:txBody>
      </p:sp>
      <p:sp>
        <p:nvSpPr>
          <p:cNvPr id="161" name="course-La détection de nouveauté suppose u">
            <a:extLst xmlns:a="http://schemas.openxmlformats.org/drawingml/2006/main">
              <a:ext uri="{FF2B5EF4-FFF2-40B4-BE49-F238E27FC236}">
                <a16:creationId xmlns:a16="http://schemas.microsoft.com/office/drawing/2014/main" id="{8F813F86-C09B-449D-883B-799457205975}"/>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détection de nouveauté suppose un apprentissage représentatif du fonctionnement normal.</a:t>
            </a:r>
          </a:p>
        </p:txBody>
      </p:sp>
      <p:sp>
        <p:nvSpPr>
          <p:cNvPr id="162" name="course-Un score d'anomalie doit être relié">
            <a:extLst xmlns:a="http://schemas.openxmlformats.org/drawingml/2006/main">
              <a:ext uri="{FF2B5EF4-FFF2-40B4-BE49-F238E27FC236}">
                <a16:creationId xmlns:a16="http://schemas.microsoft.com/office/drawing/2014/main" id="{ED664531-4BD2-4DAE-BCF6-BDB458865880}"/>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score d'anomalie doit être relié à une procédure de vérification</a:t>
            </a:r>
          </a:p>
        </p:txBody>
      </p:sp>
      <p:sp>
        <p:nvSpPr>
          <p:cNvPr id="163" name="course-Sources : R24 · liens et détails da">
            <a:extLst xmlns:a="http://schemas.openxmlformats.org/drawingml/2006/main">
              <a:ext uri="{FF2B5EF4-FFF2-40B4-BE49-F238E27FC236}">
                <a16:creationId xmlns:a16="http://schemas.microsoft.com/office/drawing/2014/main" id="{64CFFDFD-AEF0-4EC0-8D5E-7A9D851036D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R24 · liens et détails dans les notes</a:t>
            </a:r>
          </a:p>
        </p:txBody>
      </p:sp>
    </p:spTree>
    <p:extLst>
      <p:ext uri="{BB962C8B-B14F-4D97-AF65-F5344CB8AC3E}">
        <p14:creationId xmlns:p14="http://schemas.microsoft.com/office/powerpoint/2010/main" val="436220805"/>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bd42e520d704c1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dccd1f0a6bd4ff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5 : expliquer une partition">
            <a:extLst xmlns:a="http://schemas.openxmlformats.org/drawingml/2006/main">
              <a:ext uri="{FF2B5EF4-FFF2-40B4-BE49-F238E27FC236}">
                <a16:creationId xmlns:a16="http://schemas.microsoft.com/office/drawing/2014/main" id="{E011D55B-1312-47DE-A390-80AF84FAB4DF}"/>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TP05 : expliquer une partition</a:t>
            </a:r>
          </a:p>
        </p:txBody>
      </p:sp>
      <p:sp>
        <p:nvSpPr>
          <p:cNvPr id="159" name="course-Comparer quatre méthodes sur les mê">
            <a:extLst xmlns:a="http://schemas.openxmlformats.org/drawingml/2006/main">
              <a:ext uri="{FF2B5EF4-FFF2-40B4-BE49-F238E27FC236}">
                <a16:creationId xmlns:a16="http://schemas.microsoft.com/office/drawing/2014/main" id="{D9297488-3B17-4766-91C0-97D148CDA5B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quatre méthodes sur les mêmes données et les mêmes échelles.</a:t>
            </a:r>
          </a:p>
        </p:txBody>
      </p:sp>
      <p:sp>
        <p:nvSpPr>
          <p:cNvPr id="160" name="course-Rapporter silhouette, bruit, stabil">
            <a:extLst xmlns:a="http://schemas.openxmlformats.org/drawingml/2006/main">
              <a:ext uri="{FF2B5EF4-FFF2-40B4-BE49-F238E27FC236}">
                <a16:creationId xmlns:a16="http://schemas.microsoft.com/office/drawing/2014/main" id="{8C05D04B-680F-4D60-A993-C4C187671C8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Rapporter silhouette, bruit, stabilité et ARI sur les données synthétiques.</a:t>
            </a:r>
          </a:p>
        </p:txBody>
      </p:sp>
      <p:sp>
        <p:nvSpPr>
          <p:cNvPr id="161" name="course-Présenter un exemple de partition t">
            <a:extLst xmlns:a="http://schemas.openxmlformats.org/drawingml/2006/main">
              <a:ext uri="{FF2B5EF4-FFF2-40B4-BE49-F238E27FC236}">
                <a16:creationId xmlns:a16="http://schemas.microsoft.com/office/drawing/2014/main" id="{8D5A92BC-44D0-48F0-992D-99E85CC6232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Présenter un exemple de partition trompeuse et sa cause.</a:t>
            </a:r>
          </a:p>
        </p:txBody>
      </p:sp>
      <p:sp>
        <p:nvSpPr>
          <p:cNvPr id="162" name="course-150 minutes · notebooks/etudiants/0">
            <a:extLst xmlns:a="http://schemas.openxmlformats.org/drawingml/2006/main">
              <a:ext uri="{FF2B5EF4-FFF2-40B4-BE49-F238E27FC236}">
                <a16:creationId xmlns:a16="http://schemas.microsoft.com/office/drawing/2014/main" id="{F8C84265-D811-4B9E-9045-D0E9D3EC6056}"/>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150 minutes · notebooks/etudiants/05_clustering.ipynb</a:t>
            </a:r>
          </a:p>
        </p:txBody>
      </p:sp>
      <p:sp>
        <p:nvSpPr>
          <p:cNvPr id="163" name="course-Sources : R20, R21 · liens et détai">
            <a:extLst xmlns:a="http://schemas.openxmlformats.org/drawingml/2006/main">
              <a:ext uri="{FF2B5EF4-FFF2-40B4-BE49-F238E27FC236}">
                <a16:creationId xmlns:a16="http://schemas.microsoft.com/office/drawing/2014/main" id="{F8947E5F-6A0F-46B8-A9BF-021EC177E99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R21 · liens et détails dans les notes</a:t>
            </a:r>
          </a:p>
        </p:txBody>
      </p:sp>
    </p:spTree>
    <p:extLst>
      <p:ext uri="{BB962C8B-B14F-4D97-AF65-F5344CB8AC3E}">
        <p14:creationId xmlns:p14="http://schemas.microsoft.com/office/powerpoint/2010/main" val="436220805"/>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098</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de9f165617424e1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dbaeeb3fdde54ba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iz J4 : reconnaître les hypothèse">
            <a:extLst xmlns:a="http://schemas.openxmlformats.org/drawingml/2006/main">
              <a:ext uri="{FF2B5EF4-FFF2-40B4-BE49-F238E27FC236}">
                <a16:creationId xmlns:a16="http://schemas.microsoft.com/office/drawing/2014/main" id="{D3A9D4FD-544B-457B-81BC-CC556FD04E9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Quiz J4 : reconnaître les hypothèses</a:t>
            </a:r>
          </a:p>
        </p:txBody>
      </p:sp>
      <p:sp>
        <p:nvSpPr>
          <p:cNvPr id="159" name="course-Une baisse d'inertie prouve-t-elle ">
            <a:extLst xmlns:a="http://schemas.openxmlformats.org/drawingml/2006/main">
              <a:ext uri="{FF2B5EF4-FFF2-40B4-BE49-F238E27FC236}">
                <a16:creationId xmlns:a16="http://schemas.microsoft.com/office/drawing/2014/main" id="{83003385-0CC6-46A1-AC6C-9EA86951CC9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baisse d'inertie prouve-t-elle que le nouveau K est meilleur ?</a:t>
            </a:r>
          </a:p>
        </p:txBody>
      </p:sp>
      <p:sp>
        <p:nvSpPr>
          <p:cNvPr id="160" name="course-Une bonne silhouette suffit-elle si">
            <a:extLst xmlns:a="http://schemas.openxmlformats.org/drawingml/2006/main">
              <a:ext uri="{FF2B5EF4-FFF2-40B4-BE49-F238E27FC236}">
                <a16:creationId xmlns:a16="http://schemas.microsoft.com/office/drawing/2014/main" id="{F52D5230-6240-4868-A4BD-E2331B2E2072}"/>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bonne silhouette suffit-elle si 70 % des points sont classés bruit ?</a:t>
            </a:r>
          </a:p>
        </p:txBody>
      </p:sp>
      <p:sp>
        <p:nvSpPr>
          <p:cNvPr id="161" name="course-Une composante PCA est-elle forcéme">
            <a:extLst xmlns:a="http://schemas.openxmlformats.org/drawingml/2006/main">
              <a:ext uri="{FF2B5EF4-FFF2-40B4-BE49-F238E27FC236}">
                <a16:creationId xmlns:a16="http://schemas.microsoft.com/office/drawing/2014/main" id="{AF16F790-FED0-415F-919A-19D05E40B32B}"/>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composante PCA est-elle forcément prédictive de la cible ?</a:t>
            </a:r>
          </a:p>
        </p:txBody>
      </p:sp>
      <p:sp>
        <p:nvSpPr>
          <p:cNvPr id="162" name="course-Sources : R20, R22 · liens et détai">
            <a:extLst xmlns:a="http://schemas.openxmlformats.org/drawingml/2006/main">
              <a:ext uri="{FF2B5EF4-FFF2-40B4-BE49-F238E27FC236}">
                <a16:creationId xmlns:a16="http://schemas.microsoft.com/office/drawing/2014/main" id="{C02FD17C-7D4E-462D-9C52-606B130818E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R20, R22 · liens et détails dans les notes</a:t>
            </a:r>
          </a:p>
        </p:txBody>
      </p:sp>
    </p:spTree>
    <p:extLst>
      <p:ext uri="{BB962C8B-B14F-4D97-AF65-F5344CB8AC3E}">
        <p14:creationId xmlns:p14="http://schemas.microsoft.com/office/powerpoint/2010/main" val="436220805"/>
      </p:ext>
    </p:extLst>
  </p:cSld>
</p:sld>
</file>

<file path=ppt/slides/slide99.xml><?xml version="1.0" encoding="utf-8"?>
<p:sld xmlns:p="http://schemas.openxmlformats.org/presentationml/2006/main">
  <p:cSld>
    <p:bg>
      <p:bgPr>
        <a:solidFill xmlns:a="http://schemas.openxmlformats.org/drawingml/2006/main">
          <a:srgbClr val="F7EEE5"/>
        </a:solidFill>
      </p:bgPr>
    </p:bg>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099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b2941024c3d4d1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073b5b92332449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4</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es acquis du jour 4">
            <a:extLst xmlns:a="http://schemas.openxmlformats.org/drawingml/2006/main">
              <a:ext uri="{FF2B5EF4-FFF2-40B4-BE49-F238E27FC236}">
                <a16:creationId xmlns:a16="http://schemas.microsoft.com/office/drawing/2014/main" id="{A0571061-DAF9-4286-8987-7F67B8B3F15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Les acquis du jour 4</a:t>
            </a:r>
          </a:p>
        </p:txBody>
      </p:sp>
      <p:sp>
        <p:nvSpPr>
          <p:cNvPr id="159" name="course-Une représentation et une distance ">
            <a:extLst xmlns:a="http://schemas.openxmlformats.org/drawingml/2006/main">
              <a:ext uri="{FF2B5EF4-FFF2-40B4-BE49-F238E27FC236}">
                <a16:creationId xmlns:a16="http://schemas.microsoft.com/office/drawing/2014/main" id="{2B010E4F-61FB-4681-B820-1AEDA95E9FB7}"/>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représentation et une distance explicites.</a:t>
            </a:r>
          </a:p>
        </p:txBody>
      </p:sp>
      <p:sp>
        <p:nvSpPr>
          <p:cNvPr id="160" name="course-Des méthodes comparées selon leurs ">
            <a:extLst xmlns:a="http://schemas.openxmlformats.org/drawingml/2006/main">
              <a:ext uri="{FF2B5EF4-FFF2-40B4-BE49-F238E27FC236}">
                <a16:creationId xmlns:a16="http://schemas.microsoft.com/office/drawing/2014/main" id="{267254A8-9756-4954-BE85-1A1E3A27B628}"/>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Des méthodes comparées selon leurs hypothèses géométriques.</a:t>
            </a:r>
          </a:p>
        </p:txBody>
      </p:sp>
      <p:sp>
        <p:nvSpPr>
          <p:cNvPr id="161" name="course-Une partition évaluée par plusieurs">
            <a:extLst xmlns:a="http://schemas.openxmlformats.org/drawingml/2006/main">
              <a:ext uri="{FF2B5EF4-FFF2-40B4-BE49-F238E27FC236}">
                <a16:creationId xmlns:a16="http://schemas.microsoft.com/office/drawing/2014/main" id="{FDB078A8-520C-4FE4-B6EC-724A0C300B04}"/>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partition évaluée par plusieurs diagnostics et un usage concret.</a:t>
            </a:r>
          </a:p>
        </p:txBody>
      </p:sp>
      <p:sp>
        <p:nvSpPr>
          <p:cNvPr id="162" name="course-Demain : expliquer, documenter et d">
            <a:extLst xmlns:a="http://schemas.openxmlformats.org/drawingml/2006/main">
              <a:ext uri="{FF2B5EF4-FFF2-40B4-BE49-F238E27FC236}">
                <a16:creationId xmlns:a16="http://schemas.microsoft.com/office/drawing/2014/main" id="{3B3A06D4-1256-4842-A735-85EC4C41D550}"/>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Demain : expliquer, documenter et défendre le modèle final</a:t>
            </a:r>
          </a:p>
        </p:txBody>
      </p:sp>
      <p:sp>
        <p:nvSpPr>
          <p:cNvPr id="163" name="course-Exemple ou activité originale du co">
            <a:extLst xmlns:a="http://schemas.openxmlformats.org/drawingml/2006/main">
              <a:ext uri="{FF2B5EF4-FFF2-40B4-BE49-F238E27FC236}">
                <a16:creationId xmlns:a16="http://schemas.microsoft.com/office/drawing/2014/main" id="{E682E1FC-4069-4820-A50B-613B4FA7217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100.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5D30FB88-3A64-4DDC-B6FB-A45D76E8720C}"/>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B6515DFA-C6BC-4740-AD89-5A6CFD255906}"/>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defRPr sz="6000">
                <a:solidFill>
                  <a:srgbClr val="FFFFFF"/>
                </a:solidFill>
                <a:latin typeface="Roboto Mono"/>
                <a:ea typeface="Roboto Mono"/>
                <a:cs typeface="Roboto Mono"/>
              </a:defRPr>
            </a:pPr>
            <a:r>
              <a:rPr sz="6000" b="0" i="0" u="none" cap="none">
                <a:solidFill>
                  <a:srgbClr val="FFFFFF"/>
                </a:solidFill>
                <a:latin typeface="Roboto Mono"/>
                <a:ea typeface="Roboto Mono"/>
                <a:cs typeface="Roboto Mono"/>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B50B8DDD-729E-486B-AEB1-AD033FCC7D35}"/>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E8E5135-6606-4F5B-9C6D-A32E421983FE}"/>
              </a:ext>
            </a:extLst>
          </p:cNvPr>
          <p:cNvSpPr>
            <a:spLocks xmlns:a="http://schemas.openxmlformats.org/drawingml/2006/main" noGrp="1"/>
          </p:cNvSpPr>
          <p:nvPr/>
        </p:nvSpPr>
        <p:spPr>
          <a:xfrm xmlns:a="http://schemas.openxmlformats.org/drawingml/2006/main">
            <a:off x="2619375" y="2209800"/>
            <a:ext cx="8620125" cy="16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050">
                <a:solidFill>
                  <a:srgbClr val="FFFFFF"/>
                </a:solidFill>
                <a:latin typeface="Archivo Black"/>
                <a:ea typeface="Archivo Black"/>
                <a:cs typeface="Archivo Black"/>
              </a:defRPr>
            </a:pPr>
            <a:r>
              <a:rPr sz="4050">
                <a:solidFill>
                  <a:srgbClr val="FFFFFF"/>
                </a:solidFill>
                <a:latin typeface="Archivo Black"/>
                <a:ea typeface="Archivo Black"/>
                <a:cs typeface="Archivo Black"/>
              </a:rPr>
              <a:t>Interpréter et restituer</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07C33C7D-4DBF-4A1B-937A-40BA11DC5D81}"/>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C5B0E55E-D350-4972-97F4-240419483916}"/>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100</a:t>
            </a:r>
            <a:endParaRPr sz="1300" b="0" i="0" u="none" cap="none">
              <a:solidFill>
                <a:schemeClr val="dk1"/>
              </a:solidFill>
              <a:latin typeface="Calibri"/>
              <a:ea typeface="Calibri"/>
              <a:cs typeface="Calibri"/>
            </a:endParaRPr>
          </a:p>
        </p:txBody>
      </p:sp>
      <p:pic>
        <p:nvPicPr>
          <p:cNvPr id="150" name="Google Shape;137;p7"/>
          <p:cNvPicPr>
            <a:picLocks xmlns:a="http://schemas.openxmlformats.org/drawingml/2006/main" noChangeAspect="1"/>
          </p:cNvPicPr>
          <p:nvPr/>
        </p:nvPicPr>
        <p:blipFill>
          <a:blip xmlns:r="http://schemas.openxmlformats.org/officeDocument/2006/relationships" xmlns:a="http://schemas.openxmlformats.org/drawingml/2006/main" r:embed="Rf3471caf0534425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1" name="Google Shape;138;p7"/>
          <p:cNvPicPr>
            <a:picLocks xmlns:a="http://schemas.openxmlformats.org/drawingml/2006/main" noChangeAspect="1"/>
          </p:cNvPicPr>
          <p:nvPr/>
        </p:nvPicPr>
        <p:blipFill>
          <a:blip xmlns:r="http://schemas.openxmlformats.org/officeDocument/2006/relationships" xmlns:a="http://schemas.openxmlformats.org/drawingml/2006/main" r:embed="R1ed76a6a3f5e4520">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5E19C1EB-9D5B-4724-9DF6-EA2A1693B50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8710095-3157-4D85-A4A3-C1C07ED06B95}"/>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Vendredi 25 septembre · Défendre un">
            <a:extLst xmlns:a="http://schemas.openxmlformats.org/drawingml/2006/main">
              <a:ext uri="{FF2B5EF4-FFF2-40B4-BE49-F238E27FC236}">
                <a16:creationId xmlns:a16="http://schemas.microsoft.com/office/drawing/2014/main" id="{B7E70337-94F4-4840-BF66-AAF52E28EA94}"/>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DM Sans"/>
                <a:ea typeface="DM Sans"/>
                <a:cs typeface="DM Sans"/>
              </a:defRPr>
            </a:pPr>
            <a:r>
              <a:rPr sz="2100" b="0">
                <a:solidFill>
                  <a:srgbClr val="FFFFFF"/>
                </a:solidFill>
                <a:latin typeface="DM Sans"/>
                <a:ea typeface="DM Sans"/>
                <a:cs typeface="DM Sans"/>
              </a:rPr>
              <a:t>Vendredi 25 septembre · Défendre une décision avec ses limites</a:t>
            </a:r>
          </a:p>
        </p:txBody>
      </p:sp>
    </p:spTree>
    <p:extLst>
      <p:ext uri="{BB962C8B-B14F-4D97-AF65-F5344CB8AC3E}">
        <p14:creationId xmlns:p14="http://schemas.microsoft.com/office/powerpoint/2010/main" val="500231423"/>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361b928ec894ff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5081d679d3e4f2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rois niveaux d'explication">
            <a:extLst xmlns:a="http://schemas.openxmlformats.org/drawingml/2006/main">
              <a:ext uri="{FF2B5EF4-FFF2-40B4-BE49-F238E27FC236}">
                <a16:creationId xmlns:a16="http://schemas.microsoft.com/office/drawing/2014/main" id="{872DFBDE-1E59-4F24-B980-67ADBCACB33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Trois niveaux d'explication</a:t>
            </a:r>
          </a:p>
        </p:txBody>
      </p:sp>
      <p:sp>
        <p:nvSpPr>
          <p:cNvPr id="159" name="course-Global : quelles variables le modèl">
            <a:extLst xmlns:a="http://schemas.openxmlformats.org/drawingml/2006/main">
              <a:ext uri="{FF2B5EF4-FFF2-40B4-BE49-F238E27FC236}">
                <a16:creationId xmlns:a16="http://schemas.microsoft.com/office/drawing/2014/main" id="{DBDEC264-1A1E-4C55-8BEF-BDFC10E0C27F}"/>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Global : quelles variables le modèle utilise-t-il sur une population ?</a:t>
            </a:r>
          </a:p>
        </p:txBody>
      </p:sp>
      <p:sp>
        <p:nvSpPr>
          <p:cNvPr id="160" name="course-Local : pourquoi produit-il cette p">
            <a:extLst xmlns:a="http://schemas.openxmlformats.org/drawingml/2006/main">
              <a:ext uri="{FF2B5EF4-FFF2-40B4-BE49-F238E27FC236}">
                <a16:creationId xmlns:a16="http://schemas.microsoft.com/office/drawing/2014/main" id="{68BE101F-11C8-4AEC-AD84-6BA60F8444C3}"/>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Local : pourquoi produit-il cette prédiction pour cet exemple ?</a:t>
            </a:r>
          </a:p>
        </p:txBody>
      </p:sp>
      <p:sp>
        <p:nvSpPr>
          <p:cNvPr id="161" name="course-Action : quelle intervention change">
            <a:extLst xmlns:a="http://schemas.openxmlformats.org/drawingml/2006/main">
              <a:ext uri="{FF2B5EF4-FFF2-40B4-BE49-F238E27FC236}">
                <a16:creationId xmlns:a16="http://schemas.microsoft.com/office/drawing/2014/main" id="{062CA98D-4B98-4A0D-BCE8-6793A7E147B7}"/>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Action : quelle intervention changerait réellement le résultat ?</a:t>
            </a:r>
          </a:p>
        </p:txBody>
      </p:sp>
      <p:sp>
        <p:nvSpPr>
          <p:cNvPr id="162" name="course-Une explication prédictive ne répon">
            <a:extLst xmlns:a="http://schemas.openxmlformats.org/drawingml/2006/main">
              <a:ext uri="{FF2B5EF4-FFF2-40B4-BE49-F238E27FC236}">
                <a16:creationId xmlns:a16="http://schemas.microsoft.com/office/drawing/2014/main" id="{8AAF08AA-261B-4023-99FF-1601AF969D54}"/>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explication prédictive ne répond pas automatiquement à une question causale</a:t>
            </a:r>
          </a:p>
        </p:txBody>
      </p:sp>
      <p:sp>
        <p:nvSpPr>
          <p:cNvPr id="163" name="course-Sources : R25, R27 · liens et détai">
            <a:extLst xmlns:a="http://schemas.openxmlformats.org/drawingml/2006/main">
              <a:ext uri="{FF2B5EF4-FFF2-40B4-BE49-F238E27FC236}">
                <a16:creationId xmlns:a16="http://schemas.microsoft.com/office/drawing/2014/main" id="{F0180A6C-EA02-4009-960E-BF42CB9822F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R25, R27 · liens et détails dans les notes</a:t>
            </a:r>
          </a:p>
        </p:txBody>
      </p:sp>
    </p:spTree>
    <p:extLst>
      <p:ext uri="{BB962C8B-B14F-4D97-AF65-F5344CB8AC3E}">
        <p14:creationId xmlns:p14="http://schemas.microsoft.com/office/powerpoint/2010/main" val="436220805"/>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102</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9b01a96c6f142f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bb6bd35547af4bb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Importance par permutation">
            <a:extLst xmlns:a="http://schemas.openxmlformats.org/drawingml/2006/main">
              <a:ext uri="{FF2B5EF4-FFF2-40B4-BE49-F238E27FC236}">
                <a16:creationId xmlns:a16="http://schemas.microsoft.com/office/drawing/2014/main" id="{A7AF5C2F-5A51-4A42-B4B5-D8B51E8A985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Importance par permutation</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b8e00b5be9bd4ba3"/>
          </a:graphicData>
        </a:graphic>
      </p:graphicFrame>
      <p:sp>
        <p:nvSpPr>
          <p:cNvPr id="160" name="course-Mélanger une variable puis mesurer ">
            <a:extLst xmlns:a="http://schemas.openxmlformats.org/drawingml/2006/main">
              <a:ext uri="{FF2B5EF4-FFF2-40B4-BE49-F238E27FC236}">
                <a16:creationId xmlns:a16="http://schemas.microsoft.com/office/drawing/2014/main" id="{10732FF5-92B7-4934-A693-F10F5E74A4CE}"/>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Mélanger une variable puis mesurer la dégradation du score.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Répéter pour observer la variabilité.</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Interpréter sur un jeu de diagnostic réservé.</a:t>
            </a:r>
          </a:p>
        </p:txBody>
      </p:sp>
      <p:sp>
        <p:nvSpPr>
          <p:cNvPr id="161" name="course-Friedman synthétique : x0 à x4 sont">
            <a:extLst xmlns:a="http://schemas.openxmlformats.org/drawingml/2006/main">
              <a:ext uri="{FF2B5EF4-FFF2-40B4-BE49-F238E27FC236}">
                <a16:creationId xmlns:a16="http://schemas.microsoft.com/office/drawing/2014/main" id="{DAD55AC3-B166-4507-93D7-F2A60F1F6B65}"/>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Friedman synthétique : x0 à x4 sont informatives par construction. Importance sur validation, 5 permutations.</a:t>
            </a:r>
          </a:p>
        </p:txBody>
      </p:sp>
      <p:sp>
        <p:nvSpPr>
          <p:cNvPr id="162" name="course-Sources : R25 · liens et détails da">
            <a:extLst xmlns:a="http://schemas.openxmlformats.org/drawingml/2006/main">
              <a:ext uri="{FF2B5EF4-FFF2-40B4-BE49-F238E27FC236}">
                <a16:creationId xmlns:a16="http://schemas.microsoft.com/office/drawing/2014/main" id="{56B37453-B38E-4372-93CD-9C766755522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R25 · liens et détails dans les notes</a:t>
            </a:r>
          </a:p>
        </p:txBody>
      </p:sp>
    </p:spTree>
    <p:extLst>
      <p:ext uri="{BB962C8B-B14F-4D97-AF65-F5344CB8AC3E}">
        <p14:creationId xmlns:p14="http://schemas.microsoft.com/office/powerpoint/2010/main" val="436220805"/>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c0259350fb3412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a6644df93f341a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Variables corrélées : une explicati">
            <a:extLst xmlns:a="http://schemas.openxmlformats.org/drawingml/2006/main">
              <a:ext uri="{FF2B5EF4-FFF2-40B4-BE49-F238E27FC236}">
                <a16:creationId xmlns:a16="http://schemas.microsoft.com/office/drawing/2014/main" id="{CF9EB555-F79B-4CCF-9B1F-E63E89C4179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Variables corrélées : une explication ambiguë</a:t>
            </a:r>
          </a:p>
        </p:txBody>
      </p:sp>
      <p:sp>
        <p:nvSpPr>
          <p:cNvPr id="159" name="course-Deux variables substituables peuven">
            <a:extLst xmlns:a="http://schemas.openxmlformats.org/drawingml/2006/main">
              <a:ext uri="{FF2B5EF4-FFF2-40B4-BE49-F238E27FC236}">
                <a16:creationId xmlns:a16="http://schemas.microsoft.com/office/drawing/2014/main" id="{0989680A-2072-4104-93E0-2C253F2AAE79}"/>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Deux variables substituables peuvent se partager une information.</a:t>
            </a:r>
          </a:p>
        </p:txBody>
      </p:sp>
      <p:sp>
        <p:nvSpPr>
          <p:cNvPr id="160" name="course-La permutation isolée peut sous-est">
            <a:extLst xmlns:a="http://schemas.openxmlformats.org/drawingml/2006/main">
              <a:ext uri="{FF2B5EF4-FFF2-40B4-BE49-F238E27FC236}">
                <a16:creationId xmlns:a16="http://schemas.microsoft.com/office/drawing/2014/main" id="{41E3B133-18F0-47D3-A8CE-2779CB9CE5A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permutation isolée peut sous-estimer leur rôle conjoint.</a:t>
            </a:r>
          </a:p>
        </p:txBody>
      </p:sp>
      <p:sp>
        <p:nvSpPr>
          <p:cNvPr id="161" name="course-Permuter un groupe cohérent ou comp">
            <a:extLst xmlns:a="http://schemas.openxmlformats.org/drawingml/2006/main">
              <a:ext uri="{FF2B5EF4-FFF2-40B4-BE49-F238E27FC236}">
                <a16:creationId xmlns:a16="http://schemas.microsoft.com/office/drawing/2014/main" id="{B5945054-ECBB-408C-9522-8BE241A72488}"/>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Permuter un groupe cohérent ou comparer une ablation groupée.</a:t>
            </a:r>
          </a:p>
        </p:txBody>
      </p:sp>
      <p:sp>
        <p:nvSpPr>
          <p:cNvPr id="162" name="course-Une faible importance individuelle ">
            <a:extLst xmlns:a="http://schemas.openxmlformats.org/drawingml/2006/main">
              <a:ext uri="{FF2B5EF4-FFF2-40B4-BE49-F238E27FC236}">
                <a16:creationId xmlns:a16="http://schemas.microsoft.com/office/drawing/2014/main" id="{5009CAB3-82B9-4F02-A694-75BC386716A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faible importance individuelle ne signifie pas « variable inutile »</a:t>
            </a:r>
          </a:p>
        </p:txBody>
      </p:sp>
      <p:sp>
        <p:nvSpPr>
          <p:cNvPr id="163" name="course-Sources : R25, R27 · liens et détai">
            <a:extLst xmlns:a="http://schemas.openxmlformats.org/drawingml/2006/main">
              <a:ext uri="{FF2B5EF4-FFF2-40B4-BE49-F238E27FC236}">
                <a16:creationId xmlns:a16="http://schemas.microsoft.com/office/drawing/2014/main" id="{6E72ACE6-BD20-471F-B549-16F0930B70E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R25, R27 · liens et détails dans les notes</a:t>
            </a:r>
          </a:p>
        </p:txBody>
      </p:sp>
    </p:spTree>
    <p:extLst>
      <p:ext uri="{BB962C8B-B14F-4D97-AF65-F5344CB8AC3E}">
        <p14:creationId xmlns:p14="http://schemas.microsoft.com/office/powerpoint/2010/main" val="436220805"/>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afefd5f8d634c4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eb1155c4030410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DP et ICE">
            <a:extLst xmlns:a="http://schemas.openxmlformats.org/drawingml/2006/main">
              <a:ext uri="{FF2B5EF4-FFF2-40B4-BE49-F238E27FC236}">
                <a16:creationId xmlns:a16="http://schemas.microsoft.com/office/drawing/2014/main" id="{C3B54977-5606-4B56-A6AF-A837B74EC048}"/>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PDP et ICE</a:t>
            </a:r>
          </a:p>
        </p:txBody>
      </p:sp>
      <p:sp>
        <p:nvSpPr>
          <p:cNvPr id="159" name="course-PDP : moyenne des prédictions lorsq">
            <a:extLst xmlns:a="http://schemas.openxmlformats.org/drawingml/2006/main">
              <a:ext uri="{FF2B5EF4-FFF2-40B4-BE49-F238E27FC236}">
                <a16:creationId xmlns:a16="http://schemas.microsoft.com/office/drawing/2014/main" id="{116BBDBB-91A6-4E40-B9E1-1725A3F756E1}"/>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PDP : moyenne des prédictions lorsque l'on fait varier une feature.</a:t>
            </a:r>
          </a:p>
        </p:txBody>
      </p:sp>
      <p:sp>
        <p:nvSpPr>
          <p:cNvPr id="160" name="course-ICE : une courbe par observation po">
            <a:extLst xmlns:a="http://schemas.openxmlformats.org/drawingml/2006/main">
              <a:ext uri="{FF2B5EF4-FFF2-40B4-BE49-F238E27FC236}">
                <a16:creationId xmlns:a16="http://schemas.microsoft.com/office/drawing/2014/main" id="{4A0FBEC7-9815-4ADD-8E61-98A0A242B4F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ICE : une courbe par observation pour montrer l'hétérogénéité.</a:t>
            </a:r>
          </a:p>
        </p:txBody>
      </p:sp>
      <p:sp>
        <p:nvSpPr>
          <p:cNvPr id="161" name="course-Les combinaisons fabriquées peuvent">
            <a:extLst xmlns:a="http://schemas.openxmlformats.org/drawingml/2006/main">
              <a:ext uri="{FF2B5EF4-FFF2-40B4-BE49-F238E27FC236}">
                <a16:creationId xmlns:a16="http://schemas.microsoft.com/office/drawing/2014/main" id="{99886852-4C4D-4D65-B605-1EB431F9699E}"/>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Les combinaisons fabriquées peuvent être irréalistes avec des variables corrélées.</a:t>
            </a:r>
          </a:p>
        </p:txBody>
      </p:sp>
      <p:sp>
        <p:nvSpPr>
          <p:cNvPr id="162" name="course-Lire l'échelle de sortie et l'espac">
            <a:extLst xmlns:a="http://schemas.openxmlformats.org/drawingml/2006/main">
              <a:ext uri="{FF2B5EF4-FFF2-40B4-BE49-F238E27FC236}">
                <a16:creationId xmlns:a16="http://schemas.microsoft.com/office/drawing/2014/main" id="{CB964365-111E-4CFD-93B8-D2B5977BACF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Lire l'échelle de sortie et l'espace dans lequel les observations sont plausibles</a:t>
            </a:r>
          </a:p>
        </p:txBody>
      </p:sp>
      <p:sp>
        <p:nvSpPr>
          <p:cNvPr id="163" name="course-Sources : R26 · liens et détails da">
            <a:extLst xmlns:a="http://schemas.openxmlformats.org/drawingml/2006/main">
              <a:ext uri="{FF2B5EF4-FFF2-40B4-BE49-F238E27FC236}">
                <a16:creationId xmlns:a16="http://schemas.microsoft.com/office/drawing/2014/main" id="{CB4CA9A8-D39E-4B75-98F9-876682E9AAB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R26 · liens et détails dans les notes</a:t>
            </a:r>
          </a:p>
        </p:txBody>
      </p:sp>
    </p:spTree>
    <p:extLst>
      <p:ext uri="{BB962C8B-B14F-4D97-AF65-F5344CB8AC3E}">
        <p14:creationId xmlns:p14="http://schemas.microsoft.com/office/powerpoint/2010/main" val="436220805"/>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530d220db6b4d3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ddb01efebc94b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HAP : répartir une différence de p">
            <a:extLst xmlns:a="http://schemas.openxmlformats.org/drawingml/2006/main">
              <a:ext uri="{FF2B5EF4-FFF2-40B4-BE49-F238E27FC236}">
                <a16:creationId xmlns:a16="http://schemas.microsoft.com/office/drawing/2014/main" id="{E12CA0CF-E173-48A9-AE7A-58737285DE4F}"/>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SHAP : répartir une différence de prédiction</a:t>
            </a:r>
          </a:p>
        </p:txBody>
      </p:sp>
      <p:sp>
        <p:nvSpPr>
          <p:cNvPr id="159" name="course-f(x) = φ₀ + Σj φj">
            <a:extLst xmlns:a="http://schemas.openxmlformats.org/drawingml/2006/main">
              <a:ext uri="{FF2B5EF4-FFF2-40B4-BE49-F238E27FC236}">
                <a16:creationId xmlns:a16="http://schemas.microsoft.com/office/drawing/2014/main" id="{90C3ED9F-F75B-455B-9A16-FCCAD86EAF32}"/>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f(x) = φ₀ + Σj φj</a:t>
            </a:r>
          </a:p>
        </p:txBody>
      </p:sp>
      <p:sp>
        <p:nvSpPr>
          <p:cNvPr id="160" name="course-φ₀ est une valeur de référence défi">
            <a:extLst xmlns:a="http://schemas.openxmlformats.org/drawingml/2006/main">
              <a:ext uri="{FF2B5EF4-FFF2-40B4-BE49-F238E27FC236}">
                <a16:creationId xmlns:a16="http://schemas.microsoft.com/office/drawing/2014/main" id="{C82EFB1E-B11C-47C8-A19D-FE1F2D9E069A}"/>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φ₀ est une valeur de référence définie par l'explication.</a:t>
            </a:r>
          </a:p>
        </p:txBody>
      </p:sp>
      <p:sp>
        <p:nvSpPr>
          <p:cNvPr id="161" name="course-φj répartit une contribution selon ">
            <a:extLst xmlns:a="http://schemas.openxmlformats.org/drawingml/2006/main">
              <a:ext uri="{FF2B5EF4-FFF2-40B4-BE49-F238E27FC236}">
                <a16:creationId xmlns:a16="http://schemas.microsoft.com/office/drawing/2014/main" id="{39F33F65-FB70-413B-90E4-0573C3D7EA05}"/>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φj répartit une contribution selon une règle de coopération.</a:t>
            </a:r>
          </a:p>
        </p:txBody>
      </p:sp>
      <p:sp>
        <p:nvSpPr>
          <p:cNvPr id="162" name="course-La référence et les dépendances ent">
            <a:extLst xmlns:a="http://schemas.openxmlformats.org/drawingml/2006/main">
              <a:ext uri="{FF2B5EF4-FFF2-40B4-BE49-F238E27FC236}">
                <a16:creationId xmlns:a16="http://schemas.microsoft.com/office/drawing/2014/main" id="{C0A68408-4901-4CC2-B76C-F9F0E802FA89}"/>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La référence et les dépendances entre variables changent l'interprétation.</a:t>
            </a:r>
          </a:p>
        </p:txBody>
      </p:sp>
      <p:sp>
        <p:nvSpPr>
          <p:cNvPr id="163" name="course-Sources : R27, R28 · liens et détai">
            <a:extLst xmlns:a="http://schemas.openxmlformats.org/drawingml/2006/main">
              <a:ext uri="{FF2B5EF4-FFF2-40B4-BE49-F238E27FC236}">
                <a16:creationId xmlns:a16="http://schemas.microsoft.com/office/drawing/2014/main" id="{6F12AB66-1854-4754-8BC3-9CF666FD6B2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R27, R28 · liens et détails dans les notes</a:t>
            </a:r>
          </a:p>
        </p:txBody>
      </p:sp>
    </p:spTree>
    <p:extLst>
      <p:ext uri="{BB962C8B-B14F-4D97-AF65-F5344CB8AC3E}">
        <p14:creationId xmlns:p14="http://schemas.microsoft.com/office/powerpoint/2010/main" val="436220805"/>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106</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febc6079c8e4fd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443efd30df84c1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 calcul de Shapley à deux variabl">
            <a:extLst xmlns:a="http://schemas.openxmlformats.org/drawingml/2006/main">
              <a:ext uri="{FF2B5EF4-FFF2-40B4-BE49-F238E27FC236}">
                <a16:creationId xmlns:a16="http://schemas.microsoft.com/office/drawing/2014/main" id="{EE12EAD3-089F-46A9-BBF7-EDD81AA0FDC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 calcul de Shapley à deux variables</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Coalition S</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v(S)</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Calcul</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Aucune variable</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10</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Valeur de référence</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{A}</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14</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Contribution de A seule : 4</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{B}</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12</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Contribution de B seule : 2</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{A,B}</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20</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Interaction incluse</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Attributions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φA = 6 ; φB = 4</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10 + 6 + 4 = 20</a:t>
                      </a:r>
                    </a:p>
                  </a:txBody>
                  <a:tcPr marL="91440" marR="91440" marT="45720" marB="45720">
                    <a:solidFill>
                      <a:srgbClr val="F4F5F8"/>
                    </a:solidFill>
                  </a:tcPr>
                </a:tc>
              </a:tr>
            </a:tbl>
          </a:graphicData>
        </a:graphic>
      </p:graphicFrame>
      <p:sp>
        <p:nvSpPr>
          <p:cNvPr id="160" name="course-φA = ½ [(14−10) + (20−12)] = 6 ; φB">
            <a:extLst xmlns:a="http://schemas.openxmlformats.org/drawingml/2006/main">
              <a:ext uri="{FF2B5EF4-FFF2-40B4-BE49-F238E27FC236}">
                <a16:creationId xmlns:a16="http://schemas.microsoft.com/office/drawing/2014/main" id="{A2F32E51-8F2C-497E-B2F8-3167E86C62E3}"/>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φA = ½ [(14−10) + (20−12)] = 6 ; φB = 4</a:t>
            </a:r>
          </a:p>
        </p:txBody>
      </p:sp>
      <p:sp>
        <p:nvSpPr>
          <p:cNvPr id="161" name="course-Sources : R27 · liens et détails da">
            <a:extLst xmlns:a="http://schemas.openxmlformats.org/drawingml/2006/main">
              <a:ext uri="{FF2B5EF4-FFF2-40B4-BE49-F238E27FC236}">
                <a16:creationId xmlns:a16="http://schemas.microsoft.com/office/drawing/2014/main" id="{60AF8933-BDC8-42A8-8BD8-A8CD1EB6AC0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R27 · liens et détails dans les notes</a:t>
            </a:r>
          </a:p>
        </p:txBody>
      </p:sp>
    </p:spTree>
    <p:extLst>
      <p:ext uri="{BB962C8B-B14F-4D97-AF65-F5344CB8AC3E}">
        <p14:creationId xmlns:p14="http://schemas.microsoft.com/office/powerpoint/2010/main" val="436220805"/>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8de35170ef2400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372eae3750a4f2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prédiction ponctuelle laisse un">
            <a:extLst xmlns:a="http://schemas.openxmlformats.org/drawingml/2006/main">
              <a:ext uri="{FF2B5EF4-FFF2-40B4-BE49-F238E27FC236}">
                <a16:creationId xmlns:a16="http://schemas.microsoft.com/office/drawing/2014/main" id="{1B0EC6B5-5EE1-464A-8BC3-330B645D4F6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prédiction ponctuelle laisse une incertitude</a:t>
            </a:r>
          </a:p>
        </p:txBody>
      </p:sp>
      <p:sp>
        <p:nvSpPr>
          <p:cNvPr id="159" name="course-ŷ donne un centre, sans dire à quel">
            <a:extLst xmlns:a="http://schemas.openxmlformats.org/drawingml/2006/main">
              <a:ext uri="{FF2B5EF4-FFF2-40B4-BE49-F238E27FC236}">
                <a16:creationId xmlns:a16="http://schemas.microsoft.com/office/drawing/2014/main" id="{E4880116-090B-4F29-9BBA-FA8D5AF67367}"/>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ŷ donne un centre, sans dire à quel point l'erreur peut être grande.</a:t>
            </a:r>
          </a:p>
        </p:txBody>
      </p:sp>
      <p:sp>
        <p:nvSpPr>
          <p:cNvPr id="160" name="course-Un intervalle vise une fréquence de">
            <a:extLst xmlns:a="http://schemas.openxmlformats.org/drawingml/2006/main">
              <a:ext uri="{FF2B5EF4-FFF2-40B4-BE49-F238E27FC236}">
                <a16:creationId xmlns:a16="http://schemas.microsoft.com/office/drawing/2014/main" id="{528E367F-4928-44A7-8E10-D22A423308BF}"/>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intervalle vise une fréquence de couverture définie.</a:t>
            </a:r>
          </a:p>
        </p:txBody>
      </p:sp>
      <p:sp>
        <p:nvSpPr>
          <p:cNvPr id="161" name="course-Sa largeur doit être interprétée av">
            <a:extLst xmlns:a="http://schemas.openxmlformats.org/drawingml/2006/main">
              <a:ext uri="{FF2B5EF4-FFF2-40B4-BE49-F238E27FC236}">
                <a16:creationId xmlns:a16="http://schemas.microsoft.com/office/drawing/2014/main" id="{3AA7F996-D109-4DE9-B659-F255A1FC566A}"/>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Sa largeur doit être interprétée avec cette couverture.</a:t>
            </a:r>
          </a:p>
        </p:txBody>
      </p:sp>
      <p:sp>
        <p:nvSpPr>
          <p:cNvPr id="162" name="course-Un intervalle large peut être honnê">
            <a:extLst xmlns:a="http://schemas.openxmlformats.org/drawingml/2006/main">
              <a:ext uri="{FF2B5EF4-FFF2-40B4-BE49-F238E27FC236}">
                <a16:creationId xmlns:a16="http://schemas.microsoft.com/office/drawing/2014/main" id="{B865DAE4-EC09-4890-8CD6-2E02313C0D65}"/>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 intervalle large peut être honnête mais peu utile pour décider</a:t>
            </a:r>
          </a:p>
        </p:txBody>
      </p:sp>
      <p:sp>
        <p:nvSpPr>
          <p:cNvPr id="163" name="course-Sources : R29 · liens et détails da">
            <a:extLst xmlns:a="http://schemas.openxmlformats.org/drawingml/2006/main">
              <a:ext uri="{FF2B5EF4-FFF2-40B4-BE49-F238E27FC236}">
                <a16:creationId xmlns:a16="http://schemas.microsoft.com/office/drawing/2014/main" id="{2D0C2E4C-D82D-4710-9D46-F8D72A0DC81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R29 · liens et détails dans les notes</a:t>
            </a:r>
          </a:p>
        </p:txBody>
      </p:sp>
    </p:spTree>
    <p:extLst>
      <p:ext uri="{BB962C8B-B14F-4D97-AF65-F5344CB8AC3E}">
        <p14:creationId xmlns:p14="http://schemas.microsoft.com/office/powerpoint/2010/main" val="436220805"/>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5f70dda00a0439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b480eb1c9594e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plit-conformal : trois ensembles s">
            <a:extLst xmlns:a="http://schemas.openxmlformats.org/drawingml/2006/main">
              <a:ext uri="{FF2B5EF4-FFF2-40B4-BE49-F238E27FC236}">
                <a16:creationId xmlns:a16="http://schemas.microsoft.com/office/drawing/2014/main" id="{C77D8EA4-24D1-485B-87B5-D331262B38E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Split-conformal : trois ensembles séparés</a:t>
            </a:r>
          </a:p>
        </p:txBody>
      </p:sp>
      <p:sp>
        <p:nvSpPr>
          <p:cNvPr id="159" name="course-si = |yi − f(xi)|     q = s(k), k =">
            <a:extLst xmlns:a="http://schemas.openxmlformats.org/drawingml/2006/main">
              <a:ext uri="{FF2B5EF4-FFF2-40B4-BE49-F238E27FC236}">
                <a16:creationId xmlns:a16="http://schemas.microsoft.com/office/drawing/2014/main" id="{1283B25A-2BA5-43E0-865D-176B2706496C}"/>
              </a:ext>
            </a:extLst>
          </p:cNvPr>
          <p:cNvSpPr>
            <a:spLocks xmlns:a="http://schemas.openxmlformats.org/drawingml/2006/main" noGrp="1"/>
          </p:cNvSpPr>
          <p:nvPr/>
        </p:nvSpPr>
        <p:spPr>
          <a:xfrm xmlns:a="http://schemas.openxmlformats.org/drawingml/2006/main">
            <a:off x="762000" y="1752600"/>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03C8B"/>
                </a:solidFill>
                <a:latin typeface="DM Sans"/>
                <a:ea typeface="DM Sans"/>
                <a:cs typeface="DM Sans"/>
              </a:defRPr>
            </a:pPr>
            <a:r>
              <a:rPr sz="2400" b="1">
                <a:solidFill>
                  <a:srgbClr val="303C8B"/>
                </a:solidFill>
                <a:latin typeface="DM Sans"/>
                <a:ea typeface="DM Sans"/>
                <a:cs typeface="DM Sans"/>
              </a:rPr>
              <a:t>si = |yi − f(xi)|     q = s(k), k = ⌈(ncal+1)(1−α)⌉</a:t>
            </a:r>
          </a:p>
        </p:txBody>
      </p:sp>
      <p:sp>
        <p:nvSpPr>
          <p:cNvPr id="160" name="course-Entraîner f sans utiliser les donné">
            <a:extLst xmlns:a="http://schemas.openxmlformats.org/drawingml/2006/main">
              <a:ext uri="{FF2B5EF4-FFF2-40B4-BE49-F238E27FC236}">
                <a16:creationId xmlns:a16="http://schemas.microsoft.com/office/drawing/2014/main" id="{0FB5AEEB-8859-412C-8143-FCC128D793D0}"/>
              </a:ext>
            </a:extLst>
          </p:cNvPr>
          <p:cNvSpPr>
            <a:spLocks xmlns:a="http://schemas.openxmlformats.org/drawingml/2006/main" noGrp="1"/>
          </p:cNvSpPr>
          <p:nvPr/>
        </p:nvSpPr>
        <p:spPr>
          <a:xfrm xmlns:a="http://schemas.openxmlformats.org/drawingml/2006/main">
            <a:off x="819150" y="26098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Entraîner f sans utiliser les données de calibration conforme.</a:t>
            </a:r>
          </a:p>
        </p:txBody>
      </p:sp>
      <p:sp>
        <p:nvSpPr>
          <p:cNvPr id="161" name="course-Calculer les résidus absolus sur ca">
            <a:extLst xmlns:a="http://schemas.openxmlformats.org/drawingml/2006/main">
              <a:ext uri="{FF2B5EF4-FFF2-40B4-BE49-F238E27FC236}">
                <a16:creationId xmlns:a16="http://schemas.microsoft.com/office/drawing/2014/main" id="{0BB9966A-DDF4-4321-ADDA-9AFD0BA9927C}"/>
              </a:ext>
            </a:extLst>
          </p:cNvPr>
          <p:cNvSpPr>
            <a:spLocks xmlns:a="http://schemas.openxmlformats.org/drawingml/2006/main" noGrp="1"/>
          </p:cNvSpPr>
          <p:nvPr/>
        </p:nvSpPr>
        <p:spPr>
          <a:xfrm xmlns:a="http://schemas.openxmlformats.org/drawingml/2006/main">
            <a:off x="819150" y="3543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Calculer les résidus absolus sur calibration et choisir le rang corrigé.</a:t>
            </a:r>
          </a:p>
        </p:txBody>
      </p:sp>
      <p:sp>
        <p:nvSpPr>
          <p:cNvPr id="162" name="course-Produire [f(x)−q, f(x)+q] pour une ">
            <a:extLst xmlns:a="http://schemas.openxmlformats.org/drawingml/2006/main">
              <a:ext uri="{FF2B5EF4-FFF2-40B4-BE49-F238E27FC236}">
                <a16:creationId xmlns:a16="http://schemas.microsoft.com/office/drawing/2014/main" id="{9E33CFCC-8A91-4CB7-9D7A-68D21987150F}"/>
              </a:ext>
            </a:extLst>
          </p:cNvPr>
          <p:cNvSpPr>
            <a:spLocks xmlns:a="http://schemas.openxmlformats.org/drawingml/2006/main" noGrp="1"/>
          </p:cNvSpPr>
          <p:nvPr/>
        </p:nvSpPr>
        <p:spPr>
          <a:xfrm xmlns:a="http://schemas.openxmlformats.org/drawingml/2006/main">
            <a:off x="819150" y="44767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Produire [f(x)−q, f(x)+q] pour une nouvelle observation.</a:t>
            </a:r>
          </a:p>
        </p:txBody>
      </p:sp>
      <p:sp>
        <p:nvSpPr>
          <p:cNvPr id="163" name="course-Sources : R29 · liens et détails da">
            <a:extLst xmlns:a="http://schemas.openxmlformats.org/drawingml/2006/main">
              <a:ext uri="{FF2B5EF4-FFF2-40B4-BE49-F238E27FC236}">
                <a16:creationId xmlns:a16="http://schemas.microsoft.com/office/drawing/2014/main" id="{2DFFFDA3-9529-4CAE-A079-A9D92E945AF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R29 · liens et détails dans les notes</a:t>
            </a:r>
          </a:p>
        </p:txBody>
      </p:sp>
    </p:spTree>
    <p:extLst>
      <p:ext uri="{BB962C8B-B14F-4D97-AF65-F5344CB8AC3E}">
        <p14:creationId xmlns:p14="http://schemas.microsoft.com/office/powerpoint/2010/main" val="436220805"/>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109</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cb9846e735b42d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ff7a14096b9421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ire les intervalles conformes">
            <a:extLst xmlns:a="http://schemas.openxmlformats.org/drawingml/2006/main">
              <a:ext uri="{FF2B5EF4-FFF2-40B4-BE49-F238E27FC236}">
                <a16:creationId xmlns:a16="http://schemas.microsoft.com/office/drawing/2014/main" id="{197A2981-64EB-4613-809F-7F5E8C0CF8A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Lire les intervalles conformes</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24065edccaff4c15"/>
          </a:graphicData>
        </a:graphic>
      </p:graphicFrame>
      <p:sp>
        <p:nvSpPr>
          <p:cNvPr id="160" name="course-Certaines observations peuvent sort">
            <a:extLst xmlns:a="http://schemas.openxmlformats.org/drawingml/2006/main">
              <a:ext uri="{FF2B5EF4-FFF2-40B4-BE49-F238E27FC236}">
                <a16:creationId xmlns:a16="http://schemas.microsoft.com/office/drawing/2014/main" id="{8CD01732-EA6F-4713-AE9D-0C4362DAB25B}"/>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Certaines observations peuvent sortir de leur intervalle.</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Une couverture de 90 % est une propriété marginale sous hypothèses.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 test fini peut afficher une couverture différente de 90 %.</a:t>
            </a:r>
          </a:p>
        </p:txBody>
      </p:sp>
      <p:sp>
        <p:nvSpPr>
          <p:cNvPr id="161" name="course-Split-conformal 90% : 600 train, 20">
            <a:extLst xmlns:a="http://schemas.openxmlformats.org/drawingml/2006/main">
              <a:ext uri="{FF2B5EF4-FFF2-40B4-BE49-F238E27FC236}">
                <a16:creationId xmlns:a16="http://schemas.microsoft.com/office/drawing/2014/main" id="{3FE3D241-BD92-41A4-9FEC-DB41FB98BC64}"/>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Split-conformal 90% : 600 train, 200 calibration, 200 test ; extrait des 40 plus petites prédictions. Couverture marginale, pas individuelle.</a:t>
            </a:r>
          </a:p>
        </p:txBody>
      </p:sp>
      <p:sp>
        <p:nvSpPr>
          <p:cNvPr id="162" name="course-Sources : R29 · liens et détails da">
            <a:extLst xmlns:a="http://schemas.openxmlformats.org/drawingml/2006/main">
              <a:ext uri="{FF2B5EF4-FFF2-40B4-BE49-F238E27FC236}">
                <a16:creationId xmlns:a16="http://schemas.microsoft.com/office/drawing/2014/main" id="{3B21399E-987E-435E-98DC-CB06F75F8B2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R29 · liens et détails dans les notes</a:t>
            </a:r>
          </a:p>
        </p:txBody>
      </p:sp>
    </p:spTree>
    <p:extLst>
      <p:ext uri="{BB962C8B-B14F-4D97-AF65-F5344CB8AC3E}">
        <p14:creationId xmlns:p14="http://schemas.microsoft.com/office/powerpoint/2010/main" val="436220805"/>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110</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eee405d9a73407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9b33df32be046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Évaluer des segments">
            <a:extLst xmlns:a="http://schemas.openxmlformats.org/drawingml/2006/main">
              <a:ext uri="{FF2B5EF4-FFF2-40B4-BE49-F238E27FC236}">
                <a16:creationId xmlns:a16="http://schemas.microsoft.com/office/drawing/2014/main" id="{4DA10FD3-E314-42B2-93F0-B6A6BFE01F2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Évaluer des segments</a:t>
            </a:r>
          </a:p>
        </p:txBody>
      </p:sp>
      <p:sp>
        <p:nvSpPr>
          <p:cNvPr id="159" name="course-Rapporter performance et effectifs ">
            <a:extLst xmlns:a="http://schemas.openxmlformats.org/drawingml/2006/main">
              <a:ext uri="{FF2B5EF4-FFF2-40B4-BE49-F238E27FC236}">
                <a16:creationId xmlns:a16="http://schemas.microsoft.com/office/drawing/2014/main" id="{5B10AACE-4D01-4301-9BF5-DF6384E37F1B}"/>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Rapporter performance et effectifs pour des groupes pertinents.</a:t>
            </a:r>
          </a:p>
        </p:txBody>
      </p:sp>
      <p:sp>
        <p:nvSpPr>
          <p:cNvPr id="160" name="course-Examiner rappel, calibration et typ">
            <a:extLst xmlns:a="http://schemas.openxmlformats.org/drawingml/2006/main">
              <a:ext uri="{FF2B5EF4-FFF2-40B4-BE49-F238E27FC236}">
                <a16:creationId xmlns:a16="http://schemas.microsoft.com/office/drawing/2014/main" id="{144A88C2-00D0-43B0-974B-DDF7564195B7}"/>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Examiner rappel, calibration et types d'erreurs.</a:t>
            </a:r>
          </a:p>
        </p:txBody>
      </p:sp>
      <p:sp>
        <p:nvSpPr>
          <p:cNvPr id="161" name="course-Signaler les petits échantillons et">
            <a:extLst xmlns:a="http://schemas.openxmlformats.org/drawingml/2006/main">
              <a:ext uri="{FF2B5EF4-FFF2-40B4-BE49-F238E27FC236}">
                <a16:creationId xmlns:a16="http://schemas.microsoft.com/office/drawing/2014/main" id="{02C6B236-7538-455C-9926-8C0BBDFA551A}"/>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Signaler les petits échantillons et les populations absentes.</a:t>
            </a:r>
          </a:p>
        </p:txBody>
      </p:sp>
      <p:sp>
        <p:nvSpPr>
          <p:cNvPr id="162" name="course-Une moyenne satisfaisante peut masq">
            <a:extLst xmlns:a="http://schemas.openxmlformats.org/drawingml/2006/main">
              <a:ext uri="{FF2B5EF4-FFF2-40B4-BE49-F238E27FC236}">
                <a16:creationId xmlns:a16="http://schemas.microsoft.com/office/drawing/2014/main" id="{33474EFD-0906-462D-A7DA-B47802BBD73C}"/>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moyenne satisfaisante peut masquer un échec local</a:t>
            </a:r>
          </a:p>
        </p:txBody>
      </p:sp>
      <p:sp>
        <p:nvSpPr>
          <p:cNvPr id="163" name="course-Sources : R30, R16 · liens et détai">
            <a:extLst xmlns:a="http://schemas.openxmlformats.org/drawingml/2006/main">
              <a:ext uri="{FF2B5EF4-FFF2-40B4-BE49-F238E27FC236}">
                <a16:creationId xmlns:a16="http://schemas.microsoft.com/office/drawing/2014/main" id="{B84D27FF-8A80-401E-A3D5-6352EFF7EC78}"/>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R30, R16 · liens et détails dans les notes</a:t>
            </a:r>
          </a:p>
        </p:txBody>
      </p:sp>
    </p:spTree>
    <p:extLst>
      <p:ext uri="{BB962C8B-B14F-4D97-AF65-F5344CB8AC3E}">
        <p14:creationId xmlns:p14="http://schemas.microsoft.com/office/powerpoint/2010/main" val="436220805"/>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388922455da40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1198e23c0614db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réparer un modèle à être utilisé">
            <a:extLst xmlns:a="http://schemas.openxmlformats.org/drawingml/2006/main">
              <a:ext uri="{FF2B5EF4-FFF2-40B4-BE49-F238E27FC236}">
                <a16:creationId xmlns:a16="http://schemas.microsoft.com/office/drawing/2014/main" id="{FC566A67-AED5-4800-A35F-EE192ABF013E}"/>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Préparer un modèle à être utilisé</a:t>
            </a:r>
          </a:p>
        </p:txBody>
      </p:sp>
      <p:sp>
        <p:nvSpPr>
          <p:cNvPr id="159" name="course-Sérialiser toute la pipeline avec s">
            <a:extLst xmlns:a="http://schemas.openxmlformats.org/drawingml/2006/main">
              <a:ext uri="{FF2B5EF4-FFF2-40B4-BE49-F238E27FC236}">
                <a16:creationId xmlns:a16="http://schemas.microsoft.com/office/drawing/2014/main" id="{13266E66-2673-4F7B-8427-3A208087DBB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Sérialiser toute la pipeline avec son schéma d'entrée.</a:t>
            </a:r>
          </a:p>
        </p:txBody>
      </p:sp>
      <p:sp>
        <p:nvSpPr>
          <p:cNvPr id="160" name="course-Enregistrer versions, données, para">
            <a:extLst xmlns:a="http://schemas.openxmlformats.org/drawingml/2006/main">
              <a:ext uri="{FF2B5EF4-FFF2-40B4-BE49-F238E27FC236}">
                <a16:creationId xmlns:a16="http://schemas.microsoft.com/office/drawing/2014/main" id="{47988A33-9C04-4610-A810-A8BB44C9A207}"/>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Enregistrer versions, données, paramètres, seuil et protocole.</a:t>
            </a:r>
          </a:p>
        </p:txBody>
      </p:sp>
      <p:sp>
        <p:nvSpPr>
          <p:cNvPr id="161" name="course-Prévoir surveillance, responsable e">
            <a:extLst xmlns:a="http://schemas.openxmlformats.org/drawingml/2006/main">
              <a:ext uri="{FF2B5EF4-FFF2-40B4-BE49-F238E27FC236}">
                <a16:creationId xmlns:a16="http://schemas.microsoft.com/office/drawing/2014/main" id="{35DE2541-2D77-4648-8C20-B7E75165728A}"/>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Prévoir surveillance, responsable et procédure de retour arrière.</a:t>
            </a:r>
          </a:p>
        </p:txBody>
      </p:sp>
      <p:sp>
        <p:nvSpPr>
          <p:cNvPr id="162" name="course-Une bonne notebook n'est pas encore">
            <a:extLst xmlns:a="http://schemas.openxmlformats.org/drawingml/2006/main">
              <a:ext uri="{FF2B5EF4-FFF2-40B4-BE49-F238E27FC236}">
                <a16:creationId xmlns:a16="http://schemas.microsoft.com/office/drawing/2014/main" id="{5EF9F973-4A47-457B-BE9D-9AFE1A24D35B}"/>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bonne notebook n'est pas encore un service exploité</a:t>
            </a:r>
          </a:p>
        </p:txBody>
      </p:sp>
      <p:sp>
        <p:nvSpPr>
          <p:cNvPr id="163" name="course-Sources : R31, R30 · liens et détai">
            <a:extLst xmlns:a="http://schemas.openxmlformats.org/drawingml/2006/main">
              <a:ext uri="{FF2B5EF4-FFF2-40B4-BE49-F238E27FC236}">
                <a16:creationId xmlns:a16="http://schemas.microsoft.com/office/drawing/2014/main" id="{2846A21D-7399-4ED2-B6C7-27571C8A511D}"/>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R31, R30 · liens et détails dans les notes</a:t>
            </a:r>
          </a:p>
        </p:txBody>
      </p:sp>
    </p:spTree>
    <p:extLst>
      <p:ext uri="{BB962C8B-B14F-4D97-AF65-F5344CB8AC3E}">
        <p14:creationId xmlns:p14="http://schemas.microsoft.com/office/powerpoint/2010/main" val="436220805"/>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112</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b30c23d962f4d9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c231cd2b5ec4a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rois dérives à distinguer">
            <a:extLst xmlns:a="http://schemas.openxmlformats.org/drawingml/2006/main">
              <a:ext uri="{FF2B5EF4-FFF2-40B4-BE49-F238E27FC236}">
                <a16:creationId xmlns:a16="http://schemas.microsoft.com/office/drawing/2014/main" id="{CFBFF345-3FC8-40D4-B18A-2F01FBB86C39}"/>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Trois dérives à distinguer</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508000">
                <a:tc>
                  <a:txBody>
                    <a:bodyPr lIns="114300" tIns="95250" rIns="114300" bIns="95250"/>
                    <a:lstStyle/>
                    <a:p>
                      <a:r>
                        <a:rPr sz="1725" b="1">
                          <a:solidFill>
                            <a:srgbClr val="FFFFFF"/>
                          </a:solidFill>
                          <a:latin typeface="DM Sans"/>
                          <a:ea typeface="DM Sans"/>
                          <a:cs typeface="DM Sans"/>
                        </a:rPr>
                        <a:t>Signal</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Observation</a:t>
                      </a:r>
                    </a:p>
                  </a:txBody>
                  <a:tcPr marL="91440" marR="91440" marT="45720" marB="45720">
                    <a:solidFill>
                      <a:srgbClr val="303C8B"/>
                    </a:solidFill>
                  </a:tcPr>
                </a:tc>
                <a:tc>
                  <a:txBody>
                    <a:bodyPr lIns="114300" tIns="95250" rIns="114300" bIns="95250"/>
                    <a:lstStyle/>
                    <a:p>
                      <a:r>
                        <a:rPr sz="1725" b="1">
                          <a:solidFill>
                            <a:srgbClr val="FFFFFF"/>
                          </a:solidFill>
                          <a:latin typeface="DM Sans"/>
                          <a:ea typeface="DM Sans"/>
                          <a:cs typeface="DM Sans"/>
                        </a:rPr>
                        <a:t>Action à instruire</a:t>
                      </a:r>
                    </a:p>
                  </a:txBody>
                  <a:tcPr marL="91440" marR="91440" marT="45720" marB="45720">
                    <a:solidFill>
                      <a:srgbClr val="303C8B"/>
                    </a:solidFill>
                  </a:tcPr>
                </a:tc>
              </a:tr>
              <a:tr h="508000">
                <a:tc>
                  <a:txBody>
                    <a:bodyPr lIns="114300" tIns="95250" rIns="114300" bIns="95250"/>
                    <a:lstStyle/>
                    <a:p>
                      <a:r>
                        <a:rPr sz="1725" b="0">
                          <a:solidFill>
                            <a:srgbClr val="12194C"/>
                          </a:solidFill>
                          <a:latin typeface="DM Sans"/>
                          <a:ea typeface="DM Sans"/>
                          <a:cs typeface="DM Sans"/>
                        </a:rPr>
                        <a:t>Qualité des entrées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Manquants, catégories nouvelles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Vérifier collecte / schéma</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Dérive de X</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Distribution différente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Analyser origine et segments</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Performance avec labels</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AP, rappel, coût, calibration</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Comparer à la référence</a:t>
                      </a:r>
                    </a:p>
                  </a:txBody>
                  <a:tcPr marL="91440" marR="91440" marT="45720" marB="45720">
                    <a:solidFill>
                      <a:srgbClr val="F4F5F8"/>
                    </a:solidFill>
                  </a:tcPr>
                </a:tc>
              </a:tr>
              <a:tr h="508000">
                <a:tc>
                  <a:txBody>
                    <a:bodyPr lIns="114300" tIns="95250" rIns="114300" bIns="95250"/>
                    <a:lstStyle/>
                    <a:p>
                      <a:r>
                        <a:rPr sz="1725" b="0">
                          <a:solidFill>
                            <a:srgbClr val="12194C"/>
                          </a:solidFill>
                          <a:latin typeface="DM Sans"/>
                          <a:ea typeface="DM Sans"/>
                          <a:cs typeface="DM Sans"/>
                        </a:rPr>
                        <a:t>Dérive de P(y|X)</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Relation prédictive changée</a:t>
                      </a:r>
                    </a:p>
                  </a:txBody>
                  <a:tcPr marL="91440" marR="91440" marT="45720" marB="45720">
                    <a:solidFill>
                      <a:srgbClr val="FFFFFF"/>
                    </a:solidFill>
                  </a:tcPr>
                </a:tc>
                <a:tc>
                  <a:txBody>
                    <a:bodyPr lIns="114300" tIns="95250" rIns="114300" bIns="95250"/>
                    <a:lstStyle/>
                    <a:p>
                      <a:r>
                        <a:rPr sz="1725" b="0">
                          <a:solidFill>
                            <a:srgbClr val="12194C"/>
                          </a:solidFill>
                          <a:latin typeface="DM Sans"/>
                          <a:ea typeface="DM Sans"/>
                          <a:cs typeface="DM Sans"/>
                        </a:rPr>
                        <a:t>Réévaluer / réentraîner</a:t>
                      </a:r>
                    </a:p>
                  </a:txBody>
                  <a:tcPr marL="91440" marR="91440" marT="45720" marB="45720">
                    <a:solidFill>
                      <a:srgbClr val="FFFFFF"/>
                    </a:solidFill>
                  </a:tcPr>
                </a:tc>
              </a:tr>
              <a:tr h="508000">
                <a:tc>
                  <a:txBody>
                    <a:bodyPr lIns="114300" tIns="95250" rIns="114300" bIns="95250"/>
                    <a:lstStyle/>
                    <a:p>
                      <a:r>
                        <a:rPr sz="1725" b="0">
                          <a:solidFill>
                            <a:srgbClr val="12194C"/>
                          </a:solidFill>
                          <a:latin typeface="DM Sans"/>
                          <a:ea typeface="DM Sans"/>
                          <a:cs typeface="DM Sans"/>
                        </a:rPr>
                        <a:t>Incident</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Dépassement d'un seuil convenu</a:t>
                      </a:r>
                    </a:p>
                  </a:txBody>
                  <a:tcPr marL="91440" marR="91440" marT="45720" marB="45720">
                    <a:solidFill>
                      <a:srgbClr val="F4F5F8"/>
                    </a:solidFill>
                  </a:tcPr>
                </a:tc>
                <a:tc>
                  <a:txBody>
                    <a:bodyPr lIns="114300" tIns="95250" rIns="114300" bIns="95250"/>
                    <a:lstStyle/>
                    <a:p>
                      <a:r>
                        <a:rPr sz="1725" b="0">
                          <a:solidFill>
                            <a:srgbClr val="12194C"/>
                          </a:solidFill>
                          <a:latin typeface="DM Sans"/>
                          <a:ea typeface="DM Sans"/>
                          <a:cs typeface="DM Sans"/>
                        </a:rPr>
                        <a:t>Alerter et envisager retour arrière</a:t>
                      </a:r>
                    </a:p>
                  </a:txBody>
                  <a:tcPr marL="91440" marR="91440" marT="45720" marB="45720">
                    <a:solidFill>
                      <a:srgbClr val="F4F5F8"/>
                    </a:solidFill>
                  </a:tcPr>
                </a:tc>
              </a:tr>
            </a:tbl>
          </a:graphicData>
        </a:graphic>
      </p:graphicFrame>
      <p:sp>
        <p:nvSpPr>
          <p:cNvPr id="160" name="course-">
            <a:extLst xmlns:a="http://schemas.openxmlformats.org/drawingml/2006/main">
              <a:ext uri="{FF2B5EF4-FFF2-40B4-BE49-F238E27FC236}">
                <a16:creationId xmlns:a16="http://schemas.microsoft.com/office/drawing/2014/main" id="{E34F0E07-B1C5-4366-B7C2-69918D0B9FFC}"/>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Sources : R30 · liens et détails da">
            <a:extLst xmlns:a="http://schemas.openxmlformats.org/drawingml/2006/main">
              <a:ext uri="{FF2B5EF4-FFF2-40B4-BE49-F238E27FC236}">
                <a16:creationId xmlns:a16="http://schemas.microsoft.com/office/drawing/2014/main" id="{9E48D12E-B67A-412B-B6BA-93A289A9147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R30 · liens et détails dans les notes</a:t>
            </a:r>
          </a:p>
        </p:txBody>
      </p:sp>
    </p:spTree>
    <p:extLst>
      <p:ext uri="{BB962C8B-B14F-4D97-AF65-F5344CB8AC3E}">
        <p14:creationId xmlns:p14="http://schemas.microsoft.com/office/powerpoint/2010/main" val="436220805"/>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113</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4abbe4c726f647f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5b304444a5154a5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distribution différente n'est q">
            <a:extLst xmlns:a="http://schemas.openxmlformats.org/drawingml/2006/main">
              <a:ext uri="{FF2B5EF4-FFF2-40B4-BE49-F238E27FC236}">
                <a16:creationId xmlns:a16="http://schemas.microsoft.com/office/drawing/2014/main" id="{CAAF03F9-A74D-4083-BD52-1E019D2AFD1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distribution différente n'est qu'un signal</a:t>
            </a:r>
          </a:p>
        </p:txBody>
      </p:sp>
      <p:graphicFrame>
        <p:nvGraphicFramePr>
          <p:cNvPr id="174" name="Chart"/>
          <p:cNvGraphicFramePr/>
          <p:nvPr/>
        </p:nvGraphicFramePr>
        <p:xfrm>
          <a:off xmlns:a="http://schemas.openxmlformats.org/drawingml/2006/main" x="723900" y="1857375"/>
          <a:ext xmlns:a="http://schemas.openxmlformats.org/drawingml/2006/main" cx="7096125" cy="3524250"/>
        </p:xfrm>
        <a:graphic xmlns:a="http://schemas.openxmlformats.org/drawingml/2006/main">
          <a:graphicData uri="http://schemas.openxmlformats.org/drawingml/2006/chart">
            <c:chart xmlns:r="http://schemas.openxmlformats.org/officeDocument/2006/relationships" xmlns:c="http://schemas.openxmlformats.org/drawingml/2006/chart" r:id="R919885e389ee485f"/>
          </a:graphicData>
        </a:graphic>
      </p:graphicFrame>
      <p:sp>
        <p:nvSpPr>
          <p:cNvPr id="160" name="course-Les nouvelles entrées se déplacent ">
            <a:extLst xmlns:a="http://schemas.openxmlformats.org/drawingml/2006/main">
              <a:ext uri="{FF2B5EF4-FFF2-40B4-BE49-F238E27FC236}">
                <a16:creationId xmlns:a16="http://schemas.microsoft.com/office/drawing/2014/main" id="{CF4BB335-0DEB-4515-BDB3-D206193EB898}"/>
              </a:ext>
            </a:extLst>
          </p:cNvPr>
          <p:cNvSpPr>
            <a:spLocks xmlns:a="http://schemas.openxmlformats.org/drawingml/2006/main" noGrp="1"/>
          </p:cNvSpPr>
          <p:nvPr/>
        </p:nvSpPr>
        <p:spPr>
          <a:xfrm xmlns:a="http://schemas.openxmlformats.org/drawingml/2006/main">
            <a:off x="8143875" y="2000250"/>
            <a:ext cx="33147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Les nouvelles entrées se déplacent vers les grandes valeurs.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Cela peut changer la fréquence des décisions.</a:t>
            </a:r>
          </a:p>
          <a:p xmlns:a="http://schemas.openxmlformats.org/drawingml/2006/main">
            <a:r>
              <a:t/>
            </a:r>
          </a:p>
          <a:p xmlns:a="http://schemas.openxmlformats.org/drawingml/2006/main">
            <a:pPr>
              <a:defRPr sz="1875" b="0">
                <a:solidFill>
                  <a:srgbClr val="12194C"/>
                </a:solidFill>
                <a:latin typeface="DM Sans"/>
                <a:ea typeface="DM Sans"/>
                <a:cs typeface="DM Sans"/>
              </a:defRPr>
            </a:pPr>
            <a:r>
              <a:rPr sz="1875" b="0">
                <a:solidFill>
                  <a:srgbClr val="12194C"/>
                </a:solidFill>
                <a:latin typeface="DM Sans"/>
                <a:ea typeface="DM Sans"/>
                <a:cs typeface="DM Sans"/>
              </a:rPr>
              <a:t>Les labels restent nécessaires pour mesurer certaines pertes de qualité.</a:t>
            </a:r>
          </a:p>
        </p:txBody>
      </p:sp>
      <p:sp>
        <p:nvSpPr>
          <p:cNvPr id="161" name="course-Distributions construites : un chan">
            <a:extLst xmlns:a="http://schemas.openxmlformats.org/drawingml/2006/main">
              <a:ext uri="{FF2B5EF4-FFF2-40B4-BE49-F238E27FC236}">
                <a16:creationId xmlns:a16="http://schemas.microsoft.com/office/drawing/2014/main" id="{202BF534-D4CD-4C80-A0F7-70CC0F75DD7B}"/>
              </a:ext>
            </a:extLst>
          </p:cNvPr>
          <p:cNvSpPr>
            <a:spLocks xmlns:a="http://schemas.openxmlformats.org/drawingml/2006/main" noGrp="1"/>
          </p:cNvSpPr>
          <p:nvPr/>
        </p:nvSpPr>
        <p:spPr>
          <a:xfrm xmlns:a="http://schemas.openxmlformats.org/drawingml/2006/main">
            <a:off x="762000" y="5438775"/>
            <a:ext cx="1062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55B70"/>
                </a:solidFill>
                <a:latin typeface="DM Sans"/>
                <a:ea typeface="DM Sans"/>
                <a:cs typeface="DM Sans"/>
              </a:defRPr>
            </a:pPr>
            <a:r>
              <a:rPr sz="1125" b="0">
                <a:solidFill>
                  <a:srgbClr val="555B70"/>
                </a:solidFill>
                <a:latin typeface="DM Sans"/>
                <a:ea typeface="DM Sans"/>
                <a:cs typeface="DM Sans"/>
              </a:rPr>
              <a:t>Distributions construites : un changement de P(X) ne prouve pas une baisse de performance.</a:t>
            </a:r>
          </a:p>
        </p:txBody>
      </p:sp>
      <p:sp>
        <p:nvSpPr>
          <p:cNvPr id="162" name="course-Sources : R30 · liens et détails da">
            <a:extLst xmlns:a="http://schemas.openxmlformats.org/drawingml/2006/main">
              <a:ext uri="{FF2B5EF4-FFF2-40B4-BE49-F238E27FC236}">
                <a16:creationId xmlns:a16="http://schemas.microsoft.com/office/drawing/2014/main" id="{46740213-45B7-46E4-81CE-8AE1EF722092}"/>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R30 · liens et détails dans les notes</a:t>
            </a:r>
          </a:p>
        </p:txBody>
      </p:sp>
    </p:spTree>
    <p:extLst>
      <p:ext uri="{BB962C8B-B14F-4D97-AF65-F5344CB8AC3E}">
        <p14:creationId xmlns:p14="http://schemas.microsoft.com/office/powerpoint/2010/main" val="436220805"/>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114</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2a33ef1befc405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597809d01be4e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a model card rend les limites visi">
            <a:extLst xmlns:a="http://schemas.openxmlformats.org/drawingml/2006/main">
              <a:ext uri="{FF2B5EF4-FFF2-40B4-BE49-F238E27FC236}">
                <a16:creationId xmlns:a16="http://schemas.microsoft.com/office/drawing/2014/main" id="{4955AB4F-7598-4025-BB0F-0A05555CD7D6}"/>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La model card rend les limites visibles</a:t>
            </a:r>
          </a:p>
        </p:txBody>
      </p:sp>
      <p:sp>
        <p:nvSpPr>
          <p:cNvPr id="159" name="course-Usage prévu, utilisateurs et cas ex">
            <a:extLst xmlns:a="http://schemas.openxmlformats.org/drawingml/2006/main">
              <a:ext uri="{FF2B5EF4-FFF2-40B4-BE49-F238E27FC236}">
                <a16:creationId xmlns:a16="http://schemas.microsoft.com/office/drawing/2014/main" id="{5577A6DD-3AB5-4405-83D4-F031DF3192BC}"/>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Usage prévu, utilisateurs et cas exclus.</a:t>
            </a:r>
          </a:p>
        </p:txBody>
      </p:sp>
      <p:sp>
        <p:nvSpPr>
          <p:cNvPr id="160" name="course-Données, protocole, métriques globa">
            <a:extLst xmlns:a="http://schemas.openxmlformats.org/drawingml/2006/main">
              <a:ext uri="{FF2B5EF4-FFF2-40B4-BE49-F238E27FC236}">
                <a16:creationId xmlns:a16="http://schemas.microsoft.com/office/drawing/2014/main" id="{FC89CA0B-E2D1-44D3-B275-06E150B4832A}"/>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Données, protocole, métriques globales et par segment.</a:t>
            </a:r>
          </a:p>
        </p:txBody>
      </p:sp>
      <p:sp>
        <p:nvSpPr>
          <p:cNvPr id="161" name="course-Hypothèses, limites, responsable et">
            <a:extLst xmlns:a="http://schemas.openxmlformats.org/drawingml/2006/main">
              <a:ext uri="{FF2B5EF4-FFF2-40B4-BE49-F238E27FC236}">
                <a16:creationId xmlns:a16="http://schemas.microsoft.com/office/drawing/2014/main" id="{15D79C4C-E854-4C82-B25E-383DD7B62620}"/>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Hypothèses, limites, responsable et conditions de réévaluation.</a:t>
            </a:r>
          </a:p>
        </p:txBody>
      </p:sp>
      <p:sp>
        <p:nvSpPr>
          <p:cNvPr id="162" name="course-Écrire ce que le modèle ne permet p">
            <a:extLst xmlns:a="http://schemas.openxmlformats.org/drawingml/2006/main">
              <a:ext uri="{FF2B5EF4-FFF2-40B4-BE49-F238E27FC236}">
                <a16:creationId xmlns:a16="http://schemas.microsoft.com/office/drawing/2014/main" id="{DD369F29-C708-45DF-BCD1-2F09651DB70B}"/>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Écrire ce que le modèle ne permet pas de conclure</a:t>
            </a:r>
          </a:p>
        </p:txBody>
      </p:sp>
      <p:sp>
        <p:nvSpPr>
          <p:cNvPr id="163" name="course-Sources : R30, R32 · liens et détai">
            <a:extLst xmlns:a="http://schemas.openxmlformats.org/drawingml/2006/main">
              <a:ext uri="{FF2B5EF4-FFF2-40B4-BE49-F238E27FC236}">
                <a16:creationId xmlns:a16="http://schemas.microsoft.com/office/drawing/2014/main" id="{6177DC61-95BA-451E-AE60-4A7363179AF3}"/>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R30, R32 · liens et détails dans les notes</a:t>
            </a:r>
          </a:p>
        </p:txBody>
      </p:sp>
    </p:spTree>
    <p:extLst>
      <p:ext uri="{BB962C8B-B14F-4D97-AF65-F5344CB8AC3E}">
        <p14:creationId xmlns:p14="http://schemas.microsoft.com/office/powerpoint/2010/main" val="436220805"/>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d1bf053ff404a1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b6e2fb22ab444b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P06 : expliquer et quantifier">
            <a:extLst xmlns:a="http://schemas.openxmlformats.org/drawingml/2006/main">
              <a:ext uri="{FF2B5EF4-FFF2-40B4-BE49-F238E27FC236}">
                <a16:creationId xmlns:a16="http://schemas.microsoft.com/office/drawing/2014/main" id="{0DE5AA5E-CEEC-4E28-9F29-2C4F6FAB6A5D}"/>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TP06 : expliquer et quantifier</a:t>
            </a:r>
          </a:p>
        </p:txBody>
      </p:sp>
      <p:sp>
        <p:nvSpPr>
          <p:cNvPr id="159" name="course-Mesurer une importance par permutat">
            <a:extLst xmlns:a="http://schemas.openxmlformats.org/drawingml/2006/main">
              <a:ext uri="{FF2B5EF4-FFF2-40B4-BE49-F238E27FC236}">
                <a16:creationId xmlns:a16="http://schemas.microsoft.com/office/drawing/2014/main" id="{B40A24DF-DCC4-4600-ABE9-DE221DAF1EC0}"/>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Mesurer une importance par permutation et discuter les corrélations.</a:t>
            </a:r>
          </a:p>
        </p:txBody>
      </p:sp>
      <p:sp>
        <p:nvSpPr>
          <p:cNvPr id="160" name="course-Comparer PDP et ICE sur une relatio">
            <a:extLst xmlns:a="http://schemas.openxmlformats.org/drawingml/2006/main">
              <a:ext uri="{FF2B5EF4-FFF2-40B4-BE49-F238E27FC236}">
                <a16:creationId xmlns:a16="http://schemas.microsoft.com/office/drawing/2014/main" id="{1ED69E64-749D-446F-989F-E7F5E1D7D0FB}"/>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PDP et ICE sur une relation synthétique connue.</a:t>
            </a:r>
          </a:p>
        </p:txBody>
      </p:sp>
      <p:sp>
        <p:nvSpPr>
          <p:cNvPr id="161" name="course-Construire un intervalle conforme e">
            <a:extLst xmlns:a="http://schemas.openxmlformats.org/drawingml/2006/main">
              <a:ext uri="{FF2B5EF4-FFF2-40B4-BE49-F238E27FC236}">
                <a16:creationId xmlns:a16="http://schemas.microsoft.com/office/drawing/2014/main" id="{14D5B6EB-3683-470C-9718-EEA8302755DF}"/>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Construire un intervalle conforme et vérifier sa couverture observée.</a:t>
            </a:r>
          </a:p>
        </p:txBody>
      </p:sp>
      <p:sp>
        <p:nvSpPr>
          <p:cNvPr id="162" name="course-90 minutes · notebooks/etudiants/06">
            <a:extLst xmlns:a="http://schemas.openxmlformats.org/drawingml/2006/main">
              <a:ext uri="{FF2B5EF4-FFF2-40B4-BE49-F238E27FC236}">
                <a16:creationId xmlns:a16="http://schemas.microsoft.com/office/drawing/2014/main" id="{79B8DE3B-4632-4529-95F3-669AF8DF0AAA}"/>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90 minutes · notebooks/etudiants/06_interpretation.ipynb</a:t>
            </a:r>
          </a:p>
        </p:txBody>
      </p:sp>
      <p:sp>
        <p:nvSpPr>
          <p:cNvPr id="163" name="course-Sources : R25, R26, R29 · liens et ">
            <a:extLst xmlns:a="http://schemas.openxmlformats.org/drawingml/2006/main">
              <a:ext uri="{FF2B5EF4-FFF2-40B4-BE49-F238E27FC236}">
                <a16:creationId xmlns:a16="http://schemas.microsoft.com/office/drawing/2014/main" id="{BE8BA0B7-04CF-4CD9-B2B4-BBD48F77E88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R25, R26, R29 · liens et détails dans les notes</a:t>
            </a:r>
          </a:p>
        </p:txBody>
      </p:sp>
    </p:spTree>
    <p:extLst>
      <p:ext uri="{BB962C8B-B14F-4D97-AF65-F5344CB8AC3E}">
        <p14:creationId xmlns:p14="http://schemas.microsoft.com/office/powerpoint/2010/main" val="436220805"/>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116</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d00ef57255c4f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6a432cf21314c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Veille au 19 septembre 2026">
            <a:extLst xmlns:a="http://schemas.openxmlformats.org/drawingml/2006/main">
              <a:ext uri="{FF2B5EF4-FFF2-40B4-BE49-F238E27FC236}">
                <a16:creationId xmlns:a16="http://schemas.microsoft.com/office/drawing/2014/main" id="{62BE73F0-4D36-4CF8-BE24-54FE622AD682}"/>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Veille au 19 septembre 2026</a:t>
            </a:r>
          </a:p>
        </p:txBody>
      </p:sp>
      <p:sp>
        <p:nvSpPr>
          <p:cNvPr id="159" name="course-scikit-learn 1.9.1 : environnement ">
            <a:extLst xmlns:a="http://schemas.openxmlformats.org/drawingml/2006/main">
              <a:ext uri="{FF2B5EF4-FFF2-40B4-BE49-F238E27FC236}">
                <a16:creationId xmlns:a16="http://schemas.microsoft.com/office/drawing/2014/main" id="{420D6756-6882-47A4-B16A-EF86EB7B4424}"/>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scikit-learn 1.9.1 : environnement utilisé pour les TP.</a:t>
            </a:r>
          </a:p>
        </p:txBody>
      </p:sp>
      <p:sp>
        <p:nvSpPr>
          <p:cNvPr id="160" name="course-TabArena : comparer les méthodes av">
            <a:extLst xmlns:a="http://schemas.openxmlformats.org/drawingml/2006/main">
              <a:ext uri="{FF2B5EF4-FFF2-40B4-BE49-F238E27FC236}">
                <a16:creationId xmlns:a16="http://schemas.microsoft.com/office/drawing/2014/main" id="{6B99249C-6E4E-4703-8A09-464C95A2D658}"/>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TabArena : comparer les méthodes avec leurs budgets et protocoles.</a:t>
            </a:r>
          </a:p>
        </p:txBody>
      </p:sp>
      <p:sp>
        <p:nvSpPr>
          <p:cNvPr id="161" name="course-Modèles tabulaires de fondation : u">
            <a:extLst xmlns:a="http://schemas.openxmlformats.org/drawingml/2006/main">
              <a:ext uri="{FF2B5EF4-FFF2-40B4-BE49-F238E27FC236}">
                <a16:creationId xmlns:a16="http://schemas.microsoft.com/office/drawing/2014/main" id="{D142DA92-12CE-4BCA-831C-31C3953B8326}"/>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Modèles tabulaires de fondation : un axe de recherche à évaluer.</a:t>
            </a:r>
          </a:p>
        </p:txBody>
      </p:sp>
      <p:sp>
        <p:nvSpPr>
          <p:cNvPr id="162" name="course-La nouveauté ne dispense pas d'une ">
            <a:extLst xmlns:a="http://schemas.openxmlformats.org/drawingml/2006/main">
              <a:ext uri="{FF2B5EF4-FFF2-40B4-BE49-F238E27FC236}">
                <a16:creationId xmlns:a16="http://schemas.microsoft.com/office/drawing/2014/main" id="{55142680-7120-40D4-806B-DCA38C4894BB}"/>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La nouveauté ne dispense pas d'une baseline ni d'un test adapté</a:t>
            </a:r>
          </a:p>
        </p:txBody>
      </p:sp>
      <p:sp>
        <p:nvSpPr>
          <p:cNvPr id="163" name="course-Sources : R34, R36 · liens et détai">
            <a:extLst xmlns:a="http://schemas.openxmlformats.org/drawingml/2006/main">
              <a:ext uri="{FF2B5EF4-FFF2-40B4-BE49-F238E27FC236}">
                <a16:creationId xmlns:a16="http://schemas.microsoft.com/office/drawing/2014/main" id="{80F46137-61DF-4A0F-97C1-20BFD9FDAEE5}"/>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R34, R36 · liens et détails dans les notes</a:t>
            </a:r>
          </a:p>
        </p:txBody>
      </p:sp>
    </p:spTree>
    <p:extLst>
      <p:ext uri="{BB962C8B-B14F-4D97-AF65-F5344CB8AC3E}">
        <p14:creationId xmlns:p14="http://schemas.microsoft.com/office/powerpoint/2010/main" val="436220805"/>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8ab0d5b3e46415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1824fb6862747b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abPFN : publication et annonce réc">
            <a:extLst xmlns:a="http://schemas.openxmlformats.org/drawingml/2006/main">
              <a:ext uri="{FF2B5EF4-FFF2-40B4-BE49-F238E27FC236}">
                <a16:creationId xmlns:a16="http://schemas.microsoft.com/office/drawing/2014/main" id="{32386D4E-3DC7-49A8-8570-F6806477412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TabPFN : publication et annonce récente</a:t>
            </a:r>
          </a:p>
        </p:txBody>
      </p:sp>
      <p:sp>
        <p:nvSpPr>
          <p:cNvPr id="159" name="course-2025 : article Nature sur TabPFN v2">
            <a:extLst xmlns:a="http://schemas.openxmlformats.org/drawingml/2006/main">
              <a:ext uri="{FF2B5EF4-FFF2-40B4-BE49-F238E27FC236}">
                <a16:creationId xmlns:a16="http://schemas.microsoft.com/office/drawing/2014/main" id="{7A21A49A-8018-4CF1-A8FE-E88418298961}"/>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2025 : article Nature sur TabPFN v2 et les petits jeux tabulaires.</a:t>
            </a:r>
          </a:p>
        </p:txBody>
      </p:sp>
      <p:sp>
        <p:nvSpPr>
          <p:cNvPr id="160" name="course-15 septembre 2026 : rapport techniq">
            <a:extLst xmlns:a="http://schemas.openxmlformats.org/drawingml/2006/main">
              <a:ext uri="{FF2B5EF4-FFF2-40B4-BE49-F238E27FC236}">
                <a16:creationId xmlns:a16="http://schemas.microsoft.com/office/drawing/2014/main" id="{8A53D1DF-6414-441F-A7C0-EF8F280C12F9}"/>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15 septembre 2026 : rapport technique TabPFN-3.5 publié par Prior Labs.</a:t>
            </a:r>
          </a:p>
        </p:txBody>
      </p:sp>
      <p:sp>
        <p:nvSpPr>
          <p:cNvPr id="161" name="course-Comparer qualité, coût, conditions ">
            <a:extLst xmlns:a="http://schemas.openxmlformats.org/drawingml/2006/main">
              <a:ext uri="{FF2B5EF4-FFF2-40B4-BE49-F238E27FC236}">
                <a16:creationId xmlns:a16="http://schemas.microsoft.com/office/drawing/2014/main" id="{D19EC612-A8D3-4087-85A4-55453D5F2F87}"/>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qualité, coût, conditions d'accès et proximité avec nos données.</a:t>
            </a:r>
          </a:p>
        </p:txBody>
      </p:sp>
      <p:sp>
        <p:nvSpPr>
          <p:cNvPr id="162" name="course-Une annonce de l'éditeur et une val">
            <a:extLst xmlns:a="http://schemas.openxmlformats.org/drawingml/2006/main">
              <a:ext uri="{FF2B5EF4-FFF2-40B4-BE49-F238E27FC236}">
                <a16:creationId xmlns:a16="http://schemas.microsoft.com/office/drawing/2014/main" id="{CA49B0DE-0D19-4231-A6E4-B80103A7F027}"/>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annonce de l'éditeur et une validation indépendante n'ont pas le même statut</a:t>
            </a:r>
          </a:p>
        </p:txBody>
      </p:sp>
      <p:sp>
        <p:nvSpPr>
          <p:cNvPr id="163" name="course-Sources : R35, R37 · liens et détai">
            <a:extLst xmlns:a="http://schemas.openxmlformats.org/drawingml/2006/main">
              <a:ext uri="{FF2B5EF4-FFF2-40B4-BE49-F238E27FC236}">
                <a16:creationId xmlns:a16="http://schemas.microsoft.com/office/drawing/2014/main" id="{D6F4E704-9B31-4C34-BCCB-87FC6E67E3B4}"/>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R35, R37 · liens et détails dans les notes</a:t>
            </a:r>
          </a:p>
        </p:txBody>
      </p:sp>
    </p:spTree>
    <p:extLst>
      <p:ext uri="{BB962C8B-B14F-4D97-AF65-F5344CB8AC3E}">
        <p14:creationId xmlns:p14="http://schemas.microsoft.com/office/powerpoint/2010/main" val="436220805"/>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118</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de000eb8cf3403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9b00cf65c3249a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Lire un benchmark de façon critique">
            <a:extLst xmlns:a="http://schemas.openxmlformats.org/drawingml/2006/main">
              <a:ext uri="{FF2B5EF4-FFF2-40B4-BE49-F238E27FC236}">
                <a16:creationId xmlns:a16="http://schemas.microsoft.com/office/drawing/2014/main" id="{9C534959-C854-4805-A40C-93DCB2A750B0}"/>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Lire un benchmark de façon critique</a:t>
            </a:r>
          </a:p>
        </p:txBody>
      </p:sp>
      <p:sp>
        <p:nvSpPr>
          <p:cNvPr id="159" name="course-Quels jeux, tailles, types de varia">
            <a:extLst xmlns:a="http://schemas.openxmlformats.org/drawingml/2006/main">
              <a:ext uri="{FF2B5EF4-FFF2-40B4-BE49-F238E27FC236}">
                <a16:creationId xmlns:a16="http://schemas.microsoft.com/office/drawing/2014/main" id="{4F47425F-C245-42DF-8780-BB6DDE37EAC3}"/>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Quels jeux, tailles, types de variables et risques de contamination ?</a:t>
            </a:r>
          </a:p>
        </p:txBody>
      </p:sp>
      <p:sp>
        <p:nvSpPr>
          <p:cNvPr id="160" name="course-Quels budgets, hardware, tuning et ">
            <a:extLst xmlns:a="http://schemas.openxmlformats.org/drawingml/2006/main">
              <a:ext uri="{FF2B5EF4-FFF2-40B4-BE49-F238E27FC236}">
                <a16:creationId xmlns:a16="http://schemas.microsoft.com/office/drawing/2014/main" id="{212D6A4F-7953-42D5-B1CF-00239E092CFF}"/>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Quels budgets, hardware, tuning et ensembles par méthode ?</a:t>
            </a:r>
          </a:p>
        </p:txBody>
      </p:sp>
      <p:sp>
        <p:nvSpPr>
          <p:cNvPr id="161" name="course-Quelles distributions de résultats ">
            <a:extLst xmlns:a="http://schemas.openxmlformats.org/drawingml/2006/main">
              <a:ext uri="{FF2B5EF4-FFF2-40B4-BE49-F238E27FC236}">
                <a16:creationId xmlns:a16="http://schemas.microsoft.com/office/drawing/2014/main" id="{09676F82-1607-468A-BCD8-229D6E2B6B3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Quelles distributions de résultats et quels cas d'échec ?</a:t>
            </a:r>
          </a:p>
        </p:txBody>
      </p:sp>
      <p:sp>
        <p:nvSpPr>
          <p:cNvPr id="162" name="course-Une moyenne ou un rang ne remplace ">
            <a:extLst xmlns:a="http://schemas.openxmlformats.org/drawingml/2006/main">
              <a:ext uri="{FF2B5EF4-FFF2-40B4-BE49-F238E27FC236}">
                <a16:creationId xmlns:a16="http://schemas.microsoft.com/office/drawing/2014/main" id="{EAD620A4-FCF9-4376-ACBD-6ECD76C31708}"/>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Une moyenne ou un rang ne remplace pas une expérience sur notre problème</a:t>
            </a:r>
          </a:p>
        </p:txBody>
      </p:sp>
      <p:sp>
        <p:nvSpPr>
          <p:cNvPr id="163" name="course-Sources : R36, R37 · liens et détai">
            <a:extLst xmlns:a="http://schemas.openxmlformats.org/drawingml/2006/main">
              <a:ext uri="{FF2B5EF4-FFF2-40B4-BE49-F238E27FC236}">
                <a16:creationId xmlns:a16="http://schemas.microsoft.com/office/drawing/2014/main" id="{30E618A5-A7F9-4D09-A68F-8F6DBF455AC9}"/>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R36, R37 · liens et détails dans les notes</a:t>
            </a:r>
          </a:p>
        </p:txBody>
      </p:sp>
    </p:spTree>
    <p:extLst>
      <p:ext uri="{BB962C8B-B14F-4D97-AF65-F5344CB8AC3E}">
        <p14:creationId xmlns:p14="http://schemas.microsoft.com/office/powerpoint/2010/main" val="436220805"/>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119</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f0b9b6a7caa43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a3761debeb843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Projet final : prioriser une campag">
            <a:extLst xmlns:a="http://schemas.openxmlformats.org/drawingml/2006/main">
              <a:ext uri="{FF2B5EF4-FFF2-40B4-BE49-F238E27FC236}">
                <a16:creationId xmlns:a16="http://schemas.microsoft.com/office/drawing/2014/main" id="{7445A80A-211F-46A9-A58D-73B8C4583E4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Projet final : prioriser une campagne</a:t>
            </a:r>
          </a:p>
        </p:txBody>
      </p:sp>
      <p:sp>
        <p:nvSpPr>
          <p:cNvPr id="159" name="course-Reprendre les données UCI, la décis">
            <a:extLst xmlns:a="http://schemas.openxmlformats.org/drawingml/2006/main">
              <a:ext uri="{FF2B5EF4-FFF2-40B4-BE49-F238E27FC236}">
                <a16:creationId xmlns:a16="http://schemas.microsoft.com/office/drawing/2014/main" id="{2F529E42-7B93-4371-AB27-65F5D2778206}"/>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Reprendre les données UCI, la décision et les contraintes de disponibilité.</a:t>
            </a:r>
          </a:p>
        </p:txBody>
      </p:sp>
      <p:sp>
        <p:nvSpPr>
          <p:cNvPr id="160" name="course-Comparer une baseline et deux famil">
            <a:extLst xmlns:a="http://schemas.openxmlformats.org/drawingml/2006/main">
              <a:ext uri="{FF2B5EF4-FFF2-40B4-BE49-F238E27FC236}">
                <a16:creationId xmlns:a16="http://schemas.microsoft.com/office/drawing/2014/main" id="{56734C6C-3156-4CBA-AEA9-796223C6B56C}"/>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Comparer une baseline et deux familles avec un budget explicite.</a:t>
            </a:r>
          </a:p>
        </p:txBody>
      </p:sp>
      <p:sp>
        <p:nvSpPr>
          <p:cNvPr id="161" name="course-Figer modèle et seuil, évaluer le t">
            <a:extLst xmlns:a="http://schemas.openxmlformats.org/drawingml/2006/main">
              <a:ext uri="{FF2B5EF4-FFF2-40B4-BE49-F238E27FC236}">
                <a16:creationId xmlns:a16="http://schemas.microsoft.com/office/drawing/2014/main" id="{22146447-77B1-4047-9887-1CBD84DD21D9}"/>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Figer modèle et seuil, évaluer le test puis défendre la recommandation.</a:t>
            </a:r>
          </a:p>
        </p:txBody>
      </p:sp>
      <p:sp>
        <p:nvSpPr>
          <p:cNvPr id="162" name="course-180 minutes · binôme · notebook, ma">
            <a:extLst xmlns:a="http://schemas.openxmlformats.org/drawingml/2006/main">
              <a:ext uri="{FF2B5EF4-FFF2-40B4-BE49-F238E27FC236}">
                <a16:creationId xmlns:a16="http://schemas.microsoft.com/office/drawing/2014/main" id="{E42544ED-03E0-486D-BC73-7563165B0ACD}"/>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180 minutes · binôme · notebook, manifeste, model card et restitution</a:t>
            </a:r>
          </a:p>
        </p:txBody>
      </p:sp>
      <p:sp>
        <p:nvSpPr>
          <p:cNvPr id="163" name="course-Sources : R32, R30 · liens et détai">
            <a:extLst xmlns:a="http://schemas.openxmlformats.org/drawingml/2006/main">
              <a:ext uri="{FF2B5EF4-FFF2-40B4-BE49-F238E27FC236}">
                <a16:creationId xmlns:a16="http://schemas.microsoft.com/office/drawing/2014/main" id="{CC95579F-A039-453E-89DC-1A599404FC4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R32, R30 · liens et détails dans les notes</a:t>
            </a:r>
          </a:p>
        </p:txBody>
      </p:sp>
    </p:spTree>
    <p:extLst>
      <p:ext uri="{BB962C8B-B14F-4D97-AF65-F5344CB8AC3E}">
        <p14:creationId xmlns:p14="http://schemas.microsoft.com/office/powerpoint/2010/main" val="436220805"/>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120</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19e0e28111704f5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9d3c0a1ae2bf408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Une évaluation sur des preuves">
            <a:extLst xmlns:a="http://schemas.openxmlformats.org/drawingml/2006/main">
              <a:ext uri="{FF2B5EF4-FFF2-40B4-BE49-F238E27FC236}">
                <a16:creationId xmlns:a16="http://schemas.microsoft.com/office/drawing/2014/main" id="{2E57ED11-264C-46A8-BEB8-62F682F66D03}"/>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Une évaluation sur des preuves</a:t>
            </a:r>
          </a:p>
        </p:txBody>
      </p:sp>
      <p:graphicFrame>
        <p:nvGraphicFramePr>
          <p:cNvPr id="173" name=""/>
          <p:cNvGraphicFramePr/>
          <p:nvPr/>
        </p:nvGraphicFramePr>
        <p:xfrm>
          <a:off xmlns:a="http://schemas.openxmlformats.org/drawingml/2006/main" x="762000" y="182880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435429">
                <a:tc>
                  <a:txBody>
                    <a:bodyPr lIns="114300" tIns="95250" rIns="114300" bIns="95250"/>
                    <a:lstStyle/>
                    <a:p>
                      <a:r>
                        <a:rPr sz="1500" b="1">
                          <a:solidFill>
                            <a:srgbClr val="FFFFFF"/>
                          </a:solidFill>
                          <a:latin typeface="DM Sans"/>
                          <a:ea typeface="DM Sans"/>
                          <a:cs typeface="DM Sans"/>
                        </a:rPr>
                        <a:t>Critère</a:t>
                      </a:r>
                    </a:p>
                  </a:txBody>
                  <a:tcPr marL="91440" marR="91440" marT="45720" marB="45720">
                    <a:solidFill>
                      <a:srgbClr val="303C8B"/>
                    </a:solidFill>
                  </a:tcPr>
                </a:tc>
                <a:tc>
                  <a:txBody>
                    <a:bodyPr lIns="114300" tIns="95250" rIns="114300" bIns="95250"/>
                    <a:lstStyle/>
                    <a:p>
                      <a:r>
                        <a:rPr sz="1500" b="1">
                          <a:solidFill>
                            <a:srgbClr val="FFFFFF"/>
                          </a:solidFill>
                          <a:latin typeface="DM Sans"/>
                          <a:ea typeface="DM Sans"/>
                          <a:cs typeface="DM Sans"/>
                        </a:rPr>
                        <a:t>Points / 20</a:t>
                      </a:r>
                    </a:p>
                  </a:txBody>
                  <a:tcPr marL="91440" marR="91440" marT="45720" marB="45720">
                    <a:solidFill>
                      <a:srgbClr val="303C8B"/>
                    </a:solidFill>
                  </a:tcPr>
                </a:tc>
                <a:tc>
                  <a:txBody>
                    <a:bodyPr lIns="114300" tIns="95250" rIns="114300" bIns="95250"/>
                    <a:lstStyle/>
                    <a:p>
                      <a:r>
                        <a:rPr sz="1500" b="1">
                          <a:solidFill>
                            <a:srgbClr val="FFFFFF"/>
                          </a:solidFill>
                          <a:latin typeface="DM Sans"/>
                          <a:ea typeface="DM Sans"/>
                          <a:cs typeface="DM Sans"/>
                        </a:rPr>
                        <a:t>Preuve</a:t>
                      </a:r>
                    </a:p>
                  </a:txBody>
                  <a:tcPr marL="91440" marR="91440" marT="45720" marB="45720">
                    <a:solidFill>
                      <a:srgbClr val="303C8B"/>
                    </a:solidFill>
                  </a:tcPr>
                </a:tc>
              </a:tr>
              <a:tr h="435429">
                <a:tc>
                  <a:txBody>
                    <a:bodyPr lIns="114300" tIns="95250" rIns="114300" bIns="95250"/>
                    <a:lstStyle/>
                    <a:p>
                      <a:r>
                        <a:rPr sz="1500" b="0">
                          <a:solidFill>
                            <a:srgbClr val="12194C"/>
                          </a:solidFill>
                          <a:latin typeface="DM Sans"/>
                          <a:ea typeface="DM Sans"/>
                          <a:cs typeface="DM Sans"/>
                        </a:rPr>
                        <a:t>Protocole sans fuite</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5</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Splits, prétraitement, test figé</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Comparaisons et optimisation</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4</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Baseline, budget, dispersion</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Classes rares et décision</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3</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AP, calibration, seuil</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Interprétation et limites</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3</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Explication critique et model card</a:t>
                      </a:r>
                    </a:p>
                  </a:txBody>
                  <a:tcPr marL="91440" marR="91440" marT="45720" marB="45720">
                    <a:solidFill>
                      <a:srgbClr val="FFFFFF"/>
                    </a:solidFill>
                  </a:tcPr>
                </a:tc>
              </a:tr>
              <a:tr h="435429">
                <a:tc>
                  <a:txBody>
                    <a:bodyPr lIns="114300" tIns="95250" rIns="114300" bIns="95250"/>
                    <a:lstStyle/>
                    <a:p>
                      <a:r>
                        <a:rPr sz="1500" b="0">
                          <a:solidFill>
                            <a:srgbClr val="12194C"/>
                          </a:solidFill>
                          <a:latin typeface="DM Sans"/>
                          <a:ea typeface="DM Sans"/>
                          <a:cs typeface="DM Sans"/>
                        </a:rPr>
                        <a:t>Reproductibilité</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3</a:t>
                      </a:r>
                    </a:p>
                  </a:txBody>
                  <a:tcPr marL="91440" marR="91440" marT="45720" marB="45720">
                    <a:solidFill>
                      <a:srgbClr val="F4F5F8"/>
                    </a:solidFill>
                  </a:tcPr>
                </a:tc>
                <a:tc>
                  <a:txBody>
                    <a:bodyPr lIns="114300" tIns="95250" rIns="114300" bIns="95250"/>
                    <a:lstStyle/>
                    <a:p>
                      <a:r>
                        <a:rPr sz="1500" b="0">
                          <a:solidFill>
                            <a:srgbClr val="12194C"/>
                          </a:solidFill>
                          <a:latin typeface="DM Sans"/>
                          <a:ea typeface="DM Sans"/>
                          <a:cs typeface="DM Sans"/>
                        </a:rPr>
                        <a:t>Exécution, versions, manifeste</a:t>
                      </a:r>
                    </a:p>
                  </a:txBody>
                  <a:tcPr marL="91440" marR="91440" marT="45720" marB="45720">
                    <a:solidFill>
                      <a:srgbClr val="F4F5F8"/>
                    </a:solidFill>
                  </a:tcPr>
                </a:tc>
              </a:tr>
              <a:tr h="435429">
                <a:tc>
                  <a:txBody>
                    <a:bodyPr lIns="114300" tIns="95250" rIns="114300" bIns="95250"/>
                    <a:lstStyle/>
                    <a:p>
                      <a:r>
                        <a:rPr sz="1500" b="0">
                          <a:solidFill>
                            <a:srgbClr val="12194C"/>
                          </a:solidFill>
                          <a:latin typeface="DM Sans"/>
                          <a:ea typeface="DM Sans"/>
                          <a:cs typeface="DM Sans"/>
                        </a:rPr>
                        <a:t>Restitution</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2</a:t>
                      </a:r>
                    </a:p>
                  </a:txBody>
                  <a:tcPr marL="91440" marR="91440" marT="45720" marB="45720">
                    <a:solidFill>
                      <a:srgbClr val="FFFFFF"/>
                    </a:solidFill>
                  </a:tcPr>
                </a:tc>
                <a:tc>
                  <a:txBody>
                    <a:bodyPr lIns="114300" tIns="95250" rIns="114300" bIns="95250"/>
                    <a:lstStyle/>
                    <a:p>
                      <a:r>
                        <a:rPr sz="1500" b="0">
                          <a:solidFill>
                            <a:srgbClr val="12194C"/>
                          </a:solidFill>
                          <a:latin typeface="DM Sans"/>
                          <a:ea typeface="DM Sans"/>
                          <a:cs typeface="DM Sans"/>
                        </a:rPr>
                        <a:t>Conclusion argumentée</a:t>
                      </a:r>
                    </a:p>
                  </a:txBody>
                  <a:tcPr marL="91440" marR="91440" marT="45720" marB="45720">
                    <a:solidFill>
                      <a:srgbClr val="FFFFFF"/>
                    </a:solidFill>
                  </a:tcPr>
                </a:tc>
              </a:tr>
            </a:tbl>
          </a:graphicData>
        </a:graphic>
      </p:graphicFrame>
      <p:sp>
        <p:nvSpPr>
          <p:cNvPr id="160" name="course-">
            <a:extLst xmlns:a="http://schemas.openxmlformats.org/drawingml/2006/main">
              <a:ext uri="{FF2B5EF4-FFF2-40B4-BE49-F238E27FC236}">
                <a16:creationId xmlns:a16="http://schemas.microsoft.com/office/drawing/2014/main" id="{1BFF9E37-1557-46AE-8161-1A57D99E92D8}"/>
              </a:ext>
            </a:extLst>
          </p:cNvPr>
          <p:cNvSpPr>
            <a:spLocks xmlns:a="http://schemas.openxmlformats.org/drawingml/2006/main" noGrp="1"/>
          </p:cNvSpPr>
          <p:nvPr/>
        </p:nvSpPr>
        <p:spPr>
          <a:xfrm xmlns:a="http://schemas.openxmlformats.org/drawingml/2006/main">
            <a:off x="762000" y="5143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1" name="course-Exemple ou activité originale du co">
            <a:extLst xmlns:a="http://schemas.openxmlformats.org/drawingml/2006/main">
              <a:ext uri="{FF2B5EF4-FFF2-40B4-BE49-F238E27FC236}">
                <a16:creationId xmlns:a16="http://schemas.microsoft.com/office/drawing/2014/main" id="{22AF72B3-1D93-49E7-B035-EE6756EBAD6F}"/>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121</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7e48a95928741a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2354d8d675d4c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Soutenance : cinq minutes pour déci">
            <a:extLst xmlns:a="http://schemas.openxmlformats.org/drawingml/2006/main">
              <a:ext uri="{FF2B5EF4-FFF2-40B4-BE49-F238E27FC236}">
                <a16:creationId xmlns:a16="http://schemas.microsoft.com/office/drawing/2014/main" id="{DA58BD1C-DB97-467F-BF29-368E68A67C91}"/>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Soutenance : cinq minutes pour décider</a:t>
            </a:r>
          </a:p>
        </p:txBody>
      </p:sp>
      <p:sp>
        <p:nvSpPr>
          <p:cNvPr id="159" name="course-Quelle décision et quelle populatio">
            <a:extLst xmlns:a="http://schemas.openxmlformats.org/drawingml/2006/main">
              <a:ext uri="{FF2B5EF4-FFF2-40B4-BE49-F238E27FC236}">
                <a16:creationId xmlns:a16="http://schemas.microsoft.com/office/drawing/2014/main" id="{5163ED2C-3BF7-4520-A48E-7EB6DD748A8F}"/>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décision et quelle population avez-vous définies ?</a:t>
            </a:r>
          </a:p>
        </p:txBody>
      </p:sp>
      <p:sp>
        <p:nvSpPr>
          <p:cNvPr id="160" name="course-Quelle preuve justifie votre choix ">
            <a:extLst xmlns:a="http://schemas.openxmlformats.org/drawingml/2006/main">
              <a:ext uri="{FF2B5EF4-FFF2-40B4-BE49-F238E27FC236}">
                <a16:creationId xmlns:a16="http://schemas.microsoft.com/office/drawing/2014/main" id="{85F1AF11-6D05-44A9-924B-93EC1A1E8EA2}"/>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preuve justifie votre choix de modèle et de seuil ?</a:t>
            </a:r>
          </a:p>
        </p:txBody>
      </p:sp>
      <p:sp>
        <p:nvSpPr>
          <p:cNvPr id="161" name="course-Quelle limite vous empêche encore d">
            <a:extLst xmlns:a="http://schemas.openxmlformats.org/drawingml/2006/main">
              <a:ext uri="{FF2B5EF4-FFF2-40B4-BE49-F238E27FC236}">
                <a16:creationId xmlns:a16="http://schemas.microsoft.com/office/drawing/2014/main" id="{2FC49FE8-2ED1-4646-89D9-3AF35BAF179B}"/>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Quelle limite vous empêche encore de recommander un usage réel ?</a:t>
            </a:r>
          </a:p>
        </p:txBody>
      </p:sp>
      <p:sp>
        <p:nvSpPr>
          <p:cNvPr id="162" name="course-Répondre avec un résultat, son prot">
            <a:extLst xmlns:a="http://schemas.openxmlformats.org/drawingml/2006/main">
              <a:ext uri="{FF2B5EF4-FFF2-40B4-BE49-F238E27FC236}">
                <a16:creationId xmlns:a16="http://schemas.microsoft.com/office/drawing/2014/main" id="{778D2C88-D6E0-47E1-8FFA-AE93BDA3EA33}"/>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Répondre avec un résultat, son protocole et une limite concrète</a:t>
            </a:r>
          </a:p>
        </p:txBody>
      </p:sp>
      <p:sp>
        <p:nvSpPr>
          <p:cNvPr id="163" name="course-Exemple ou activité originale du co">
            <a:extLst xmlns:a="http://schemas.openxmlformats.org/drawingml/2006/main">
              <a:ext uri="{FF2B5EF4-FFF2-40B4-BE49-F238E27FC236}">
                <a16:creationId xmlns:a16="http://schemas.microsoft.com/office/drawing/2014/main" id="{2DFA3715-68E2-4482-A64C-1A800EE955EA}"/>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122</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028db6f205244a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b9107ffe7b4bf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Quiz final : raisonner sur un cas n">
            <a:extLst xmlns:a="http://schemas.openxmlformats.org/drawingml/2006/main">
              <a:ext uri="{FF2B5EF4-FFF2-40B4-BE49-F238E27FC236}">
                <a16:creationId xmlns:a16="http://schemas.microsoft.com/office/drawing/2014/main" id="{983C5820-8D45-4042-B5CC-382DCFA516A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Quiz final : raisonner sur un cas nouveau</a:t>
            </a:r>
          </a:p>
        </p:txBody>
      </p:sp>
      <p:sp>
        <p:nvSpPr>
          <p:cNvPr id="159" name="course-Un score augmente après ajout d'une">
            <a:extLst xmlns:a="http://schemas.openxmlformats.org/drawingml/2006/main">
              <a:ext uri="{FF2B5EF4-FFF2-40B4-BE49-F238E27FC236}">
                <a16:creationId xmlns:a16="http://schemas.microsoft.com/office/drawing/2014/main" id="{AE5E08CA-39BE-4C50-B02D-F9194DECFE4F}"/>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score augmente après ajout d'une variable connue après l'événement.</a:t>
            </a:r>
          </a:p>
        </p:txBody>
      </p:sp>
      <p:sp>
        <p:nvSpPr>
          <p:cNvPr id="160" name="course-Une méthode de clustering exclut la">
            <a:extLst xmlns:a="http://schemas.openxmlformats.org/drawingml/2006/main">
              <a:ext uri="{FF2B5EF4-FFF2-40B4-BE49-F238E27FC236}">
                <a16:creationId xmlns:a16="http://schemas.microsoft.com/office/drawing/2014/main" id="{8CB7D930-FE99-4F90-AD50-C343D24754C4}"/>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méthode de clustering exclut la majorité des points comme bruit.</a:t>
            </a:r>
          </a:p>
        </p:txBody>
      </p:sp>
      <p:sp>
        <p:nvSpPr>
          <p:cNvPr id="161" name="course-Un intervalle conforme perd sa couv">
            <a:extLst xmlns:a="http://schemas.openxmlformats.org/drawingml/2006/main">
              <a:ext uri="{FF2B5EF4-FFF2-40B4-BE49-F238E27FC236}">
                <a16:creationId xmlns:a16="http://schemas.microsoft.com/office/drawing/2014/main" id="{1958224E-314A-41C3-BA36-B57B9A0E6D42}"/>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intervalle conforme perd sa couverture après un changement de population.</a:t>
            </a:r>
          </a:p>
        </p:txBody>
      </p:sp>
      <p:sp>
        <p:nvSpPr>
          <p:cNvPr id="162" name="course-Identifier l'hypothèse rompue, prop">
            <a:extLst xmlns:a="http://schemas.openxmlformats.org/drawingml/2006/main">
              <a:ext uri="{FF2B5EF4-FFF2-40B4-BE49-F238E27FC236}">
                <a16:creationId xmlns:a16="http://schemas.microsoft.com/office/drawing/2014/main" id="{DE255914-A6F7-4DA1-BD99-B506C47D6F81}"/>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Identifier l'hypothèse rompue, proposer une vérification et une correction</a:t>
            </a:r>
          </a:p>
        </p:txBody>
      </p:sp>
      <p:sp>
        <p:nvSpPr>
          <p:cNvPr id="163" name="course-Exemple ou activité originale du co">
            <a:extLst xmlns:a="http://schemas.openxmlformats.org/drawingml/2006/main">
              <a:ext uri="{FF2B5EF4-FFF2-40B4-BE49-F238E27FC236}">
                <a16:creationId xmlns:a16="http://schemas.microsoft.com/office/drawing/2014/main" id="{C1B4EC88-20A5-4FD3-894D-7E2D095D7120}"/>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123</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c9bdcb8a0e643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d706c3479944b3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Ressources : apprendre et pratiquer">
            <a:extLst xmlns:a="http://schemas.openxmlformats.org/drawingml/2006/main">
              <a:ext uri="{FF2B5EF4-FFF2-40B4-BE49-F238E27FC236}">
                <a16:creationId xmlns:a16="http://schemas.microsoft.com/office/drawing/2014/main" id="{B62230F4-E291-4520-97D7-0AA9CB9672DC}"/>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Ressources : apprendre et pratiquer</a:t>
            </a:r>
          </a:p>
        </p:txBody>
      </p:sp>
      <p:sp>
        <p:nvSpPr>
          <p:cNvPr id="159" name="course-R01 : livre gratuit ISLP, chapitres">
            <a:extLst xmlns:a="http://schemas.openxmlformats.org/drawingml/2006/main">
              <a:ext uri="{FF2B5EF4-FFF2-40B4-BE49-F238E27FC236}">
                <a16:creationId xmlns:a16="http://schemas.microsoft.com/office/drawing/2014/main" id="{DF1AE599-1EE7-431A-AEDF-F49FBCB90898}"/>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R01 : livre gratuit ISLP, chapitres sur validation, ensembles et non supervisé.</a:t>
            </a:r>
          </a:p>
        </p:txBody>
      </p:sp>
      <p:sp>
        <p:nvSpPr>
          <p:cNvPr id="160" name="course-R33 : MOOC Inria avec exercices, no">
            <a:extLst xmlns:a="http://schemas.openxmlformats.org/drawingml/2006/main">
              <a:ext uri="{FF2B5EF4-FFF2-40B4-BE49-F238E27FC236}">
                <a16:creationId xmlns:a16="http://schemas.microsoft.com/office/drawing/2014/main" id="{12C06A77-F3B1-4AC2-B2F3-AD9A1E608F4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R33 : MOOC Inria avec exercices, notebooks et vidéos.</a:t>
            </a:r>
          </a:p>
        </p:txBody>
      </p:sp>
      <p:sp>
        <p:nvSpPr>
          <p:cNvPr id="161" name="course-R02–R26 : documentation officielle,">
            <a:extLst xmlns:a="http://schemas.openxmlformats.org/drawingml/2006/main">
              <a:ext uri="{FF2B5EF4-FFF2-40B4-BE49-F238E27FC236}">
                <a16:creationId xmlns:a16="http://schemas.microsoft.com/office/drawing/2014/main" id="{3E239025-2346-4008-9F79-F802E79FDEA0}"/>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R02–R26 : documentation officielle, exemples et fonctions utilisées.</a:t>
            </a:r>
          </a:p>
        </p:txBody>
      </p:sp>
      <p:sp>
        <p:nvSpPr>
          <p:cNvPr id="162" name="course-Liens complets dans les notes et re">
            <a:extLst xmlns:a="http://schemas.openxmlformats.org/drawingml/2006/main">
              <a:ext uri="{FF2B5EF4-FFF2-40B4-BE49-F238E27FC236}">
                <a16:creationId xmlns:a16="http://schemas.microsoft.com/office/drawing/2014/main" id="{5430EC7F-8892-4D70-864F-F4E471C9878A}"/>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Liens complets dans les notes et resources/RESSOURCES.md</a:t>
            </a:r>
          </a:p>
        </p:txBody>
      </p:sp>
      <p:sp>
        <p:nvSpPr>
          <p:cNvPr id="163" name="course-Sources : R01, R33, R02 · liens et ">
            <a:extLst xmlns:a="http://schemas.openxmlformats.org/drawingml/2006/main">
              <a:ext uri="{FF2B5EF4-FFF2-40B4-BE49-F238E27FC236}">
                <a16:creationId xmlns:a16="http://schemas.microsoft.com/office/drawing/2014/main" id="{94B7843E-45C3-4266-9125-40E05FC383DB}"/>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R01, R33, R02 · liens et détails dans les notes</a:t>
            </a:r>
          </a:p>
        </p:txBody>
      </p:sp>
    </p:spTree>
    <p:extLst>
      <p:ext uri="{BB962C8B-B14F-4D97-AF65-F5344CB8AC3E}">
        <p14:creationId xmlns:p14="http://schemas.microsoft.com/office/powerpoint/2010/main" val="436220805"/>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124</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061001d8485a428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8f7e6fa6ee14d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Ressources : articles et veille">
            <a:extLst xmlns:a="http://schemas.openxmlformats.org/drawingml/2006/main">
              <a:ext uri="{FF2B5EF4-FFF2-40B4-BE49-F238E27FC236}">
                <a16:creationId xmlns:a16="http://schemas.microsoft.com/office/drawing/2014/main" id="{3F327289-B73B-4CB6-B400-10C41E6D6547}"/>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Ressources : articles et veille</a:t>
            </a:r>
          </a:p>
        </p:txBody>
      </p:sp>
      <p:sp>
        <p:nvSpPr>
          <p:cNvPr id="159" name="course-R15 : SMOTE ; R27 : SHAP ; R29 : pr">
            <a:extLst xmlns:a="http://schemas.openxmlformats.org/drawingml/2006/main">
              <a:ext uri="{FF2B5EF4-FFF2-40B4-BE49-F238E27FC236}">
                <a16:creationId xmlns:a16="http://schemas.microsoft.com/office/drawing/2014/main" id="{85667520-A45E-413E-BA6B-36F4264627C0}"/>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R15 : SMOTE ; R27 : SHAP ; R29 : prédiction conforme.</a:t>
            </a:r>
          </a:p>
        </p:txBody>
      </p:sp>
      <p:sp>
        <p:nvSpPr>
          <p:cNvPr id="160" name="course-R30 : model cards et documentation ">
            <a:extLst xmlns:a="http://schemas.openxmlformats.org/drawingml/2006/main">
              <a:ext uri="{FF2B5EF4-FFF2-40B4-BE49-F238E27FC236}">
                <a16:creationId xmlns:a16="http://schemas.microsoft.com/office/drawing/2014/main" id="{65E7FEC8-BD03-4851-9EA1-E9515064AF45}"/>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R30 : model cards et documentation des limites.</a:t>
            </a:r>
          </a:p>
        </p:txBody>
      </p:sp>
      <p:sp>
        <p:nvSpPr>
          <p:cNvPr id="161" name="course-R35–R37 : modèles tabulaires et lec">
            <a:extLst xmlns:a="http://schemas.openxmlformats.org/drawingml/2006/main">
              <a:ext uri="{FF2B5EF4-FFF2-40B4-BE49-F238E27FC236}">
                <a16:creationId xmlns:a16="http://schemas.microsoft.com/office/drawing/2014/main" id="{A70C9DBB-C7B8-4162-98FE-6B42F8E8C432}"/>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R35–R37 : modèles tabulaires et lecture critique des benchmarks récents.</a:t>
            </a:r>
          </a:p>
        </p:txBody>
      </p:sp>
      <p:sp>
        <p:nvSpPr>
          <p:cNvPr id="162" name="course-Sources : R15, R27, R29, R30, R35, ">
            <a:extLst xmlns:a="http://schemas.openxmlformats.org/drawingml/2006/main">
              <a:ext uri="{FF2B5EF4-FFF2-40B4-BE49-F238E27FC236}">
                <a16:creationId xmlns:a16="http://schemas.microsoft.com/office/drawing/2014/main" id="{81998B92-E08C-4044-AF55-4A71C7FCF85C}"/>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Sources : R15, R27, R29, R30, R35, R36, R37 · liens et détails dans les notes</a:t>
            </a:r>
          </a:p>
        </p:txBody>
      </p:sp>
    </p:spTree>
    <p:extLst>
      <p:ext uri="{BB962C8B-B14F-4D97-AF65-F5344CB8AC3E}">
        <p14:creationId xmlns:p14="http://schemas.microsoft.com/office/powerpoint/2010/main" val="436220805"/>
      </p:ext>
    </p:extLst>
  </p:cSld>
</p:sld>
</file>

<file path=ppt/slides/slide125.xml><?xml version="1.0" encoding="utf-8"?>
<p:sld xmlns:p="http://schemas.openxmlformats.org/presentationml/2006/main">
  <p:cSld>
    <p:bg>
      <p:bgPr>
        <a:solidFill xmlns:a="http://schemas.openxmlformats.org/drawingml/2006/main">
          <a:srgbClr val="F7EEE5"/>
        </a:solidFill>
      </p:bgPr>
    </p:bg>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E4997415-7ECE-408B-A1F4-09341D689C75}"/>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47A20C18-243E-4806-BCAF-B5561AA8E40E}"/>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5FE2E09D-4A88-4EB7-AE11-6F6289E80A29}"/>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0D532568-88C6-4032-9C03-710D6545C403}"/>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b="0" i="0" u="none" cap="none">
                <a:solidFill>
                  <a:srgbClr val="12194C"/>
                </a:solidFill>
                <a:latin typeface="Roboto Mono"/>
                <a:ea typeface="Roboto Mono"/>
                <a:cs typeface="Roboto Mono"/>
              </a:rPr>
              <a:t>2026 / 125</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bb2424afd594c1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751a77d210d438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07954566-4CE5-47BC-A434-A944A20C3527}"/>
              </a:ext>
            </a:extLst>
          </p:cNvPr>
          <p:cNvSpPr>
            <a:spLocks xmlns:a="http://schemas.openxmlformats.org/drawingml/2006/main" noGrp="1"/>
          </p:cNvSpPr>
          <p:nvPr/>
        </p:nvSpPr>
        <p:spPr>
          <a:xfrm xmlns:a="http://schemas.openxmlformats.org/drawingml/2006/main">
            <a:off x="9477375" y="457200"/>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050">
                <a:solidFill>
                  <a:srgbClr val="12194C"/>
                </a:solidFill>
                <a:latin typeface="Roboto Mono"/>
                <a:ea typeface="Roboto Mono"/>
                <a:cs typeface="Roboto Mono"/>
              </a:defRPr>
            </a:pPr>
            <a:r>
              <a:rPr sz="1050">
                <a:solidFill>
                  <a:srgbClr val="12194C"/>
                </a:solidFill>
                <a:latin typeface="Roboto Mono"/>
                <a:ea typeface="Roboto Mono"/>
                <a:cs typeface="Roboto Mono"/>
              </a:rPr>
              <a:t>JOUR 5</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B3CDE7E4-5EE7-408A-AC04-4CECF55ED9D7}"/>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12194C"/>
                </a:solidFill>
                <a:latin typeface="DM Sans"/>
                <a:ea typeface="DM Sans"/>
                <a:cs typeface="DM Sans"/>
              </a:defRPr>
            </a:pPr>
            <a:r>
              <a:rPr sz="1200" b="1">
                <a:solidFill>
                  <a:srgbClr val="12194C"/>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F2489BBB-0F6A-42A9-B960-AF327E6F3713}"/>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23AC82D1-801C-4354-AC58-3140A4962231}"/>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Ce que vous savez maintenant défend">
            <a:extLst xmlns:a="http://schemas.openxmlformats.org/drawingml/2006/main">
              <a:ext uri="{FF2B5EF4-FFF2-40B4-BE49-F238E27FC236}">
                <a16:creationId xmlns:a16="http://schemas.microsoft.com/office/drawing/2014/main" id="{D69AFDCE-EE64-4756-89D1-463B9A18CD75}"/>
              </a:ext>
            </a:extLst>
          </p:cNvPr>
          <p:cNvSpPr>
            <a:spLocks xmlns:a="http://schemas.openxmlformats.org/drawingml/2006/main" noGrp="1"/>
          </p:cNvSpPr>
          <p:nvPr/>
        </p:nvSpPr>
        <p:spPr>
          <a:xfrm xmlns:a="http://schemas.openxmlformats.org/drawingml/2006/main">
            <a:off x="762000" y="8572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2194C"/>
                </a:solidFill>
                <a:latin typeface="Archivo Black"/>
                <a:ea typeface="Archivo Black"/>
                <a:cs typeface="Archivo Black"/>
              </a:defRPr>
            </a:pPr>
            <a:r>
              <a:rPr sz="2700" b="0">
                <a:solidFill>
                  <a:srgbClr val="12194C"/>
                </a:solidFill>
                <a:latin typeface="Archivo Black"/>
                <a:ea typeface="Archivo Black"/>
                <a:cs typeface="Archivo Black"/>
              </a:rPr>
              <a:t>Ce que vous savez maintenant défendre</a:t>
            </a:r>
          </a:p>
        </p:txBody>
      </p:sp>
      <p:sp>
        <p:nvSpPr>
          <p:cNvPr id="159" name="course-Un protocole, des features et une m">
            <a:extLst xmlns:a="http://schemas.openxmlformats.org/drawingml/2006/main">
              <a:ext uri="{FF2B5EF4-FFF2-40B4-BE49-F238E27FC236}">
                <a16:creationId xmlns:a16="http://schemas.microsoft.com/office/drawing/2014/main" id="{910C501C-12B4-439D-BC89-9216236FAE97}"/>
              </a:ext>
            </a:extLst>
          </p:cNvPr>
          <p:cNvSpPr>
            <a:spLocks xmlns:a="http://schemas.openxmlformats.org/drawingml/2006/main" noGrp="1"/>
          </p:cNvSpPr>
          <p:nvPr/>
        </p:nvSpPr>
        <p:spPr>
          <a:xfrm xmlns:a="http://schemas.openxmlformats.org/drawingml/2006/main">
            <a:off x="819150" y="19812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protocole, des features et une métrique cohérents avec la décision.</a:t>
            </a:r>
          </a:p>
        </p:txBody>
      </p:sp>
      <p:sp>
        <p:nvSpPr>
          <p:cNvPr id="160" name="course-Un modèle comparé, régularisé et op">
            <a:extLst xmlns:a="http://schemas.openxmlformats.org/drawingml/2006/main">
              <a:ext uri="{FF2B5EF4-FFF2-40B4-BE49-F238E27FC236}">
                <a16:creationId xmlns:a16="http://schemas.microsoft.com/office/drawing/2014/main" id="{559ED5C1-A72A-4881-B115-13B5CAF7DB44}"/>
              </a:ext>
            </a:extLst>
          </p:cNvPr>
          <p:cNvSpPr>
            <a:spLocks xmlns:a="http://schemas.openxmlformats.org/drawingml/2006/main" noGrp="1"/>
          </p:cNvSpPr>
          <p:nvPr/>
        </p:nvSpPr>
        <p:spPr>
          <a:xfrm xmlns:a="http://schemas.openxmlformats.org/drawingml/2006/main">
            <a:off x="819150" y="2914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 modèle comparé, régularisé et optimisé sans utiliser le test pour choisir.</a:t>
            </a:r>
          </a:p>
        </p:txBody>
      </p:sp>
      <p:sp>
        <p:nvSpPr>
          <p:cNvPr id="161" name="course-Une recommandation avec incertitude">
            <a:extLst xmlns:a="http://schemas.openxmlformats.org/drawingml/2006/main">
              <a:ext uri="{FF2B5EF4-FFF2-40B4-BE49-F238E27FC236}">
                <a16:creationId xmlns:a16="http://schemas.microsoft.com/office/drawing/2014/main" id="{C1B47BA3-2184-49D1-BB3C-3F460754F951}"/>
              </a:ext>
            </a:extLst>
          </p:cNvPr>
          <p:cNvSpPr>
            <a:spLocks xmlns:a="http://schemas.openxmlformats.org/drawingml/2006/main" noGrp="1"/>
          </p:cNvSpPr>
          <p:nvPr/>
        </p:nvSpPr>
        <p:spPr>
          <a:xfrm xmlns:a="http://schemas.openxmlformats.org/drawingml/2006/main">
            <a:off x="819150" y="38481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2194C"/>
                </a:solidFill>
                <a:latin typeface="DM Sans"/>
                <a:ea typeface="DM Sans"/>
                <a:cs typeface="DM Sans"/>
              </a:defRPr>
            </a:pPr>
            <a:r>
              <a:rPr sz="2250" b="0">
                <a:solidFill>
                  <a:srgbClr val="12194C"/>
                </a:solidFill>
                <a:latin typeface="DM Sans"/>
                <a:ea typeface="DM Sans"/>
                <a:cs typeface="DM Sans"/>
              </a:rPr>
              <a:t>Une recommandation avec incertitude, explications et conditions de réévaluation.</a:t>
            </a:r>
          </a:p>
        </p:txBody>
      </p:sp>
      <p:sp>
        <p:nvSpPr>
          <p:cNvPr id="162" name="course-Le livrable est une décision justif">
            <a:extLst xmlns:a="http://schemas.openxmlformats.org/drawingml/2006/main">
              <a:ext uri="{FF2B5EF4-FFF2-40B4-BE49-F238E27FC236}">
                <a16:creationId xmlns:a16="http://schemas.microsoft.com/office/drawing/2014/main" id="{B8CBE0A4-4E1D-4068-8CA9-4884851F184C}"/>
              </a:ext>
            </a:extLst>
          </p:cNvPr>
          <p:cNvSpPr>
            <a:spLocks xmlns:a="http://schemas.openxmlformats.org/drawingml/2006/main" noGrp="1"/>
          </p:cNvSpPr>
          <p:nvPr/>
        </p:nvSpPr>
        <p:spPr>
          <a:xfrm xmlns:a="http://schemas.openxmlformats.org/drawingml/2006/main">
            <a:off x="762000" y="521970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03C8B"/>
                </a:solidFill>
                <a:latin typeface="DM Sans"/>
                <a:ea typeface="DM Sans"/>
                <a:cs typeface="DM Sans"/>
              </a:defRPr>
            </a:pPr>
            <a:r>
              <a:rPr sz="1875" b="1">
                <a:solidFill>
                  <a:srgbClr val="303C8B"/>
                </a:solidFill>
                <a:latin typeface="DM Sans"/>
                <a:ea typeface="DM Sans"/>
                <a:cs typeface="DM Sans"/>
              </a:rPr>
              <a:t>Le livrable est une décision justifiée, accompagnée de preuves reproductibles</a:t>
            </a:r>
          </a:p>
        </p:txBody>
      </p:sp>
      <p:sp>
        <p:nvSpPr>
          <p:cNvPr id="163" name="course-Exemple ou activité originale du co">
            <a:extLst xmlns:a="http://schemas.openxmlformats.org/drawingml/2006/main">
              <a:ext uri="{FF2B5EF4-FFF2-40B4-BE49-F238E27FC236}">
                <a16:creationId xmlns:a16="http://schemas.microsoft.com/office/drawing/2014/main" id="{950A48BE-2AC0-4F07-9B22-F1D98FC384A7}"/>
              </a:ext>
            </a:extLst>
          </p:cNvPr>
          <p:cNvSpPr>
            <a:spLocks xmlns:a="http://schemas.openxmlformats.org/drawingml/2006/main" noGrp="1"/>
          </p:cNvSpPr>
          <p:nvPr/>
        </p:nvSpPr>
        <p:spPr>
          <a:xfrm xmlns:a="http://schemas.openxmlformats.org/drawingml/2006/main">
            <a:off x="762000" y="59055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55B70"/>
                </a:solidFill>
                <a:latin typeface="Roboto Mono"/>
                <a:ea typeface="Roboto Mono"/>
                <a:cs typeface="Roboto Mono"/>
              </a:defRPr>
            </a:pPr>
            <a:r>
              <a:rPr sz="975" b="0">
                <a:solidFill>
                  <a:srgbClr val="555B70"/>
                </a:solidFill>
                <a:latin typeface="Roboto Mono"/>
                <a:ea typeface="Roboto Mono"/>
                <a:cs typeface="Roboto Mono"/>
              </a:rPr>
              <a:t>Exemple ou activité originale du cours</a:t>
            </a:r>
          </a:p>
        </p:txBody>
      </p:sp>
    </p:spTree>
    <p:extLst>
      <p:ext uri="{BB962C8B-B14F-4D97-AF65-F5344CB8AC3E}">
        <p14:creationId xmlns:p14="http://schemas.microsoft.com/office/powerpoint/2010/main" val="436220805"/>
      </p:ext>
    </p:extLst>
  </p:cSld>
</p:sld>
</file>

<file path=ppt/slides/slide126.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754" name="Google Shape;754;p19">
            <a:extLst xmlns:a="http://schemas.openxmlformats.org/drawingml/2006/main">
              <a:ext uri="{FF2B5EF4-FFF2-40B4-BE49-F238E27FC236}">
                <a16:creationId xmlns:a16="http://schemas.microsoft.com/office/drawing/2014/main" id="{BFC1DDF5-4419-4E7C-8B83-94A595A9C7D7}"/>
              </a:ext>
            </a:extLst>
          </p:cNvPr>
          <p:cNvSpPr>
            <a:spLocks xmlns:a="http://schemas.openxmlformats.org/drawingml/2006/main" noGrp="1"/>
          </p:cNvSpPr>
          <p:nvPr/>
        </p:nvSpPr>
        <p:spPr>
          <a:xfrm xmlns:a="http://schemas.openxmlformats.org/drawingml/2006/main">
            <a:off x="952500" y="2381250"/>
            <a:ext cx="10572750" cy="1190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0"/>
              <a:buFont typeface="Archivo Black"/>
              <a:buNone/>
              <a:defRPr sz="5400">
                <a:solidFill>
                  <a:srgbClr val="FFFFFF"/>
                </a:solidFill>
                <a:latin typeface="Archivo Black"/>
                <a:ea typeface="Archivo Black"/>
                <a:cs typeface="Archivo Black"/>
              </a:defRPr>
            </a:pPr>
            <a:r>
              <a:rPr sz="5400" b="0" i="0" u="none" cap="none">
                <a:solidFill>
                  <a:srgbClr val="FFFFFF"/>
                </a:solidFill>
                <a:latin typeface="Archivo Black"/>
                <a:ea typeface="Archivo Black"/>
                <a:cs typeface="Archivo Black"/>
              </a:rPr>
              <a:t>À VOUS DE JOUER</a:t>
            </a:r>
            <a:endParaRPr sz="12000" b="0" i="0" u="none" cap="none">
              <a:solidFill>
                <a:schemeClr val="dk1"/>
              </a:solidFill>
              <a:latin typeface="Calibri"/>
              <a:ea typeface="Calibri"/>
              <a:cs typeface="Calibri"/>
            </a:endParaRPr>
          </a:p>
        </p:txBody>
      </p:sp>
      <p:sp>
        <p:nvSpPr>
          <p:cNvPr id="755" name="Google Shape;755;p19">
            <a:extLst xmlns:a="http://schemas.openxmlformats.org/drawingml/2006/main">
              <a:ext uri="{FF2B5EF4-FFF2-40B4-BE49-F238E27FC236}">
                <a16:creationId xmlns:a16="http://schemas.microsoft.com/office/drawing/2014/main" id="{1C346E96-707F-49C3-B70F-B6B9462284E2}"/>
              </a:ext>
            </a:extLst>
          </p:cNvPr>
          <p:cNvSpPr>
            <a:spLocks xmlns:a="http://schemas.openxmlformats.org/drawingml/2006/main" noGrp="1"/>
          </p:cNvSpPr>
          <p:nvPr/>
        </p:nvSpPr>
        <p:spPr>
          <a:xfrm xmlns:a="http://schemas.openxmlformats.org/drawingml/2006/main">
            <a:off x="952805" y="5219395"/>
            <a:ext cx="10287000" cy="1920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6" name="Google Shape;756;p19">
            <a:extLst xmlns:a="http://schemas.openxmlformats.org/drawingml/2006/main">
              <a:ext uri="{FF2B5EF4-FFF2-40B4-BE49-F238E27FC236}">
                <a16:creationId xmlns:a16="http://schemas.microsoft.com/office/drawing/2014/main" id="{D682F93E-D84D-4261-A8B7-DA2741255452}"/>
              </a:ext>
            </a:extLst>
          </p:cNvPr>
          <p:cNvSpPr>
            <a:spLocks xmlns:a="http://schemas.openxmlformats.org/drawingml/2006/main" noGrp="1"/>
          </p:cNvSpPr>
          <p:nvPr/>
        </p:nvSpPr>
        <p:spPr>
          <a:xfrm xmlns:a="http://schemas.openxmlformats.org/drawingml/2006/main">
            <a:off x="10382250" y="6229350"/>
            <a:ext cx="1381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050">
                <a:solidFill>
                  <a:srgbClr val="FFFFFF"/>
                </a:solidFill>
                <a:latin typeface="Roboto Mono"/>
                <a:ea typeface="Roboto Mono"/>
                <a:cs typeface="Roboto Mono"/>
              </a:defRPr>
            </a:pPr>
            <a:r>
              <a:rPr sz="1050" b="0" i="0" u="none" cap="none">
                <a:solidFill>
                  <a:srgbClr val="FFFFFF"/>
                </a:solidFill>
                <a:latin typeface="Roboto Mono"/>
                <a:ea typeface="Roboto Mono"/>
                <a:cs typeface="Roboto Mono"/>
              </a:rPr>
              <a:t>2026 / 126</a:t>
            </a:r>
            <a:endParaRPr sz="1300" b="0" i="0" u="none" cap="none">
              <a:solidFill>
                <a:schemeClr val="dk1"/>
              </a:solidFill>
              <a:latin typeface="Calibri"/>
              <a:ea typeface="Calibri"/>
              <a:cs typeface="Calibri"/>
            </a:endParaRPr>
          </a:p>
        </p:txBody>
      </p:sp>
      <p:pic>
        <p:nvPicPr>
          <p:cNvPr id="766" name="Google Shape;757;p19"/>
          <p:cNvPicPr>
            <a:picLocks xmlns:a="http://schemas.openxmlformats.org/drawingml/2006/main" noChangeAspect="1"/>
          </p:cNvPicPr>
          <p:nvPr/>
        </p:nvPicPr>
        <p:blipFill>
          <a:blip xmlns:r="http://schemas.openxmlformats.org/officeDocument/2006/relationships" xmlns:a="http://schemas.openxmlformats.org/drawingml/2006/main" r:embed="R0d5ef1518c674d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758" name="Google Shape;758;p19">
            <a:extLst xmlns:a="http://schemas.openxmlformats.org/drawingml/2006/main">
              <a:ext uri="{FF2B5EF4-FFF2-40B4-BE49-F238E27FC236}">
                <a16:creationId xmlns:a16="http://schemas.microsoft.com/office/drawing/2014/main" id="{E30FC1B1-634D-4AA3-8D73-FC401625FE1B}"/>
              </a:ext>
            </a:extLst>
          </p:cNvPr>
          <p:cNvSpPr>
            <a:spLocks xmlns:a="http://schemas.openxmlformats.org/drawingml/2006/main" noGrp="1"/>
          </p:cNvSpPr>
          <p:nvPr/>
        </p:nvSpPr>
        <p:spPr>
          <a:xfrm xmlns:a="http://schemas.openxmlformats.org/drawingml/2006/main">
            <a:off x="1459125" y="6235750"/>
            <a:ext cx="68580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00">
                <a:solidFill>
                  <a:srgbClr val="FFFFFF"/>
                </a:solidFill>
                <a:latin typeface="DM Sans"/>
                <a:ea typeface="DM Sans"/>
                <a:cs typeface="DM Sans"/>
              </a:defRPr>
            </a:pPr>
            <a:r>
              <a:rPr sz="1200" b="1">
                <a:solidFill>
                  <a:srgbClr val="FFFFFF"/>
                </a:solidFill>
                <a:latin typeface="DM Sans"/>
                <a:ea typeface="DM Sans"/>
                <a:cs typeface="DM Sans"/>
              </a:rPr>
              <a:t>Machine Learning Avancé · M2 Data / IA</a:t>
            </a:r>
            <a:endParaRPr sz="1300" b="0" u="none" cap="none">
              <a:solidFill>
                <a:schemeClr val="dk1"/>
              </a:solidFill>
              <a:latin typeface="Calibri"/>
              <a:ea typeface="Calibri"/>
              <a:cs typeface="Calibri"/>
            </a:endParaRPr>
          </a:p>
        </p:txBody>
      </p:sp>
      <p:pic>
        <p:nvPicPr>
          <p:cNvPr id="768" name="Google Shape;759;p19"/>
          <p:cNvPicPr>
            <a:picLocks xmlns:a="http://schemas.openxmlformats.org/drawingml/2006/main" noChangeAspect="1"/>
          </p:cNvPicPr>
          <p:nvPr/>
        </p:nvPicPr>
        <p:blipFill>
          <a:blip xmlns:r="http://schemas.openxmlformats.org/officeDocument/2006/relationships" xmlns:a="http://schemas.openxmlformats.org/drawingml/2006/main" r:embed="Rf7b995498abe407f">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761" name="course-Chrys Fé-Marty NIONGOLO">
            <a:extLst xmlns:a="http://schemas.openxmlformats.org/drawingml/2006/main">
              <a:ext uri="{FF2B5EF4-FFF2-40B4-BE49-F238E27FC236}">
                <a16:creationId xmlns:a16="http://schemas.microsoft.com/office/drawing/2014/main" id="{83A942AC-C670-48CA-8DE1-CABA4A35BB4D}"/>
              </a:ext>
            </a:extLst>
          </p:cNvPr>
          <p:cNvSpPr>
            <a:spLocks xmlns:a="http://schemas.openxmlformats.org/drawingml/2006/main" noGrp="1"/>
          </p:cNvSpPr>
          <p:nvPr/>
        </p:nvSpPr>
        <p:spPr>
          <a:xfrm xmlns:a="http://schemas.openxmlformats.org/drawingml/2006/main">
            <a:off x="952500" y="39814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DM Sans"/>
                <a:ea typeface="DM Sans"/>
                <a:cs typeface="DM Sans"/>
              </a:defRPr>
            </a:pPr>
            <a:r>
              <a:rPr sz="2250" b="0">
                <a:solidFill>
                  <a:srgbClr val="FFFFFF"/>
                </a:solidFill>
                <a:latin typeface="DM Sans"/>
                <a:ea typeface="DM Sans"/>
                <a:cs typeface="DM Sans"/>
              </a:rPr>
              <a:t>Chrys Fé-Marty NIONGOLO</a:t>
            </a:r>
          </a:p>
        </p:txBody>
      </p:sp>
      <p:sp>
        <p:nvSpPr>
          <p:cNvPr id="762" name="course-Ressources et notebooks sur GitHub">
            <a:extLst xmlns:a="http://schemas.openxmlformats.org/drawingml/2006/main">
              <a:ext uri="{FF2B5EF4-FFF2-40B4-BE49-F238E27FC236}">
                <a16:creationId xmlns:a16="http://schemas.microsoft.com/office/drawing/2014/main" id="{071206EC-E222-47A4-B479-F25AD96BC30F}"/>
              </a:ext>
            </a:extLst>
          </p:cNvPr>
          <p:cNvSpPr>
            <a:spLocks xmlns:a="http://schemas.openxmlformats.org/drawingml/2006/main" noGrp="1"/>
          </p:cNvSpPr>
          <p:nvPr/>
        </p:nvSpPr>
        <p:spPr>
          <a:xfrm xmlns:a="http://schemas.openxmlformats.org/drawingml/2006/main">
            <a:off x="952500" y="46672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hlinkClick xmlns:r="http://schemas.openxmlformats.org/officeDocument/2006/relationships" r:id="R1503e5508810446c"/>
              </a:rPr>
              <a:t>Ressources et notebooks sur GitHub</a:t>
            </a:r>
          </a:p>
        </p:txBody>
      </p:sp>
    </p:spTree>
    <p:extLst>
      <p:ext uri="{BB962C8B-B14F-4D97-AF65-F5344CB8AC3E}">
        <p14:creationId xmlns:p14="http://schemas.microsoft.com/office/powerpoint/2010/main" val="928665167"/>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2026-09-19T11:05:08.4640000Z</dcterms:created>
  <dcterms:modified xsi:type="dcterms:W3CDTF">2026-09-19T11:05:08.4640000Z</dcterms:modified>
</coreProperties>
</file>