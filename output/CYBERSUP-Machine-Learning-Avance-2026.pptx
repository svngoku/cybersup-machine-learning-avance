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23.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24.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128.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31.xml"/>
  <Override ContentType="application/vnd.openxmlformats-officedocument.presentationml.slide+xml" PartName="/ppt/slides/slide127.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09.xml"/>
  <Override ContentType="application/vnd.openxmlformats-officedocument.presentationml.slide+xml" PartName="/ppt/slides/slide134.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32.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Lst>
  <p:sldSz cy="6858000" cx="12192000"/>
  <p:notesSz cx="6858000" cy="9144000"/>
  <p:embeddedFontLst>
    <p:embeddedFont>
      <p:font typeface="Roboto Mono"/>
      <p:regular r:id="rId140"/>
      <p:bold r:id="rId141"/>
      <p:italic r:id="rId142"/>
      <p:boldItalic r:id="rId143"/>
    </p:embeddedFont>
    <p:embeddedFont>
      <p:font typeface="Archivo Black"/>
      <p:regular r:id="rId144"/>
    </p:embeddedFont>
    <p:embeddedFont>
      <p:font typeface="DM Sans"/>
      <p:regular r:id="rId145"/>
      <p:bold r:id="rId146"/>
      <p:italic r:id="rId147"/>
      <p:boldItalic r:id="rId1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6B46B82-55C0-43C8-8E66-D39B75777A89}">
  <a:tblStyle styleId="{C6B46B82-55C0-43C8-8E66-D39B75777A8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26" Type="http://schemas.openxmlformats.org/officeDocument/2006/relationships/slide" Target="slides/slide21.xml"/><Relationship Id="rId121" Type="http://schemas.openxmlformats.org/officeDocument/2006/relationships/slide" Target="slides/slide116.xml"/><Relationship Id="rId25" Type="http://schemas.openxmlformats.org/officeDocument/2006/relationships/slide" Target="slides/slide20.xml"/><Relationship Id="rId120" Type="http://schemas.openxmlformats.org/officeDocument/2006/relationships/slide" Target="slides/slide115.xml"/><Relationship Id="rId28" Type="http://schemas.openxmlformats.org/officeDocument/2006/relationships/slide" Target="slides/slide23.xml"/><Relationship Id="rId27" Type="http://schemas.openxmlformats.org/officeDocument/2006/relationships/slide" Target="slides/slide22.xml"/><Relationship Id="rId125" Type="http://schemas.openxmlformats.org/officeDocument/2006/relationships/slide" Target="slides/slide120.xml"/><Relationship Id="rId29" Type="http://schemas.openxmlformats.org/officeDocument/2006/relationships/slide" Target="slides/slide24.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11" Type="http://schemas.openxmlformats.org/officeDocument/2006/relationships/slide" Target="slides/slide6.xml"/><Relationship Id="rId99" Type="http://schemas.openxmlformats.org/officeDocument/2006/relationships/slide" Target="slides/slide94.xml"/><Relationship Id="rId10" Type="http://schemas.openxmlformats.org/officeDocument/2006/relationships/slide" Target="slides/slide5.xml"/><Relationship Id="rId98" Type="http://schemas.openxmlformats.org/officeDocument/2006/relationships/slide" Target="slides/slide93.xml"/><Relationship Id="rId13" Type="http://schemas.openxmlformats.org/officeDocument/2006/relationships/slide" Target="slides/slide8.xml"/><Relationship Id="rId12" Type="http://schemas.openxmlformats.org/officeDocument/2006/relationships/slide" Target="slides/slide7.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5" Type="http://schemas.openxmlformats.org/officeDocument/2006/relationships/slide" Target="slides/slide10.xml"/><Relationship Id="rId110" Type="http://schemas.openxmlformats.org/officeDocument/2006/relationships/slide" Target="slides/slide105.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14" Type="http://schemas.openxmlformats.org/officeDocument/2006/relationships/slide" Target="slides/slide109.xml"/><Relationship Id="rId18" Type="http://schemas.openxmlformats.org/officeDocument/2006/relationships/slide" Target="slides/slide13.xml"/><Relationship Id="rId113" Type="http://schemas.openxmlformats.org/officeDocument/2006/relationships/slide" Target="slides/slide108.xml"/><Relationship Id="rId112" Type="http://schemas.openxmlformats.org/officeDocument/2006/relationships/slide" Target="slides/slide107.xml"/><Relationship Id="rId111" Type="http://schemas.openxmlformats.org/officeDocument/2006/relationships/slide" Target="slides/slide106.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148" Type="http://schemas.openxmlformats.org/officeDocument/2006/relationships/font" Target="fonts/DMSans-boldItalic.fntdata"/><Relationship Id="rId9" Type="http://schemas.openxmlformats.org/officeDocument/2006/relationships/slide" Target="slides/slide4.xml"/><Relationship Id="rId143" Type="http://schemas.openxmlformats.org/officeDocument/2006/relationships/font" Target="fonts/RobotoMono-boldItalic.fntdata"/><Relationship Id="rId142" Type="http://schemas.openxmlformats.org/officeDocument/2006/relationships/font" Target="fonts/RobotoMono-italic.fntdata"/><Relationship Id="rId141" Type="http://schemas.openxmlformats.org/officeDocument/2006/relationships/font" Target="fonts/RobotoMono-bold.fntdata"/><Relationship Id="rId140" Type="http://schemas.openxmlformats.org/officeDocument/2006/relationships/font" Target="fonts/RobotoMono-regular.fntdata"/><Relationship Id="rId5" Type="http://schemas.openxmlformats.org/officeDocument/2006/relationships/notesMaster" Target="notesMasters/notesMaster1.xml"/><Relationship Id="rId147" Type="http://schemas.openxmlformats.org/officeDocument/2006/relationships/font" Target="fonts/DMSans-italic.fntdata"/><Relationship Id="rId6" Type="http://schemas.openxmlformats.org/officeDocument/2006/relationships/slide" Target="slides/slide1.xml"/><Relationship Id="rId146" Type="http://schemas.openxmlformats.org/officeDocument/2006/relationships/font" Target="fonts/DMSans-bold.fntdata"/><Relationship Id="rId7" Type="http://schemas.openxmlformats.org/officeDocument/2006/relationships/slide" Target="slides/slide2.xml"/><Relationship Id="rId145" Type="http://schemas.openxmlformats.org/officeDocument/2006/relationships/font" Target="fonts/DMSans-regular.fntdata"/><Relationship Id="rId8" Type="http://schemas.openxmlformats.org/officeDocument/2006/relationships/slide" Target="slides/slide3.xml"/><Relationship Id="rId144" Type="http://schemas.openxmlformats.org/officeDocument/2006/relationships/font" Target="fonts/ArchivoBlack-regular.fntdata"/><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65" Type="http://schemas.openxmlformats.org/officeDocument/2006/relationships/slide" Target="slides/slide60.xml"/><Relationship Id="rId68" Type="http://schemas.openxmlformats.org/officeDocument/2006/relationships/slide" Target="slides/slide63.xml"/><Relationship Id="rId67" Type="http://schemas.openxmlformats.org/officeDocument/2006/relationships/slide" Target="slides/slide62.xml"/><Relationship Id="rId60" Type="http://schemas.openxmlformats.org/officeDocument/2006/relationships/slide" Target="slides/slide55.xml"/><Relationship Id="rId69" Type="http://schemas.openxmlformats.org/officeDocument/2006/relationships/slide" Target="slides/slide6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54" Type="http://schemas.openxmlformats.org/officeDocument/2006/relationships/slide" Target="slides/slide49.xml"/><Relationship Id="rId57" Type="http://schemas.openxmlformats.org/officeDocument/2006/relationships/slide" Target="slides/slide52.xml"/><Relationship Id="rId56" Type="http://schemas.openxmlformats.org/officeDocument/2006/relationships/slide" Target="slides/slide51.xml"/><Relationship Id="rId59" Type="http://schemas.openxmlformats.org/officeDocument/2006/relationships/slide" Target="slides/slide54.xml"/><Relationship Id="rId58"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presentation/d/1B93tlnEdW8bNRq8_mdkXAbhXNYt5HsR063DusKjy6sw/edit?slide=id.p7#slide=id.p7"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scikit-learn.org/stable/auto_examples/ensemble/plot_ensemble_oob.html"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scikit-learn.org/stable/modules/calibration.html"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oecd.ai/en/catalogue/metrics/adjusted-rand-index-ari" TargetMode="Externa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Machine Learning Avancé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Accueillir les participants. Formation Cybersup en présentiel à Paris, du 21 au 25 septembre 2026, niveau M2 Data / IA, 35 heures pédagogiques. Faire annoncer à chacun un problème rencontré avec un modèle. Les temps de pause sont exclus des 35 heures. Le QR code mène au dépôt privé ; distribuer les notebooks par archive si les accès GitHub ne sont pas encore ouverts.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Votre formateur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lien LinkedIn a été fourni par le formateur. Aucune expérience, certification ni biographie supplémentaire n'est affirmée. Inviter les participants à préciser leur maîtrise de Python, des statistiques et de scikit-learn. Présenter le fonctionnement des échanges en présentiel.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1" name="Google Shape;3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Programme de la semaine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Présenter les cinq journées. Les notions d'évaluation sont reprises dans tous les TP. Le projet final utilise des compétences accumulées pendant la semaine. Les corrections sont dans un dossier réservé à l'animation ; les notebooks étudiants contiennent les exemples guidés et les espaces d'exercice.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47" name="Google Shape;47;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 name="Google Shape;8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Six compétences à démontrer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trois premières compétences reprennent la fiche de formation. Les trois suivantes, interprétabilité, évaluation fiable et reproductibilité/mise en production, complètent les objectifs masqués dans la fiche et ont été validées par le formateur. Il s'agit d'une préparation à la mise en production, pas d'un déploiement réel ni d'une certification de conformité.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81" name="Google Shape;8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Prérequis et diagnostic</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Faire répondre au diagnostic de evaluation/QUIZ.md sans noter. Distinguer une difficulté de code d'une difficulté de raisonnement. Prévoir la ressource R33 pour la remédiation. Les mathématiques sont utilisées pour comprendre un mécanisme, puis reliées à une expérimentation.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Diagnostic de 10 minutes puis groupes de travail complémentaires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[R01] An Introduction to Statistical Learning, with Applications in Python. James, Witten, Hastie, Tibshirani et Taylor. 2023. https://www.statlearning.com/ (consulté le 19 septembre 2026).</a:t>
            </a:r>
            <a:endParaRPr/>
          </a:p>
          <a:p>
            <a:pPr indent="0" lvl="0" marL="0" rtl="0" algn="l">
              <a:spcBef>
                <a:spcPts val="0"/>
              </a:spcBef>
              <a:spcAft>
                <a:spcPts val="0"/>
              </a:spcAft>
              <a:buSzPts val="1200"/>
              <a:buNone/>
            </a:pPr>
            <a:r>
              <a:rPr lang="en-US" sz="1200"/>
              <a:t>[R33] Scikit-learn MOOC. Inria et contributeurs scikit-learn. ressource pédagogique vivante. https://inria.github.io/scikit-learn-mooc/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00" name="Google Shape;10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Le rythme des cinq journées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détail minute par minute figure dans docs/PROGRAMME_35H.md. Les créneaux totalisent 420 minutes par jour. Les TP longs incluent recherche, essais, rédaction et débrief, pas seulement l'exécution des cellules. Adapter le nombre d'extensions au diagnostic sans supprimer le projet ni le débrief.</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Chaque jour : 7 heures pédagogiques, pauses exclues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21" name="Google Shape;121;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Le fil rouge : prioriser des appels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 question métier précède le choix d'algorithme. La cible historique est la souscription, pas un bénéfice ni un effet du traitement. Le gain incrémental d'une campagne demanderait une expérimentation ou une méthode causale appropriée. Les coûts FP/FN utilisés dans le cours sont des unités pédagogiques choisies explicitement.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 score de propension n'est pas l'effet causal d'un appel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rPr lang="en-US" sz="1200"/>
              <a:t>[R39] Techniques de datamining : méthodologies et mise en pratique. Julie Hor, Sup de Vinci. 2020. Support local fourni : Méthodo Data Mining 2020.pdf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0" name="Google Shape;140;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Nos ressources de travail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Ouvrir le README avec les étudiants. Exécuter uv sync --frozen avant la formation, puis uv run jupyter lab. Sans uv, installer les dépendances depuis requirements.txt dans un environnement Python 3.12. Les corrections ne sont pas protégées par le simple nom d'un dossier : fournir une archive étudiante si l'on veut les masquer.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CPU suffisant ; données des TP disponibles hors ligne après installation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1" name="Google Shape;161;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Exécuter un exemple dans Colab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Suivre docs/COLAB.md. Les variantes des TP02, TP03 et TP06 utilisent des données synthétiques. La démo08 télécharge le jeu UCI complet et vérifie son empreinte. Le dépôt reste privé : l'import du fichier local évite de demander un jeton GitHub aux étudiants. Colab nécessite un compte Google et une connexion ; les runtimes sont temporaires et l'accès au GPU n'est pas garanti. Le choix d'un GPU n'accélère pas automatiquement les estimateurs scikit-learn. Préparer la première installation avant la séance ; le parcours local reste disponible.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CPU pour les TP ; GPU facultatif pour la démonstration XGBoost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[R43] Google Colab — Frequently Asked Questions. Google Colab. consulté le 19 septembre 2026. https://research.google.com/colaboratory/faq.html (consulté le 19 septembre 2026).</a:t>
            </a:r>
            <a:endParaRPr/>
          </a:p>
          <a:p>
            <a:pPr indent="0" lvl="0" marL="0" rtl="0" algn="l">
              <a:spcBef>
                <a:spcPts val="0"/>
              </a:spcBef>
              <a:spcAft>
                <a:spcPts val="0"/>
              </a:spcAft>
              <a:buSzPts val="1200"/>
              <a:buNone/>
            </a:pPr>
            <a:r>
              <a:rPr lang="en-US" sz="1200"/>
              <a:t>[R46] XGBoost GPU Support — branche 3.1. Équipe XGBoost. documentation 3.1.3 consultée le 19 septembre 2026. https://xgboost.readthedocs.io/en/release_3.1.0/gpu/index.html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82" name="Google Shape;18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Ce que nous reprenons des supports de 2020</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supports de Julie Hor sont cités avec les pages PDF dans resources/PROVENANCE.md. Ne pas distribuer les PDF originaux sans autorisation. Corriger deux raccourcis : le coefficient de Pearson est invariant aux changements positifs d'unité, et il n'existe pas de règle universelle imposant 30 observations par feuille d'arbre.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Exemples et illustrations du cours reconstruits et attribués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[R38] Introduction au Data Mining. Julie Hor, Sup de Vinci. 2020. Support local fourni : Cours 2020 Final - M1.pdf (consulté le 19 septembre 2026).</a:t>
            </a:r>
            <a:endParaRPr/>
          </a:p>
          <a:p>
            <a:pPr indent="0" lvl="0" marL="0" rtl="0" algn="l">
              <a:spcBef>
                <a:spcPts val="0"/>
              </a:spcBef>
              <a:spcAft>
                <a:spcPts val="0"/>
              </a:spcAft>
              <a:buSzPts val="1200"/>
              <a:buNone/>
            </a:pPr>
            <a:r>
              <a:rPr lang="en-US" sz="1200"/>
              <a:t>[R39] Techniques de datamining : méthodologies et mise en pratique. Julie Hor, Sup de Vinci. 2020. Support local fourni : Méthodo Data Mining 2020.pdf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3" name="Google Shape;203;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Évaluer et régulariser</a:t>
            </a:r>
            <a:endParaRPr/>
          </a:p>
          <a:p>
            <a:pPr indent="-317500" lvl="0" marL="457200" rtl="0" algn="l">
              <a:spcBef>
                <a:spcPts val="0"/>
              </a:spcBef>
              <a:spcAft>
                <a:spcPts val="0"/>
              </a:spcAft>
              <a:buSzPts val="1400"/>
              <a:buChar char="●"/>
            </a:pPr>
            <a:r>
              <a:rPr lang="en-US"/>
              <a:t>« Bienvenue dans ce premier module. Aujourd'hui, on ne cherche pas à battre des records d'accuracy avec des modèles complexes. Notre but est de poser un cadre d'évaluation irréprochable. En entreprise ou en recherche, un modèle moyen avec un protocole robuste crée de la valeur ; un modèle sophistiqué évalué sur un protocole biaisé mène directement à l'échec en production.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 Selon vous, qu'est-ce qui coûte le plus cher : un modèle sous-optimal ou un modèle surévalué qui s'effondre en production ?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24" name="Google Shape;22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a:t>Une métrique de ML doit traduire une décision métier et un horizon temporel précis.</a:t>
            </a:r>
            <a:endParaRPr/>
          </a:p>
          <a:p>
            <a:pPr indent="0" lvl="0" marL="0" rtl="0" algn="l">
              <a:spcBef>
                <a:spcPts val="0"/>
              </a:spcBef>
              <a:spcAft>
                <a:spcPts val="0"/>
              </a:spcAft>
              <a:buSzPts val="1200"/>
              <a:buNone/>
            </a:pPr>
            <a:r>
              <a:t/>
            </a:r>
            <a:endParaRPr/>
          </a:p>
          <a:p>
            <a:pPr indent="-317500" lvl="0" marL="457200" rtl="0" algn="l">
              <a:spcBef>
                <a:spcPts val="0"/>
              </a:spcBef>
              <a:spcAft>
                <a:spcPts val="0"/>
              </a:spcAft>
              <a:buSzPts val="1400"/>
              <a:buChar char="●"/>
            </a:pPr>
            <a:r>
              <a:rPr lang="en-US"/>
              <a:t>« Avant d'importer scikit-learn, posons trois questions : quelle décision va découler de la prédiction, qui la prend, et avec quelles données exactement disponibles à cet instant ? Si la cible arrive avec trois mois de décalage ou si la mesure est bruitée, votre modèle apprendra des mirages. Définissez la décision et l'horizon temporel avant la première ligne de code. »</a:t>
            </a:r>
            <a:endParaRPr/>
          </a:p>
          <a:p>
            <a:pPr indent="-304800" lvl="0" marL="457200" rtl="0" algn="l">
              <a:spcBef>
                <a:spcPts val="0"/>
              </a:spcBef>
              <a:spcAft>
                <a:spcPts val="0"/>
              </a:spcAft>
              <a:buSzPts val="1200"/>
              <a:buChar char="●"/>
            </a:pPr>
            <a:r>
              <a:rPr b="1" lang="en-US">
                <a:solidFill>
                  <a:schemeClr val="dk1"/>
                </a:solidFill>
              </a:rPr>
              <a:t>Point d'appui</a:t>
            </a:r>
            <a:r>
              <a:rPr lang="en-US">
                <a:solidFill>
                  <a:schemeClr val="dk1"/>
                </a:solidFill>
              </a:rPr>
              <a:t> : Insister sur la distinction entre </a:t>
            </a:r>
            <a:r>
              <a:rPr i="1" lang="en-US">
                <a:solidFill>
                  <a:schemeClr val="dk1"/>
                </a:solidFill>
              </a:rPr>
              <a:t>prédire un événement</a:t>
            </a:r>
            <a:r>
              <a:rPr lang="en-US">
                <a:solidFill>
                  <a:schemeClr val="dk1"/>
                </a:solidFill>
              </a:rPr>
              <a:t> et </a:t>
            </a:r>
            <a:r>
              <a:rPr i="1" lang="en-US">
                <a:solidFill>
                  <a:schemeClr val="dk1"/>
                </a:solidFill>
              </a:rPr>
              <a:t>déclencher une action rentable</a:t>
            </a:r>
            <a:endParaRPr i="1">
              <a:solidFill>
                <a:schemeClr val="dk1"/>
              </a:solidFill>
            </a:endParaRPr>
          </a:p>
          <a:p>
            <a:pPr indent="0" lvl="0" marL="457200" rtl="0" algn="l">
              <a:spcBef>
                <a:spcPts val="0"/>
              </a:spcBef>
              <a:spcAft>
                <a:spcPts val="0"/>
              </a:spcAft>
              <a:buNone/>
            </a:pPr>
            <a:r>
              <a:t/>
            </a:r>
            <a:endParaRPr i="1">
              <a:solidFill>
                <a:schemeClr val="dk1"/>
              </a:solidFill>
            </a:endParaRPr>
          </a:p>
          <a:p>
            <a:pPr indent="0" lvl="0" marL="457200" rtl="0" algn="l">
              <a:spcBef>
                <a:spcPts val="0"/>
              </a:spcBef>
              <a:spcAft>
                <a:spcPts val="0"/>
              </a:spcAft>
              <a:buNone/>
            </a:pPr>
            <a:r>
              <a:t/>
            </a:r>
            <a:endParaRPr i="1">
              <a:solidFill>
                <a:schemeClr val="dk1"/>
              </a:solidFill>
            </a:endParaRPr>
          </a:p>
          <a:p>
            <a:pPr indent="0" lvl="0" marL="0" rtl="0" algn="l">
              <a:spcBef>
                <a:spcPts val="0"/>
              </a:spcBef>
              <a:spcAft>
                <a:spcPts val="0"/>
              </a:spcAft>
              <a:buSzPts val="1200"/>
              <a:buNone/>
            </a:pPr>
            <a:r>
              <a:rPr lang="en-US" sz="1200"/>
              <a:t>[R38] Introduction au Data Mining. Julie Hor, Sup de Vinci. 2020. Support local fourni : Cours 2020 Final - M1.pdf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40" name="Google Shape;24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0" name="Google Shape;260;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a:solidFill>
                  <a:schemeClr val="dk1"/>
                </a:solidFill>
              </a:rPr>
              <a:t>Message clé</a:t>
            </a:r>
            <a:r>
              <a:rPr lang="en-US">
                <a:solidFill>
                  <a:schemeClr val="dk1"/>
                </a:solidFill>
              </a:rPr>
              <a:t> : Justifier formellement l'exclusion de la variable </a:t>
            </a:r>
            <a:r>
              <a:rPr lang="en-US">
                <a:solidFill>
                  <a:srgbClr val="188038"/>
                </a:solidFill>
                <a:latin typeface="Roboto Mono"/>
                <a:ea typeface="Roboto Mono"/>
                <a:cs typeface="Roboto Mono"/>
                <a:sym typeface="Roboto Mono"/>
              </a:rPr>
              <a:t>duration</a:t>
            </a:r>
            <a:r>
              <a:rPr lang="en-US">
                <a:solidFill>
                  <a:schemeClr val="dk1"/>
                </a:solidFill>
              </a:rPr>
              <a:t>.</a:t>
            </a:r>
            <a:endParaRPr>
              <a:solidFill>
                <a:schemeClr val="dk1"/>
              </a:solidFill>
            </a:endParaRPr>
          </a:p>
          <a:p>
            <a:pPr indent="0" lvl="0" marL="0" rtl="0" algn="l">
              <a:lnSpc>
                <a:spcPct val="115000"/>
              </a:lnSpc>
              <a:spcBef>
                <a:spcPts val="1500"/>
              </a:spcBef>
              <a:spcAft>
                <a:spcPts val="0"/>
              </a:spcAft>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Sur ce jeu de données de télémarketing bancaire, nous avons 4 119 lignes pour nos expérimentations rapides. Regardez bien la variable </a:t>
            </a:r>
            <a:r>
              <a:rPr lang="en-US">
                <a:solidFill>
                  <a:srgbClr val="188038"/>
                </a:solidFill>
                <a:latin typeface="Roboto Mono"/>
                <a:ea typeface="Roboto Mono"/>
                <a:cs typeface="Roboto Mono"/>
                <a:sym typeface="Roboto Mono"/>
              </a:rPr>
              <a:t>duration</a:t>
            </a:r>
            <a:r>
              <a:rPr lang="en-US">
                <a:solidFill>
                  <a:schemeClr val="dk1"/>
                </a:solidFill>
              </a:rPr>
              <a:t> : elle mesure la durée de l'appel. En pratique, si l'appel a duré 20 minutes, la souscription a déjà eu lieu. L'inclure donnerait un score spectaculaire mais totalement inapplicable pour prioriser les appels en amont. C'est le premier exemple de fuite d'information. »</a:t>
            </a:r>
            <a:endParaRPr>
              <a:solidFill>
                <a:schemeClr val="dk1"/>
              </a:solidFill>
            </a:endParaRPr>
          </a:p>
          <a:p>
            <a:pPr indent="0" lvl="0" marL="0" rtl="0" algn="l">
              <a:spcBef>
                <a:spcPts val="1500"/>
              </a:spcBef>
              <a:spcAft>
                <a:spcPts val="0"/>
              </a:spcAft>
              <a:buSzPts val="1200"/>
              <a:buNone/>
            </a:pPr>
            <a:r>
              <a:rPr b="1" lang="en-US">
                <a:solidFill>
                  <a:schemeClr val="dk1"/>
                </a:solidFill>
              </a:rPr>
              <a:t>Action étudiants</a:t>
            </a:r>
            <a:r>
              <a:rPr lang="en-US">
                <a:solidFill>
                  <a:schemeClr val="dk1"/>
                </a:solidFill>
              </a:rPr>
              <a:t> : Faire repérer pourquoi </a:t>
            </a:r>
            <a:r>
              <a:rPr lang="en-US">
                <a:solidFill>
                  <a:srgbClr val="188038"/>
                </a:solidFill>
                <a:latin typeface="Roboto Mono"/>
                <a:ea typeface="Roboto Mono"/>
                <a:cs typeface="Roboto Mono"/>
                <a:sym typeface="Roboto Mono"/>
              </a:rPr>
              <a:t>duration</a:t>
            </a:r>
            <a:r>
              <a:rPr lang="en-US">
                <a:solidFill>
                  <a:schemeClr val="dk1"/>
                </a:solidFill>
              </a:rPr>
              <a:t> n'est connue qu'</a:t>
            </a:r>
            <a:r>
              <a:rPr i="1" lang="en-US">
                <a:solidFill>
                  <a:schemeClr val="dk1"/>
                </a:solidFill>
              </a:rPr>
              <a:t>après</a:t>
            </a:r>
            <a:r>
              <a:rPr lang="en-US">
                <a:solidFill>
                  <a:schemeClr val="dk1"/>
                </a:solidFill>
              </a:rPr>
              <a:t> l'action.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61" name="Google Shape;261;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04800" lvl="0" marL="457200" rtl="0" algn="l">
              <a:lnSpc>
                <a:spcPct val="115000"/>
              </a:lnSpc>
              <a:spcBef>
                <a:spcPts val="1500"/>
              </a:spcBef>
              <a:spcAft>
                <a:spcPts val="0"/>
              </a:spcAft>
              <a:buClr>
                <a:schemeClr val="dk1"/>
              </a:buClr>
              <a:buSzPts val="1200"/>
              <a:buChar char="●"/>
            </a:pPr>
            <a:r>
              <a:rPr b="1" lang="en-US">
                <a:solidFill>
                  <a:schemeClr val="dk1"/>
                </a:solidFill>
              </a:rPr>
              <a:t>Message clé</a:t>
            </a:r>
            <a:r>
              <a:rPr lang="en-US">
                <a:solidFill>
                  <a:schemeClr val="dk1"/>
                </a:solidFill>
              </a:rPr>
              <a:t> : Distinguer fuite de cible, fuite de prétraitement et fuite de structure.</a:t>
            </a:r>
            <a:endParaRPr u="sng">
              <a:solidFill>
                <a:schemeClr val="hlink"/>
              </a:solidFill>
            </a:endParaRPr>
          </a:p>
          <a:p>
            <a:pPr indent="-304800" lvl="0" marL="457200" rtl="0" algn="l">
              <a:lnSpc>
                <a:spcPct val="115000"/>
              </a:lnSpc>
              <a:spcBef>
                <a:spcPts val="0"/>
              </a:spcBef>
              <a:spcAft>
                <a:spcPts val="0"/>
              </a:spcAft>
              <a:buClr>
                <a:schemeClr val="dk1"/>
              </a:buClr>
              <a:buSzPts val="1200"/>
              <a:buChar char="●"/>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On classe les fuites en trois catégories. La fuite de cible : une variable proxy révèle l'issue. La fuite de prétraitement : calculer un scaler, imputer ou faire une sélection sur l'ensemble de la table avant le split. Et la fuite de structure : retrouver le même client ou des données futures des deux côtés du split. Retenez cette règle : la présence d'une colonne dans un export CSV ne garantit absolument pas sa disponibilité au moment de la décision. »</a:t>
            </a:r>
            <a:endParaRPr u="sng">
              <a:solidFill>
                <a:schemeClr val="hlink"/>
              </a:solidFill>
            </a:endParaRPr>
          </a:p>
          <a:p>
            <a:pPr indent="-304800" lvl="0" marL="457200" rtl="0" algn="l">
              <a:lnSpc>
                <a:spcPct val="115000"/>
              </a:lnSpc>
              <a:spcBef>
                <a:spcPts val="0"/>
              </a:spcBef>
              <a:spcAft>
                <a:spcPts val="0"/>
              </a:spcAft>
              <a:buClr>
                <a:schemeClr val="dk1"/>
              </a:buClr>
              <a:buSzPts val="1200"/>
              <a:buChar char="●"/>
            </a:pPr>
            <a:r>
              <a:rPr b="1" lang="en-US">
                <a:solidFill>
                  <a:schemeClr val="dk1"/>
                </a:solidFill>
              </a:rPr>
              <a:t>Exemple concret</a:t>
            </a:r>
            <a:r>
              <a:rPr lang="en-US">
                <a:solidFill>
                  <a:schemeClr val="dk1"/>
                </a:solidFill>
              </a:rPr>
              <a:t> : </a:t>
            </a:r>
            <a:r>
              <a:rPr lang="en-US">
                <a:solidFill>
                  <a:srgbClr val="188038"/>
                </a:solidFill>
                <a:latin typeface="Roboto Mono"/>
                <a:ea typeface="Roboto Mono"/>
                <a:cs typeface="Roboto Mono"/>
                <a:sym typeface="Roboto Mono"/>
              </a:rPr>
              <a:t>StandardScaler().fit_transform(X)</a:t>
            </a:r>
            <a:r>
              <a:rPr lang="en-US">
                <a:solidFill>
                  <a:schemeClr val="dk1"/>
                </a:solidFill>
              </a:rPr>
              <a:t> avant de découper contamine la validation avec la moyenne du test.</a:t>
            </a:r>
            <a:endParaRPr/>
          </a:p>
          <a:p>
            <a:pPr indent="0" lvl="0" marL="0" rtl="0" algn="l">
              <a:spcBef>
                <a:spcPts val="1500"/>
              </a:spcBef>
              <a:spcAft>
                <a:spcPts val="0"/>
              </a:spcAft>
              <a:buSzPts val="1200"/>
              <a:buNone/>
            </a:pPr>
            <a:r>
              <a:rPr lang="en-US" sz="1200"/>
              <a:t>[R02] Common pitfalls and recommended practices. Équipe scikit-learn. documentation 1.9.1, 2026. https://scikit-learn.org/stable/common_pitfalls.html (consulté le 19 septembre 2026).</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80" name="Google Shape;280;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solidFill>
                  <a:schemeClr val="dk1"/>
                </a:solidFill>
              </a:rPr>
              <a:t>Message clé</a:t>
            </a:r>
            <a:r>
              <a:rPr lang="en-US">
                <a:solidFill>
                  <a:schemeClr val="dk1"/>
                </a:solidFill>
              </a:rPr>
              <a:t> : Le jeu de test final ne sert qu'à mesurer, jamais à décider</a:t>
            </a:r>
            <a:endParaRPr>
              <a:solidFill>
                <a:schemeClr val="dk1"/>
              </a:solidFill>
            </a:endParaRPr>
          </a:p>
          <a:p>
            <a:pPr indent="0" lvl="0" marL="0" rtl="0" algn="l">
              <a:spcBef>
                <a:spcPts val="0"/>
              </a:spcBef>
              <a:spcAft>
                <a:spcPts val="0"/>
              </a:spcAft>
              <a:buSzPts val="1100"/>
              <a:buNone/>
            </a:pPr>
            <a:r>
              <a:t/>
            </a:r>
            <a:endParaRPr>
              <a:solidFill>
                <a:schemeClr val="dk1"/>
              </a:solidFill>
            </a:endParaRPr>
          </a:p>
          <a:p>
            <a:pPr indent="0" lvl="0" marL="0" rtl="0" algn="l">
              <a:spcBef>
                <a:spcPts val="0"/>
              </a:spcBef>
              <a:spcAft>
                <a:spcPts val="0"/>
              </a:spcAft>
              <a:buClr>
                <a:schemeClr val="dk1"/>
              </a:buClr>
              <a:buSzPts val="1100"/>
              <a:buFont typeface="Arial"/>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Le découpage en trois tiers n'est pas une formalité académique. L'entraînement sert au solveur pour ajuster θ\thetaθ. La validation sert au data scientist pour choisir ses hyperparamètres, son seuil et sa famille d'algorithmes. Le test, lui, reste sous scellé. Dès l'instant où vous modifiez un paramètre après avoir observé le résultat sur le test, ce test devient un jeu de validation déguisé. »</a:t>
            </a:r>
            <a:endParaRPr>
              <a:solidFill>
                <a:schemeClr val="dk1"/>
              </a:solidFill>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01" name="Google Shape;30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solidFill>
                  <a:schemeClr val="dk1"/>
                </a:solidFill>
              </a:rPr>
              <a:t>Message clé</a:t>
            </a:r>
            <a:r>
              <a:rPr lang="en-US">
                <a:solidFill>
                  <a:schemeClr val="dk1"/>
                </a:solidFill>
              </a:rPr>
              <a:t> : Adapter la stratégie de split à la dépendance des données.</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SzPts val="1100"/>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Un </a:t>
            </a:r>
            <a:r>
              <a:rPr lang="en-US">
                <a:solidFill>
                  <a:srgbClr val="188038"/>
                </a:solidFill>
                <a:latin typeface="Roboto Mono"/>
                <a:ea typeface="Roboto Mono"/>
                <a:cs typeface="Roboto Mono"/>
                <a:sym typeface="Roboto Mono"/>
              </a:rPr>
              <a:t>train_test_split</a:t>
            </a:r>
            <a:r>
              <a:rPr lang="en-US">
                <a:solidFill>
                  <a:schemeClr val="dk1"/>
                </a:solidFill>
              </a:rPr>
              <a:t> aléatoire n'est valable que si vos lignes sont indépendantes et identiquement distribuées. Si un même client a dix lignes, on applique impérativement </a:t>
            </a:r>
            <a:r>
              <a:rPr lang="en-US">
                <a:solidFill>
                  <a:srgbClr val="188038"/>
                </a:solidFill>
                <a:latin typeface="Roboto Mono"/>
                <a:ea typeface="Roboto Mono"/>
                <a:cs typeface="Roboto Mono"/>
                <a:sym typeface="Roboto Mono"/>
              </a:rPr>
              <a:t>GroupKFold</a:t>
            </a:r>
            <a:r>
              <a:rPr lang="en-US">
                <a:solidFill>
                  <a:schemeClr val="dk1"/>
                </a:solidFill>
              </a:rPr>
              <a:t>. Si la cible dépend du temps, on utilise une validation temporelle avec un gap pour éviter l'autocorrélation. Ignorer la structure des données génère des estimations optimistes qui s'effondrent dès le déploiement.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22" name="Google Shape;32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h378dfd42890e2282_9_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0" name="Google Shape;340;h378dfd42890e2282_9_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Retenez bien la séparation des rôles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La CV interne, c'est notre banc d'essai : elle cherche la meilleure configuration </a:t>
            </a:r>
            <a:r>
              <a:rPr lang="en-US">
                <a:solidFill>
                  <a:schemeClr val="dk1"/>
                </a:solidFill>
              </a:rPr>
              <a:t>d'hyperparamètres</a:t>
            </a:r>
            <a:r>
              <a:rPr lang="en-US">
                <a:solidFill>
                  <a:schemeClr val="dk1"/>
                </a:solidFill>
              </a:rPr>
              <a:t> en explorant les données d'entraînement.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Mais attention : le score obtenu par le gagnant de la CV interne est mathématiquement trop optimiste, car on a sélectionné le modèle précisément parce qu'il a maximisé ce score.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C'est là qu'intervient la CV externe : elle sert de juge arbitre. Elle teste la solution sélectionnée sur un pli qui n'a jamais influencé la décision d'optimisation.</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En résumé : la boucle interne choisit, la boucle externe mesure.</a:t>
            </a:r>
            <a:endParaRPr>
              <a:solidFill>
                <a:schemeClr val="dk1"/>
              </a:solidFill>
            </a:endParaRPr>
          </a:p>
          <a:p>
            <a:pPr indent="0" lvl="0" marL="0" rtl="0" algn="l">
              <a:spcBef>
                <a:spcPts val="0"/>
              </a:spcBef>
              <a:spcAft>
                <a:spcPts val="0"/>
              </a:spcAft>
              <a:buSzPts val="1200"/>
              <a:buNone/>
            </a:pPr>
            <a:r>
              <a:t/>
            </a:r>
            <a:endParaRPr b="1">
              <a:solidFill>
                <a:schemeClr val="dk1"/>
              </a:solidFill>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41" name="Google Shape;341;h378dfd42890e2282_9_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solidFill>
                  <a:schemeClr val="dk1"/>
                </a:solidFill>
              </a:rPr>
              <a:t>Message clé</a:t>
            </a:r>
            <a:r>
              <a:rPr lang="en-US">
                <a:solidFill>
                  <a:schemeClr val="dk1"/>
                </a:solidFill>
              </a:rPr>
              <a:t> : Encapsuler préprocesseur et modèle dans </a:t>
            </a:r>
            <a:r>
              <a:rPr lang="en-US">
                <a:solidFill>
                  <a:srgbClr val="188038"/>
                </a:solidFill>
                <a:latin typeface="Roboto Mono"/>
                <a:ea typeface="Roboto Mono"/>
                <a:cs typeface="Roboto Mono"/>
                <a:sym typeface="Roboto Mono"/>
              </a:rPr>
              <a:t>sklearn.pipeline.Pipeline</a:t>
            </a:r>
            <a:r>
              <a:rPr lang="en-US">
                <a:solidFill>
                  <a:schemeClr val="dk1"/>
                </a:solidFill>
              </a:rPr>
              <a: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b="1" lang="en-US">
                <a:solidFill>
                  <a:schemeClr val="dk1"/>
                </a:solidFill>
              </a:rPr>
              <a:t>Script oral</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br>
              <a:rPr lang="en-US">
                <a:solidFill>
                  <a:schemeClr val="dk1"/>
                </a:solidFill>
              </a:rPr>
            </a:br>
            <a:r>
              <a:rPr lang="en-US">
                <a:solidFill>
                  <a:schemeClr val="dk1"/>
                </a:solidFill>
              </a:rPr>
              <a:t>« Ici, l’idée essentielle est que le pipeline ne doit jamais apprendre à partir des données de validation ou de test.</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chemeClr val="dk1"/>
                </a:solidFill>
              </a:rPr>
              <a:t>Dans une validation croisée, chaque pli rejoue une situation réaliste : une partie des données est disponible </a:t>
            </a:r>
            <a:r>
              <a:rPr i="1" lang="en-US">
                <a:solidFill>
                  <a:schemeClr val="dk1"/>
                </a:solidFill>
              </a:rPr>
              <a:t>pour entraîner le modèle</a:t>
            </a:r>
            <a:r>
              <a:rPr lang="en-US">
                <a:solidFill>
                  <a:schemeClr val="dk1"/>
                </a:solidFill>
              </a:rPr>
              <a:t>, puis une autre partie, restée inconnue, sert à l’évaluer.</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chemeClr val="dk1"/>
                </a:solidFill>
              </a:rPr>
              <a:t>Le terme </a:t>
            </a:r>
            <a:r>
              <a:rPr i="1" lang="en-US">
                <a:solidFill>
                  <a:schemeClr val="dk1"/>
                </a:solidFill>
              </a:rPr>
              <a:t>fit</a:t>
            </a:r>
            <a:r>
              <a:rPr lang="en-US">
                <a:solidFill>
                  <a:schemeClr val="dk1"/>
                </a:solidFill>
              </a:rPr>
              <a:t> signifie donc : apprendre les paramètres à partir du seul sous-ensemble d’entraînement du pli. Par exemple, on y calcule la médiane pour imputer les valeurs manquantes, les catégories observées pour l’encodage One-Hot, la moyenne et l’écart-type pour standardiser les variables numériques, puis on entraîne le modèle.</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chemeClr val="dk1"/>
                </a:solidFill>
              </a:rPr>
              <a:t>Ensuite, sur le pli de validation, on ne recalcule rien. On applique simplement ces paramètres déjà appris : c’est le rôle de </a:t>
            </a:r>
            <a:r>
              <a:rPr i="1" lang="en-US">
                <a:solidFill>
                  <a:schemeClr val="dk1"/>
                </a:solidFill>
              </a:rPr>
              <a:t>transform</a:t>
            </a:r>
            <a:r>
              <a:rPr lang="en-US">
                <a:solidFill>
                  <a:schemeClr val="dk1"/>
                </a:solidFill>
              </a:rPr>
              <a:t>, puis de </a:t>
            </a:r>
            <a:r>
              <a:rPr i="1" lang="en-US">
                <a:solidFill>
                  <a:schemeClr val="dk1"/>
                </a:solidFill>
              </a:rPr>
              <a:t>predict</a:t>
            </a:r>
            <a:r>
              <a:rPr lang="en-US">
                <a:solidFill>
                  <a:schemeClr val="dk1"/>
                </a:solidFill>
              </a:rPr>
              <a:t>.</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chemeClr val="dk1"/>
                </a:solidFill>
              </a:rPr>
              <a:t>Si nous calculions, par exemple, la moyenne de standardisation sur l’ensemble du fichier avant la validation croisée, les données de validation influenceraient déjà le prétraitement. Même sans utiliser directement leur cible, ce serait une fuite d’information et notre score serait artificiellement optimiste.</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rgbClr val="188038"/>
                </a:solidFill>
                <a:latin typeface="Roboto Mono"/>
                <a:ea typeface="Roboto Mono"/>
                <a:cs typeface="Roboto Mono"/>
                <a:sym typeface="Roboto Mono"/>
              </a:rPr>
              <a:t>ColumnTransformer</a:t>
            </a:r>
            <a:r>
              <a:rPr lang="en-US">
                <a:solidFill>
                  <a:schemeClr val="dk1"/>
                </a:solidFill>
              </a:rPr>
              <a:t> permet d’appliquer des traitements différents selon les types de colonnes — par exemple imputation et standardisation des numériques, encodage des catégorielles. </a:t>
            </a:r>
            <a:r>
              <a:rPr lang="en-US">
                <a:solidFill>
                  <a:srgbClr val="188038"/>
                </a:solidFill>
                <a:latin typeface="Roboto Mono"/>
                <a:ea typeface="Roboto Mono"/>
                <a:cs typeface="Roboto Mono"/>
                <a:sym typeface="Roboto Mono"/>
              </a:rPr>
              <a:t>Pipeline</a:t>
            </a:r>
            <a:r>
              <a:rPr lang="en-US">
                <a:solidFill>
                  <a:schemeClr val="dk1"/>
                </a:solidFill>
              </a:rPr>
              <a:t>, elle, relie toutes ces étapes au modèle dans un seul objet. Cela rend le protocole reproductible et protège contre les erreurs de manipulation. »</a:t>
            </a:r>
            <a:endParaRPr>
              <a:solidFill>
                <a:schemeClr val="dk1"/>
              </a:solidFill>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[R02] Common pitfalls and recommended practices. Équipe scikit-learn. documentation 1.9.1, 2026. https://scikit-learn.org/stable/common_pitfalls.html (consulté le 19 septembre 2026).</a:t>
            </a:r>
            <a:endParaRPr/>
          </a:p>
          <a:p>
            <a:pPr indent="0" lvl="0" marL="0" rtl="0" algn="l">
              <a:spcBef>
                <a:spcPts val="0"/>
              </a:spcBef>
              <a:spcAft>
                <a:spcPts val="0"/>
              </a:spcAft>
              <a:buSzPts val="1200"/>
              <a:buNone/>
            </a:pPr>
            <a:r>
              <a:rPr lang="en-US" sz="1200"/>
              <a:t>[R18] Preprocessing data. Équipe scikit-learn. 2026. https://scikit-learn.org/stable/modules/preprocessing.html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59" name="Google Shape;359;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9" name="Google Shape;37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a:solidFill>
                  <a:schemeClr val="dk1"/>
                </a:solidFill>
              </a:rPr>
              <a:t>Message clé</a:t>
            </a:r>
            <a:r>
              <a:rPr lang="en-US">
                <a:solidFill>
                  <a:schemeClr val="dk1"/>
                </a:solidFill>
              </a:rPr>
              <a:t> : Les faux positifs et faux négatifs n'ont jamais le même prix économique</a:t>
            </a:r>
            <a:endParaRPr sz="1400"/>
          </a:p>
          <a:p>
            <a:pPr indent="0" lvl="0" marL="0" rtl="0" algn="l">
              <a:lnSpc>
                <a:spcPct val="115000"/>
              </a:lnSpc>
              <a:spcBef>
                <a:spcPts val="1500"/>
              </a:spcBef>
              <a:spcAft>
                <a:spcPts val="0"/>
              </a:spcAft>
              <a:buSzPts val="1100"/>
              <a:buNone/>
            </a:pPr>
            <a:r>
              <a:rPr b="1" lang="en-US">
                <a:solidFill>
                  <a:schemeClr val="dk1"/>
                </a:solidFill>
              </a:rPr>
              <a:t>Script oral</a:t>
            </a:r>
            <a:r>
              <a:rPr lang="en-US">
                <a:solidFill>
                  <a:schemeClr val="dk1"/>
                </a:solidFill>
              </a:rPr>
              <a:t> :</a:t>
            </a:r>
            <a:endParaRPr>
              <a:solidFill>
                <a:schemeClr val="dk1"/>
              </a:solidFill>
            </a:endParaRPr>
          </a:p>
          <a:p>
            <a:pPr indent="0" lvl="0" marL="0" rtl="0" algn="l">
              <a:lnSpc>
                <a:spcPct val="115000"/>
              </a:lnSpc>
              <a:spcBef>
                <a:spcPts val="1500"/>
              </a:spcBef>
              <a:spcAft>
                <a:spcPts val="0"/>
              </a:spcAft>
              <a:buSzPts val="1100"/>
              <a:buNone/>
            </a:pPr>
            <a:r>
              <a:rPr lang="en-US">
                <a:solidFill>
                  <a:schemeClr val="dk1"/>
                </a:solidFill>
              </a:rPr>
              <a:t>« Regardez cette matrice : 60 vrais positifs, 40 faux négatifs, 90 faux positifs. Pris isolément, ces nombres n'ont aucun sens métier. Quel est le coût d'un faux négatif : un client rentable manqué, ou une opportunité perdue ? Et quel est le coût d'un faux positif : le temps passé par un conseiller au téléphone ? Une matrice de confusion ne se lit jamais de façon symétrique ; elle s'évalue en euros ou en ressources humaines. »</a:t>
            </a:r>
            <a:endParaRPr/>
          </a:p>
          <a:p>
            <a:pPr indent="0" lvl="0" marL="0" rtl="0" algn="l">
              <a:spcBef>
                <a:spcPts val="1500"/>
              </a:spcBef>
              <a:spcAft>
                <a:spcPts val="0"/>
              </a:spcAft>
              <a:buSzPts val="1200"/>
              <a:buNone/>
            </a:pPr>
            <a:r>
              <a:rPr b="1" lang="en-US" sz="1200"/>
              <a:t>Exemple original</a:t>
            </a:r>
            <a:r>
              <a:rPr lang="en-US" sz="1200"/>
              <a:t> : 100 positifs et 900 négatifs. La précision vaut 60/150 = 0,40. Le rappel vaut 60/100 = 0,60. L'accuracy vaut 870/1000 = 0,87. Le F1 vaut 2×0,4×0,6/(0,4+0,6) = 0,48. Demander aux étudiants quel chiffre regarder si les 150 alertes dépassent la capacité quotidienne d'analyse.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1 000 observations : 60 vrais positifs et 90 faux positifs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[R04] Metrics and scoring. Équipe scikit-learn. 2026. https://scikit-learn.org/stable/modules/model_evaluation.html (consulté le 19 septembre 2026).</a:t>
            </a:r>
            <a:endParaRPr/>
          </a:p>
          <a:p>
            <a:pPr indent="0" lvl="0" marL="0" rtl="0" algn="l">
              <a:spcBef>
                <a:spcPts val="0"/>
              </a:spcBef>
              <a:spcAft>
                <a:spcPts val="0"/>
              </a:spcAft>
              <a:buSzPts val="1200"/>
              <a:buNone/>
            </a:pPr>
            <a:r>
              <a:rPr lang="en-US" sz="1200"/>
              <a:t>[R39] Techniques de datamining : méthodologies et mise en pratique. Julie Hor, Sup de Vinci. 2020. Support local fourni : Méthodo Data Mining 2020.pdf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380" name="Google Shape;380;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fbbeabe3ba_13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g3fbbeabe3ba_13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17500" lvl="0" marL="457200" rtl="0" algn="l">
              <a:spcBef>
                <a:spcPts val="0"/>
              </a:spcBef>
              <a:spcAft>
                <a:spcPts val="0"/>
              </a:spcAft>
              <a:buSzPts val="1400"/>
              <a:buChar char="-"/>
            </a:pPr>
            <a:r>
              <a:rPr b="1" lang="en-US"/>
              <a:t>Recall (Rappel, sensibilité)</a:t>
            </a:r>
            <a:r>
              <a:rPr lang="en-US"/>
              <a:t> : Mésure la capacité d’un modèle à retrouver tous les vrais positifs parmis les cas réellement positifs.</a:t>
            </a:r>
            <a:endParaRPr/>
          </a:p>
          <a:p>
            <a:pPr indent="-317500" lvl="0" marL="457200" rtl="0" algn="l">
              <a:spcBef>
                <a:spcPts val="0"/>
              </a:spcBef>
              <a:spcAft>
                <a:spcPts val="0"/>
              </a:spcAft>
              <a:buSzPts val="1400"/>
              <a:buChar char="-"/>
            </a:pPr>
            <a:r>
              <a:rPr b="1" lang="en-US"/>
              <a:t>Accuracy</a:t>
            </a:r>
            <a:r>
              <a:rPr lang="en-US"/>
              <a:t> : Quelle proportion totale de prédictions est correcte. Classes relativement équilibrés</a:t>
            </a:r>
            <a:endParaRPr/>
          </a:p>
          <a:p>
            <a:pPr indent="-317500" lvl="0" marL="457200" rtl="0" algn="l">
              <a:spcBef>
                <a:spcPts val="0"/>
              </a:spcBef>
              <a:spcAft>
                <a:spcPts val="0"/>
              </a:spcAft>
              <a:buSzPts val="1400"/>
              <a:buChar char="-"/>
            </a:pPr>
            <a:r>
              <a:rPr b="1" lang="en-US"/>
              <a:t>Précision </a:t>
            </a:r>
            <a:r>
              <a:rPr lang="en-US"/>
              <a:t>:  Quand le modèle prédit “positif”, as-t’il raison ? Faux positifs couteux = alertes fraudes, bannisements, spam</a:t>
            </a:r>
            <a:endParaRPr/>
          </a:p>
          <a:p>
            <a:pPr indent="-317500" lvl="0" marL="457200" rtl="0" algn="l">
              <a:spcBef>
                <a:spcPts val="0"/>
              </a:spcBef>
              <a:spcAft>
                <a:spcPts val="0"/>
              </a:spcAft>
              <a:buSzPts val="1400"/>
              <a:buChar char="-"/>
            </a:pPr>
            <a:r>
              <a:rPr b="1" lang="en-US"/>
              <a:t>Spécificité / TNR</a:t>
            </a:r>
            <a:r>
              <a:rPr lang="en-US"/>
              <a:t> : Parmi les négatifs réels, combien sont correctement rejetés ? Eviter les fausses alertes.</a:t>
            </a:r>
            <a:endParaRPr/>
          </a:p>
          <a:p>
            <a:pPr indent="-317500" lvl="0" marL="457200" rtl="0" algn="l">
              <a:spcBef>
                <a:spcPts val="0"/>
              </a:spcBef>
              <a:spcAft>
                <a:spcPts val="0"/>
              </a:spcAft>
              <a:buSzPts val="1400"/>
              <a:buChar char="-"/>
            </a:pPr>
            <a:r>
              <a:rPr b="1" lang="en-US"/>
              <a:t>F1-score</a:t>
            </a:r>
            <a:r>
              <a:rPr lang="en-US"/>
              <a:t>: Quel compromis entre précision et recall. Classes déséquilibrées, importance égale de P et R.</a:t>
            </a:r>
            <a:endParaRPr/>
          </a:p>
          <a:p>
            <a:pPr indent="-317500" lvl="0" marL="457200" rtl="0" algn="l">
              <a:spcBef>
                <a:spcPts val="0"/>
              </a:spcBef>
              <a:spcAft>
                <a:spcPts val="0"/>
              </a:spcAft>
              <a:buSzPts val="1400"/>
              <a:buChar char="-"/>
            </a:pPr>
            <a:r>
              <a:rPr b="1" lang="en-US"/>
              <a:t>Fβ</a:t>
            </a:r>
            <a:r>
              <a:rPr lang="en-US"/>
              <a:t>(beta): Veut-on favoriser précision ou recall ? β&gt;1 favorise recal ; β&lt;1 favorise precision.</a:t>
            </a:r>
            <a:endParaRPr/>
          </a:p>
          <a:p>
            <a:pPr indent="-317500" lvl="0" marL="457200" rtl="0" algn="l">
              <a:spcBef>
                <a:spcPts val="0"/>
              </a:spcBef>
              <a:spcAft>
                <a:spcPts val="0"/>
              </a:spcAft>
              <a:buSzPts val="1400"/>
              <a:buChar char="-"/>
            </a:pPr>
            <a:r>
              <a:rPr b="1" lang="en-US"/>
              <a:t>Balanced accuracy </a:t>
            </a:r>
            <a:r>
              <a:rPr lang="en-US"/>
              <a:t>: Le modèle marche-t-il pour les deux classes ? Fort déséquilibre de classe</a:t>
            </a:r>
            <a:endParaRPr/>
          </a:p>
          <a:p>
            <a:pPr indent="-317500" lvl="0" marL="457200" rtl="0" algn="l">
              <a:spcBef>
                <a:spcPts val="0"/>
              </a:spcBef>
              <a:spcAft>
                <a:spcPts val="0"/>
              </a:spcAft>
              <a:buSzPts val="1400"/>
              <a:buChar char="-"/>
            </a:pPr>
            <a:r>
              <a:rPr b="1" lang="en-US"/>
              <a:t>MCC : </a:t>
            </a:r>
            <a:r>
              <a:rPr lang="en-US"/>
              <a:t>Corrélation entre </a:t>
            </a:r>
            <a:r>
              <a:rPr lang="en-US"/>
              <a:t>prédictions et réalité. Le modèle est-il globalement fiable avec toutes les cellules (TP/TN). </a:t>
            </a:r>
            <a:endParaRPr/>
          </a:p>
        </p:txBody>
      </p:sp>
      <p:sp>
        <p:nvSpPr>
          <p:cNvPr id="399" name="Google Shape;399;g3fbbeabe3ba_13_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6" name="Google Shape;41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Le piège de l'accuracy</a:t>
            </a:r>
            <a:endParaRPr b="1" sz="1200"/>
          </a:p>
          <a:p>
            <a:pPr indent="0" lvl="0" marL="0" rtl="0" algn="l">
              <a:spcBef>
                <a:spcPts val="0"/>
              </a:spcBef>
              <a:spcAft>
                <a:spcPts val="0"/>
              </a:spcAft>
              <a:buSzPts val="1200"/>
              <a:buNone/>
            </a:pPr>
            <a:r>
              <a:t/>
            </a:r>
            <a:endParaRPr b="1"/>
          </a:p>
          <a:p>
            <a:pPr indent="0" lvl="0" marL="0" rtl="0" algn="l">
              <a:spcBef>
                <a:spcPts val="0"/>
              </a:spcBef>
              <a:spcAft>
                <a:spcPts val="0"/>
              </a:spcAft>
              <a:buSzPts val="1200"/>
              <a:buNone/>
            </a:pPr>
            <a:r>
              <a:rPr lang="en-US">
                <a:solidFill>
                  <a:schemeClr val="dk1"/>
                </a:solidFill>
              </a:rPr>
              <a:t>Si un événement rare n'apparaît que dans 1% des cas, un modèle naïf qui prédit systématiquement "non" obtient 99% d'accuracy. Sur le papier, le chiffre impressionne ; en réalité, le rappel est de zéro et le modèle est inutile. Comparez systématiquement vos métriques à un </a:t>
            </a:r>
            <a:r>
              <a:rPr lang="en-US">
                <a:solidFill>
                  <a:srgbClr val="188038"/>
                </a:solidFill>
                <a:latin typeface="Roboto Mono"/>
                <a:ea typeface="Roboto Mono"/>
                <a:cs typeface="Roboto Mono"/>
                <a:sym typeface="Roboto Mono"/>
              </a:rPr>
              <a:t>DummyClassifier(strategy="prior")</a:t>
            </a:r>
            <a:r>
              <a:rPr lang="en-US">
                <a:solidFill>
                  <a:schemeClr val="dk1"/>
                </a:solidFill>
              </a:rPr>
              <a:t> pour vérifier le gain réel apporté par l'apprentissage. </a:t>
            </a:r>
            <a:endParaRPr b="1" sz="13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Exemple construit, sans lien avec le taux de souscription UCI. Demander si balanced accuracy résout tous les problèmes : non, elle moyenne les rappels des classes mais ne représente pas le coût métier. En multiclasse, distinguer macro, micro et moyenne pondérée. Les rares classes peuvent disparaître dans une moyenne dominée par la majorité.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 métrique dépend de la décision, pas de ce qui donne le plus grand nombre.</a:t>
            </a:r>
            <a:endParaRPr sz="1200"/>
          </a:p>
          <a:p>
            <a:pPr indent="0" lvl="0" marL="0" rtl="0" algn="l">
              <a:spcBef>
                <a:spcPts val="0"/>
              </a:spcBef>
              <a:spcAft>
                <a:spcPts val="0"/>
              </a:spcAft>
              <a:buSzPts val="1200"/>
              <a:buNone/>
            </a:pPr>
            <a:r>
              <a:t/>
            </a:r>
            <a:endParaRPr/>
          </a:p>
          <a:p>
            <a:pPr indent="-298450" lvl="0" marL="457200" rtl="0" algn="l">
              <a:lnSpc>
                <a:spcPct val="115000"/>
              </a:lnSpc>
              <a:spcBef>
                <a:spcPts val="1500"/>
              </a:spcBef>
              <a:spcAft>
                <a:spcPts val="0"/>
              </a:spcAft>
              <a:buClr>
                <a:schemeClr val="dk1"/>
              </a:buClr>
              <a:buSzPts val="1100"/>
              <a:buChar char="●"/>
            </a:pPr>
            <a:r>
              <a:rPr lang="en-US" sz="1100">
                <a:solidFill>
                  <a:schemeClr val="dk1"/>
                </a:solidFill>
              </a:rPr>
              <a:t>L’</a:t>
            </a:r>
            <a:r>
              <a:rPr b="1" lang="en-US" sz="1100">
                <a:solidFill>
                  <a:schemeClr val="dk1"/>
                </a:solidFill>
              </a:rPr>
              <a:t>accuracy</a:t>
            </a:r>
            <a:r>
              <a:rPr lang="en-US" sz="1100">
                <a:solidFill>
                  <a:schemeClr val="dk1"/>
                </a:solidFill>
              </a:rPr>
              <a:t> compte toutes les bonnes réponses : ici, elle est presque parfaite même pour un modèle qui ne détecte </a:t>
            </a:r>
            <a:r>
              <a:rPr b="1" lang="en-US" sz="1100">
                <a:solidFill>
                  <a:schemeClr val="dk1"/>
                </a:solidFill>
              </a:rPr>
              <a:t>aucun</a:t>
            </a:r>
            <a:r>
              <a:rPr lang="en-US" sz="1100">
                <a:solidFill>
                  <a:schemeClr val="dk1"/>
                </a:solidFill>
              </a:rPr>
              <a:t> cas rare.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Le </a:t>
            </a:r>
            <a:r>
              <a:rPr b="1" lang="en-US" sz="1100">
                <a:solidFill>
                  <a:schemeClr val="dk1"/>
                </a:solidFill>
              </a:rPr>
              <a:t>recall</a:t>
            </a:r>
            <a:r>
              <a:rPr lang="en-US" sz="1100">
                <a:solidFill>
                  <a:schemeClr val="dk1"/>
                </a:solidFill>
              </a:rPr>
              <a:t> de la classe positive répond à la question : </a:t>
            </a:r>
            <a:r>
              <a:rPr i="1" lang="en-US" sz="1100">
                <a:solidFill>
                  <a:schemeClr val="dk1"/>
                </a:solidFill>
              </a:rPr>
              <a:t>« Parmi les 100 positifs réels, combien avons-nous retrouvés ? »</a:t>
            </a:r>
            <a:r>
              <a:rPr lang="en-US" sz="1100">
                <a:solidFill>
                  <a:schemeClr val="dk1"/>
                </a:solidFill>
              </a:rPr>
              <a:t> Ici, le modèle naïf répond : </a:t>
            </a:r>
            <a:r>
              <a:rPr b="1" lang="en-US" sz="1100">
                <a:solidFill>
                  <a:schemeClr val="dk1"/>
                </a:solidFill>
              </a:rPr>
              <a:t>0 sur 100</a:t>
            </a:r>
            <a:r>
              <a:rPr lang="en-US"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La </a:t>
            </a:r>
            <a:r>
              <a:rPr b="1" lang="en-US" sz="1100">
                <a:solidFill>
                  <a:schemeClr val="dk1"/>
                </a:solidFill>
              </a:rPr>
              <a:t>precision</a:t>
            </a:r>
            <a:r>
              <a:rPr lang="en-US" sz="1100">
                <a:solidFill>
                  <a:schemeClr val="dk1"/>
                </a:solidFill>
              </a:rPr>
              <a:t> répond à une autre question : </a:t>
            </a:r>
            <a:r>
              <a:rPr i="1" lang="en-US" sz="1100">
                <a:solidFill>
                  <a:schemeClr val="dk1"/>
                </a:solidFill>
              </a:rPr>
              <a:t>« Parmi les alertes émises, quelle part est réellement positive ? »</a:t>
            </a:r>
            <a:r>
              <a:rPr lang="en-US" sz="1100">
                <a:solidFill>
                  <a:schemeClr val="dk1"/>
                </a:solidFill>
              </a:rPr>
              <a:t> Dans le second modèle : 70/(70+180)=28%70/(70+180)=28\%70/(70+180)=28%.</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Une baisse d’accuracy peut donc correspondre à un modèle </a:t>
            </a:r>
            <a:r>
              <a:rPr b="1" lang="en-US" sz="1100">
                <a:solidFill>
                  <a:schemeClr val="dk1"/>
                </a:solidFill>
              </a:rPr>
              <a:t>beaucoup plus utile</a:t>
            </a:r>
            <a:r>
              <a:rPr lang="en-US" sz="1100">
                <a:solidFill>
                  <a:schemeClr val="dk1"/>
                </a:solidFill>
              </a:rPr>
              <a:t> : il accepte quelques fausses alertes pour détecter 70 vrais cas.</a:t>
            </a:r>
            <a:endParaRPr sz="1100">
              <a:solidFill>
                <a:schemeClr val="dk1"/>
              </a:solidFill>
            </a:endParaRPr>
          </a:p>
          <a:p>
            <a:pPr indent="0" lvl="0" marL="0" rtl="0" algn="l">
              <a:lnSpc>
                <a:spcPct val="115000"/>
              </a:lnSpc>
              <a:spcBef>
                <a:spcPts val="1500"/>
              </a:spcBef>
              <a:spcAft>
                <a:spcPts val="0"/>
              </a:spcAft>
              <a:buSzPts val="1100"/>
              <a:buNone/>
            </a:pPr>
            <a:r>
              <a:rPr b="1" lang="en-US" sz="1100">
                <a:solidFill>
                  <a:schemeClr val="dk1"/>
                </a:solidFill>
              </a:rPr>
              <a:t>Conclusion : ne jamais présenter l’accuracy seule lorsque la classe positive est rare.</a:t>
            </a:r>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[R04] Metrics and scoring. Équipe scikit-learn. 2026. https://scikit-learn.org/stable/modules/model_evaluation.html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417" name="Google Shape;41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7" name="Google Shape;43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17500" lvl="0" marL="457200" rtl="0" algn="l">
              <a:spcBef>
                <a:spcPts val="0"/>
              </a:spcBef>
              <a:spcAft>
                <a:spcPts val="0"/>
              </a:spcAft>
              <a:buSzPts val="1400"/>
              <a:buChar char="-"/>
            </a:pPr>
            <a:r>
              <a:rPr lang="en-US"/>
              <a:t>La</a:t>
            </a:r>
            <a:r>
              <a:rPr b="1" lang="en-US"/>
              <a:t> courbe ROC (Receiver Operating Characteristic) </a:t>
            </a:r>
            <a:r>
              <a:rPr lang="en-US">
                <a:solidFill>
                  <a:schemeClr val="dk1"/>
                </a:solidFill>
              </a:rPr>
              <a:t>C’est une courbe qui évalue un classifieur binaire pour </a:t>
            </a:r>
            <a:r>
              <a:rPr b="1" lang="en-US">
                <a:solidFill>
                  <a:schemeClr val="dk1"/>
                </a:solidFill>
              </a:rPr>
              <a:t>tous les seuils de décision possibles.</a:t>
            </a:r>
            <a:endParaRPr b="1">
              <a:solidFill>
                <a:schemeClr val="dk1"/>
              </a:solidFill>
            </a:endParaRPr>
          </a:p>
          <a:p>
            <a:pPr indent="0" lvl="0" marL="0" rtl="0" algn="l">
              <a:spcBef>
                <a:spcPts val="0"/>
              </a:spcBef>
              <a:spcAft>
                <a:spcPts val="0"/>
              </a:spcAft>
              <a:buSzPts val="1200"/>
              <a:buNone/>
            </a:pPr>
            <a:r>
              <a:t/>
            </a:r>
            <a:endParaRPr b="1">
              <a:solidFill>
                <a:schemeClr val="dk1"/>
              </a:solidFill>
            </a:endParaRPr>
          </a:p>
          <a:p>
            <a:pPr indent="-317500" lvl="0" marL="457200" rtl="0" algn="l">
              <a:spcBef>
                <a:spcPts val="0"/>
              </a:spcBef>
              <a:spcAft>
                <a:spcPts val="0"/>
              </a:spcAft>
              <a:buSzPts val="1400"/>
              <a:buChar char="-"/>
            </a:pPr>
            <a:r>
              <a:rPr lang="en-US"/>
              <a:t>Elle </a:t>
            </a:r>
            <a:r>
              <a:rPr lang="en-US"/>
              <a:t>évalue le compromis entre vrais et faux positifs à travers tous les seuils possibles. Quand la classe majoritaire domine massivement, le taux de faux positifs reste artificiellement bas.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t>[R04] Metrics and scoring. Équipe scikit-learn. 2026. https://scikit-learn.org/stable/modules/model_evaluation.html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t>Formateur : Chrys Fé-Marty NIONGOLO</a:t>
            </a:r>
            <a:endParaRPr/>
          </a:p>
        </p:txBody>
      </p:sp>
      <p:sp>
        <p:nvSpPr>
          <p:cNvPr id="438" name="Google Shape;43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7" name="Google Shape;457;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17500" lvl="0" marL="457200" rtl="0" algn="l">
              <a:spcBef>
                <a:spcPts val="0"/>
              </a:spcBef>
              <a:spcAft>
                <a:spcPts val="0"/>
              </a:spcAft>
              <a:buClr>
                <a:schemeClr val="dk1"/>
              </a:buClr>
              <a:buSzPts val="1400"/>
              <a:buChar char="-"/>
            </a:pPr>
            <a:r>
              <a:rPr lang="en-US">
                <a:solidFill>
                  <a:schemeClr val="dk1"/>
                </a:solidFill>
              </a:rPr>
              <a:t>La courbe </a:t>
            </a:r>
            <a:r>
              <a:rPr b="1" lang="en-US">
                <a:solidFill>
                  <a:schemeClr val="dk1"/>
                </a:solidFill>
              </a:rPr>
              <a:t>Précision-Rappel</a:t>
            </a:r>
            <a:r>
              <a:rPr lang="en-US">
                <a:solidFill>
                  <a:schemeClr val="dk1"/>
                </a:solidFill>
              </a:rPr>
              <a:t> et l</a:t>
            </a:r>
            <a:r>
              <a:rPr b="1" lang="en-US">
                <a:solidFill>
                  <a:schemeClr val="dk1"/>
                </a:solidFill>
              </a:rPr>
              <a:t>'Average Precision</a:t>
            </a:r>
            <a:r>
              <a:rPr lang="en-US">
                <a:solidFill>
                  <a:schemeClr val="dk1"/>
                </a:solidFill>
              </a:rPr>
              <a:t> (AP) sont bien plus discriminantes que la </a:t>
            </a:r>
            <a:r>
              <a:rPr b="1" lang="en-US">
                <a:solidFill>
                  <a:schemeClr val="dk1"/>
                </a:solidFill>
              </a:rPr>
              <a:t>ROC</a:t>
            </a:r>
            <a:r>
              <a:rPr lang="en-US">
                <a:solidFill>
                  <a:schemeClr val="dk1"/>
                </a:solidFill>
              </a:rPr>
              <a:t>. La ligne de base d'une </a:t>
            </a:r>
            <a:r>
              <a:rPr b="1" lang="en-US">
                <a:solidFill>
                  <a:schemeClr val="dk1"/>
                </a:solidFill>
              </a:rPr>
              <a:t>ROC</a:t>
            </a:r>
            <a:r>
              <a:rPr lang="en-US">
                <a:solidFill>
                  <a:schemeClr val="dk1"/>
                </a:solidFill>
              </a:rPr>
              <a:t> est de 0,5 ; celle d'une courbe </a:t>
            </a:r>
            <a:r>
              <a:rPr b="1" lang="en-US">
                <a:solidFill>
                  <a:schemeClr val="dk1"/>
                </a:solidFill>
              </a:rPr>
              <a:t>PR</a:t>
            </a:r>
            <a:r>
              <a:rPr lang="en-US">
                <a:solidFill>
                  <a:schemeClr val="dk1"/>
                </a:solidFill>
              </a:rPr>
              <a:t> correspond exactement à la prévalence de votre classe positive</a:t>
            </a:r>
            <a:endParaRPr b="1"/>
          </a:p>
          <a:p>
            <a:pPr indent="0" lvl="0" marL="0" rtl="0" algn="l">
              <a:spcBef>
                <a:spcPts val="0"/>
              </a:spcBef>
              <a:spcAft>
                <a:spcPts val="0"/>
              </a:spcAft>
              <a:buSzPts val="1200"/>
              <a:buNone/>
            </a:pPr>
            <a:r>
              <a:t/>
            </a:r>
            <a:endParaRPr/>
          </a:p>
          <a:p>
            <a:pPr indent="-304800" lvl="0" marL="457200" rtl="0" algn="l">
              <a:spcBef>
                <a:spcPts val="0"/>
              </a:spcBef>
              <a:spcAft>
                <a:spcPts val="0"/>
              </a:spcAft>
              <a:buSzPts val="1200"/>
              <a:buChar char="-"/>
            </a:pPr>
            <a:r>
              <a:rPr lang="en-US" sz="1200"/>
              <a:t>Le modèle et les observations sont identiques à la diapositive ROC. La précision varie avec la prévalence, donc deux jeux de tests ayant des prévalences différentes ne se comparent pas naïvement. Average precision résume des incréments de rappel pondérés par la précision. Ne pas appeler automatiquement ce nombre aire trapézoïdale PR. Les notebooks utilisent average_precision_score.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[R04] Metrics and scoring. Équipe scikit-learn. 2026. https://scikit-learn.org/stable/modules/model_evaluation.html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458" name="Google Shape;458;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a:t>Calcul interactif MAE vs RMSE, interprétation de R^2 &lt; 0 et fragilité de la MAPE (Mean Absolute Percentage Error)</a:t>
            </a:r>
            <a:endParaRPr b="1">
              <a:solidFill>
                <a:schemeClr val="dk1"/>
              </a:solidFill>
            </a:endParaRPr>
          </a:p>
          <a:p>
            <a:pPr indent="0" lvl="0" marL="0" rtl="0" algn="l">
              <a:lnSpc>
                <a:spcPct val="115000"/>
              </a:lnSpc>
              <a:spcBef>
                <a:spcPts val="900"/>
              </a:spcBef>
              <a:spcAft>
                <a:spcPts val="0"/>
              </a:spcAft>
              <a:buSzPts val="1100"/>
              <a:buNone/>
            </a:pPr>
            <a:r>
              <a:rPr lang="en-US">
                <a:solidFill>
                  <a:schemeClr val="dk1"/>
                </a:solidFill>
              </a:rPr>
              <a:t>La MAPE mesure l'erreur en pourcentage, mais elle est pénalisée par sa division par zéro et favorise les prévisions sous-estimées. La MAE calcule l'erreur moyenne de manière neutre, tandis que la RMSE pénalise fortement les erreurs importantes.</a:t>
            </a:r>
            <a:endParaRPr/>
          </a:p>
          <a:p>
            <a:pPr indent="0" lvl="0" marL="0" rtl="0" algn="l">
              <a:spcBef>
                <a:spcPts val="1200"/>
              </a:spcBef>
              <a:spcAft>
                <a:spcPts val="0"/>
              </a:spcAft>
              <a:buSzPts val="1200"/>
              <a:buNone/>
            </a:pPr>
            <a:r>
              <a:rPr lang="en-US">
                <a:solidFill>
                  <a:schemeClr val="dk1"/>
                </a:solidFill>
              </a:rPr>
              <a:t>Imaginez trois observations où les résidus absolus valent respectivement </a:t>
            </a:r>
            <a:r>
              <a:rPr b="1" lang="en-US">
                <a:solidFill>
                  <a:schemeClr val="dk1"/>
                </a:solidFill>
              </a:rPr>
              <a:t>1, 1 et 10</a:t>
            </a:r>
            <a:r>
              <a:rPr lang="en-US">
                <a:solidFill>
                  <a:schemeClr val="dk1"/>
                </a:solidFill>
              </a:rPr>
              <a:t>.</a:t>
            </a:r>
            <a:endParaRPr/>
          </a:p>
          <a:p>
            <a:pPr indent="0" lvl="0" marL="0" rtl="0" algn="l">
              <a:spcBef>
                <a:spcPts val="0"/>
              </a:spcBef>
              <a:spcAft>
                <a:spcPts val="0"/>
              </a:spcAft>
              <a:buSzPts val="1200"/>
              <a:buNone/>
            </a:pPr>
            <a:r>
              <a:t/>
            </a:r>
            <a:endParaRPr/>
          </a:p>
          <a:p>
            <a:pPr indent="-304800" lvl="0" marL="457200" rtl="0" algn="l">
              <a:spcBef>
                <a:spcPts val="0"/>
              </a:spcBef>
              <a:spcAft>
                <a:spcPts val="0"/>
              </a:spcAft>
              <a:buClr>
                <a:schemeClr val="dk1"/>
              </a:buClr>
              <a:buSzPts val="1200"/>
              <a:buChar char="-"/>
            </a:pPr>
            <a:r>
              <a:rPr lang="en-US">
                <a:solidFill>
                  <a:schemeClr val="dk1"/>
                </a:solidFill>
              </a:rPr>
              <a:t>Pour la </a:t>
            </a:r>
            <a:r>
              <a:rPr b="1" i="1" lang="en-US">
                <a:solidFill>
                  <a:schemeClr val="dk1"/>
                </a:solidFill>
              </a:rPr>
              <a:t>MAE</a:t>
            </a:r>
            <a:r>
              <a:rPr b="1" lang="en-US">
                <a:solidFill>
                  <a:schemeClr val="dk1"/>
                </a:solidFill>
              </a:rPr>
              <a:t> (Mean Absolute Error)</a:t>
            </a:r>
            <a:r>
              <a:rPr lang="en-US">
                <a:solidFill>
                  <a:schemeClr val="dk1"/>
                </a:solidFill>
              </a:rPr>
              <a:t>, on fait la moyenne directe : (</a:t>
            </a:r>
            <a:r>
              <a:rPr b="1" lang="en-US">
                <a:solidFill>
                  <a:schemeClr val="dk1"/>
                </a:solidFill>
              </a:rPr>
              <a:t>1+1+10)/3=4(1 + 1 + 10) / 3 = 4(1+1+10)/3=4</a:t>
            </a:r>
            <a:r>
              <a:rPr lang="en-US">
                <a:solidFill>
                  <a:schemeClr val="dk1"/>
                </a:solidFill>
              </a:rPr>
              <a:t>. L'erreur moyenne est de 4, lisible directement dans l'unité d'origine de la variable cible</a:t>
            </a:r>
            <a:endParaRPr>
              <a:solidFill>
                <a:schemeClr val="dk1"/>
              </a:solidFill>
            </a:endParaRPr>
          </a:p>
          <a:p>
            <a:pPr indent="-304800" lvl="0" marL="457200" rtl="0" algn="l">
              <a:spcBef>
                <a:spcPts val="0"/>
              </a:spcBef>
              <a:spcAft>
                <a:spcPts val="0"/>
              </a:spcAft>
              <a:buClr>
                <a:schemeClr val="dk1"/>
              </a:buClr>
              <a:buSzPts val="1200"/>
              <a:buChar char="-"/>
            </a:pPr>
            <a:r>
              <a:rPr lang="en-US">
                <a:solidFill>
                  <a:schemeClr val="dk1"/>
                </a:solidFill>
              </a:rPr>
              <a:t>Pour la </a:t>
            </a:r>
            <a:r>
              <a:rPr b="1" i="1" lang="en-US">
                <a:solidFill>
                  <a:schemeClr val="dk1"/>
                </a:solidFill>
              </a:rPr>
              <a:t>RMSE</a:t>
            </a:r>
            <a:r>
              <a:rPr b="1" lang="en-US">
                <a:solidFill>
                  <a:schemeClr val="dk1"/>
                </a:solidFill>
              </a:rPr>
              <a:t> (Root Mean Squared Error)</a:t>
            </a:r>
            <a:r>
              <a:rPr lang="en-US">
                <a:solidFill>
                  <a:schemeClr val="dk1"/>
                </a:solidFill>
              </a:rPr>
              <a:t>, on passe au carré : </a:t>
            </a:r>
            <a:r>
              <a:rPr b="1" lang="en-US">
                <a:solidFill>
                  <a:schemeClr val="dk1"/>
                </a:solidFill>
              </a:rPr>
              <a:t>12+12+102=1021^2 + 1^2 + 10^2 = 10212+12+102=102</a:t>
            </a:r>
            <a:r>
              <a:rPr lang="en-US">
                <a:solidFill>
                  <a:schemeClr val="dk1"/>
                </a:solidFill>
              </a:rPr>
              <a:t>, divisé par 3 donne 34, soit une racine carrée de la racine carré de 34 qui est égal a 5,83</a:t>
            </a:r>
            <a:endParaRPr>
              <a:solidFill>
                <a:schemeClr val="dk1"/>
              </a:solidFill>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t>Pourquoi cet écart entre 4 et 5,83 ? Parce que le résidu de 10 pèse pour presque la totalité de la somme sous la racine. La RMSE pénalise violemment les fortes erreurs.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solidFill>
                  <a:schemeClr val="dk1"/>
                </a:solidFill>
              </a:rPr>
              <a:t>Attention au réflexe d'ingénieur : lorsqu'un point fait exploser votre métrique, on ne le supprime pas immédiatement sous prétexte que c'est un </a:t>
            </a:r>
            <a:r>
              <a:rPr i="1" lang="en-US">
                <a:solidFill>
                  <a:schemeClr val="dk1"/>
                </a:solidFill>
              </a:rPr>
              <a:t>outlier</a:t>
            </a:r>
            <a:r>
              <a:rPr lang="en-US">
                <a:solidFill>
                  <a:schemeClr val="dk1"/>
                </a:solidFill>
              </a:rPr>
              <a:t>. Il faut d'abord en discuter la cause métier : s'agit-il d'un bug de capteur, d'une saisie aberrante, ou d'un événement rare mais critique que le modèle doit absolument savoir anticiper</a:t>
            </a:r>
            <a:endParaRPr>
              <a:solidFill>
                <a:schemeClr val="dk1"/>
              </a:solidFill>
            </a:endParaRPr>
          </a:p>
          <a:p>
            <a:pPr indent="0" lvl="0" marL="0" rtl="0" algn="l">
              <a:spcBef>
                <a:spcPts val="0"/>
              </a:spcBef>
              <a:spcAft>
                <a:spcPts val="0"/>
              </a:spcAft>
              <a:buSzPts val="1200"/>
              <a:buNone/>
            </a:pPr>
            <a:r>
              <a:t/>
            </a:r>
            <a:endParaRPr>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a:solidFill>
                  <a:schemeClr val="dk1"/>
                </a:solidFill>
              </a:rPr>
              <a:t>Deux points de vigilance pour vos projets :</a:t>
            </a:r>
            <a:endParaRPr>
              <a:solidFill>
                <a:schemeClr val="dk1"/>
              </a:solidFill>
            </a:endParaRPr>
          </a:p>
          <a:p>
            <a:pPr indent="-304800" lvl="0" marL="457200" rtl="0" algn="l">
              <a:lnSpc>
                <a:spcPct val="115000"/>
              </a:lnSpc>
              <a:spcBef>
                <a:spcPts val="1500"/>
              </a:spcBef>
              <a:spcAft>
                <a:spcPts val="0"/>
              </a:spcAft>
              <a:buClr>
                <a:schemeClr val="dk1"/>
              </a:buClr>
              <a:buSzPts val="1200"/>
              <a:buAutoNum type="arabicPeriod"/>
            </a:pPr>
            <a:r>
              <a:rPr b="1" lang="en-US">
                <a:solidFill>
                  <a:schemeClr val="dk1"/>
                </a:solidFill>
              </a:rPr>
              <a:t>Un R au carré négatif</a:t>
            </a:r>
            <a:r>
              <a:rPr lang="en-US">
                <a:solidFill>
                  <a:schemeClr val="dk1"/>
                </a:solidFill>
              </a:rPr>
              <a:t> en validation ou en test est tout à fait possible. Cela ne viole aucune loi mathématique : cela prouve simplement que votre modèle fait pire que prédire la simple moyenne de l'échantillon évalué</a:t>
            </a:r>
            <a:endParaRPr>
              <a:solidFill>
                <a:schemeClr val="dk1"/>
              </a:solidFill>
            </a:endParaRPr>
          </a:p>
          <a:p>
            <a:pPr indent="-304800" lvl="0" marL="457200" rtl="0" algn="l">
              <a:lnSpc>
                <a:spcPct val="115000"/>
              </a:lnSpc>
              <a:spcBef>
                <a:spcPts val="0"/>
              </a:spcBef>
              <a:spcAft>
                <a:spcPts val="0"/>
              </a:spcAft>
              <a:buClr>
                <a:schemeClr val="dk1"/>
              </a:buClr>
              <a:buSzPts val="1200"/>
              <a:buAutoNum type="arabicPeriod"/>
            </a:pPr>
            <a:r>
              <a:rPr b="1" lang="en-US">
                <a:solidFill>
                  <a:schemeClr val="dk1"/>
                </a:solidFill>
              </a:rPr>
              <a:t>La MAPE</a:t>
            </a:r>
            <a:r>
              <a:rPr lang="en-US">
                <a:solidFill>
                  <a:schemeClr val="dk1"/>
                </a:solidFill>
              </a:rPr>
              <a:t> (</a:t>
            </a:r>
            <a:r>
              <a:rPr i="1" lang="en-US">
                <a:solidFill>
                  <a:schemeClr val="dk1"/>
                </a:solidFill>
              </a:rPr>
              <a:t>Mean Absolute Percentage Error</a:t>
            </a:r>
            <a:r>
              <a:rPr lang="en-US">
                <a:solidFill>
                  <a:schemeClr val="dk1"/>
                </a:solidFill>
              </a:rPr>
              <a:t>) est pratique à restituer aux équipes métier, mais devient explosive ou indéfinie dès que la vraie valeur approche de zéro à cause de la division. »</a:t>
            </a:r>
            <a:endParaRPr>
              <a:solidFill>
                <a:schemeClr val="dk1"/>
              </a:solidFill>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rPr lang="en-US"/>
              <a:t>[R04] Metrics and scoring. Équipe scikit-learn. 2026. https://scikit-learn.org/stable/modules/model_evaluation.html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478" name="Google Shape;478;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a:solidFill>
                  <a:schemeClr val="dk1"/>
                </a:solidFill>
              </a:rPr>
              <a:t>Message clé</a:t>
            </a:r>
            <a:r>
              <a:rPr lang="en-US">
                <a:solidFill>
                  <a:schemeClr val="dk1"/>
                </a:solidFill>
              </a:rPr>
              <a:t> : Décomposition rigoureuse de la fonction d'objectif supervisée.</a:t>
            </a:r>
            <a:endParaRPr sz="13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t>L’équation suivante</a:t>
            </a:r>
            <a:r>
              <a:rPr lang="en-US"/>
              <a:t> résume le compromis fondamental du machine learning supervisé.</a:t>
            </a:r>
            <a:r>
              <a:rPr lang="en-US" sz="1200"/>
              <a:t> </a:t>
            </a:r>
            <a:endParaRPr/>
          </a:p>
          <a:p>
            <a:pPr indent="-298450" lvl="0" marL="457200" rtl="0" algn="l">
              <a:lnSpc>
                <a:spcPct val="115000"/>
              </a:lnSpc>
              <a:spcBef>
                <a:spcPts val="1500"/>
              </a:spcBef>
              <a:spcAft>
                <a:spcPts val="0"/>
              </a:spcAft>
              <a:buClr>
                <a:schemeClr val="dk1"/>
              </a:buClr>
              <a:buSzPts val="1100"/>
              <a:buChar char="●"/>
            </a:pPr>
            <a:r>
              <a:rPr lang="en-US" sz="1100">
                <a:solidFill>
                  <a:schemeClr val="dk1"/>
                </a:solidFill>
              </a:rPr>
              <a:t>* </a:t>
            </a:r>
            <a:r>
              <a:rPr b="1" lang="en-US" sz="1100">
                <a:solidFill>
                  <a:schemeClr val="dk1"/>
                </a:solidFill>
              </a:rPr>
              <a:t>n</a:t>
            </a:r>
            <a:r>
              <a:rPr lang="en-US" sz="1100">
                <a:solidFill>
                  <a:schemeClr val="dk1"/>
                </a:solidFill>
              </a:rPr>
              <a:t>, c'est notre volume d’échantillons d'entraînement.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 </a:t>
            </a:r>
            <a:r>
              <a:rPr b="1" lang="en-US" sz="1100">
                <a:solidFill>
                  <a:schemeClr val="dk1"/>
                </a:solidFill>
              </a:rPr>
              <a:t>θ</a:t>
            </a:r>
            <a:r>
              <a:rPr lang="en-US" sz="1100">
                <a:solidFill>
                  <a:schemeClr val="dk1"/>
                </a:solidFill>
              </a:rPr>
              <a:t> (thêta), ce sont les paramètres que l'algorithme ajuste, comme les poids de nos features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 </a:t>
            </a:r>
            <a:r>
              <a:rPr b="1" lang="en-US" sz="1100">
                <a:solidFill>
                  <a:schemeClr val="dk1"/>
                </a:solidFill>
              </a:rPr>
              <a:t>ℓ</a:t>
            </a:r>
            <a:r>
              <a:rPr lang="en-US" sz="1100">
                <a:solidFill>
                  <a:schemeClr val="dk1"/>
                </a:solidFill>
              </a:rPr>
              <a:t> (ell), c'est la perte individuelle, c'est-à-dire l'écart entre la réalité yi et ce que prédit le modèle</a:t>
            </a:r>
            <a:r>
              <a:rPr lang="en-US" sz="1100">
                <a:solidFill>
                  <a:schemeClr val="dk1"/>
                </a:solidFill>
              </a:rPr>
              <a:t> fθ</a:t>
            </a:r>
            <a:r>
              <a:rPr lang="en-US" sz="1100">
                <a:solidFill>
                  <a:schemeClr val="dk1"/>
                </a:solidFill>
              </a:rPr>
              <a:t>(xi).</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 </a:t>
            </a:r>
            <a:r>
              <a:rPr b="1" lang="en-US" sz="1100">
                <a:solidFill>
                  <a:schemeClr val="dk1"/>
                </a:solidFill>
              </a:rPr>
              <a:t>Ω</a:t>
            </a:r>
            <a:r>
              <a:rPr lang="en-US" sz="1100">
                <a:solidFill>
                  <a:schemeClr val="dk1"/>
                </a:solidFill>
              </a:rPr>
              <a:t> (oméga), c'est la pénalité : elle force le modèle à rester simple en limitant l'amplitude ou le nombre de poids.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Enfin, </a:t>
            </a:r>
            <a:r>
              <a:rPr b="1" lang="en-US" sz="1100">
                <a:solidFill>
                  <a:schemeClr val="dk1"/>
                </a:solidFill>
              </a:rPr>
              <a:t>λ</a:t>
            </a:r>
            <a:r>
              <a:rPr lang="en-US" sz="1100">
                <a:solidFill>
                  <a:schemeClr val="dk1"/>
                </a:solidFill>
              </a:rPr>
              <a:t> (lambda) règle l'intensité de cette contrainte : plus λ est grand, plus on combat le </a:t>
            </a:r>
            <a:r>
              <a:rPr b="1" lang="en-US" sz="1100">
                <a:solidFill>
                  <a:schemeClr val="dk1"/>
                </a:solidFill>
              </a:rPr>
              <a:t>surapprentissage</a:t>
            </a:r>
            <a:r>
              <a:rPr lang="en-US" sz="1100">
                <a:solidFill>
                  <a:schemeClr val="dk1"/>
                </a:solidFill>
              </a:rPr>
              <a:t>.</a:t>
            </a:r>
            <a:endParaRPr/>
          </a:p>
          <a:p>
            <a:pPr indent="0" lvl="0" marL="0" rtl="0" algn="l">
              <a:spcBef>
                <a:spcPts val="1500"/>
              </a:spcBef>
              <a:spcAft>
                <a:spcPts val="0"/>
              </a:spcAft>
              <a:buSzPts val="1200"/>
              <a:buNone/>
            </a:pPr>
            <a:r>
              <a:rPr lang="en-US" sz="1100">
                <a:solidFill>
                  <a:schemeClr val="dk1"/>
                </a:solidFill>
              </a:rPr>
              <a:t>Pourquoi ce choix de fonction de perte ? En régression logistique, la</a:t>
            </a:r>
            <a:r>
              <a:rPr b="1" lang="en-US" sz="1100">
                <a:solidFill>
                  <a:schemeClr val="dk1"/>
                </a:solidFill>
              </a:rPr>
              <a:t> </a:t>
            </a:r>
            <a:r>
              <a:rPr b="1" i="1" lang="en-US" sz="1100">
                <a:solidFill>
                  <a:schemeClr val="dk1"/>
                </a:solidFill>
              </a:rPr>
              <a:t>log-loss</a:t>
            </a:r>
            <a:r>
              <a:rPr lang="en-US" sz="1100">
                <a:solidFill>
                  <a:schemeClr val="dk1"/>
                </a:solidFill>
              </a:rPr>
              <a:t> punit sévèrement l'excès de confiance : prédire une probabilité de 0,99 pour un événement faux fait exploser la perte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100">
                <a:solidFill>
                  <a:schemeClr val="dk1"/>
                </a:solidFill>
              </a:rPr>
              <a:t>Gardez bien en tête cette distinction : la fonction de perte ℓ sert au solveur car elle doit être continue et différentiable, alors que la métrique finale comme l'AP (</a:t>
            </a:r>
            <a:r>
              <a:rPr b="1" i="1" lang="en-US" sz="1100">
                <a:solidFill>
                  <a:schemeClr val="dk1"/>
                </a:solidFill>
              </a:rPr>
              <a:t>Average Precision</a:t>
            </a:r>
            <a:r>
              <a:rPr lang="en-US" sz="1100">
                <a:solidFill>
                  <a:schemeClr val="dk1"/>
                </a:solidFill>
              </a:rPr>
              <a:t>) sert à évaluer l'impact métier et le classement des scores.</a:t>
            </a:r>
            <a:endParaRPr sz="1100">
              <a:solidFill>
                <a:schemeClr val="dk1"/>
              </a:solidFill>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[R05] Linear Models. Équipe scikit-learn. 2026. https://scikit-learn.org/stable/modules/linear_model.html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499" name="Google Shape;499;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b="1" lang="en-US">
                <a:solidFill>
                  <a:schemeClr val="dk1"/>
                </a:solidFill>
              </a:rPr>
              <a:t>Message clé</a:t>
            </a:r>
            <a:r>
              <a:rPr lang="en-US">
                <a:solidFill>
                  <a:schemeClr val="dk1"/>
                </a:solidFill>
              </a:rPr>
              <a:t> : Diagnostiquer le surapprentissage ou le sous-apprentissage avant de changer de modèle.</a:t>
            </a:r>
            <a:r>
              <a:rPr lang="en-US" u="sng">
                <a:solidFill>
                  <a:schemeClr val="hlink"/>
                </a:solidFill>
                <a:hlinkClick r:id="rId2"/>
              </a:rPr>
              <a:t>google</a:t>
            </a:r>
            <a:endParaRPr u="sng">
              <a:solidFill>
                <a:schemeClr val="hlink"/>
              </a:solidFill>
            </a:endParaRPr>
          </a:p>
          <a:p>
            <a:pPr indent="0" lvl="0" marL="0" rtl="0" algn="l">
              <a:spcBef>
                <a:spcPts val="0"/>
              </a:spcBef>
              <a:spcAft>
                <a:spcPts val="0"/>
              </a:spcAft>
              <a:buSzPts val="1100"/>
              <a:buNone/>
            </a:pPr>
            <a:r>
              <a:t/>
            </a:r>
            <a:endParaRPr b="1">
              <a:solidFill>
                <a:schemeClr val="dk1"/>
              </a:solidFill>
            </a:endParaRPr>
          </a:p>
          <a:p>
            <a:pPr indent="0" lvl="0" marL="0" rtl="0" algn="l">
              <a:spcBef>
                <a:spcPts val="0"/>
              </a:spcBef>
              <a:spcAft>
                <a:spcPts val="0"/>
              </a:spcAft>
              <a:buSzPts val="1100"/>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L'erreur totale dérive de trois composantes : le biais (rigidité structurelle du modèle), la variance (sensibilité excessive aux fluctuations du train), et le bruit irréductible. Les courbes d'apprentissage permettent de trancher : si l'écart train/validation reste béant, vous souffrez de variance et ajouter des données ou régulariser aidera. Si les deux courbes stagnent bas, vous êtes limité par le biais : il faut enrichir vos variables ou accroître la capacité du modèle. »</a:t>
            </a:r>
            <a:endParaRPr sz="13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b="1"/>
          </a:p>
          <a:p>
            <a:pPr indent="0" lvl="0" marL="0" rtl="0" algn="l">
              <a:spcBef>
                <a:spcPts val="0"/>
              </a:spcBef>
              <a:spcAft>
                <a:spcPts val="0"/>
              </a:spcAft>
              <a:buSzPts val="1200"/>
              <a:buNone/>
            </a:pPr>
            <a:r>
              <a:rPr b="1" lang="en-US" sz="1200"/>
              <a:t>Biais et variance</a:t>
            </a:r>
            <a:endParaRPr b="1"/>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 décomposition montrée concerne la perte quadratique avec les hypothèses usuelles et une moyenne sur des jeux d'entraînement. Ce n'est pas une décomposition universelle de toute métrique. Les valeurs sont schématiques, pas mesurées. Faire prédire l'effet d'un arbre plus profond et celui d'une moyenne d'arbres.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Courbes schématiques originales ; erreur = biais² + variance + bruit (0,5).</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[R08] Single estimator versus bagging: bias-variance decomposition. Équipe scikit-learn. 2026. https://scikit-learn.org/stable/auto_examples/ensemble/plot_bias_variance.html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520" name="Google Shape;52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Courbes d'apprentissage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Courbes construites pour l'enseignement. Elles ne promettent pas que doubler le volume améliore toujours le modèle. Les courbes réelles ont une incertitude et dépendent du protocole de découpage. Demander quelle action tester lorsque le train est excellent et la validation mauvaise : régulariser, réduire la complexité, vérifier les fuites et enrichir les données pertinentes.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Valeurs construites pour expliquer un diagnostic ; aucun résultat de benchmark.</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[R08] Single estimator versus bagging: bias-variance decomposition. Équipe scikit-learn. 2026. https://scikit-learn.org/stable/auto_examples/ensemble/plot_bias_variance.html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540" name="Google Shape;54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100">
                <a:solidFill>
                  <a:schemeClr val="dk1"/>
                </a:solidFill>
              </a:rPr>
              <a:t>La pénalité L2 (Ridge) écrase doucement les coefficients sans les annuler. La pénalité L1 (Lasso) crée des angles vifs et force des poids exactement à zéro, opérant une sélection naturelle de variables. L'Elastic Net combine les deux pour gérer la multicolinéarité. Attention au piège scikit-learn : dans </a:t>
            </a:r>
            <a:r>
              <a:rPr lang="en-US" sz="1100">
                <a:solidFill>
                  <a:srgbClr val="188038"/>
                </a:solidFill>
                <a:latin typeface="Roboto Mono"/>
                <a:ea typeface="Roboto Mono"/>
                <a:cs typeface="Roboto Mono"/>
                <a:sym typeface="Roboto Mono"/>
              </a:rPr>
              <a:t>LogisticRegression</a:t>
            </a:r>
            <a:r>
              <a:rPr lang="en-US" sz="1100">
                <a:solidFill>
                  <a:schemeClr val="dk1"/>
                </a:solidFill>
              </a:rPr>
              <a:t>, le paramètre </a:t>
            </a:r>
            <a:r>
              <a:rPr lang="en-US" sz="1100">
                <a:solidFill>
                  <a:srgbClr val="188038"/>
                </a:solidFill>
                <a:latin typeface="Roboto Mono"/>
                <a:ea typeface="Roboto Mono"/>
                <a:cs typeface="Roboto Mono"/>
                <a:sym typeface="Roboto Mono"/>
              </a:rPr>
              <a:t>C</a:t>
            </a:r>
            <a:r>
              <a:rPr lang="en-US" sz="1100">
                <a:solidFill>
                  <a:schemeClr val="dk1"/>
                </a:solidFill>
              </a:rPr>
              <a:t> est l'inverse de la régularisation (C=1/λC = 1/\lambdaC=1/λ). Un petit CCC impose donc une régularisation très forte.</a:t>
            </a:r>
            <a:endParaRPr/>
          </a:p>
        </p:txBody>
      </p:sp>
      <p:sp>
        <p:nvSpPr>
          <p:cNvPr id="560" name="Google Shape;56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a:solidFill>
                  <a:schemeClr val="dk1"/>
                </a:solidFill>
              </a:rPr>
              <a:t>Message clé</a:t>
            </a:r>
            <a:r>
              <a:rPr lang="en-US">
                <a:solidFill>
                  <a:schemeClr val="dk1"/>
                </a:solidFill>
              </a:rPr>
              <a:t> : Géométrie des contraintes et paramétrage dans scikit-learn</a:t>
            </a:r>
            <a:endParaRPr/>
          </a:p>
          <a:p>
            <a:pPr indent="0" lvl="0" marL="0" rtl="0" algn="l">
              <a:lnSpc>
                <a:spcPct val="115000"/>
              </a:lnSpc>
              <a:spcBef>
                <a:spcPts val="1500"/>
              </a:spcBef>
              <a:spcAft>
                <a:spcPts val="0"/>
              </a:spcAft>
              <a:buClr>
                <a:schemeClr val="dk1"/>
              </a:buClr>
              <a:buSzPts val="1100"/>
              <a:buFont typeface="Arial"/>
              <a:buNone/>
            </a:pPr>
            <a:r>
              <a:rPr b="1" lang="en-US">
                <a:solidFill>
                  <a:schemeClr val="dk1"/>
                </a:solidFill>
              </a:rPr>
              <a:t>Script oral</a:t>
            </a:r>
            <a:r>
              <a:rPr lang="en-US">
                <a:solidFill>
                  <a:schemeClr val="dk1"/>
                </a:solidFill>
              </a:rPr>
              <a:t> :</a:t>
            </a:r>
            <a:endParaRPr>
              <a:solidFill>
                <a:schemeClr val="dk1"/>
              </a:solidFill>
            </a:endParaRPr>
          </a:p>
          <a:p>
            <a:pPr indent="0" lvl="0" marL="381000" marR="381000" rtl="0" algn="l">
              <a:lnSpc>
                <a:spcPct val="115000"/>
              </a:lnSpc>
              <a:spcBef>
                <a:spcPts val="1500"/>
              </a:spcBef>
              <a:spcAft>
                <a:spcPts val="0"/>
              </a:spcAft>
              <a:buSzPts val="1100"/>
              <a:buNone/>
            </a:pPr>
            <a:r>
              <a:rPr lang="en-US">
                <a:solidFill>
                  <a:schemeClr val="dk1"/>
                </a:solidFill>
              </a:rPr>
              <a:t>« La pénalité L2 (Ridge) écrase doucement les coefficients sans les annuler. La pénalité L1 (Lasso) crée des angles vifs et force des poids exactement à zéro, opérant une sélection naturelle de variables. L'Elastic Net combine les deux pour gérer la multicolinéarité. Attention au piège scikit-learn : dans </a:t>
            </a:r>
            <a:r>
              <a:rPr b="1" lang="en-US">
                <a:solidFill>
                  <a:srgbClr val="188038"/>
                </a:solidFill>
                <a:latin typeface="Roboto Mono"/>
                <a:ea typeface="Roboto Mono"/>
                <a:cs typeface="Roboto Mono"/>
                <a:sym typeface="Roboto Mono"/>
              </a:rPr>
              <a:t>LogisticRegression</a:t>
            </a:r>
            <a:r>
              <a:rPr lang="en-US">
                <a:solidFill>
                  <a:schemeClr val="dk1"/>
                </a:solidFill>
              </a:rPr>
              <a:t>, le paramètre </a:t>
            </a:r>
            <a:r>
              <a:rPr b="1" lang="en-US">
                <a:solidFill>
                  <a:srgbClr val="188038"/>
                </a:solidFill>
                <a:latin typeface="Roboto Mono"/>
                <a:ea typeface="Roboto Mono"/>
                <a:cs typeface="Roboto Mono"/>
                <a:sym typeface="Roboto Mono"/>
              </a:rPr>
              <a:t>C</a:t>
            </a:r>
            <a:r>
              <a:rPr lang="en-US">
                <a:solidFill>
                  <a:schemeClr val="dk1"/>
                </a:solidFill>
              </a:rPr>
              <a:t> est l'inverse de la régularisation (C=1/λ. Un petit </a:t>
            </a:r>
            <a:r>
              <a:rPr b="1" lang="en-US">
                <a:solidFill>
                  <a:schemeClr val="dk1"/>
                </a:solidFill>
              </a:rPr>
              <a:t>C</a:t>
            </a:r>
            <a:r>
              <a:rPr lang="en-US">
                <a:solidFill>
                  <a:schemeClr val="dk1"/>
                </a:solidFill>
              </a:rPr>
              <a:t> impose donc une régularisation très forte. »</a:t>
            </a:r>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rPr lang="en-US" sz="1200"/>
              <a:t>Elastic Net et choix de régularisation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conventions de paramétrage changent selon les estimateurs : l'α de cette formule est un taux de mélange, pas nécessairement le paramètre alpha d'une classe Python. Faire lire la signature de l'estimateur avant de programmer. Conserver le centrage et la standardisation dans les plis. Une variable catégorielle encodée reste un groupe de colonnes à interpréter ensemble.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[R05] Linear Models. Équipe scikit-learn. 2026. https://scikit-learn.org/stable/modules/linear_model.html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580" name="Google Shape;580;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solidFill>
                  <a:schemeClr val="dk1"/>
                </a:solidFill>
              </a:rPr>
              <a:t>Message clé</a:t>
            </a:r>
            <a:r>
              <a:rPr lang="en-US">
                <a:solidFill>
                  <a:schemeClr val="dk1"/>
                </a:solidFill>
              </a:rPr>
              <a:t> : Rôle de la marge, impact de CCC et standardisation préalable obligatoire.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SzPts val="1100"/>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Le </a:t>
            </a:r>
            <a:r>
              <a:rPr b="1" lang="en-US">
                <a:solidFill>
                  <a:schemeClr val="dk1"/>
                </a:solidFill>
              </a:rPr>
              <a:t>SVM (Support Vector Machine)</a:t>
            </a:r>
            <a:r>
              <a:rPr lang="en-US">
                <a:solidFill>
                  <a:schemeClr val="dk1"/>
                </a:solidFill>
              </a:rPr>
              <a:t> cherche l'hyperplan qui maximise la distance aux exemples les plus proches (les vecteurs de support). Le paramètre CCC arbitre entre largeur de marge et tolérance aux violations. Avec un noyau RBF, γ\gammaγ contrôle la portée d'influence locale des points. Comme le SVM repose intégralement sur des distances euclidiennes, standardiser vos variables d'entrée est un prérequis mathématique absolu. »</a:t>
            </a:r>
            <a:endParaRPr sz="13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SVM : marge et noyaux</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Une marge est une distance à une frontière dans l'espace des features. Gamma élevé peut produire des frontières très locales et fragiles. Le noyau permet de travailler implicitement dans un espace transformé sans créer explicitement toutes ses coordonnées. Un score de décision SVM n'est pas directement une probabilité. La calibration et le coût de calcul doivent être considérés séparément.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Standardiser puis régler C et gamma sur une échelle logarithmique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[R06] Support Vector Machines. Équipe scikit-learn. 2026. https://scikit-learn.org/stable/modules/svm.html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601" name="Google Shape;601;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1" name="Google Shape;62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TP01 : établir la baseline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Commencer par TP00 si l'environnement n'a pas été préparé. Débrief attendu : les résultats sont des estimations conditionnelles au protocole. Ne pas exiger un score fixe selon la machine. Évaluer la justification des choix et l'absence d'accès au test. Les permutations de cible sont un outil de diagnostic, pas un remplacement d'un protocole de test statistique correctement défini.</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120 minutes · notebooks/etudiants/01_evaluation.ipynb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[R02] Common pitfalls and recommended practices. Équipe scikit-learn. documentation 1.9.1, 2026. https://scikit-learn.org/stable/common_pitfalls.html (consulté le 19 septembre 2026).</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622" name="Google Shape;622;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2" name="Google Shape;642;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solidFill>
                  <a:schemeClr val="dk1"/>
                </a:solidFill>
              </a:rPr>
              <a:t>Message clé</a:t>
            </a:r>
            <a:r>
              <a:rPr lang="en-US">
                <a:solidFill>
                  <a:schemeClr val="dk1"/>
                </a:solidFill>
              </a:rPr>
              <a:t> : Mise en pratique autonome et défense d'arguments méthodologiques.</a:t>
            </a:r>
            <a:endParaRPr b="1">
              <a:solidFill>
                <a:schemeClr val="dk1"/>
              </a:solidFill>
            </a:endParaRPr>
          </a:p>
          <a:p>
            <a:pPr indent="0" lvl="0" marL="0" rtl="0" algn="l">
              <a:spcBef>
                <a:spcPts val="0"/>
              </a:spcBef>
              <a:spcAft>
                <a:spcPts val="0"/>
              </a:spcAft>
              <a:buSzPts val="1100"/>
              <a:buNone/>
            </a:pPr>
            <a:r>
              <a:t/>
            </a:r>
            <a:endParaRPr b="1">
              <a:solidFill>
                <a:schemeClr val="dk1"/>
              </a:solidFill>
            </a:endParaRPr>
          </a:p>
          <a:p>
            <a:pPr indent="0" lvl="0" marL="0" rtl="0" algn="l">
              <a:spcBef>
                <a:spcPts val="0"/>
              </a:spcBef>
              <a:spcAft>
                <a:spcPts val="0"/>
              </a:spcAft>
              <a:buSzPts val="1100"/>
              <a:buNone/>
            </a:pPr>
            <a:r>
              <a:rPr b="1" lang="en-US">
                <a:solidFill>
                  <a:schemeClr val="dk1"/>
                </a:solidFill>
              </a:rPr>
              <a:t>Script oral</a:t>
            </a:r>
            <a:r>
              <a:rPr lang="en-US">
                <a:solidFill>
                  <a:schemeClr val="dk1"/>
                </a:solidFill>
              </a:rPr>
              <a:t> :</a:t>
            </a:r>
            <a:br>
              <a:rPr lang="en-US">
                <a:solidFill>
                  <a:schemeClr val="dk1"/>
                </a:solidFill>
              </a:rPr>
            </a:br>
            <a:r>
              <a:rPr lang="en-US">
                <a:solidFill>
                  <a:schemeClr val="dk1"/>
                </a:solidFill>
              </a:rPr>
              <a:t>« En TP01, vous allez implémenter une pipeline propre sur le dataset bancaire, comparer une baseline DummyClassifier à une régression logistique régularisée, et explorer quatre valeurs de CCC. Le quiz final validera votre capacité à défendre votre protocole : vous devrez expliquer pourquoi un split par client est requis, pourquoi standardiser avant la CV invalide vos conclusions, et pourquoi un modèle avec une meilleure AP peut avoir une moins bonne calibration de probabilités.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Quiz J1 : défendre son protocole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Réponses : non, apprendre les statistiques sur chaque train de pli ; découper par client pour l'objectif de généralisation à de nouveaux clients ; meilleur classement possible mais probabilités moins fidèles. Demander un contre-exemple concret à chaque réponse. Les corrigés détaillés et questions supplémentaires figurent dans evaluation/CORRIGES_QUIZ.md.</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Répondre seul, comparer en binôme, puis justifier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[R02] Common pitfalls and recommended practices. Équipe scikit-learn. documentation 1.9.1, 2026. https://scikit-learn.org/stable/common_pitfalls.html (consulté le 19 septembre 2026).</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rPr lang="en-US" sz="1200"/>
              <a:t>[R16] Probability calibration. Équipe scikit-learn. 2026. https://scikit-learn.org/stable/modules/calibration.html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643" name="Google Shape;643;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3" name="Google Shape;663;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Les acquis du jour 1</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a:t>L</a:t>
            </a:r>
            <a:r>
              <a:rPr lang="en-US"/>
              <a:t>'acquis final tient en trois phrases : une cible et un instant de décision explicites ; une pipeline validée avec un découpage justifié ; une baseline, des métriques adaptées et un test final préservé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664" name="Google Shape;664;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4" name="Google Shape;684;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Ensembles et optimisation</a:t>
            </a:r>
            <a:endParaRPr sz="12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400"/>
              <a:t>Aujourd’hui, notre objectif n’est pas seulement d’obtenir un meilleur score. Nous allons comparer trois dimensions : </a:t>
            </a:r>
            <a:endParaRPr sz="1400"/>
          </a:p>
          <a:p>
            <a:pPr indent="-317500" lvl="0" marL="457200" rtl="0" algn="l">
              <a:spcBef>
                <a:spcPts val="0"/>
              </a:spcBef>
              <a:spcAft>
                <a:spcPts val="0"/>
              </a:spcAft>
              <a:buSzPts val="1400"/>
              <a:buChar char="-"/>
            </a:pPr>
            <a:r>
              <a:rPr lang="en-US" sz="1400"/>
              <a:t>la performance</a:t>
            </a:r>
            <a:endParaRPr sz="1400"/>
          </a:p>
          <a:p>
            <a:pPr indent="-317500" lvl="0" marL="457200" rtl="0" algn="l">
              <a:spcBef>
                <a:spcPts val="0"/>
              </a:spcBef>
              <a:spcAft>
                <a:spcPts val="0"/>
              </a:spcAft>
              <a:buSzPts val="1400"/>
              <a:buChar char="-"/>
            </a:pPr>
            <a:r>
              <a:rPr lang="en-US" sz="1400"/>
              <a:t>la stabilité des résultats </a:t>
            </a:r>
            <a:endParaRPr sz="1400"/>
          </a:p>
          <a:p>
            <a:pPr indent="-317500" lvl="0" marL="457200" rtl="0" algn="l">
              <a:spcBef>
                <a:spcPts val="0"/>
              </a:spcBef>
              <a:spcAft>
                <a:spcPts val="0"/>
              </a:spcAft>
              <a:buSzPts val="1400"/>
              <a:buChar char="-"/>
            </a:pPr>
            <a:r>
              <a:rPr lang="en-US" sz="1400"/>
              <a:t>le coût de calcul.</a:t>
            </a:r>
            <a:endParaRPr sz="1400"/>
          </a:p>
          <a:p>
            <a:pPr indent="0" lvl="0" marL="0" marR="381000" rtl="0" algn="l">
              <a:lnSpc>
                <a:spcPct val="115000"/>
              </a:lnSpc>
              <a:spcBef>
                <a:spcPts val="1500"/>
              </a:spcBef>
              <a:spcAft>
                <a:spcPts val="0"/>
              </a:spcAft>
              <a:buNone/>
            </a:pPr>
            <a:r>
              <a:rPr lang="en-US" sz="1400">
                <a:solidFill>
                  <a:schemeClr val="dk1"/>
                </a:solidFill>
              </a:rPr>
              <a:t>Un modèle plus complexe n’est intéressant que s’il apporte un gain mesurable et compatible avec les contraintes du cas d’usage.</a:t>
            </a:r>
            <a:endParaRPr sz="1400"/>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685" name="Google Shape;685;p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0" name="Google Shape;700;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Un arbre prend des décisions successives : à chaque nœud, il pose une question simple sur une variable pour séparer les observations. »</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Son avantage est sa lisibilité. Sa limite est que chaque choix de division est local : un bon choix à un instant donné ne garantit pas le meilleur arbre dans son ensemble.</a:t>
            </a:r>
            <a:endParaRPr sz="1400"/>
          </a:p>
          <a:p>
            <a:pPr indent="0" lvl="0" marL="0" marR="381000" rtl="0" algn="l">
              <a:lnSpc>
                <a:spcPct val="115000"/>
              </a:lnSpc>
              <a:spcBef>
                <a:spcPts val="1500"/>
              </a:spcBef>
              <a:spcAft>
                <a:spcPts val="0"/>
              </a:spcAft>
              <a:buSzPts val="1100"/>
              <a:buNone/>
            </a:pPr>
            <a:r>
              <a:rPr lang="en-US" sz="1400"/>
              <a:t>Un arbre peut donc être très compréhensible tout en étant instable : de petites variations dans les données peuvent modifier ses premières divisions.</a:t>
            </a:r>
            <a:endParaRPr sz="1400"/>
          </a:p>
          <a:p>
            <a:pPr indent="0" lvl="0" marL="0" rtl="0" algn="l">
              <a:spcBef>
                <a:spcPts val="1500"/>
              </a:spcBef>
              <a:spcAft>
                <a:spcPts val="0"/>
              </a:spcAft>
              <a:buSzPts val="1200"/>
              <a:buNone/>
            </a:pPr>
            <a:r>
              <a:t/>
            </a:r>
            <a:endParaRPr sz="1400"/>
          </a:p>
          <a:p>
            <a:pPr indent="0" lvl="0" marL="0" rtl="0" algn="l">
              <a:spcBef>
                <a:spcPts val="0"/>
              </a:spcBef>
              <a:spcAft>
                <a:spcPts val="0"/>
              </a:spcAft>
              <a:buSzPts val="1200"/>
              <a:buNone/>
            </a:pPr>
            <a:r>
              <a:rPr lang="en-US" sz="1400"/>
              <a:t>[R40] Decision Trees. Équipe scikit-learn. 2026. https://scikit-learn.org/stable/modules/tree.html (consulté le 19 septembre 2026).</a:t>
            </a:r>
            <a:endParaRPr sz="1400"/>
          </a:p>
          <a:p>
            <a:pPr indent="0" lvl="0" marL="0" rtl="0" algn="l">
              <a:spcBef>
                <a:spcPts val="0"/>
              </a:spcBef>
              <a:spcAft>
                <a:spcPts val="0"/>
              </a:spcAft>
              <a:buSzPts val="1200"/>
              <a:buNone/>
            </a:pPr>
            <a:r>
              <a:rPr lang="en-US" sz="1400"/>
              <a:t>[R39] Techniques de datamining : méthodologies et mise en pratique. Julie Hor, Sup de Vinci. 2020. Support local fourni : Méthodo Data Mining 2020.pdf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701" name="Google Shape;701;p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1" name="Google Shape;721;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SzPts val="1100"/>
              <a:buNone/>
            </a:pPr>
            <a:r>
              <a:rPr lang="en-US" sz="1400"/>
              <a:t>Le critère de Gini mesure le mélange des classes dans un nœud : plus il est proche de zéro, plus le nœud est homogène. »</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Un noeud homogène : </a:t>
            </a:r>
            <a:r>
              <a:rPr lang="en-US" sz="1400">
                <a:solidFill>
                  <a:schemeClr val="dk1"/>
                </a:solidFill>
              </a:rPr>
              <a:t>Un nœud homogène (ou pur) dans un arbre de décision est un groupe de données où toutes les observations appartiennent à la même classe ou possèdent la même valeur cible</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Ici, le nœud parent a une impureté de 0,48. Après la séparation, l’impureté moyenne pondérée tombe à 0,40 : le gain est donc de 0,08.</a:t>
            </a:r>
            <a:endParaRPr sz="1400"/>
          </a:p>
          <a:p>
            <a:pPr indent="0" lvl="0" marL="0" marR="381000" rtl="0" algn="l">
              <a:lnSpc>
                <a:spcPct val="115000"/>
              </a:lnSpc>
              <a:spcBef>
                <a:spcPts val="1500"/>
              </a:spcBef>
              <a:spcAft>
                <a:spcPts val="0"/>
              </a:spcAft>
              <a:buSzPts val="1100"/>
              <a:buNone/>
            </a:pPr>
            <a:r>
              <a:rPr lang="en-US" sz="1400"/>
              <a:t>La coupure est utile, mais elle ne sépare pas parfaitement les classes. Attention : un gain de Gini n’est pas une mesure de performance finale du modèle.</a:t>
            </a:r>
            <a:endParaRPr sz="1400"/>
          </a:p>
          <a:p>
            <a:pPr indent="0" lvl="0" marL="0" rtl="0" algn="l">
              <a:spcBef>
                <a:spcPts val="1500"/>
              </a:spcBef>
              <a:spcAft>
                <a:spcPts val="0"/>
              </a:spcAft>
              <a:buSzPts val="1200"/>
              <a:buNone/>
            </a:pPr>
            <a:r>
              <a:t/>
            </a:r>
            <a:endParaRPr sz="1400"/>
          </a:p>
          <a:p>
            <a:pPr indent="0" lvl="0" marL="0" rtl="0" algn="l">
              <a:spcBef>
                <a:spcPts val="0"/>
              </a:spcBef>
              <a:spcAft>
                <a:spcPts val="0"/>
              </a:spcAft>
              <a:buSzPts val="1200"/>
              <a:buNone/>
            </a:pPr>
            <a:r>
              <a:rPr lang="en-US" sz="1400"/>
              <a:t>[R40] Decision Trees. Équipe scikit-learn. 2026. https://scikit-learn.org/stable/modules/tree.html (consulté le 19 septembre 2026).</a:t>
            </a:r>
            <a:endParaRPr sz="1400"/>
          </a:p>
          <a:p>
            <a:pPr indent="0" lvl="0" marL="0" rtl="0" algn="l">
              <a:spcBef>
                <a:spcPts val="0"/>
              </a:spcBef>
              <a:spcAft>
                <a:spcPts val="0"/>
              </a:spcAft>
              <a:buSzPts val="1200"/>
              <a:buNone/>
            </a:pPr>
            <a:r>
              <a:rPr lang="en-US" sz="1400"/>
              <a:t>[R41] Gini Index :  </a:t>
            </a:r>
            <a:r>
              <a:rPr lang="en-US" sz="1400"/>
              <a:t>https://www.linkedin.com/posts/mehdihamedi_decisiontree-machinelearning-share-7335536471409315840-q05S/</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722" name="Google Shape;722;p3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0" name="Google Shape;740;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solidFill>
                  <a:schemeClr val="dk1"/>
                </a:solidFill>
              </a:rPr>
              <a:t>Il faut que sans contrainte, un arbre peut continuer à découper jusqu’à mémoriser le jeu d’entraînement. C’est le risque de surapprentissage.</a:t>
            </a:r>
            <a:endParaRPr sz="1400">
              <a:solidFill>
                <a:schemeClr val="dk1"/>
              </a:solidFill>
            </a:endParaRPr>
          </a:p>
          <a:p>
            <a:pPr indent="0" lvl="0" marL="0" marR="381000" rtl="0" algn="l">
              <a:lnSpc>
                <a:spcPct val="115000"/>
              </a:lnSpc>
              <a:spcBef>
                <a:spcPts val="1500"/>
              </a:spcBef>
              <a:spcAft>
                <a:spcPts val="0"/>
              </a:spcAft>
              <a:buClr>
                <a:schemeClr val="dk1"/>
              </a:buClr>
              <a:buSzPts val="1100"/>
              <a:buFont typeface="Arial"/>
              <a:buNone/>
            </a:pPr>
            <a:r>
              <a:rPr lang="en-US" sz="1400">
                <a:solidFill>
                  <a:schemeClr val="dk1"/>
                </a:solidFill>
              </a:rPr>
              <a:t>Les paramètre tels que </a:t>
            </a:r>
            <a:r>
              <a:rPr lang="en-US" sz="1400">
                <a:solidFill>
                  <a:srgbClr val="188038"/>
                </a:solidFill>
                <a:latin typeface="Roboto Mono"/>
                <a:ea typeface="Roboto Mono"/>
                <a:cs typeface="Roboto Mono"/>
                <a:sym typeface="Roboto Mono"/>
              </a:rPr>
              <a:t>max_depth</a:t>
            </a:r>
            <a:r>
              <a:rPr lang="en-US" sz="1400">
                <a:solidFill>
                  <a:schemeClr val="dk1"/>
                </a:solidFill>
              </a:rPr>
              <a:t> limite le nombre de décisions successives,  </a:t>
            </a:r>
            <a:r>
              <a:rPr lang="en-US" sz="1400">
                <a:solidFill>
                  <a:srgbClr val="188038"/>
                </a:solidFill>
                <a:latin typeface="Roboto Mono"/>
                <a:ea typeface="Roboto Mono"/>
                <a:cs typeface="Roboto Mono"/>
                <a:sym typeface="Roboto Mono"/>
              </a:rPr>
              <a:t>min_samples_leaf</a:t>
            </a:r>
            <a:r>
              <a:rPr lang="en-US" sz="1400">
                <a:solidFill>
                  <a:schemeClr val="dk1"/>
                </a:solidFill>
              </a:rPr>
              <a:t> impose un minimum d’observations par feuille, et </a:t>
            </a:r>
            <a:r>
              <a:rPr lang="en-US" sz="1400">
                <a:solidFill>
                  <a:srgbClr val="188038"/>
                </a:solidFill>
                <a:latin typeface="Roboto Mono"/>
                <a:ea typeface="Roboto Mono"/>
                <a:cs typeface="Roboto Mono"/>
                <a:sym typeface="Roboto Mono"/>
              </a:rPr>
              <a:t>ccp_alpha</a:t>
            </a:r>
            <a:r>
              <a:rPr lang="en-US" sz="1400">
                <a:solidFill>
                  <a:schemeClr val="dk1"/>
                </a:solidFill>
              </a:rPr>
              <a:t> élague les branches dont le gain ne justifie pas la complexité. »</a:t>
            </a:r>
            <a:endParaRPr sz="1400">
              <a:solidFill>
                <a:schemeClr val="dk1"/>
              </a:solidFill>
            </a:endParaRPr>
          </a:p>
          <a:p>
            <a:pPr indent="0" lvl="0" marL="0" marR="381000" rtl="0" algn="l">
              <a:lnSpc>
                <a:spcPct val="115000"/>
              </a:lnSpc>
              <a:spcBef>
                <a:spcPts val="1500"/>
              </a:spcBef>
              <a:spcAft>
                <a:spcPts val="0"/>
              </a:spcAft>
              <a:buSzPts val="1100"/>
              <a:buNone/>
            </a:pPr>
            <a:r>
              <a:rPr lang="en-US" sz="1400">
                <a:solidFill>
                  <a:schemeClr val="dk1"/>
                </a:solidFill>
              </a:rPr>
              <a:t>« Ces paramètres ne se choisissent pas à l’intuition : ils se règlent dans un protocole de validation.</a:t>
            </a:r>
            <a:endParaRPr sz="1400"/>
          </a:p>
          <a:p>
            <a:pPr indent="0" lvl="0" marL="0" rtl="0" algn="l">
              <a:spcBef>
                <a:spcPts val="1500"/>
              </a:spcBef>
              <a:spcAft>
                <a:spcPts val="0"/>
              </a:spcAft>
              <a:buSzPts val="1200"/>
              <a:buNone/>
            </a:pPr>
            <a:r>
              <a:t/>
            </a:r>
            <a:endParaRPr sz="1400"/>
          </a:p>
          <a:p>
            <a:pPr indent="0" lvl="0" marL="0" rtl="0" algn="l">
              <a:spcBef>
                <a:spcPts val="0"/>
              </a:spcBef>
              <a:spcAft>
                <a:spcPts val="0"/>
              </a:spcAft>
              <a:buSzPts val="1200"/>
              <a:buNone/>
            </a:pPr>
            <a:r>
              <a:rPr lang="en-US" sz="1400"/>
              <a:t>[R40] Decision Trees. Équipe scikit-learn. 2026. https://scikit-learn.org/stable/modules/tree.html (consulté le 19 septembre 2026).</a:t>
            </a:r>
            <a:endParaRPr sz="1400"/>
          </a:p>
          <a:p>
            <a:pPr indent="0" lvl="0" marL="0" rtl="0" algn="l">
              <a:spcBef>
                <a:spcPts val="0"/>
              </a:spcBef>
              <a:spcAft>
                <a:spcPts val="0"/>
              </a:spcAft>
              <a:buSzPts val="1200"/>
              <a:buNone/>
            </a:pPr>
            <a:r>
              <a:rPr lang="en-US" sz="1400"/>
              <a:t>[R39] Techniques de datamining : méthodologies et mise en pratique. Julie Hor, Sup de Vinci. 2020. Support local fourni : Méthodo Data Mining 2020.pdf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741" name="Google Shape;741;p3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1" name="Google Shape;761;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Le bagging ou </a:t>
            </a:r>
            <a:r>
              <a:rPr i="1" lang="en-US" sz="1400">
                <a:solidFill>
                  <a:schemeClr val="dk1"/>
                </a:solidFill>
              </a:rPr>
              <a:t>bootstrap aggregating</a:t>
            </a:r>
            <a:r>
              <a:rPr lang="en-US" sz="1100">
                <a:solidFill>
                  <a:schemeClr val="dk1"/>
                </a:solidFill>
              </a:rPr>
              <a:t> </a:t>
            </a:r>
            <a:r>
              <a:rPr lang="en-US" sz="1400"/>
              <a:t>part d’une idée simple : plutôt que de faire confiance à un seul arbre instable, on entraîne plusieurs arbres sur des versions bootstrap du jeu d’entraînement. »</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 Chaque arbre fait une erreur légèrement différente. En agrégeant leurs prédictions, on réduit une partie de la variance. »</a:t>
            </a:r>
            <a:endParaRPr sz="1400"/>
          </a:p>
          <a:p>
            <a:pPr indent="0" lvl="0" marL="0" marR="381000" rtl="0" algn="l">
              <a:lnSpc>
                <a:spcPct val="115000"/>
              </a:lnSpc>
              <a:spcBef>
                <a:spcPts val="1500"/>
              </a:spcBef>
              <a:spcAft>
                <a:spcPts val="0"/>
              </a:spcAft>
              <a:buSzPts val="1100"/>
              <a:buNone/>
            </a:pPr>
            <a:r>
              <a:rPr lang="en-US" sz="1400"/>
              <a:t>« Ajouter beaucoup d’arbres aide surtout lorsque leurs erreurs ne sont pas toutes les mêmes. »</a:t>
            </a:r>
            <a:endParaRPr sz="1400"/>
          </a:p>
          <a:p>
            <a:pPr indent="0" lvl="0" marL="0" rtl="0" algn="l">
              <a:spcBef>
                <a:spcPts val="1500"/>
              </a:spcBef>
              <a:spcAft>
                <a:spcPts val="0"/>
              </a:spcAft>
              <a:buSzPts val="1200"/>
              <a:buNone/>
            </a:pPr>
            <a:r>
              <a:t/>
            </a:r>
            <a:endParaRPr sz="1400"/>
          </a:p>
          <a:p>
            <a:pPr indent="0" lvl="0" marL="0" rtl="0" algn="l">
              <a:spcBef>
                <a:spcPts val="0"/>
              </a:spcBef>
              <a:spcAft>
                <a:spcPts val="0"/>
              </a:spcAft>
              <a:buSzPts val="1200"/>
              <a:buNone/>
            </a:pPr>
            <a:r>
              <a:rPr lang="en-US" sz="1400"/>
              <a:t>[R07] Ensembles: gradient boosting, random forests, bagging, voting, stacking. Équipe scikit-learn. 2026. https://scikit-learn.org/stable/modules/ensemble.html (consulté le 19 septembre 2026).</a:t>
            </a:r>
            <a:endParaRPr sz="1400"/>
          </a:p>
          <a:p>
            <a:pPr indent="0" lvl="0" marL="0" rtl="0" algn="l">
              <a:spcBef>
                <a:spcPts val="0"/>
              </a:spcBef>
              <a:spcAft>
                <a:spcPts val="0"/>
              </a:spcAft>
              <a:buSzPts val="1200"/>
              <a:buNone/>
            </a:pPr>
            <a:r>
              <a:rPr lang="en-US" sz="1400"/>
              <a:t>[R08] Single estimator versus bagging: bias-variance decomposition. Équipe scikit-learn. 2026. https://scikit-learn.org/stable/auto_examples/ensemble/plot_bias_variance.html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762" name="Google Shape;762;p3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2" name="Google Shape;782;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Si tous les arbres se trompent sur les mêmes observations, leur moyenne se trompera aussi : ajouter des arbres n’apporte alors presque rien.</a:t>
            </a:r>
            <a:endParaRPr sz="1400"/>
          </a:p>
          <a:p>
            <a:pPr indent="0" lvl="0" marL="0" marR="381000" rtl="0" algn="l">
              <a:lnSpc>
                <a:spcPct val="115000"/>
              </a:lnSpc>
              <a:spcBef>
                <a:spcPts val="1500"/>
              </a:spcBef>
              <a:spcAft>
                <a:spcPts val="0"/>
              </a:spcAft>
              <a:buSzPts val="1100"/>
              <a:buNone/>
            </a:pPr>
            <a:r>
              <a:rPr lang="en-US" sz="1400"/>
              <a:t>Le vrai levier est donc la diversité des erreurs, pas seulement le nombre de modèles.</a:t>
            </a:r>
            <a:endParaRPr sz="1400"/>
          </a:p>
          <a:p>
            <a:pPr indent="0" lvl="0" marL="0" marR="381000" rtl="0" algn="l">
              <a:lnSpc>
                <a:spcPct val="115000"/>
              </a:lnSpc>
              <a:spcBef>
                <a:spcPts val="1500"/>
              </a:spcBef>
              <a:spcAft>
                <a:spcPts val="0"/>
              </a:spcAft>
              <a:buSzPts val="1100"/>
              <a:buNone/>
            </a:pPr>
            <a:r>
              <a:rPr lang="en-US" sz="1400"/>
              <a:t>Quand la corrélation entre les arbres reste positive, une part de variance subsiste, même avec un grand nombre d’arbres.</a:t>
            </a:r>
            <a:endParaRPr sz="1400"/>
          </a:p>
          <a:p>
            <a:pPr indent="0" lvl="0" marL="0" rtl="0" algn="l">
              <a:spcBef>
                <a:spcPts val="1500"/>
              </a:spcBef>
              <a:spcAft>
                <a:spcPts val="0"/>
              </a:spcAft>
              <a:buSzPts val="1200"/>
              <a:buNone/>
            </a:pPr>
            <a:r>
              <a:rPr lang="en-US" sz="1400"/>
              <a:t>[R08] Single estimator versus bagging: bias-variance decomposition. Équipe scikit-learn. 2026. https://scikit-learn.org/stable/auto_examples/ensemble/plot_bias_variance.html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783" name="Google Shape;783;p3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2" name="Google Shape;802;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SzPts val="1100"/>
              <a:buNone/>
            </a:pPr>
            <a:r>
              <a:rPr b="1" lang="en-US" sz="1400">
                <a:solidFill>
                  <a:schemeClr val="dk1"/>
                </a:solidFill>
              </a:rPr>
              <a:t>Random Forest </a:t>
            </a:r>
            <a:r>
              <a:rPr lang="en-US" sz="1400">
                <a:solidFill>
                  <a:schemeClr val="dk1"/>
                </a:solidFill>
              </a:rPr>
              <a:t>ajoute une deuxième source de diversité : non seulement chaque arbre voit un bootstrap différent, mais il ne peut tester qu’un sous-ensemble de variables à chaque division.</a:t>
            </a:r>
            <a:endParaRPr sz="1400">
              <a:solidFill>
                <a:schemeClr val="dk1"/>
              </a:solidFill>
            </a:endParaRPr>
          </a:p>
          <a:p>
            <a:pPr indent="0" lvl="0" marL="0" marR="381000" rtl="0" algn="l">
              <a:lnSpc>
                <a:spcPct val="115000"/>
              </a:lnSpc>
              <a:spcBef>
                <a:spcPts val="1500"/>
              </a:spcBef>
              <a:spcAft>
                <a:spcPts val="0"/>
              </a:spcAft>
              <a:buClr>
                <a:schemeClr val="dk1"/>
              </a:buClr>
              <a:buSzPts val="1100"/>
              <a:buFont typeface="Arial"/>
              <a:buNone/>
            </a:pPr>
            <a:r>
              <a:rPr lang="en-US" sz="1400">
                <a:solidFill>
                  <a:srgbClr val="188038"/>
                </a:solidFill>
                <a:latin typeface="Roboto Mono"/>
                <a:ea typeface="Roboto Mono"/>
                <a:cs typeface="Roboto Mono"/>
                <a:sym typeface="Roboto Mono"/>
              </a:rPr>
              <a:t>max_features</a:t>
            </a:r>
            <a:r>
              <a:rPr lang="en-US" sz="1400">
                <a:solidFill>
                  <a:schemeClr val="dk1"/>
                </a:solidFill>
              </a:rPr>
              <a:t> réduit la tendance des arbres à toujours s’appuyer sur les mêmes variables dominantes.</a:t>
            </a:r>
            <a:endParaRPr sz="1400">
              <a:solidFill>
                <a:schemeClr val="dk1"/>
              </a:solidFill>
            </a:endParaRPr>
          </a:p>
          <a:p>
            <a:pPr indent="0" lvl="0" marL="0" marR="381000" rtl="0" algn="l">
              <a:lnSpc>
                <a:spcPct val="115000"/>
              </a:lnSpc>
              <a:spcBef>
                <a:spcPts val="1500"/>
              </a:spcBef>
              <a:spcAft>
                <a:spcPts val="0"/>
              </a:spcAft>
              <a:buSzPts val="1100"/>
              <a:buNone/>
            </a:pPr>
            <a:r>
              <a:rPr lang="en-US" sz="1400">
                <a:solidFill>
                  <a:srgbClr val="188038"/>
                </a:solidFill>
                <a:latin typeface="Roboto Mono"/>
                <a:ea typeface="Roboto Mono"/>
                <a:cs typeface="Roboto Mono"/>
                <a:sym typeface="Roboto Mono"/>
              </a:rPr>
              <a:t>n_estimators</a:t>
            </a:r>
            <a:r>
              <a:rPr lang="en-US" sz="1400">
                <a:solidFill>
                  <a:schemeClr val="dk1"/>
                </a:solidFill>
              </a:rPr>
              <a:t> stabilise progressivement l’ensemble, mais augmente le temps de calcul et la mémoire consommée.</a:t>
            </a:r>
            <a:endParaRPr/>
          </a:p>
          <a:p>
            <a:pPr indent="0" lvl="0" marL="0" rtl="0" algn="l">
              <a:spcBef>
                <a:spcPts val="1500"/>
              </a:spcBef>
              <a:spcAft>
                <a:spcPts val="0"/>
              </a:spcAft>
              <a:buSzPts val="1200"/>
              <a:buNone/>
            </a:pPr>
            <a:r>
              <a:rPr lang="en-US" sz="1400"/>
              <a:t>[R07] Ensembles: gradient boosting, random forests, bagging, voting, stacking. Équipe scikit-learn. 2026. https://scikit-learn.org/stable/modules/ensemble.html (consulté le 19 septembre 2026).</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803" name="Google Shape;803;p3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3" name="Google Shape;823;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Dans un bootstrap, une partie des observations n’est pas tirée pour entraîner un arbre. Ces observations peuvent servir à évaluer cet arbre : c’est le principe out-of-bag.</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L’OOB donne une estimation pratique sans créer un nouveau jeu de validation.</a:t>
            </a:r>
            <a:endParaRPr sz="1400"/>
          </a:p>
          <a:p>
            <a:pPr indent="0" lvl="0" marL="0" marR="381000" rtl="0" algn="l">
              <a:lnSpc>
                <a:spcPct val="115000"/>
              </a:lnSpc>
              <a:spcBef>
                <a:spcPts val="1500"/>
              </a:spcBef>
              <a:spcAft>
                <a:spcPts val="0"/>
              </a:spcAft>
              <a:buSzPts val="1100"/>
              <a:buNone/>
            </a:pPr>
            <a:r>
              <a:rPr lang="en-US" sz="1400"/>
              <a:t>Mais il ne remplace pas un découpage cohérent avec le futur usage : s’il y a du temps, des groupes ou un risque de fuite, le protocole doit toujours les respecter.</a:t>
            </a:r>
            <a:endParaRPr sz="1400"/>
          </a:p>
          <a:p>
            <a:pPr indent="0" lvl="0" marL="0" rtl="0" algn="l">
              <a:spcBef>
                <a:spcPts val="1500"/>
              </a:spcBef>
              <a:spcAft>
                <a:spcPts val="0"/>
              </a:spcAft>
              <a:buSzPts val="1200"/>
              <a:buNone/>
            </a:pPr>
            <a:r>
              <a:rPr lang="en-US" sz="1400"/>
              <a:t>[R07] Ensembles: gradient boosting, random forests, bagging, voting, stacking. Équipe scikit-learn. 2026. https://scikit-learn.org/stable/modules/ensemble.html (consulté le 19 septembre 2026).</a:t>
            </a:r>
            <a:endParaRPr sz="1400"/>
          </a:p>
          <a:p>
            <a:pPr indent="0" lvl="0" marL="0" rtl="0" algn="l">
              <a:spcBef>
                <a:spcPts val="0"/>
              </a:spcBef>
              <a:spcAft>
                <a:spcPts val="0"/>
              </a:spcAft>
              <a:buSzPts val="1200"/>
              <a:buNone/>
            </a:pPr>
            <a:r>
              <a:rPr lang="en-US" sz="1400"/>
              <a:t>[R03] Cross-validation: evaluating estimator performance. Équipe scikit-learn. 2026. https://scikit-learn.org/stable/modules/cross_validation.html (consulté le 19 septembre 2026).</a:t>
            </a:r>
            <a:endParaRPr sz="1400"/>
          </a:p>
          <a:p>
            <a:pPr indent="0" lvl="0" marL="0" rtl="0" algn="l">
              <a:spcBef>
                <a:spcPts val="0"/>
              </a:spcBef>
              <a:spcAft>
                <a:spcPts val="0"/>
              </a:spcAft>
              <a:buSzPts val="1200"/>
              <a:buNone/>
            </a:pPr>
            <a:r>
              <a:rPr lang="en-US" sz="1400"/>
              <a:t>R04 : </a:t>
            </a:r>
            <a:r>
              <a:rPr lang="en-US" sz="1400" u="sng">
                <a:solidFill>
                  <a:schemeClr val="hlink"/>
                </a:solidFill>
                <a:hlinkClick r:id="rId2"/>
              </a:rPr>
              <a:t>https://scikit-learn.org/stable/auto_examples/ensemble/plot_ensemble_oob.html</a:t>
            </a:r>
            <a:endParaRPr sz="1400"/>
          </a:p>
          <a:p>
            <a:pPr indent="0" lvl="0" marL="0" rtl="0" algn="l">
              <a:spcBef>
                <a:spcPts val="0"/>
              </a:spcBef>
              <a:spcAft>
                <a:spcPts val="0"/>
              </a:spcAft>
              <a:buSzPts val="1200"/>
              <a:buNone/>
            </a:pPr>
            <a:r>
              <a:rPr lang="en-US" sz="1400"/>
              <a:t>R05 https://medium.com/data-science/what-is-out-of-bag-oob-score-in-random-forest-a7fa23d710</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824" name="Google Shape;824;p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5" name="Google Shape;845;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Le boosting ne construit pas des modèles indépendants en parallèle. Il les construit séquentiellement : chaque nouveau modèle cherche à corriger une partie des erreurs précédentes. </a:t>
            </a:r>
            <a:endParaRPr sz="1400"/>
          </a:p>
          <a:p>
            <a:pPr indent="0" lvl="0" marL="0" marR="381000" rtl="0" algn="l">
              <a:lnSpc>
                <a:spcPct val="115000"/>
              </a:lnSpc>
              <a:spcBef>
                <a:spcPts val="1500"/>
              </a:spcBef>
              <a:spcAft>
                <a:spcPts val="0"/>
              </a:spcAft>
              <a:buClr>
                <a:schemeClr val="dk1"/>
              </a:buClr>
              <a:buSzPts val="1100"/>
              <a:buFont typeface="Arial"/>
              <a:buNone/>
            </a:pPr>
            <a:r>
              <a:rPr i="1" lang="en-US" sz="1400"/>
              <a:t>Fm−1​</a:t>
            </a:r>
            <a:r>
              <a:rPr lang="en-US" sz="1400"/>
              <a:t> est la prédiction actuelle ; le nouveau modèle hm apprend une direction de correction.</a:t>
            </a:r>
            <a:endParaRPr sz="1400"/>
          </a:p>
          <a:p>
            <a:pPr indent="0" lvl="0" marL="0" marR="381000" rtl="0" algn="l">
              <a:lnSpc>
                <a:spcPct val="115000"/>
              </a:lnSpc>
              <a:spcBef>
                <a:spcPts val="1500"/>
              </a:spcBef>
              <a:spcAft>
                <a:spcPts val="0"/>
              </a:spcAft>
              <a:buSzPts val="1100"/>
              <a:buNone/>
            </a:pPr>
            <a:r>
              <a:rPr lang="en-US" sz="1400"/>
              <a:t>Le taux d’apprentissage η(etaη) règle la taille du pas : un petit pas est souvent plus prudent, mais il demande davantage d’itérations.</a:t>
            </a:r>
            <a:endParaRPr sz="1400"/>
          </a:p>
          <a:p>
            <a:pPr indent="0" lvl="0" marL="0" rtl="0" algn="l">
              <a:spcBef>
                <a:spcPts val="1500"/>
              </a:spcBef>
              <a:spcAft>
                <a:spcPts val="0"/>
              </a:spcAft>
              <a:buSzPts val="1200"/>
              <a:buNone/>
            </a:pPr>
            <a:r>
              <a:rPr lang="en-US" sz="1400"/>
              <a:t>[R11] Introduction to Boosted Trees. Équipe XGBoost. documentation 3.4.2, 2026. https://xgboost.readthedocs.io/en/stable/tutorials/model.html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846" name="Google Shape;846;p4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6" name="Google Shape;866;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SzPts val="1100"/>
              <a:buNone/>
            </a:pPr>
            <a:r>
              <a:rPr lang="en-US" sz="1400"/>
              <a:t>On part ici d’une prédiction initiale égale à la moyenne, soit 4. Les résidus indiquent ce que le modèle n’a pas encore expliqué.</a:t>
            </a:r>
            <a:endParaRPr sz="1400"/>
          </a:p>
          <a:p>
            <a:pPr indent="0" lvl="0" marL="0" marR="381000" rtl="0" algn="l">
              <a:lnSpc>
                <a:spcPct val="115000"/>
              </a:lnSpc>
              <a:spcBef>
                <a:spcPts val="1500"/>
              </a:spcBef>
              <a:spcAft>
                <a:spcPts val="0"/>
              </a:spcAft>
              <a:buSzPts val="1100"/>
              <a:buNone/>
            </a:pPr>
            <a:r>
              <a:rPr lang="en-US" sz="1400"/>
              <a:t>La souche apprend une correction de −1,5 pour les deux premiers points et de +3 pour le troisième</a:t>
            </a:r>
            <a:r>
              <a:rPr lang="en-US" sz="1400"/>
              <a:t>.</a:t>
            </a:r>
            <a:endParaRPr sz="1400"/>
          </a:p>
          <a:p>
            <a:pPr indent="0" lvl="0" marL="0" marR="381000" rtl="0" algn="l">
              <a:lnSpc>
                <a:spcPct val="115000"/>
              </a:lnSpc>
              <a:spcBef>
                <a:spcPts val="1500"/>
              </a:spcBef>
              <a:spcAft>
                <a:spcPts val="0"/>
              </a:spcAft>
              <a:buSzPts val="1100"/>
              <a:buNone/>
            </a:pPr>
            <a:r>
              <a:rPr lang="en-US" sz="1400"/>
              <a:t>« Avec η=0,5, on n’applique que la moitié de cette correction : les nouvelles prédictions deviennent 3,25, 3,25 et 5,50. </a:t>
            </a:r>
            <a:endParaRPr sz="1400"/>
          </a:p>
          <a:p>
            <a:pPr indent="0" lvl="0" marL="0" rtl="0" algn="l">
              <a:spcBef>
                <a:spcPts val="1500"/>
              </a:spcBef>
              <a:spcAft>
                <a:spcPts val="0"/>
              </a:spcAft>
              <a:buSzPts val="1200"/>
              <a:buNone/>
            </a:pPr>
            <a:r>
              <a:rPr lang="en-US" sz="1400"/>
              <a:t>[R11] Introduction to Boosted Trees. Équipe XGBoost. documentation 3.4.2, 2026. https://xgboost.readthedocs.io/en/stable/tutorials/model.html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867" name="Google Shape;867;p4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5" name="Google Shape;885;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Le gradient généralise le résidu</a:t>
            </a:r>
            <a:endParaRPr/>
          </a:p>
          <a:p>
            <a:pPr indent="0" lvl="0" marL="0" rtl="0" algn="l">
              <a:spcBef>
                <a:spcPts val="0"/>
              </a:spcBef>
              <a:spcAft>
                <a:spcPts val="0"/>
              </a:spcAft>
              <a:buClr>
                <a:schemeClr val="dk1"/>
              </a:buClr>
              <a:buSzPts val="1100"/>
              <a:buFont typeface="Arial"/>
              <a:buNone/>
            </a:pPr>
            <a:r>
              <a:t/>
            </a:r>
            <a:endParaRPr/>
          </a:p>
          <a:p>
            <a:pPr indent="-317500" lvl="0" marL="457200" rtl="0" algn="l">
              <a:spcBef>
                <a:spcPts val="0"/>
              </a:spcBef>
              <a:spcAft>
                <a:spcPts val="0"/>
              </a:spcAft>
              <a:buSzPts val="1400"/>
              <a:buChar char="-"/>
            </a:pPr>
            <a:r>
              <a:rPr lang="en-US"/>
              <a:t>Reprendre le tableau de la diapositive précédente : la souche a été ajustée sur les résidus. Poser la question à la salle : pourquoi les résidus, et pas une autre quantité ? Faire émerger la réponse : avec la perte quadratique, le résidu est exactement la direction qui fait baisser la perte.</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En régression quadratique, le résidu donne directement la direction de correction. Pour d'autres pertes, comme la log-loss, on utilise le gradient de la perte : le gradient négatif −∂L/∂F(x), calculé pour chaque observation. Le résidu n'est que le cas particulier de la demi-perte quadratique, d'où le nom de gradient boosting.</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lang="en-US"/>
              <a:t>L'idée reste la même : à chaque étape, on calcule ces pseudo-résidus, on ajuste un modèle faible sur cette direction de descente, puis on met à jour Fm(x) = Fm−1(x) + η·hm(x). On apprend une petite correction qui améliore la prédiction courante.</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Pour la log-loss, préciser l'échelle de travail : le modèle produit un score brut ; la probabilité s'obtient après fonction logistique p = σ(F(x)) ; le gradient négatif vaut y−p. On corrige donc le score brut, jamais la probabilité ni la classe directement.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 Le boosting est puissant, mais sa capacité et son rythme d'apprentissage doivent être contrôlés pour ne pas surajuster : η règle l'amplitude des corrections, la taille de chaque arbre la capacité d'un pas, le nombre d'itérations la capacité cumulée. Transition : « Quand arrêter le boosting ?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Public à l'aise : XGBoost développe la perte au second ordre (gradient gi et hessienne hi) et en déduit le score optimal d'une feuille wj = −Gj/(Hj+λ), avec une régularisation explicite γT + ½λΣwj². Même principe de descente, complexité contrôlée par construction.</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Char char="-"/>
            </a:pPr>
            <a:r>
              <a:rPr lang="en-US"/>
              <a:t>Précision : pour une régression avec demi-perte quadratique, le gradient négatif est y−F(x). Avec une perte logistique et un score brut, le gradient est lié à y−p. Éviter de confondre le score brut, la probabilité après fonction logistique et la classe après seuillage.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[R11] Introduction to Boosted Trees. Équipe XGBoost. documentation 3.4.2, 2026. https://xgboost.readthedocs.io/en/stable/tutorials/model.html (consulté le 19 septembre 2026).</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b="1" lang="en-US"/>
              <a:t>Formateur : Chrys Fé-Marty NIONGOLO</a:t>
            </a:r>
            <a:endParaRPr/>
          </a:p>
        </p:txBody>
      </p:sp>
      <p:sp>
        <p:nvSpPr>
          <p:cNvPr id="886" name="Google Shape;886;p4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6" name="Google Shape;906;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400"/>
              <a:t>Quand arrêter le boosting ?</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Le nombre d’itérations n’est pas un paramètre à maximiser. On le choisit sur une validation indépendante.</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Tant que la RMSE de validation diminue, le modèle apprend utilement. Lorsqu’elle stagne ou augmente, poursuivre peut dégrader la généralisation.</a:t>
            </a:r>
            <a:endParaRPr sz="1400"/>
          </a:p>
          <a:p>
            <a:pPr indent="0" lvl="0" marL="0" marR="381000" rtl="0" algn="l">
              <a:lnSpc>
                <a:spcPct val="115000"/>
              </a:lnSpc>
              <a:spcBef>
                <a:spcPts val="1500"/>
              </a:spcBef>
              <a:spcAft>
                <a:spcPts val="0"/>
              </a:spcAft>
              <a:buSzPts val="1100"/>
              <a:buNone/>
            </a:pPr>
            <a:r>
              <a:rPr lang="en-US" sz="1400"/>
              <a:t>Le test final reste séparé : il sert à évaluer une procédure figée, pas à décider quand s’arrêter.</a:t>
            </a:r>
            <a:endParaRPr sz="1400"/>
          </a:p>
          <a:p>
            <a:pPr indent="0" lvl="0" marL="0" rtl="0" algn="l">
              <a:spcBef>
                <a:spcPts val="1500"/>
              </a:spcBef>
              <a:spcAft>
                <a:spcPts val="0"/>
              </a:spcAft>
              <a:buSzPts val="1200"/>
              <a:buNone/>
            </a:pPr>
            <a:r>
              <a:rPr lang="en-US" sz="1400"/>
              <a:t>Courbes réellement calculées sur un problème Friedman synthétique. Un minimum peu marqué invite à considérer la variabilité, pas à choisir une itération à la décimale près. Early stopping constitue une sélection d'hyperparamètre : les données utilisées pour arrêter sont des données de validation. Un jeu temporel demande une validation d'arrêt qui respecte lui aussi le temps.</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Expérience synthétique Friedman, n=600, graine 42 ; code dans scripts/build_assets.py.</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[R07] Ensembles: gradient boosting, random forests, bagging, voting, stacking. Équipe scikit-learn. 2026. https://scikit-learn.org/stable/modules/ensemble.html (consulté le 19 septembre 2026).</a:t>
            </a:r>
            <a:endParaRPr sz="1400"/>
          </a:p>
          <a:p>
            <a:pPr indent="0" lvl="0" marL="0" rtl="0" algn="l">
              <a:spcBef>
                <a:spcPts val="0"/>
              </a:spcBef>
              <a:spcAft>
                <a:spcPts val="0"/>
              </a:spcAft>
              <a:buSzPts val="1200"/>
              <a:buNone/>
            </a:pPr>
            <a:r>
              <a:rPr lang="en-US" sz="1400"/>
              <a:t>[R09] Tuning the hyper-parameters of an estimator. Équipe scikit-learn. 2026. https://scikit-learn.org/stable/modules/grid_search.html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907" name="Google Shape;907;p4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h149ee8332d2dc770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6" name="Google Shape;926;h149ee8332d2dc770_0_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t/>
            </a:r>
            <a:endParaRPr sz="1400"/>
          </a:p>
        </p:txBody>
      </p:sp>
      <p:sp>
        <p:nvSpPr>
          <p:cNvPr id="927" name="Google Shape;927;h149ee8332d2dc770_0_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4" name="Google Shape;944;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sz="1400"/>
              <a:t>Les implémentations modernes de boosting accélèrent la recherche de coupures en regroupant les valeurs continues dans des intervalles, appelés bins.</a:t>
            </a:r>
            <a:endParaRPr sz="1400"/>
          </a:p>
          <a:p>
            <a:pPr indent="0" lvl="0" marL="0" marR="381000" rtl="0" algn="l">
              <a:lnSpc>
                <a:spcPct val="115000"/>
              </a:lnSpc>
              <a:spcBef>
                <a:spcPts val="1500"/>
              </a:spcBef>
              <a:spcAft>
                <a:spcPts val="0"/>
              </a:spcAft>
              <a:buClr>
                <a:schemeClr val="dk1"/>
              </a:buClr>
              <a:buSzPts val="1100"/>
              <a:buFont typeface="Arial"/>
              <a:buNone/>
            </a:pPr>
            <a:r>
              <a:rPr lang="en-US" sz="1400"/>
              <a:t>Au lieu de tester chaque valeur possible, le modèle teste des frontières entre bins : il réduit donc le coût des divisions.</a:t>
            </a:r>
            <a:endParaRPr sz="1400"/>
          </a:p>
          <a:p>
            <a:pPr indent="0" lvl="0" marL="0" marR="381000" rtl="0" algn="l">
              <a:lnSpc>
                <a:spcPct val="115000"/>
              </a:lnSpc>
              <a:spcBef>
                <a:spcPts val="1500"/>
              </a:spcBef>
              <a:spcAft>
                <a:spcPts val="0"/>
              </a:spcAft>
              <a:buSzPts val="1100"/>
              <a:buNone/>
            </a:pPr>
            <a:r>
              <a:rPr lang="en-US" sz="1400"/>
              <a:t>Cette accélération permet d’explorer davantage de configurations, mais elle ne dispense jamais d’une validation rigoureuse.</a:t>
            </a:r>
            <a:endParaRPr sz="1400"/>
          </a:p>
          <a:p>
            <a:pPr indent="0" lvl="0" marL="0" rtl="0" algn="l">
              <a:spcBef>
                <a:spcPts val="1500"/>
              </a:spcBef>
              <a:spcAft>
                <a:spcPts val="0"/>
              </a:spcAft>
              <a:buSzPts val="1200"/>
              <a:buNone/>
            </a:pPr>
            <a:r>
              <a:rPr lang="en-US" sz="1400"/>
              <a:t>[R07] Ensembles: gradient boosting, random forests, bagging, voting, stacking. Équipe scikit-learn. 2026. https://scikit-learn.org/stable/modules/ensemble.html (consulté le 19 septembre 2026).</a:t>
            </a:r>
            <a:endParaRPr sz="1400"/>
          </a:p>
          <a:p>
            <a:pPr indent="0" lvl="0" marL="0" rtl="0" algn="l">
              <a:spcBef>
                <a:spcPts val="0"/>
              </a:spcBef>
              <a:spcAft>
                <a:spcPts val="0"/>
              </a:spcAft>
              <a:buSzPts val="1200"/>
              <a:buNone/>
            </a:pPr>
            <a:r>
              <a:rPr lang="en-US" sz="1400"/>
              <a:t>[R12] Features of LightGBM. Équipe LightGBM. documentation 4.7.0, 2026. https://lightgbm.readthedocs.io/en/stable/Features.html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945" name="Google Shape;945;p4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5" name="Google Shape;965;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381000" rtl="0" algn="l">
              <a:lnSpc>
                <a:spcPct val="115000"/>
              </a:lnSpc>
              <a:spcBef>
                <a:spcPts val="1500"/>
              </a:spcBef>
              <a:spcAft>
                <a:spcPts val="0"/>
              </a:spcAft>
              <a:buClr>
                <a:schemeClr val="dk1"/>
              </a:buClr>
              <a:buSzPts val="1100"/>
              <a:buFont typeface="Arial"/>
              <a:buNone/>
            </a:pPr>
            <a:r>
              <a:rPr lang="en-US"/>
              <a:t>« Les quatre outils poursuivent le même objectif général, mais leurs compromis diffèrent : intégration avec scikit-learn, régularisation, vitesse ou traitement des variables catégorielles. »</a:t>
            </a:r>
            <a:endParaRPr/>
          </a:p>
          <a:p>
            <a:pPr indent="0" lvl="0" marL="0" marR="381000" rtl="0" algn="l">
              <a:lnSpc>
                <a:spcPct val="115000"/>
              </a:lnSpc>
              <a:spcBef>
                <a:spcPts val="1500"/>
              </a:spcBef>
              <a:spcAft>
                <a:spcPts val="0"/>
              </a:spcAft>
              <a:buClr>
                <a:schemeClr val="dk1"/>
              </a:buClr>
              <a:buSzPts val="1100"/>
              <a:buFont typeface="Arial"/>
              <a:buNone/>
            </a:pPr>
            <a:r>
              <a:rPr lang="en-US"/>
              <a:t>« HistGradientBoosting s’intègre naturellement à scikit-learn ; XGBoost met fortement l’accent sur la régularisation ; LightGBM privilégie l’efficacité ; CatBoost facilite notamment le traitement des catégorielles. »</a:t>
            </a:r>
            <a:endParaRPr/>
          </a:p>
          <a:p>
            <a:pPr indent="0" lvl="0" marL="0" marR="381000" rtl="0" algn="l">
              <a:lnSpc>
                <a:spcPct val="115000"/>
              </a:lnSpc>
              <a:spcBef>
                <a:spcPts val="1500"/>
              </a:spcBef>
              <a:spcAft>
                <a:spcPts val="0"/>
              </a:spcAft>
              <a:buClr>
                <a:schemeClr val="dk1"/>
              </a:buClr>
              <a:buSzPts val="1100"/>
              <a:buFont typeface="Arial"/>
              <a:buNone/>
            </a:pPr>
            <a:r>
              <a:rPr lang="en-US"/>
              <a:t>« Quel que soit l’outil, il ne choisit pas à notre place le découpage, les métriques ou les garde-fous contre les fuites. »</a:t>
            </a:r>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Présenter ce tableau comme des choix d'implémentation, pas un classement de performance. Les paramètres qui portent le même nom ne sont pas toujours strictement comparables. XGBoost expose des mécanismes de régularisation et une optimisation du second ordre. LightGBM est notamment connu pour sa croissance par feuille. CatBoost propose un traitement spécialisé des catégories et de l'ordered boosting. Les trois bibliothèques sont des extensions, pas des dépendances indispensables cette semaine.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[R11] Introduction to Boosted Trees. Équipe XGBoost. documentation 3.4.2, 2026. https://xgboost.readthedocs.io/en/stable/tutorials/model.html (consulté le 19 septembre 2026).</a:t>
            </a:r>
            <a:endParaRPr/>
          </a:p>
          <a:p>
            <a:pPr indent="0" lvl="0" marL="0" rtl="0" algn="l">
              <a:spcBef>
                <a:spcPts val="0"/>
              </a:spcBef>
              <a:spcAft>
                <a:spcPts val="0"/>
              </a:spcAft>
              <a:buSzPts val="1200"/>
              <a:buNone/>
            </a:pPr>
            <a:r>
              <a:rPr lang="en-US" sz="1200"/>
              <a:t>[R12] Features of LightGBM. Équipe LightGBM. documentation 4.7.0, 2026. https://lightgbm.readthedocs.io/en/stable/Features.html (consulté le 19 septembre 2026).</a:t>
            </a:r>
            <a:endParaRPr/>
          </a:p>
          <a:p>
            <a:pPr indent="0" lvl="0" marL="0" rtl="0" algn="l">
              <a:spcBef>
                <a:spcPts val="0"/>
              </a:spcBef>
              <a:spcAft>
                <a:spcPts val="0"/>
              </a:spcAft>
              <a:buSzPts val="1200"/>
              <a:buNone/>
            </a:pPr>
            <a:r>
              <a:rPr lang="en-US" sz="1200"/>
              <a:t>[R13] How training is performed. Équipe CatBoost. consulté en 2026. https://catboost.ai/docs/en/concepts/algorithm-main-stages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966" name="Google Shape;966;p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4" name="Google Shape;984;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Voting et stacking</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Expliquer pourquoi un méta-modèle recevant des prédictions d'entraînement trop parfaites apprend un signal trompeur. StackingRegressor produit des prédictions hors pli pour cette phase. Si l'on évalue le stacking dans une boucle externe, ses propres ajustements doivent rester dans le train externe. Discuter la complexité opérationnelle d'un ensemble de nombreuses familles.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Prédictions hors pli pour le méta-modèle, test final pour l'ensemble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[R07] Ensembles: gradient boosting, random forests, bagging, voting, stacking. Équipe scikit-learn. 2026. https://scikit-learn.org/stable/modules/ensemble.html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985" name="Google Shape;985;p4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g3fbbd5f84fd_0_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5" name="Google Shape;1005;g3fbbd5f84fd_0_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23850" lvl="0" marL="457200" rtl="0" algn="l">
              <a:spcBef>
                <a:spcPts val="0"/>
              </a:spcBef>
              <a:spcAft>
                <a:spcPts val="0"/>
              </a:spcAft>
              <a:buSzPts val="1500"/>
              <a:buChar char="-"/>
            </a:pPr>
            <a:r>
              <a:rPr lang="en-US" sz="1500">
                <a:solidFill>
                  <a:schemeClr val="dk1"/>
                </a:solidFill>
              </a:rPr>
              <a:t>Le </a:t>
            </a:r>
            <a:r>
              <a:rPr lang="en-US" sz="1500">
                <a:solidFill>
                  <a:srgbClr val="188038"/>
                </a:solidFill>
                <a:latin typeface="Courier New"/>
                <a:ea typeface="Courier New"/>
                <a:cs typeface="Courier New"/>
                <a:sym typeface="Courier New"/>
              </a:rPr>
              <a:t>StackingRegressor</a:t>
            </a:r>
            <a:r>
              <a:rPr lang="en-US" sz="1500">
                <a:solidFill>
                  <a:schemeClr val="dk1"/>
                </a:solidFill>
              </a:rPr>
              <a:t> de scikit-learn permet de combiner les prédictions de plusieurs modèles de régression (estimateurs de base) à l'aide d'un méta-modèle final (</a:t>
            </a:r>
            <a:r>
              <a:rPr lang="en-US" sz="1500">
                <a:solidFill>
                  <a:srgbClr val="188038"/>
                </a:solidFill>
                <a:latin typeface="Courier New"/>
                <a:ea typeface="Courier New"/>
                <a:cs typeface="Courier New"/>
                <a:sym typeface="Courier New"/>
              </a:rPr>
              <a:t>final_estimator</a:t>
            </a:r>
            <a:r>
              <a:rPr lang="en-US" sz="1500">
                <a:solidFill>
                  <a:schemeClr val="dk1"/>
                </a:solidFill>
              </a:rPr>
              <a:t>) pour obtenir une prédiction plus précise. </a:t>
            </a:r>
            <a:endParaRPr sz="1500">
              <a:solidFill>
                <a:schemeClr val="dk1"/>
              </a:solidFill>
            </a:endParaRPr>
          </a:p>
          <a:p>
            <a:pPr indent="0" lvl="0" marL="0" rtl="0" algn="l">
              <a:lnSpc>
                <a:spcPct val="115000"/>
              </a:lnSpc>
              <a:spcBef>
                <a:spcPts val="1800"/>
              </a:spcBef>
              <a:spcAft>
                <a:spcPts val="0"/>
              </a:spcAft>
              <a:buNone/>
            </a:pPr>
            <a:r>
              <a:rPr lang="en-US" sz="1500">
                <a:solidFill>
                  <a:schemeClr val="dk1"/>
                </a:solidFill>
              </a:rPr>
              <a:t>Fonctionnement clé</a:t>
            </a:r>
            <a:endParaRPr sz="1500">
              <a:solidFill>
                <a:schemeClr val="dk1"/>
              </a:solidFill>
            </a:endParaRPr>
          </a:p>
          <a:p>
            <a:pPr indent="-323850" lvl="0" marL="457200" rtl="0" algn="l">
              <a:lnSpc>
                <a:spcPct val="115000"/>
              </a:lnSpc>
              <a:spcBef>
                <a:spcPts val="900"/>
              </a:spcBef>
              <a:spcAft>
                <a:spcPts val="0"/>
              </a:spcAft>
              <a:buClr>
                <a:schemeClr val="dk1"/>
              </a:buClr>
              <a:buSzPts val="1500"/>
              <a:buChar char="●"/>
            </a:pPr>
            <a:r>
              <a:rPr b="1" lang="en-US" sz="1500">
                <a:solidFill>
                  <a:schemeClr val="dk1"/>
                </a:solidFill>
              </a:rPr>
              <a:t>Estimateurs de base (</a:t>
            </a:r>
            <a:r>
              <a:rPr b="1" lang="en-US" sz="1500">
                <a:solidFill>
                  <a:srgbClr val="188038"/>
                </a:solidFill>
                <a:latin typeface="Courier New"/>
                <a:ea typeface="Courier New"/>
                <a:cs typeface="Courier New"/>
                <a:sym typeface="Courier New"/>
              </a:rPr>
              <a:t>estimators</a:t>
            </a:r>
            <a:r>
              <a:rPr b="1" lang="en-US" sz="1500">
                <a:solidFill>
                  <a:schemeClr val="dk1"/>
                </a:solidFill>
              </a:rPr>
              <a:t>)</a:t>
            </a:r>
            <a:r>
              <a:rPr lang="en-US" sz="1500">
                <a:solidFill>
                  <a:schemeClr val="dk1"/>
                </a:solidFill>
              </a:rPr>
              <a:t> : Les modèles individuels dont les prédictions servent d'entrées.</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b="1" lang="en-US" sz="1500">
                <a:solidFill>
                  <a:schemeClr val="dk1"/>
                </a:solidFill>
              </a:rPr>
              <a:t>Estimateur final (</a:t>
            </a:r>
            <a:r>
              <a:rPr b="1" lang="en-US" sz="1500">
                <a:solidFill>
                  <a:srgbClr val="188038"/>
                </a:solidFill>
                <a:latin typeface="Courier New"/>
                <a:ea typeface="Courier New"/>
                <a:cs typeface="Courier New"/>
                <a:sym typeface="Courier New"/>
              </a:rPr>
              <a:t>final_estimator</a:t>
            </a:r>
            <a:r>
              <a:rPr b="1" lang="en-US" sz="1500">
                <a:solidFill>
                  <a:schemeClr val="dk1"/>
                </a:solidFill>
              </a:rPr>
              <a:t>)</a:t>
            </a:r>
            <a:r>
              <a:rPr lang="en-US" sz="1500">
                <a:solidFill>
                  <a:schemeClr val="dk1"/>
                </a:solidFill>
              </a:rPr>
              <a:t> : Le modèle qui apprend à combiner au mieux les prédictions des estimateurs de base (par défaut un </a:t>
            </a:r>
            <a:r>
              <a:rPr lang="en-US" sz="1500">
                <a:solidFill>
                  <a:srgbClr val="188038"/>
                </a:solidFill>
                <a:latin typeface="Courier New"/>
                <a:ea typeface="Courier New"/>
                <a:cs typeface="Courier New"/>
                <a:sym typeface="Courier New"/>
              </a:rPr>
              <a:t>RidgeCV</a:t>
            </a:r>
            <a:r>
              <a:rPr lang="en-US" sz="1500">
                <a:solidFill>
                  <a:schemeClr val="dk1"/>
                </a:solidFill>
              </a:rPr>
              <a:t>).</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b="1" lang="en-US" sz="1500">
                <a:solidFill>
                  <a:schemeClr val="dk1"/>
                </a:solidFill>
              </a:rPr>
              <a:t>Validation croisée</a:t>
            </a:r>
            <a:r>
              <a:rPr lang="en-US" sz="1500">
                <a:solidFill>
                  <a:schemeClr val="dk1"/>
                </a:solidFill>
              </a:rPr>
              <a:t> : L'estimateur final est entraîné via des prédictions par validation croisée (</a:t>
            </a:r>
            <a:r>
              <a:rPr lang="en-US" sz="1500">
                <a:solidFill>
                  <a:srgbClr val="188038"/>
                </a:solidFill>
                <a:latin typeface="Courier New"/>
                <a:ea typeface="Courier New"/>
                <a:cs typeface="Courier New"/>
                <a:sym typeface="Courier New"/>
              </a:rPr>
              <a:t>cross_val_predict</a:t>
            </a:r>
            <a:r>
              <a:rPr lang="en-US" sz="1500">
                <a:solidFill>
                  <a:schemeClr val="dk1"/>
                </a:solidFill>
              </a:rPr>
              <a:t>) pour éviter le surapprentissage.</a:t>
            </a:r>
            <a:endParaRPr sz="1500">
              <a:solidFill>
                <a:schemeClr val="dk1"/>
              </a:solidFill>
            </a:endParaRPr>
          </a:p>
          <a:p>
            <a:pPr indent="0" lvl="0" marL="0" rtl="0" algn="l">
              <a:lnSpc>
                <a:spcPct val="115000"/>
              </a:lnSpc>
              <a:spcBef>
                <a:spcPts val="2100"/>
              </a:spcBef>
              <a:spcAft>
                <a:spcPts val="2100"/>
              </a:spcAft>
              <a:buNone/>
            </a:pPr>
            <a:r>
              <a:rPr lang="en-US" sz="1500">
                <a:solidFill>
                  <a:schemeClr val="dk1"/>
                </a:solidFill>
              </a:rPr>
              <a:t>REF : Notebook 02_Ensemble final cell.</a:t>
            </a:r>
            <a:endParaRPr sz="1500">
              <a:solidFill>
                <a:schemeClr val="dk1"/>
              </a:solidFill>
            </a:endParaRPr>
          </a:p>
        </p:txBody>
      </p:sp>
      <p:sp>
        <p:nvSpPr>
          <p:cNvPr id="1006" name="Google Shape;1006;g3fbbd5f84fd_0_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1" name="Shape 1021"/>
        <p:cNvGrpSpPr/>
        <p:nvPr/>
      </p:nvGrpSpPr>
      <p:grpSpPr>
        <a:xfrm>
          <a:off x="0" y="0"/>
          <a:ext cx="0" cy="0"/>
          <a:chOff x="0" y="0"/>
          <a:chExt cx="0" cy="0"/>
        </a:xfrm>
      </p:grpSpPr>
      <p:sp>
        <p:nvSpPr>
          <p:cNvPr id="1022" name="Google Shape;1022;p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23" name="Google Shape;1023;p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TP02 : comparer les ensembles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Répartir le créneau en 70 minutes sur TP02 puis 20 minutes de démonstration Colab08. Variante autonome disponible dans notebooks/colab/etudiants/02_ensembles.ipynb. Le stacking reste une extension après la séance si nécessaire. La source synthétique permet de connaître les variables informatives sans télécharger un nouveau jeu. Demander de conserver tous les résultats, y compris les essais moins bons. Le temps d'ajustement dépend du matériel. Une extension stacking est proposée si les objectifs centraux sont atteints. Le débrief compare les mécanismes, pas seulement le classement des chiffres.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70 min de TP + 20 min de démo · variantes locale et Colab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[R07] Ensembles: gradient boosting, random forests, bagging, voting, stacking. Équipe scikit-learn. 2026. https://scikit-learn.org/stable/modules/ensemble.html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024" name="Google Shape;1024;p4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2" name="Shape 1042"/>
        <p:cNvGrpSpPr/>
        <p:nvPr/>
      </p:nvGrpSpPr>
      <p:grpSpPr>
        <a:xfrm>
          <a:off x="0" y="0"/>
          <a:ext cx="0" cy="0"/>
          <a:chOff x="0" y="0"/>
          <a:chExt cx="0" cy="0"/>
        </a:xfrm>
      </p:grpSpPr>
      <p:sp>
        <p:nvSpPr>
          <p:cNvPr id="1043" name="Google Shape;1043;p4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4" name="Google Shape;1044;p4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Colab : XGBoost sur 41 188 lignes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Ouvrir notebooks/colab/demonstrations/08_xgboost_colab.ipynb. Répartition de l'animation : protocole 5 min, exécution et courbes 8 min, critique 7 min. Le fichier UCI complet est ordonné chronologiquement : train 60 %, validation 20 %, test 20 %. Retirer duration et campaign pour le scénario avant premier contact ; auditer encore les autres variables. Le prétraitement est appris sur train uniquement ; l'early stopping utilise la validation. Le gagnant est choisi par AP de validation, puis évalué une fois sur le test. GPU XGBoost facultatif avec repli CPU. Ce volume tient en mémoire et n'est pas présenté comme du big data. Les temps dépendent du matériel. Télécharger le manifeste, le tableau de validation et l'export XGBoost ; ce dernier n'inclut pas le prétraitement et n'est pas un service de production.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Démonstration de 20 minutes · CPU ou GPU NVIDIA facultatif</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rPr lang="en-US" sz="1200"/>
              <a:t>[R43] Google Colab — Frequently Asked Questions. Google Colab. consulté le 19 septembre 2026. https://research.google.com/colaboratory/faq.html (consulté le 19 septembre 2026).</a:t>
            </a:r>
            <a:endParaRPr/>
          </a:p>
          <a:p>
            <a:pPr indent="0" lvl="0" marL="0" rtl="0" algn="l">
              <a:spcBef>
                <a:spcPts val="0"/>
              </a:spcBef>
              <a:spcAft>
                <a:spcPts val="0"/>
              </a:spcAft>
              <a:buSzPts val="1200"/>
              <a:buNone/>
            </a:pPr>
            <a:r>
              <a:rPr lang="en-US" sz="1200"/>
              <a:t>[R46] XGBoost GPU Support — branche 3.1. Équipe XGBoost. documentation 3.1.3 consultée le 19 septembre 2026. https://xgboost.readthedocs.io/en/release_3.1.0/gpu/index.html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045" name="Google Shape;1045;p4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p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65" name="Google Shape;1065;p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Définir un espace d'hyperparamètres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Exercice court : proposer un espace pour un boosting avec 4 valeurs de learning rate, 5 capacités d'arbre et 6 nombres d'itérations. La grille contient déjà 120 configurations, donc 360 ajustements pour une CV à trois plis, avant refit. Certains paramètres interagissent fortement. Conserver la même règle d'arrêt et le même budget pour comparer les méthodes de recherche.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Écrire le budget d'essais avant de lancer la recherche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066" name="Google Shape;1066;p4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p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6" name="Google Shape;1086;p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Grille, recherche aléatoire et TPE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TPE est une méthode d'optimisation séquentielle fondée sur un modèle des bonnes et moins bonnes régions. Elle n'est pas magique et a besoin d'un budget approprié. Sur huit essais, la phase initiale aléatoire compte beaucoup ; le TP fixe quatre essais initiaux. Le pruning évite de terminer certaines expériences peu prometteuses si des mesures intermédiaires comparables sont disponibles.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meilleur score interne est un résultat de sélection.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rPr lang="en-US" sz="1200"/>
              <a:t>[R10] Efficient Optimization Algorithms. Équipe Optuna. documentation vivante, consultée en 2026. https://optuna.readthedocs.io/en/stable/tutorial/10_key_features/003_efficient_optimization_algorithms.html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087" name="Google Shape;1087;p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5" name="Shape 1105"/>
        <p:cNvGrpSpPr/>
        <p:nvPr/>
      </p:nvGrpSpPr>
      <p:grpSpPr>
        <a:xfrm>
          <a:off x="0" y="0"/>
          <a:ext cx="0" cy="0"/>
          <a:chOff x="0" y="0"/>
          <a:chExt cx="0" cy="0"/>
        </a:xfrm>
      </p:grpSpPr>
      <p:sp>
        <p:nvSpPr>
          <p:cNvPr id="1106" name="Google Shape;1106;p5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7" name="Google Shape;1107;p5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Validation croisée imbriquée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Faire dessiner trois plis externes et trois plis internes dans un train externe. Pour chaque pli externe, la recherche repart de zéro. Si l'on sélectionne ensuite une nouvelle méthode en regardant tous les scores externes, ces scores participent à un nouveau niveau de sélection. Un test final séparé reste utile pour une décision finale importante.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 boucle externe évalue une méthode de travail, pas un unique modèle final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108" name="Google Shape;1108;p5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p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8" name="Google Shape;1128;p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L'optimisation a un coût mesurable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Faire calculer le coût avant exécution. Ce total correspond au TP03 pour une recherche RandomizedSearchCV avec refit. Distinguer nombre d'ajustements et temps : deux familles peuvent avoir des coûts très différents. Les threads BLAS et n_jobs peuvent se multiplier ; on limite ici le parallélisme. Archiver le budget avec les scores.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129" name="Google Shape;1129;p5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7" name="Shape 1147"/>
        <p:cNvGrpSpPr/>
        <p:nvPr/>
      </p:nvGrpSpPr>
      <p:grpSpPr>
        <a:xfrm>
          <a:off x="0" y="0"/>
          <a:ext cx="0" cy="0"/>
          <a:chOff x="0" y="0"/>
          <a:chExt cx="0" cy="0"/>
        </a:xfrm>
      </p:grpSpPr>
      <p:sp>
        <p:nvSpPr>
          <p:cNvPr id="1148" name="Google Shape;1148;p5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49" name="Google Shape;1149;p5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Interpréter une petite différence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Ne pas calculer un intervalle de confiance naïf en traitant des plis recouvrants comme des échantillons indépendants. Les variations d'entraînement, de population et d'étiquetage doivent être distinguées. Un bootstrap du test suppose lui aussi une unité de rééchantillonnage adaptée, par exemple le client, et ne mesure pas toutes les sources d'incertitude du réentraînement.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scores de plis corrélés ne sont pas des répétitions indépendantes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[R03] Cross-validation: evaluating estimator performance. Équipe scikit-learn. 2026. https://scikit-learn.org/stable/modules/cross_validation.html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150" name="Google Shape;1150;p5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8" name="Shape 1168"/>
        <p:cNvGrpSpPr/>
        <p:nvPr/>
      </p:nvGrpSpPr>
      <p:grpSpPr>
        <a:xfrm>
          <a:off x="0" y="0"/>
          <a:ext cx="0" cy="0"/>
          <a:chOff x="0" y="0"/>
          <a:chExt cx="0" cy="0"/>
        </a:xfrm>
      </p:grpSpPr>
      <p:sp>
        <p:nvSpPr>
          <p:cNvPr id="1169" name="Google Shape;1169;p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0" name="Google Shape;1170;p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TP03 : optimiser avec un budget fixé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Une variante Colab autonome est disponible dans notebooks/colab/etudiants/03_optimisation.ipynb ; elle utilise le CPU. Le TP utilise une logistique et des données synthétiques pour que le coût reste léger et que le protocole soit visible. L'objectif n'est pas de gagner un concours d'AP. Demander aux étudiants d'annoter quelles observations sont visibles à chaque étape. Les résultats aléatoires doivent être enregistrés, pas relancés jusqu'à obtenir une préférence attendue.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90 minutes · notebooks/etudiants/03_optimisation.ipynb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rPr lang="en-US" sz="1200"/>
              <a:t>[R10] Efficient Optimization Algorithms. Équipe Optuna. documentation vivante, consultée en 2026. https://optuna.readthedocs.io/en/stable/tutorial/10_key_features/003_efficient_optimization_algorithms.html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171" name="Google Shape;1171;p5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1" name="Google Shape;1191;p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Quiz J2 : mécanismes et protocole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Réponses : leurs erreurs sont corrélées, donc la variance ne s'annule pas ; un estimateur de la direction de correction, souvent le gradient négatif ; le maximum a été sélectionné parmi plusieurs scores bruités. Ajouter que la boucle externe réduit le biais de sélection lorsqu'elle encapsule bien toute la procédure.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Donner une justification avant de citer une bibliothèque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[R08] Single estimator versus bagging: bias-variance decomposition. Équipe scikit-learn. 2026. https://scikit-learn.org/stable/auto_examples/ensemble/plot_bias_variance.html (consulté le 19 septembre 2026).</a:t>
            </a:r>
            <a:endParaRPr/>
          </a:p>
          <a:p>
            <a:pPr indent="0" lvl="0" marL="0" rtl="0" algn="l">
              <a:spcBef>
                <a:spcPts val="0"/>
              </a:spcBef>
              <a:spcAft>
                <a:spcPts val="0"/>
              </a:spcAft>
              <a:buSzPts val="1200"/>
              <a:buNone/>
            </a:pPr>
            <a:r>
              <a:rPr lang="en-US" sz="1200"/>
              <a:t>[R11] Introduction to Boosted Trees. Équipe XGBoost. documentation 3.4.2, 2026. https://xgboost.readthedocs.io/en/stable/tutorials/model.html (consulté le 19 septembre 2026).</a:t>
            </a:r>
            <a:endParaRPr/>
          </a:p>
          <a:p>
            <a:pPr indent="0" lvl="0" marL="0" rtl="0" algn="l">
              <a:spcBef>
                <a:spcPts val="0"/>
              </a:spcBef>
              <a:spcAft>
                <a:spcPts val="0"/>
              </a:spcAft>
              <a:buSzPts val="1200"/>
              <a:buNone/>
            </a:pPr>
            <a:r>
              <a:rPr lang="en-US" sz="1200"/>
              <a:t>[R09] Tuning the hyper-parameters of an estimator. Équipe scikit-learn. 2026. https://scikit-learn.org/stable/modules/grid_search.html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192" name="Google Shape;1192;p5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p5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2" name="Google Shape;1212;p5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400"/>
              <a:t>Aujourd’hui, on relie trois choses qui sont souvent mélangées : </a:t>
            </a:r>
            <a:endParaRPr sz="1400"/>
          </a:p>
          <a:p>
            <a:pPr indent="-317500" lvl="0" marL="457200" rtl="0" algn="l">
              <a:spcBef>
                <a:spcPts val="0"/>
              </a:spcBef>
              <a:spcAft>
                <a:spcPts val="0"/>
              </a:spcAft>
              <a:buSzPts val="1400"/>
              <a:buChar char="-"/>
            </a:pPr>
            <a:r>
              <a:rPr lang="en-US" sz="1400"/>
              <a:t>le score du modèle, </a:t>
            </a:r>
            <a:endParaRPr sz="1400"/>
          </a:p>
          <a:p>
            <a:pPr indent="-317500" lvl="0" marL="457200" rtl="0" algn="l">
              <a:spcBef>
                <a:spcPts val="0"/>
              </a:spcBef>
              <a:spcAft>
                <a:spcPts val="0"/>
              </a:spcAft>
              <a:buSzPts val="1400"/>
              <a:buChar char="-"/>
            </a:pPr>
            <a:r>
              <a:rPr lang="en-US" sz="1400"/>
              <a:t>la probabilité, </a:t>
            </a:r>
            <a:endParaRPr sz="1400"/>
          </a:p>
          <a:p>
            <a:pPr indent="-317500" lvl="0" marL="457200" rtl="0" algn="l">
              <a:spcBef>
                <a:spcPts val="0"/>
              </a:spcBef>
              <a:spcAft>
                <a:spcPts val="0"/>
              </a:spcAft>
              <a:buSzPts val="1400"/>
              <a:buChar char="-"/>
            </a:pPr>
            <a:r>
              <a:rPr lang="en-US" sz="1400"/>
              <a:t>puis la décision finale.</a:t>
            </a:r>
            <a:endParaRPr sz="1400"/>
          </a:p>
          <a:p>
            <a:pPr indent="0" lvl="0" marL="0" rtl="0" algn="l">
              <a:spcBef>
                <a:spcPts val="0"/>
              </a:spcBef>
              <a:spcAft>
                <a:spcPts val="0"/>
              </a:spcAft>
              <a:buNone/>
            </a:pPr>
            <a:r>
              <a:t/>
            </a:r>
            <a:endParaRPr sz="1400"/>
          </a:p>
          <a:p>
            <a:pPr indent="0" lvl="0" marL="0" rtl="0" algn="l">
              <a:spcBef>
                <a:spcPts val="0"/>
              </a:spcBef>
              <a:spcAft>
                <a:spcPts val="0"/>
              </a:spcAft>
              <a:buNone/>
            </a:pPr>
            <a:r>
              <a:rPr lang="en-US" sz="1400"/>
              <a:t> Le point important, c’est qu’améliorer l’une de ces étapes n’améliore pas automatiquement les deux autres.</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213" name="Google Shape;1213;p5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3" name="Google Shape;1233;p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t>Déséquilibre et features</a:t>
            </a:r>
            <a:endParaRPr b="1" sz="1500"/>
          </a:p>
          <a:p>
            <a:pPr indent="0" lvl="0" marL="0" rtl="0" algn="l">
              <a:spcBef>
                <a:spcPts val="0"/>
              </a:spcBef>
              <a:spcAft>
                <a:spcPts val="0"/>
              </a:spcAft>
              <a:buSzPts val="1200"/>
              <a:buNone/>
            </a:pPr>
            <a:r>
              <a:t/>
            </a:r>
            <a:endParaRPr b="1" sz="1500"/>
          </a:p>
          <a:p>
            <a:pPr indent="0" lvl="0" marL="0" rtl="0" algn="l">
              <a:spcBef>
                <a:spcPts val="0"/>
              </a:spcBef>
              <a:spcAft>
                <a:spcPts val="0"/>
              </a:spcAft>
              <a:buClr>
                <a:schemeClr val="dk1"/>
              </a:buClr>
              <a:buSzPts val="1200"/>
              <a:buFont typeface="Arial"/>
              <a:buNone/>
            </a:pPr>
            <a:r>
              <a:rPr lang="en-US" sz="1500">
                <a:solidFill>
                  <a:schemeClr val="dk1"/>
                </a:solidFill>
              </a:rPr>
              <a:t>Aujourd’hui, on relie trois choses qui sont souvent mélangées : </a:t>
            </a:r>
            <a:endParaRPr sz="1500">
              <a:solidFill>
                <a:schemeClr val="dk1"/>
              </a:solidFill>
            </a:endParaRPr>
          </a:p>
          <a:p>
            <a:pPr indent="-323850" lvl="0" marL="457200" rtl="0" algn="l">
              <a:spcBef>
                <a:spcPts val="0"/>
              </a:spcBef>
              <a:spcAft>
                <a:spcPts val="0"/>
              </a:spcAft>
              <a:buClr>
                <a:schemeClr val="dk1"/>
              </a:buClr>
              <a:buSzPts val="1500"/>
              <a:buChar char="-"/>
            </a:pPr>
            <a:r>
              <a:rPr lang="en-US" sz="1500">
                <a:solidFill>
                  <a:schemeClr val="dk1"/>
                </a:solidFill>
              </a:rPr>
              <a:t>le score du modèle, </a:t>
            </a:r>
            <a:endParaRPr sz="1500">
              <a:solidFill>
                <a:schemeClr val="dk1"/>
              </a:solidFill>
            </a:endParaRPr>
          </a:p>
          <a:p>
            <a:pPr indent="-323850" lvl="0" marL="457200" rtl="0" algn="l">
              <a:spcBef>
                <a:spcPts val="0"/>
              </a:spcBef>
              <a:spcAft>
                <a:spcPts val="0"/>
              </a:spcAft>
              <a:buClr>
                <a:schemeClr val="dk1"/>
              </a:buClr>
              <a:buSzPts val="1500"/>
              <a:buChar char="-"/>
            </a:pPr>
            <a:r>
              <a:rPr lang="en-US" sz="1500">
                <a:solidFill>
                  <a:schemeClr val="dk1"/>
                </a:solidFill>
              </a:rPr>
              <a:t>la probabilité, </a:t>
            </a:r>
            <a:endParaRPr sz="1500">
              <a:solidFill>
                <a:schemeClr val="dk1"/>
              </a:solidFill>
            </a:endParaRPr>
          </a:p>
          <a:p>
            <a:pPr indent="-323850" lvl="0" marL="457200" rtl="0" algn="l">
              <a:spcBef>
                <a:spcPts val="0"/>
              </a:spcBef>
              <a:spcAft>
                <a:spcPts val="0"/>
              </a:spcAft>
              <a:buClr>
                <a:schemeClr val="dk1"/>
              </a:buClr>
              <a:buSzPts val="1500"/>
              <a:buChar char="-"/>
            </a:pPr>
            <a:r>
              <a:rPr lang="en-US" sz="1500">
                <a:solidFill>
                  <a:schemeClr val="dk1"/>
                </a:solidFill>
              </a:rPr>
              <a:t>puis la décision finale.</a:t>
            </a:r>
            <a:endParaRPr sz="1500">
              <a:solidFill>
                <a:schemeClr val="dk1"/>
              </a:solidFill>
            </a:endParaRPr>
          </a:p>
          <a:p>
            <a:pPr indent="0" lvl="0" marL="0" rtl="0" algn="l">
              <a:spcBef>
                <a:spcPts val="0"/>
              </a:spcBef>
              <a:spcAft>
                <a:spcPts val="0"/>
              </a:spcAft>
              <a:buClr>
                <a:schemeClr val="dk1"/>
              </a:buClr>
              <a:buSzPts val="1100"/>
              <a:buFont typeface="Arial"/>
              <a:buNone/>
            </a:pPr>
            <a:r>
              <a:t/>
            </a:r>
            <a:endParaRPr sz="1500">
              <a:solidFill>
                <a:schemeClr val="dk1"/>
              </a:solidFill>
            </a:endParaRPr>
          </a:p>
          <a:p>
            <a:pPr indent="0" lvl="0" marL="0" rtl="0" algn="l">
              <a:spcBef>
                <a:spcPts val="0"/>
              </a:spcBef>
              <a:spcAft>
                <a:spcPts val="0"/>
              </a:spcAft>
              <a:buSzPts val="1100"/>
              <a:buNone/>
            </a:pPr>
            <a:r>
              <a:rPr lang="en-US" sz="1500">
                <a:solidFill>
                  <a:schemeClr val="dk1"/>
                </a:solidFill>
              </a:rPr>
              <a:t> Le point important, c’est qu’améliorer l’une de ces étapes n’améliore pas automatiquement les deux autres.</a:t>
            </a:r>
            <a:endParaRPr sz="16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Le fil conducteur de la journée, c’est le suivant : dans un problème déséquilibré, il ne suffit pas de bien classer, il faut aussi savoir calibrer, choisir un seuil et construire des variables défendables</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Mercredi 23 septembre · Relier données, probabilités et décisions</a:t>
            </a:r>
            <a:endParaRPr sz="1500"/>
          </a:p>
          <a:p>
            <a:pPr indent="0" lvl="0" marL="0" rtl="0" algn="l">
              <a:spcBef>
                <a:spcPts val="0"/>
              </a:spcBef>
              <a:spcAft>
                <a:spcPts val="0"/>
              </a:spcAft>
              <a:buSzPts val="1200"/>
              <a:buNone/>
            </a:pPr>
            <a:r>
              <a:rPr lang="en-US" sz="1500"/>
              <a:t>Formateur : Chrys Fé-Marty NIONGOLO</a:t>
            </a:r>
            <a:endParaRPr sz="1500"/>
          </a:p>
        </p:txBody>
      </p:sp>
      <p:sp>
        <p:nvSpPr>
          <p:cNvPr id="1234" name="Google Shape;1234;p5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7" name="Shape 1247"/>
        <p:cNvGrpSpPr/>
        <p:nvPr/>
      </p:nvGrpSpPr>
      <p:grpSpPr>
        <a:xfrm>
          <a:off x="0" y="0"/>
          <a:ext cx="0" cy="0"/>
          <a:chOff x="0" y="0"/>
          <a:chExt cx="0" cy="0"/>
        </a:xfrm>
      </p:grpSpPr>
      <p:sp>
        <p:nvSpPr>
          <p:cNvPr id="1248" name="Google Shape;1248;p5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9" name="Google Shape;1249;p5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Trois décisions différentes</a:t>
            </a:r>
            <a:endParaRPr/>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lang="en-US" sz="1300">
                <a:solidFill>
                  <a:schemeClr val="dk1"/>
                </a:solidFill>
              </a:rPr>
              <a:t>Ici, on distingue bien trois niveaux : d’abord </a:t>
            </a:r>
            <a:r>
              <a:rPr b="1" lang="en-US" sz="1300">
                <a:solidFill>
                  <a:schemeClr val="dk1"/>
                </a:solidFill>
              </a:rPr>
              <a:t>classer</a:t>
            </a:r>
            <a:r>
              <a:rPr lang="en-US" sz="1300">
                <a:solidFill>
                  <a:schemeClr val="dk1"/>
                </a:solidFill>
              </a:rPr>
              <a:t>, ensuite </a:t>
            </a:r>
            <a:r>
              <a:rPr b="1" lang="en-US" sz="1300">
                <a:solidFill>
                  <a:schemeClr val="dk1"/>
                </a:solidFill>
              </a:rPr>
              <a:t>produire une probabilité crédible</a:t>
            </a:r>
            <a:r>
              <a:rPr lang="en-US" sz="1300">
                <a:solidFill>
                  <a:schemeClr val="dk1"/>
                </a:solidFill>
              </a:rPr>
              <a:t>, puis enfin </a:t>
            </a:r>
            <a:r>
              <a:rPr b="1" lang="en-US" sz="1300">
                <a:solidFill>
                  <a:schemeClr val="dk1"/>
                </a:solidFill>
              </a:rPr>
              <a:t>décider quoi faire</a:t>
            </a:r>
            <a:r>
              <a:rPr lang="en-US" sz="1300">
                <a:solidFill>
                  <a:schemeClr val="dk1"/>
                </a:solidFill>
              </a:rPr>
              <a:t>.</a:t>
            </a:r>
            <a:endParaRPr sz="1300" u="sng">
              <a:solidFill>
                <a:schemeClr val="hlink"/>
              </a:solidFill>
            </a:endParaRPr>
          </a:p>
          <a:p>
            <a:pPr indent="0" lvl="0" marL="0" rtl="0" algn="l">
              <a:spcBef>
                <a:spcPts val="0"/>
              </a:spcBef>
              <a:spcAft>
                <a:spcPts val="0"/>
              </a:spcAft>
              <a:buSzPts val="1200"/>
              <a:buNone/>
            </a:pPr>
            <a:r>
              <a:rPr lang="en-US" sz="1300">
                <a:solidFill>
                  <a:schemeClr val="dk1"/>
                </a:solidFill>
              </a:rPr>
              <a:t>Et l’idée importante, c’est qu’un meilleur classement ne donne pas automatiquement une meilleure probabilité, ni une meilleure décision.</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[R16] Probability calibration. Équipe scikit-learn. 2026. https://scikit-learn.org/stable/modules/calibration.html (consulté le 19 septembre 2026).</a:t>
            </a:r>
            <a:endParaRPr/>
          </a:p>
          <a:p>
            <a:pPr indent="0" lvl="0" marL="0" rtl="0" algn="l">
              <a:spcBef>
                <a:spcPts val="0"/>
              </a:spcBef>
              <a:spcAft>
                <a:spcPts val="0"/>
              </a:spcAft>
              <a:buSzPts val="1200"/>
              <a:buNone/>
            </a:pPr>
            <a:r>
              <a:rPr lang="en-US" sz="1200"/>
              <a:t>[R17] Tuning the decision threshold for class prediction. Équipe scikit-learn. 2026. https://scikit-learn.org/stable/modules/classification_threshold.html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250" name="Google Shape;1250;p5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8" name="Shape 1268"/>
        <p:cNvGrpSpPr/>
        <p:nvPr/>
      </p:nvGrpSpPr>
      <p:grpSpPr>
        <a:xfrm>
          <a:off x="0" y="0"/>
          <a:ext cx="0" cy="0"/>
          <a:chOff x="0" y="0"/>
          <a:chExt cx="0" cy="0"/>
        </a:xfrm>
      </p:grpSpPr>
      <p:sp>
        <p:nvSpPr>
          <p:cNvPr id="1269" name="Google Shape;1269;p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0" name="Google Shape;1270;p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400"/>
              <a:t>Une erreur n’a de sens qu’en fonction de son coût réel pour l’usage visé.</a:t>
            </a:r>
            <a:endParaRPr sz="1400"/>
          </a:p>
          <a:p>
            <a:pPr indent="0" lvl="0" marL="0" rtl="0" algn="l">
              <a:spcBef>
                <a:spcPts val="0"/>
              </a:spcBef>
              <a:spcAft>
                <a:spcPts val="0"/>
              </a:spcAft>
              <a:buSzPts val="1200"/>
              <a:buNone/>
            </a:pPr>
            <a:r>
              <a:rPr lang="en-US" sz="1400"/>
              <a:t>Donc on ne fixe pas ces coûts seul dans un coin : on les discute avec les personnes qui vont effectivement utiliser la décision.</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Coût total = (prix des fausses alertes × nombre de fausses alertes) + (prix des erreurs manquées × nombre d’erreurs manquées).</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400"/>
              <a:t>[R17] Tuning the decision threshold for class prediction. Équipe scikit-learn. 2026. https://scikit-learn.org/stable/modules/classification_threshold.html (consulté le 19 septembre 2026).</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271" name="Google Shape;1271;p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p6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1" name="Google Shape;1291;p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400"/>
              <a:t>Le seuil doit être choisi sur validation</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La courbe est calculée sur une validation synthétique. Les points d'une grille de seuils donnent un aperçu ; le TP examine toutes les probabilités uniques pour minimiser le coût empirique. Un minimum sur un petit échantillon peut être instable. Faire discuter les seuils voisins et une contrainte de rappel minimal plutôt qu'un seuil présenté avec une précision injustifiée.</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Le seuil n’est pas un réglage esthétique : il change le rappel, le nombre d’alertes et le coût global</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Il doit donc être choisi sur validation, tandis que le test final reste fermé jusqu’au bout. </a:t>
            </a:r>
            <a:endParaRPr sz="14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[R17] Tuning the decision threshold for class prediction. Équipe scikit-learn. 2026. https://scikit-learn.org/stable/modules/classification_threshold.html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292" name="Google Shape;1292;p6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p6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1" name="Google Shape;1311;p6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t>Un seuil théorique sous hypothèses</a:t>
            </a:r>
            <a:endParaRPr b="1" sz="1400"/>
          </a:p>
          <a:p>
            <a:pPr indent="0" lvl="0" marL="0" rtl="0" algn="l">
              <a:spcBef>
                <a:spcPts val="0"/>
              </a:spcBef>
              <a:spcAft>
                <a:spcPts val="0"/>
              </a:spcAft>
              <a:buSzPts val="1200"/>
              <a:buNone/>
            </a:pPr>
            <a:r>
              <a:t/>
            </a:r>
            <a:endParaRPr b="1" sz="1400"/>
          </a:p>
          <a:p>
            <a:pPr indent="0" lvl="0" marL="0" rtl="0" algn="l">
              <a:spcBef>
                <a:spcPts val="0"/>
              </a:spcBef>
              <a:spcAft>
                <a:spcPts val="0"/>
              </a:spcAft>
              <a:buSzPts val="1200"/>
              <a:buNone/>
            </a:pPr>
            <a:r>
              <a:rPr b="1" lang="en-US" sz="1400"/>
              <a:t>L’équation : On agit si le risque que ce soit réellement positif est suffisamment élevé.</a:t>
            </a:r>
            <a:endParaRPr b="1" sz="1400"/>
          </a:p>
          <a:p>
            <a:pPr indent="0" lvl="0" marL="0" rtl="0" algn="l">
              <a:spcBef>
                <a:spcPts val="0"/>
              </a:spcBef>
              <a:spcAft>
                <a:spcPts val="0"/>
              </a:spcAft>
              <a:buSzPts val="1200"/>
              <a:buNone/>
            </a:pPr>
            <a:r>
              <a:t/>
            </a:r>
            <a:endParaRPr sz="1400"/>
          </a:p>
          <a:p>
            <a:pPr indent="-317500" lvl="0" marL="457200" rtl="0" algn="l">
              <a:spcBef>
                <a:spcPts val="0"/>
              </a:spcBef>
              <a:spcAft>
                <a:spcPts val="0"/>
              </a:spcAft>
              <a:buClr>
                <a:schemeClr val="dk1"/>
              </a:buClr>
              <a:buSzPts val="1400"/>
              <a:buChar char="-"/>
            </a:pPr>
            <a:r>
              <a:rPr lang="en-US" sz="1400">
                <a:solidFill>
                  <a:schemeClr val="dk1"/>
                </a:solidFill>
              </a:rPr>
              <a:t>On peut parfois écrire un seuil théorique, mais seulement sous des hypothèses fortes : probabilités bien calibrées, coûts fixes et cadre d’usage stable. </a:t>
            </a:r>
            <a:endParaRPr sz="1400" u="sng">
              <a:solidFill>
                <a:schemeClr val="hlink"/>
              </a:solidFill>
            </a:endParaRPr>
          </a:p>
          <a:p>
            <a:pPr indent="-317500" lvl="0" marL="457200" rtl="0" algn="l">
              <a:spcBef>
                <a:spcPts val="0"/>
              </a:spcBef>
              <a:spcAft>
                <a:spcPts val="0"/>
              </a:spcAft>
              <a:buClr>
                <a:schemeClr val="dk1"/>
              </a:buClr>
              <a:buSzPts val="1400"/>
              <a:buChar char="-"/>
            </a:pPr>
            <a:r>
              <a:rPr lang="en-US" sz="1400">
                <a:solidFill>
                  <a:schemeClr val="dk1"/>
                </a:solidFill>
              </a:rPr>
              <a:t>Ici, avec un faux positif coûtant 1 et un faux négatif coûtant 5, le seuil théorique devient 1 sur 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[R17] Tuning the decision threshold for class prediction. Équipe scikit-learn. 2026. https://scikit-learn.org/stable/modules/classification_threshold.html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1312" name="Google Shape;1312;p6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0" name="Shape 1330"/>
        <p:cNvGrpSpPr/>
        <p:nvPr/>
      </p:nvGrpSpPr>
      <p:grpSpPr>
        <a:xfrm>
          <a:off x="0" y="0"/>
          <a:ext cx="0" cy="0"/>
          <a:chOff x="0" y="0"/>
          <a:chExt cx="0" cy="0"/>
        </a:xfrm>
      </p:grpSpPr>
      <p:sp>
        <p:nvSpPr>
          <p:cNvPr id="1331" name="Google Shape;1331;p6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2" name="Google Shape;1332;p6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sz="1500">
                <a:solidFill>
                  <a:schemeClr val="dk1"/>
                </a:solidFill>
              </a:rPr>
              <a:t>« Le score Fβ sert à expliciter une préférence : si β est supérieur à 1, on donne plus d’importance au rappel. »</a:t>
            </a:r>
            <a:endParaRPr sz="1500">
              <a:solidFill>
                <a:schemeClr val="dk1"/>
              </a:solidFill>
            </a:endParaRPr>
          </a:p>
          <a:p>
            <a:pPr indent="0" lvl="0" marL="0" rtl="0" algn="l">
              <a:spcBef>
                <a:spcPts val="0"/>
              </a:spcBef>
              <a:spcAft>
                <a:spcPts val="0"/>
              </a:spcAft>
              <a:buSzPts val="1100"/>
              <a:buNone/>
            </a:pPr>
            <a:r>
              <a:rPr lang="en-US" sz="1500">
                <a:solidFill>
                  <a:schemeClr val="dk1"/>
                </a:solidFill>
              </a:rPr>
              <a:t>« On peut aussi raisonner autrement, par exemple chercher le rappel maximal tout en imposant une précision minimale. </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[R04] Metrics and scoring. Équipe scikit-learn. 2026. https://scikit-learn.org/stable/modules/model_evaluation.html (consulté le 19 septembre 2026).</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Formateur : Chrys Fé-Marty NIONGOLO</a:t>
            </a:r>
            <a:endParaRPr sz="1500"/>
          </a:p>
        </p:txBody>
      </p:sp>
      <p:sp>
        <p:nvSpPr>
          <p:cNvPr id="1333" name="Google Shape;1333;p6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1" name="Shape 1351"/>
        <p:cNvGrpSpPr/>
        <p:nvPr/>
      </p:nvGrpSpPr>
      <p:grpSpPr>
        <a:xfrm>
          <a:off x="0" y="0"/>
          <a:ext cx="0" cy="0"/>
          <a:chOff x="0" y="0"/>
          <a:chExt cx="0" cy="0"/>
        </a:xfrm>
      </p:grpSpPr>
      <p:sp>
        <p:nvSpPr>
          <p:cNvPr id="1352" name="Google Shape;1352;p6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53" name="Google Shape;1353;p6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sz="1500">
                <a:solidFill>
                  <a:schemeClr val="dk1"/>
                </a:solidFill>
              </a:rPr>
              <a:t>« Cette slide montre qu’il n’existe pas une seule réponse au déséquilibre : pondérer, sous-échantillonner, sur-échantillonner, utiliser SMOTE ou simplement régler le seuil ne jouent pas au même endroit. </a:t>
            </a:r>
            <a:endParaRPr sz="1500">
              <a:solidFill>
                <a:schemeClr val="dk1"/>
              </a:solidFill>
            </a:endParaRPr>
          </a:p>
          <a:p>
            <a:pPr indent="0" lvl="0" marL="0" rtl="0" algn="l">
              <a:spcBef>
                <a:spcPts val="0"/>
              </a:spcBef>
              <a:spcAft>
                <a:spcPts val="0"/>
              </a:spcAft>
              <a:buClr>
                <a:schemeClr val="dk1"/>
              </a:buClr>
              <a:buSzPts val="1100"/>
              <a:buFont typeface="Arial"/>
              <a:buNone/>
            </a:pPr>
            <a:r>
              <a:t/>
            </a:r>
            <a:endParaRPr sz="1500">
              <a:solidFill>
                <a:schemeClr val="dk1"/>
              </a:solidFill>
            </a:endParaRPr>
          </a:p>
          <a:p>
            <a:pPr indent="0" lvl="0" marL="0" rtl="0" algn="l">
              <a:spcBef>
                <a:spcPts val="0"/>
              </a:spcBef>
              <a:spcAft>
                <a:spcPts val="0"/>
              </a:spcAft>
              <a:buSzPts val="1200"/>
              <a:buNone/>
            </a:pPr>
            <a:r>
              <a:rPr lang="en-US" sz="1500">
                <a:solidFill>
                  <a:schemeClr val="dk1"/>
                </a:solidFill>
              </a:rPr>
              <a:t>« À chaque levier, il faut se demander ce qu’on améliore pendant l’apprentissage et ce qu’il faudra encore vérifier au moment de décider. »</a:t>
            </a:r>
            <a:endParaRPr sz="15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500"/>
              <a:t>Partir d'une baseline et d'une métrique adaptée avant de sampler. Le déséquilibre ne rend pas chaque jeu de données automatiquement difficile : le chevauchement des classes, le bruit et le nombre absolu de positifs comptent aussi. Ne pas changer la prévalence du test pour rendre les métriques plus favorables. Comparer chaque levier sur le même jeu de validation représentatif.</a:t>
            </a:r>
            <a:endParaRPr sz="15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[R14] Common pitfalls and recommended practices. Équipe imbalanced-learn. documentation 0.14.2, 2026. https://imbalanced-learn.org/stable/common_pitfalls.html (consulté le 19 septembre 2026).</a:t>
            </a:r>
            <a:endParaRPr/>
          </a:p>
          <a:p>
            <a:pPr indent="0" lvl="0" marL="0" rtl="0" algn="l">
              <a:spcBef>
                <a:spcPts val="0"/>
              </a:spcBef>
              <a:spcAft>
                <a:spcPts val="0"/>
              </a:spcAft>
              <a:buSzPts val="1200"/>
              <a:buNone/>
            </a:pPr>
            <a:r>
              <a:rPr lang="en-US" sz="1200"/>
              <a:t>[R17] Tuning the decision threshold for class prediction. Équipe scikit-learn. 2026. https://scikit-learn.org/stable/modules/classification_threshold.html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354" name="Google Shape;1354;p6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2" name="Google Shape;1372;p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500"/>
              <a:t>Pondérer la fonction de perte</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La pondération déplace l'objectif d'apprentissage.</a:t>
            </a:r>
            <a:r>
              <a:rPr lang="en-US" sz="1500"/>
              <a:t> </a:t>
            </a:r>
            <a:r>
              <a:rPr lang="en-US" sz="1500"/>
              <a:t>L'option balanced utilise les fréquences de classes selon la convention de l'estimateur, mais ne connaît pas les coûts réels de la campagne. Pondérer et baisser le seuil simultanément sans protocole peut doubler un effet recherché. Comparer les effets avec des ablations contrôlées.</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Clr>
                <a:schemeClr val="dk1"/>
              </a:buClr>
              <a:buSzPts val="1100"/>
              <a:buFont typeface="Arial"/>
              <a:buNone/>
            </a:pPr>
            <a:r>
              <a:rPr lang="en-US" sz="1500">
                <a:solidFill>
                  <a:schemeClr val="dk1"/>
                </a:solidFill>
              </a:rPr>
              <a:t>Avec la pondération, certaines observations comptent davantage dans l’objectif d’apprentissage, sans créer de nouvelles données. </a:t>
            </a:r>
            <a:endParaRPr sz="1500" u="sng">
              <a:solidFill>
                <a:schemeClr val="hlink"/>
              </a:solidFill>
            </a:endParaRPr>
          </a:p>
          <a:p>
            <a:pPr indent="0" lvl="0" marL="0" rtl="0" algn="l">
              <a:spcBef>
                <a:spcPts val="0"/>
              </a:spcBef>
              <a:spcAft>
                <a:spcPts val="0"/>
              </a:spcAft>
              <a:buSzPts val="1200"/>
              <a:buNone/>
            </a:pPr>
            <a:r>
              <a:rPr lang="en-US" sz="1500">
                <a:solidFill>
                  <a:schemeClr val="dk1"/>
                </a:solidFill>
              </a:rPr>
              <a:t>Mais cela peut déformer les probabilités brutes, d’où la nécessité éventuelle de recalibrer ensuite</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[R14] Common pitfalls and recommended practices. Équipe imbalanced-learn. documentation 0.14.2, 2026. https://imbalanced-learn.org/stable/common_pitfalls.html (consulté le 19 septembre 2026).</a:t>
            </a:r>
            <a:endParaRPr sz="1500"/>
          </a:p>
          <a:p>
            <a:pPr indent="0" lvl="0" marL="0" rtl="0" algn="l">
              <a:spcBef>
                <a:spcPts val="0"/>
              </a:spcBef>
              <a:spcAft>
                <a:spcPts val="0"/>
              </a:spcAft>
              <a:buSzPts val="1200"/>
              <a:buNone/>
            </a:pPr>
            <a:r>
              <a:rPr lang="en-US" sz="1500"/>
              <a:t>[R16] Probability calibration. Équipe scikit-learn. 2026. https://scikit-learn.org/stable/modules/calibration.html (consulté le 19 septembre 2026).</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Formateur : Chrys Fé-Marty NIONGOLO</a:t>
            </a:r>
            <a:endParaRPr sz="1500"/>
          </a:p>
        </p:txBody>
      </p:sp>
      <p:sp>
        <p:nvSpPr>
          <p:cNvPr id="1373" name="Google Shape;1373;p6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1" name="Shape 1391"/>
        <p:cNvGrpSpPr/>
        <p:nvPr/>
      </p:nvGrpSpPr>
      <p:grpSpPr>
        <a:xfrm>
          <a:off x="0" y="0"/>
          <a:ext cx="0" cy="0"/>
          <a:chOff x="0" y="0"/>
          <a:chExt cx="0" cy="0"/>
        </a:xfrm>
      </p:grpSpPr>
      <p:sp>
        <p:nvSpPr>
          <p:cNvPr id="1392" name="Google Shape;1392;p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3" name="Google Shape;1393;p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t>SMOTE (Synthetic Minority Over-sampling Technique) : interpoler dans la classe minoritaire.</a:t>
            </a:r>
            <a:endParaRPr b="1" sz="1500"/>
          </a:p>
          <a:p>
            <a:pPr indent="0" lvl="0" marL="0" rtl="0" algn="l">
              <a:spcBef>
                <a:spcPts val="0"/>
              </a:spcBef>
              <a:spcAft>
                <a:spcPts val="0"/>
              </a:spcAft>
              <a:buSzPts val="1200"/>
              <a:buNone/>
            </a:pPr>
            <a:r>
              <a:t/>
            </a:r>
            <a:endParaRPr sz="1500"/>
          </a:p>
          <a:p>
            <a:pPr indent="0" lvl="0" marL="0" rtl="0" algn="l">
              <a:spcBef>
                <a:spcPts val="0"/>
              </a:spcBef>
              <a:spcAft>
                <a:spcPts val="0"/>
              </a:spcAft>
              <a:buClr>
                <a:schemeClr val="dk1"/>
              </a:buClr>
              <a:buSzPts val="1100"/>
              <a:buFont typeface="Arial"/>
              <a:buNone/>
            </a:pPr>
            <a:r>
              <a:rPr lang="en-US" sz="1500">
                <a:solidFill>
                  <a:schemeClr val="dk1"/>
                </a:solidFill>
              </a:rPr>
              <a:t>SMOTE fabrique des exemples synthétiques en reliant deux voisins minoritaires puis en créant un point intermédiaire.</a:t>
            </a:r>
            <a:endParaRPr sz="1500" u="sng">
              <a:solidFill>
                <a:schemeClr val="hlink"/>
              </a:solidFill>
            </a:endParaRPr>
          </a:p>
          <a:p>
            <a:pPr indent="0" lvl="0" marL="0" rtl="0" algn="l">
              <a:spcBef>
                <a:spcPts val="0"/>
              </a:spcBef>
              <a:spcAft>
                <a:spcPts val="0"/>
              </a:spcAft>
              <a:buSzPts val="1200"/>
              <a:buNone/>
            </a:pPr>
            <a:r>
              <a:rPr lang="en-US" sz="1500">
                <a:solidFill>
                  <a:schemeClr val="dk1"/>
                </a:solidFill>
              </a:rPr>
              <a:t>C’est utile seulement si cette interpolation reste plausible dans l’espace métier, sinon on invente du signal artificiel.</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Exemple original au tableau : xi=(2,4), voisin=(6,8), u=0,25 donne (3,5). Faire examiner les unités et la standardisation avant de mesurer les distances. SMOTE n'ajoute pas de nouvelle information observée et peut amplifier des labels erronés. Près d'une frontière, l'interpolation peut traverser une zone de l'autre classe. Le nombre de voisins doit être compatible avec les effectifs des plis.</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[R15] SMOTE: Synthetic Minority Over-sampling Technique. Chawla, Bowyer, Hall et Kegelmeyer. 2002. https://www.jair.org/index.php/jair/article/view/10302 (consulté le 19 septembre 2026).</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Formateur : Chrys Fé-Marty NIONGOLO</a:t>
            </a:r>
            <a:endParaRPr sz="1500"/>
          </a:p>
        </p:txBody>
      </p:sp>
      <p:sp>
        <p:nvSpPr>
          <p:cNvPr id="1394" name="Google Shape;1394;p6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2" name="Shape 1412"/>
        <p:cNvGrpSpPr/>
        <p:nvPr/>
      </p:nvGrpSpPr>
      <p:grpSpPr>
        <a:xfrm>
          <a:off x="0" y="0"/>
          <a:ext cx="0" cy="0"/>
          <a:chOff x="0" y="0"/>
          <a:chExt cx="0" cy="0"/>
        </a:xfrm>
      </p:grpSpPr>
      <p:sp>
        <p:nvSpPr>
          <p:cNvPr id="1413" name="Google Shape;1413;p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4" name="Google Shape;1414;p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500"/>
              <a:t>Où placer le rééchantillonnage ?</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Clr>
                <a:schemeClr val="dk1"/>
              </a:buClr>
              <a:buSzPts val="1100"/>
              <a:buFont typeface="Arial"/>
              <a:buNone/>
            </a:pPr>
            <a:r>
              <a:rPr lang="en-US" sz="1500">
                <a:solidFill>
                  <a:schemeClr val="dk1"/>
                </a:solidFill>
              </a:rPr>
              <a:t>Le point clé, c’est l’ordre : on réserve le test d’abord, puis dans chaque pli on prétraite et on rééchantillonne uniquement le train. </a:t>
            </a:r>
            <a:endParaRPr sz="1500" u="sng">
              <a:solidFill>
                <a:schemeClr val="hlink"/>
              </a:solidFill>
            </a:endParaRPr>
          </a:p>
          <a:p>
            <a:pPr indent="0" lvl="0" marL="0" rtl="0" algn="l">
              <a:spcBef>
                <a:spcPts val="0"/>
              </a:spcBef>
              <a:spcAft>
                <a:spcPts val="0"/>
              </a:spcAft>
              <a:buSzPts val="1200"/>
              <a:buNone/>
            </a:pPr>
            <a:r>
              <a:rPr lang="en-US" sz="1500">
                <a:solidFill>
                  <a:schemeClr val="dk1"/>
                </a:solidFill>
              </a:rPr>
              <a:t>La validation, elle, doit rester dans sa distribution naturelle pour estimer la performance dans un cadre réaliste.</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Contre-exemple : fabriquer les points SMOTE sur tout le fichier puis lancer une CV permet à des points très voisins de se retrouver des deux côtés. Le score devient artificiellement favorable et la distribution de validation n'est plus celle d'usage. Avec des catégories, comparer SMOTENC à la pondération. Une interpolation des colonnes one-hot peut créer des catégories fractionnaires sans sens.</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Utiliser imblearn.Pipeline pour encapsuler cette procédure</a:t>
            </a:r>
            <a:endParaRPr sz="15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[R14] Common pitfalls and recommended practices. Équipe imbalanced-learn. documentation 0.14.2, 2026. https://imbalanced-learn.org/stable/common_pitfalls.html (consulté le 19 septembre 2026).</a:t>
            </a:r>
            <a:endParaRPr/>
          </a:p>
          <a:p>
            <a:pPr indent="0" lvl="0" marL="0" rtl="0" algn="l">
              <a:spcBef>
                <a:spcPts val="0"/>
              </a:spcBef>
              <a:spcAft>
                <a:spcPts val="0"/>
              </a:spcAft>
              <a:buSzPts val="1200"/>
              <a:buNone/>
            </a:pPr>
            <a:r>
              <a:rPr lang="en-US" sz="1200"/>
              <a:t>[R15] SMOTE: Synthetic Minority Over-sampling Technique. Chawla, Bowyer, Hall et Kegelmeyer. 2002. https://www.jair.org/index.php/jair/article/view/10302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15" name="Google Shape;1415;p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6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5" name="Google Shape;1435;p6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Lire une courbe de calibration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graphique est schématique. La courbe observée p² correspond à de la surconfiance pour p dans ]0,1[. En pratique, choisir les bins et montrer leurs effectifs. Une bonne calibration globale peut masquer une mauvaise calibration dans un sous-groupe. Le Brier évalue la qualité des probabilités mais n'isole pas à lui seul toute la calibration.</a:t>
            </a:r>
            <a:endParaRPr sz="1200"/>
          </a:p>
          <a:p>
            <a:pPr indent="0" lvl="0" marL="0" rtl="0" algn="l">
              <a:spcBef>
                <a:spcPts val="0"/>
              </a:spcBef>
              <a:spcAft>
                <a:spcPts val="0"/>
              </a:spcAft>
              <a:buSzPts val="1200"/>
              <a:buNone/>
            </a:pPr>
            <a:r>
              <a:t/>
            </a:r>
            <a:endParaRPr/>
          </a:p>
          <a:p>
            <a:pPr indent="0" lvl="0" marL="0" rtl="0" algn="l">
              <a:spcBef>
                <a:spcPts val="0"/>
              </a:spcBef>
              <a:spcAft>
                <a:spcPts val="0"/>
              </a:spcAft>
              <a:buSzPts val="1100"/>
              <a:buNone/>
            </a:pPr>
            <a:r>
              <a:rPr lang="en-US" sz="1100">
                <a:solidFill>
                  <a:schemeClr val="dk1"/>
                </a:solidFill>
              </a:rPr>
              <a:t>« On peut recalibrer avec une sigmoïde, plus simple, ou avec une isotone, plus flexible mais plus gourmande en données. </a:t>
            </a:r>
            <a:endParaRPr sz="1100">
              <a:solidFill>
                <a:schemeClr val="dk1"/>
              </a:solidFill>
            </a:endParaRPr>
          </a:p>
          <a:p>
            <a:pPr indent="0" lvl="0" marL="0" rtl="0" algn="l">
              <a:spcBef>
                <a:spcPts val="0"/>
              </a:spcBef>
              <a:spcAft>
                <a:spcPts val="0"/>
              </a:spcAft>
              <a:buSzPts val="1100"/>
              <a:buNone/>
            </a:pPr>
            <a:r>
              <a:rPr lang="en-US" sz="1100">
                <a:solidFill>
                  <a:schemeClr val="dk1"/>
                </a:solidFill>
              </a:rPr>
              <a:t>« Mais il faut absolument éviter la fuite : les prédictions utilisées pour calibrer ne doivent pas venir d’un modèle qui a déjà vu leurs labels.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Exemple schématique : une prédiction à 0,8 correspond ici à 0,64 observé.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[R16] Probability calibration. Équipe scikit-learn. 2026. https://scikit-learn.org/stable/modules/calibration.html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36" name="Google Shape;1436;p6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p6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5" name="Google Shape;1455;p6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Apprendre une calibration sans fuite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Décrire le rôle de la CV interne dans CalibratedClassifierCV. Le train sert à produire des prédictions hors pli pour calibrer. Un autre jeu de validation sert ensuite à choisir le seuil. Le test estime la procédure une fois ces choix figés. Sur peu de positifs, une calibration flexible risque d'être instable. Ne pas annoncer une calibration meilleure sans la mesurer.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CalibratedClassifierCV puis validation du seuil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[R16] Probability calibration. Équipe scikit-learn. 2026. https://scikit-learn.org/stable/modules/calibration.html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56" name="Google Shape;1456;p6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4" name="Shape 1474"/>
        <p:cNvGrpSpPr/>
        <p:nvPr/>
      </p:nvGrpSpPr>
      <p:grpSpPr>
        <a:xfrm>
          <a:off x="0" y="0"/>
          <a:ext cx="0" cy="0"/>
          <a:chOff x="0" y="0"/>
          <a:chExt cx="0" cy="0"/>
        </a:xfrm>
      </p:grpSpPr>
      <p:sp>
        <p:nvSpPr>
          <p:cNvPr id="1475" name="Google Shape;1475;h149ee8332d2dc770_0_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6" name="Google Shape;1476;h149ee8332d2dc770_0_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800"/>
              </a:spcBef>
              <a:spcAft>
                <a:spcPts val="0"/>
              </a:spcAft>
              <a:buClr>
                <a:schemeClr val="dk1"/>
              </a:buClr>
              <a:buSzPts val="1100"/>
              <a:buFont typeface="Arial"/>
              <a:buNone/>
            </a:pPr>
            <a:r>
              <a:rPr b="1" lang="en-US" sz="1700">
                <a:solidFill>
                  <a:schemeClr val="dk1"/>
                </a:solidFill>
              </a:rPr>
              <a:t>Quand choisir quoi</a:t>
            </a:r>
            <a:endParaRPr b="1" sz="1700">
              <a:solidFill>
                <a:schemeClr val="dk1"/>
              </a:solidFill>
            </a:endParaRPr>
          </a:p>
          <a:p>
            <a:pPr indent="-298450" lvl="0" marL="457200" rtl="0" algn="l">
              <a:lnSpc>
                <a:spcPct val="115000"/>
              </a:lnSpc>
              <a:spcBef>
                <a:spcPts val="1500"/>
              </a:spcBef>
              <a:spcAft>
                <a:spcPts val="0"/>
              </a:spcAft>
              <a:buClr>
                <a:schemeClr val="dk1"/>
              </a:buClr>
              <a:buSzPts val="1100"/>
              <a:buChar char="●"/>
            </a:pPr>
            <a:r>
              <a:rPr lang="en-US" sz="1100">
                <a:solidFill>
                  <a:schemeClr val="dk1"/>
                </a:solidFill>
              </a:rPr>
              <a:t>Choisis </a:t>
            </a:r>
            <a:r>
              <a:rPr b="1" lang="en-US" sz="1100">
                <a:solidFill>
                  <a:srgbClr val="188038"/>
                </a:solidFill>
                <a:latin typeface="Roboto Mono"/>
                <a:ea typeface="Roboto Mono"/>
                <a:cs typeface="Roboto Mono"/>
                <a:sym typeface="Roboto Mono"/>
              </a:rPr>
              <a:t>method="sigmoid"</a:t>
            </a:r>
            <a:r>
              <a:rPr lang="en-US" sz="1100">
                <a:solidFill>
                  <a:schemeClr val="dk1"/>
                </a:solidFill>
              </a:rPr>
              <a:t> si tu as peu de données de calibration, si tu veux préserver strictement le ranking/AUC, ou si tu attends une correction lisse et régulière.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Choisis </a:t>
            </a:r>
            <a:r>
              <a:rPr b="1" lang="en-US" sz="1100">
                <a:solidFill>
                  <a:srgbClr val="188038"/>
                </a:solidFill>
                <a:latin typeface="Roboto Mono"/>
                <a:ea typeface="Roboto Mono"/>
                <a:cs typeface="Roboto Mono"/>
                <a:sym typeface="Roboto Mono"/>
              </a:rPr>
              <a:t>method="isotonic"</a:t>
            </a:r>
            <a:r>
              <a:rPr lang="en-US" sz="1100">
                <a:solidFill>
                  <a:schemeClr val="dk1"/>
                </a:solidFill>
              </a:rPr>
              <a:t> si tu disposes d’un volume de données suffisant et observes une courbe de fiabilité clairement non sigmoïde.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chemeClr val="dk1"/>
                </a:solidFill>
              </a:rPr>
              <a:t>Évalue les deux sur un jeu de validation indépendant : compare une calibration curve, la log-loss et le Brier score, tout en surveillant la stabilité par split. Une baisse du Brier score seule ne prouve pas nécessairement une meilleure calibration, car cette métrique mélange calibration et pouvoir discriminant.</a:t>
            </a:r>
            <a:r>
              <a:rPr lang="en-US" sz="1100" u="sng">
                <a:solidFill>
                  <a:schemeClr val="hlink"/>
                </a:solidFill>
                <a:hlinkClick r:id="rId2"/>
              </a:rPr>
              <a:t>scikit-learn</a:t>
            </a:r>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77" name="Google Shape;1477;h149ee8332d2dc770_0_7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2" name="Shape 1492"/>
        <p:cNvGrpSpPr/>
        <p:nvPr/>
      </p:nvGrpSpPr>
      <p:grpSpPr>
        <a:xfrm>
          <a:off x="0" y="0"/>
          <a:ext cx="0" cy="0"/>
          <a:chOff x="0" y="0"/>
          <a:chExt cx="0" cy="0"/>
        </a:xfrm>
      </p:grpSpPr>
      <p:sp>
        <p:nvSpPr>
          <p:cNvPr id="1493" name="Google Shape;1493;p6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4" name="Google Shape;1494;p6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Concevoir des variables utiles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Une feature résume une hypothèse sur le problème. Décrire son nom, son unité, sa formule, sa fenêtre temporelle et son instant de disponibilité.</a:t>
            </a:r>
            <a:endParaRPr sz="12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 Une interaction utile à une régression peut être déjà capturée par un arbre. La valeur ajoutée se mesure par une ablation conservant le même protocole. Les variables dérivées de données sensibles ou de proxys exigent une réflexion explicite sur l'usage.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[R18] Preprocessing data. Équipe scikit-learn. 2026. https://scikit-learn.org/stable/modules/preprocessing.html (consulté le 19 septembre 2026).</a:t>
            </a:r>
            <a:endParaRPr/>
          </a:p>
          <a:p>
            <a:pPr indent="0" lvl="0" marL="0" rtl="0" algn="l">
              <a:spcBef>
                <a:spcPts val="0"/>
              </a:spcBef>
              <a:spcAft>
                <a:spcPts val="0"/>
              </a:spcAft>
              <a:buSzPts val="1200"/>
              <a:buNone/>
            </a:pPr>
            <a:r>
              <a:rPr lang="en-US" sz="1200"/>
              <a:t>[R41] Feature selection. Équipe scikit-learn. 2026. https://scikit-learn.org/stable/modules/feature_selection.html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495" name="Google Shape;1495;p6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1" name="Shape 1511"/>
        <p:cNvGrpSpPr/>
        <p:nvPr/>
      </p:nvGrpSpPr>
      <p:grpSpPr>
        <a:xfrm>
          <a:off x="0" y="0"/>
          <a:ext cx="0" cy="0"/>
          <a:chOff x="0" y="0"/>
          <a:chExt cx="0" cy="0"/>
        </a:xfrm>
      </p:grpSpPr>
      <p:sp>
        <p:nvSpPr>
          <p:cNvPr id="1512" name="Google Shape;1512;h149ee8332d2dc770_0_1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3" name="Google Shape;1513;h149ee8332d2dc770_0_1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Concevoir des variables utiles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Une feature résume une hypothèse sur le problème. Décrire son nom, son unité, sa formule, sa fenêtre temporelle et son instant de disponibilité.</a:t>
            </a:r>
            <a:endParaRPr sz="12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 Une interaction utile à une régression peut être déjà capturée par un arbre. La valeur ajoutée se mesure par une ablation conservant le même protocole. Les variables dérivées de données sensibles ou de proxys exigent une réflexion explicite sur l'usage.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[R18] Preprocessing data. Équipe scikit-learn. 2026. https://scikit-learn.org/stable/modules/preprocessing.html (consulté le 19 septembre 2026).</a:t>
            </a:r>
            <a:endParaRPr/>
          </a:p>
          <a:p>
            <a:pPr indent="0" lvl="0" marL="0" rtl="0" algn="l">
              <a:spcBef>
                <a:spcPts val="0"/>
              </a:spcBef>
              <a:spcAft>
                <a:spcPts val="0"/>
              </a:spcAft>
              <a:buSzPts val="1200"/>
              <a:buNone/>
            </a:pPr>
            <a:r>
              <a:rPr lang="en-US" sz="1200"/>
              <a:t>[R41] Feature selection. Équipe scikit-learn. 2026. https://scikit-learn.org/stable/modules/feature_selection.html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514" name="Google Shape;1514;h149ee8332d2dc770_0_1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7" name="Shape 1527"/>
        <p:cNvGrpSpPr/>
        <p:nvPr/>
      </p:nvGrpSpPr>
      <p:grpSpPr>
        <a:xfrm>
          <a:off x="0" y="0"/>
          <a:ext cx="0" cy="0"/>
          <a:chOff x="0" y="0"/>
          <a:chExt cx="0" cy="0"/>
        </a:xfrm>
      </p:grpSpPr>
      <p:sp>
        <p:nvSpPr>
          <p:cNvPr id="1528" name="Google Shape;1528;p7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9" name="Google Shape;1529;p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sz="1400">
                <a:solidFill>
                  <a:schemeClr val="dk1"/>
                </a:solidFill>
                <a:latin typeface="DM Sans"/>
                <a:ea typeface="DM Sans"/>
                <a:cs typeface="DM Sans"/>
                <a:sym typeface="DM Sans"/>
              </a:rPr>
              <a:t>« Une valeur manquante n’est pas forcément un bruit à effacer : elle peut elle-même contenir une information utile. »</a:t>
            </a:r>
            <a:endParaRPr sz="1400">
              <a:solidFill>
                <a:schemeClr val="dk1"/>
              </a:solidFill>
              <a:latin typeface="DM Sans"/>
              <a:ea typeface="DM Sans"/>
              <a:cs typeface="DM Sans"/>
              <a:sym typeface="DM Sans"/>
            </a:endParaRPr>
          </a:p>
          <a:p>
            <a:pPr indent="0" lvl="0" marL="0" rtl="0" algn="l">
              <a:spcBef>
                <a:spcPts val="0"/>
              </a:spcBef>
              <a:spcAft>
                <a:spcPts val="0"/>
              </a:spcAft>
              <a:buSzPts val="1100"/>
              <a:buNone/>
            </a:pPr>
            <a:r>
              <a:t/>
            </a:r>
            <a:endParaRPr sz="1400">
              <a:solidFill>
                <a:schemeClr val="dk1"/>
              </a:solidFill>
              <a:latin typeface="DM Sans"/>
              <a:ea typeface="DM Sans"/>
              <a:cs typeface="DM Sans"/>
              <a:sym typeface="DM Sans"/>
            </a:endParaRPr>
          </a:p>
          <a:p>
            <a:pPr indent="0" lvl="0" marL="0" rtl="0" algn="l">
              <a:spcBef>
                <a:spcPts val="0"/>
              </a:spcBef>
              <a:spcAft>
                <a:spcPts val="0"/>
              </a:spcAft>
              <a:buSzPts val="1100"/>
              <a:buNone/>
            </a:pPr>
            <a:r>
              <a:rPr lang="en-US" sz="1400">
                <a:solidFill>
                  <a:schemeClr val="dk1"/>
                </a:solidFill>
                <a:latin typeface="DM Sans"/>
                <a:ea typeface="DM Sans"/>
                <a:cs typeface="DM Sans"/>
                <a:sym typeface="DM Sans"/>
              </a:rPr>
              <a:t>« Et pour les catégories, il faut penser dès maintenant à celles qui n’existaient pas dans l’entraînement mais apparaîtront en production.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Le loader remplace explicitement unknown par une valeur manquante. La branche numérique impute la médiane et ajoute un indicateur. La branche catégorielle impute la modalité fréquente, choix de baseline à discuter. Une autre stratégie conserverait une catégorie manquante explicite. Documenter ces choix et mesurer leur effet. Pour pdays, le code 999 doit être compris à partir du dictionnaire UCI.</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L'imputation est une hypothèse, pas une restauration de la vérité</a:t>
            </a:r>
            <a:r>
              <a:rPr lang="en-US" sz="1400">
                <a:latin typeface="DM Sans"/>
                <a:ea typeface="DM Sans"/>
                <a:cs typeface="DM Sans"/>
                <a:sym typeface="DM Sans"/>
              </a:rPr>
              <a:t>.</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[R18] Preprocessing data. Équipe scikit-learn. 2026. https://scikit-learn.org/stable/modules/preprocessing.html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[R32] Bank Marketing. Moro, Rita et Cortez ; UCI Machine Learning Repository. 2014, données 2008–2010. https://archive.ics.uci.edu/dataset/222/bank+marketing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1530" name="Google Shape;1530;p7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8" name="Shape 1548"/>
        <p:cNvGrpSpPr/>
        <p:nvPr/>
      </p:nvGrpSpPr>
      <p:grpSpPr>
        <a:xfrm>
          <a:off x="0" y="0"/>
          <a:ext cx="0" cy="0"/>
          <a:chOff x="0" y="0"/>
          <a:chExt cx="0" cy="0"/>
        </a:xfrm>
      </p:grpSpPr>
      <p:sp>
        <p:nvSpPr>
          <p:cNvPr id="1549" name="Google Shape;1549;p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0" name="Google Shape;1550;p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Target encoding et cross-fitting</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 formule illustre un lissage simple, pas tous les détails de </a:t>
            </a:r>
            <a:r>
              <a:rPr b="1" lang="en-US" sz="1200"/>
              <a:t>TargetEncoder</a:t>
            </a:r>
            <a:r>
              <a:rPr lang="en-US" sz="1200"/>
              <a:t>. Une catégorie presque unique peut révéler le label si le calcul est naïf. Le cross-fitting calcule l'encodage de chaque observation à partir d'autres plis. </a:t>
            </a:r>
            <a:endParaRPr sz="12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Dans scikit-learn, </a:t>
            </a:r>
            <a:r>
              <a:rPr b="1" i="1" lang="en-US" sz="1200"/>
              <a:t>fit_transform</a:t>
            </a:r>
            <a:r>
              <a:rPr lang="en-US" sz="1200"/>
              <a:t> et fit suivi de transform n'ont donc pas le même comportement d'entraînement. Pour des groupes ou du temps, auditer aussi les sous-plis internes de l'encodeur.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[R19] TargetEncoder. Équipe scikit-learn. 2026. https://scikit-learn.org/stable/modules/generated/sklearn.preprocessing.TargetEncoder.html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551" name="Google Shape;1551;p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9" name="Shape 1569"/>
        <p:cNvGrpSpPr/>
        <p:nvPr/>
      </p:nvGrpSpPr>
      <p:grpSpPr>
        <a:xfrm>
          <a:off x="0" y="0"/>
          <a:ext cx="0" cy="0"/>
          <a:chOff x="0" y="0"/>
          <a:chExt cx="0" cy="0"/>
        </a:xfrm>
      </p:grpSpPr>
      <p:sp>
        <p:nvSpPr>
          <p:cNvPr id="1570" name="Google Shape;1570;p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1" name="Google Shape;1571;p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n-US"/>
              <a:t>« Aujourd’hui, ce que vous devez retenir, ce n’est pas seulement une liste d’outils, c’est un ordre de travail rigoureux. D’abord, une feature doit être définie précisément et disponible au moment rée l de la décision. Ensuite, sur les classes rares, on ne compare pas des techniques au hasard : on les compare dans un protocole sans fuite, avec le test gardé fermé. Enfin, calibration puis choix du seuil : cet ordre compte, sinon on mélange estimation de probabilité et décision d’action. Demain, on change de perspective : il n’y aura plus de cible fournie, donc il faudra découvrir une structure dans les données sans inventer une vérité qui n’existe pas. »</a:t>
            </a:r>
            <a:endParaRPr b="1"/>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[R18] Preprocessing data. Équipe scikit-learn. 2026. https://scikit-learn.org/stable/modules/preprocessing.html (consulté le 19 septembre 2026).</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572" name="Google Shape;1572;p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0" name="Shape 1590"/>
        <p:cNvGrpSpPr/>
        <p:nvPr/>
      </p:nvGrpSpPr>
      <p:grpSpPr>
        <a:xfrm>
          <a:off x="0" y="0"/>
          <a:ext cx="0" cy="0"/>
          <a:chOff x="0" y="0"/>
          <a:chExt cx="0" cy="0"/>
        </a:xfrm>
      </p:grpSpPr>
      <p:sp>
        <p:nvSpPr>
          <p:cNvPr id="1591" name="Google Shape;1591;p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2" name="Google Shape;1592;p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 Jusqu’ici, nous avions une cible : oui ou non, souscription ou non, erreur à minimiser. À partir de maintenant, cette cible disparaît. En non supervisé, notre risque principal n’est plus seulement la fuite ; c’est de surinterpréter ce que l’algorithme produit. Un cluster n’est pas une vérité naturelle découverte dans le monde : c’est le résultat d’un choix de représentation, de distance et d’algorithme.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[R41] Feature selection. Équipe scikit-learn. 2026. https://scikit-learn.org/stable/modules/feature_selection.html (consulté le 19 septembre 2026).</a:t>
            </a:r>
            <a:endParaRPr/>
          </a:p>
          <a:p>
            <a:pPr indent="0" lvl="0" marL="0" rtl="0" algn="l">
              <a:spcBef>
                <a:spcPts val="0"/>
              </a:spcBef>
              <a:spcAft>
                <a:spcPts val="0"/>
              </a:spcAft>
              <a:buSzPts val="1200"/>
              <a:buNone/>
            </a:pPr>
            <a:r>
              <a:rPr lang="en-US" sz="1200"/>
              <a:t>[R25] Permutation feature importance. Équipe scikit-learn. 2026. https://scikit-learn.org/stable/modules/permutation_importance.html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593" name="Google Shape;1593;p7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1" name="Shape 1611"/>
        <p:cNvGrpSpPr/>
        <p:nvPr/>
      </p:nvGrpSpPr>
      <p:grpSpPr>
        <a:xfrm>
          <a:off x="0" y="0"/>
          <a:ext cx="0" cy="0"/>
          <a:chOff x="0" y="0"/>
          <a:chExt cx="0" cy="0"/>
        </a:xfrm>
      </p:grpSpPr>
      <p:sp>
        <p:nvSpPr>
          <p:cNvPr id="1612" name="Google Shape;1612;p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3" name="Google Shape;1613;p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Corrélation : deux précisions utiles</a:t>
            </a:r>
            <a:endParaRPr b="1" sz="1200"/>
          </a:p>
          <a:p>
            <a:pPr indent="0" lvl="0" marL="0" rtl="0" algn="l">
              <a:spcBef>
                <a:spcPts val="0"/>
              </a:spcBef>
              <a:spcAft>
                <a:spcPts val="0"/>
              </a:spcAft>
              <a:buSzPts val="1200"/>
              <a:buNone/>
            </a:pPr>
            <a:r>
              <a:t/>
            </a:r>
            <a:endParaRPr b="1"/>
          </a:p>
          <a:p>
            <a:pPr indent="0" lvl="0" marL="0" rtl="0" algn="l">
              <a:spcBef>
                <a:spcPts val="0"/>
              </a:spcBef>
              <a:spcAft>
                <a:spcPts val="0"/>
              </a:spcAft>
              <a:buSzPts val="1100"/>
              <a:buNone/>
            </a:pPr>
            <a:r>
              <a:rPr b="1" lang="en-US"/>
              <a:t>« Deux observations sont proches seulement selon la représentation que nous avons choisie. Si je change les variables, je change aussi la notion de ressemblance. Donc un cluster n’est jamais indépendant du choix de features. »</a:t>
            </a:r>
            <a:endParaRPr b="1"/>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[R39] Techniques de datamining : méthodologies et mise en pratique. Julie Hor, Sup de Vinci. 2020. Support local fourni : Méthodo Data Mining 2020.pdf (consulté le 19 septembre 2026).</a:t>
            </a:r>
            <a:endParaRPr/>
          </a:p>
          <a:p>
            <a:pPr indent="0" lvl="0" marL="0" rtl="0" algn="l">
              <a:spcBef>
                <a:spcPts val="0"/>
              </a:spcBef>
              <a:spcAft>
                <a:spcPts val="0"/>
              </a:spcAft>
              <a:buSzPts val="1200"/>
              <a:buNone/>
            </a:pPr>
            <a:r>
              <a:rPr lang="en-US" sz="1200"/>
              <a:t>[R18] Preprocessing data. Équipe scikit-learn. 2026. https://scikit-learn.org/stable/modules/preprocessing.html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14" name="Google Shape;1614;p7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p7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4" name="Google Shape;1634;p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TP04 : une décision validée</a:t>
            </a:r>
            <a:endParaRPr/>
          </a:p>
          <a:p>
            <a:pPr indent="0" lvl="0" marL="0" rtl="0" algn="l">
              <a:spcBef>
                <a:spcPts val="0"/>
              </a:spcBef>
              <a:spcAft>
                <a:spcPts val="0"/>
              </a:spcAft>
              <a:buSzPts val="1200"/>
              <a:buNone/>
            </a:pPr>
            <a:r>
              <a:rPr lang="en-US"/>
              <a:t>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120 minutes · notebooks/etudiants/04_desequilibre.ipynb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[R14] Common pitfalls and recommended practices. Équipe imbalanced-learn. documentation 0.14.2, 2026. https://imbalanced-learn.org/stable/common_pitfalls.html (consulté le 19 septembre 2026).</a:t>
            </a:r>
            <a:endParaRPr/>
          </a:p>
          <a:p>
            <a:pPr indent="0" lvl="0" marL="0" rtl="0" algn="l">
              <a:spcBef>
                <a:spcPts val="0"/>
              </a:spcBef>
              <a:spcAft>
                <a:spcPts val="0"/>
              </a:spcAft>
              <a:buSzPts val="1200"/>
              <a:buNone/>
            </a:pPr>
            <a:r>
              <a:rPr lang="en-US" sz="1200"/>
              <a:t>[R16] Probability calibration. Équipe scikit-learn. 2026. https://scikit-learn.org/stable/modules/calibration.html (consulté le 19 septembre 2026).</a:t>
            </a:r>
            <a:endParaRPr/>
          </a:p>
          <a:p>
            <a:pPr indent="0" lvl="0" marL="0" rtl="0" algn="l">
              <a:spcBef>
                <a:spcPts val="0"/>
              </a:spcBef>
              <a:spcAft>
                <a:spcPts val="0"/>
              </a:spcAft>
              <a:buSzPts val="1200"/>
              <a:buNone/>
            </a:pPr>
            <a:r>
              <a:rPr lang="en-US" sz="1200"/>
              <a:t>[R17] Tuning the decision threshold for class prediction. Équipe scikit-learn. 2026. https://scikit-learn.org/stable/modules/classification_threshold.html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35" name="Google Shape;1635;p7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3" name="Shape 1653"/>
        <p:cNvGrpSpPr/>
        <p:nvPr/>
      </p:nvGrpSpPr>
      <p:grpSpPr>
        <a:xfrm>
          <a:off x="0" y="0"/>
          <a:ext cx="0" cy="0"/>
          <a:chOff x="0" y="0"/>
          <a:chExt cx="0" cy="0"/>
        </a:xfrm>
      </p:grpSpPr>
      <p:sp>
        <p:nvSpPr>
          <p:cNvPr id="1654" name="Google Shape;1654;p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5" name="Google Shape;1655;p7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Atelier : auditer et enrichir les features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livrable est un tableau de contrat et une analyse expérimentale argumentée. L'extension target encoding exige un cross-fitting compatible avec le split. Le corrigé méthodologique donne les attentes sans prétendre qu'une feature améliore systématiquement un modèle. Le score moyen est secondaire à la bonne définition des variables et à l'absence de fuite.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60 minutes · docs/ATELIER_FEATURES.md</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[R19] TargetEncoder. Équipe scikit-learn. 2026. https://scikit-learn.org/stable/modules/generated/sklearn.preprocessing.TargetEncoder.html (consulté le 19 septembre 2026).</a:t>
            </a:r>
            <a:endParaRPr/>
          </a:p>
          <a:p>
            <a:pPr indent="0" lvl="0" marL="0" rtl="0" algn="l">
              <a:spcBef>
                <a:spcPts val="0"/>
              </a:spcBef>
              <a:spcAft>
                <a:spcPts val="0"/>
              </a:spcAft>
              <a:buSzPts val="1200"/>
              <a:buNone/>
            </a:pPr>
            <a:r>
              <a:rPr lang="en-US" sz="1200"/>
              <a:t>[R32] Bank Marketing. Moro, Rita et Cortez ; UCI Machine Learning Repository. 2014, données 2008–2010. https://archive.ics.uci.edu/dataset/222/bank+marketing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56" name="Google Shape;1656;p7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4" name="Shape 1674"/>
        <p:cNvGrpSpPr/>
        <p:nvPr/>
      </p:nvGrpSpPr>
      <p:grpSpPr>
        <a:xfrm>
          <a:off x="0" y="0"/>
          <a:ext cx="0" cy="0"/>
          <a:chOff x="0" y="0"/>
          <a:chExt cx="0" cy="0"/>
        </a:xfrm>
      </p:grpSpPr>
      <p:sp>
        <p:nvSpPr>
          <p:cNvPr id="1675" name="Google Shape;1675;p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6" name="Google Shape;1676;p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Quiz J3 : expliquer les compromis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Réponses : non, le seuil dépend des coûts et contraintes ; le test doit représenter la distribution d'usage et l'équilibrer change notamment la précision ; un encodage supervisé naïf peut mémoriser la cible et ne pas généraliser aux catégories rares ou nouvelles. Faire proposer une vérification concrète pour chacun de ces risques.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Une réponse correcte doit préciser la population et le protocole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[R14] Common pitfalls and recommended practices. Équipe imbalanced-learn. documentation 0.14.2, 2026. https://imbalanced-learn.org/stable/common_pitfalls.html (consulté le 19 septembre 2026).</a:t>
            </a:r>
            <a:endParaRPr/>
          </a:p>
          <a:p>
            <a:pPr indent="0" lvl="0" marL="0" rtl="0" algn="l">
              <a:spcBef>
                <a:spcPts val="0"/>
              </a:spcBef>
              <a:spcAft>
                <a:spcPts val="0"/>
              </a:spcAft>
              <a:buSzPts val="1200"/>
              <a:buNone/>
            </a:pPr>
            <a:r>
              <a:rPr lang="en-US" sz="1200"/>
              <a:t>[R17] Tuning the decision threshold for class prediction. Équipe scikit-learn. 2026. https://scikit-learn.org/stable/modules/classification_threshold.html (consulté le 19 septembre 2026).</a:t>
            </a:r>
            <a:endParaRPr/>
          </a:p>
          <a:p>
            <a:pPr indent="0" lvl="0" marL="0" rtl="0" algn="l">
              <a:spcBef>
                <a:spcPts val="0"/>
              </a:spcBef>
              <a:spcAft>
                <a:spcPts val="0"/>
              </a:spcAft>
              <a:buSzPts val="1200"/>
              <a:buNone/>
            </a:pPr>
            <a:r>
              <a:rPr lang="en-US" sz="1200"/>
              <a:t>[R19] TargetEncoder. Équipe scikit-learn. 2026. https://scikit-learn.org/stable/modules/generated/sklearn.preprocessing.TargetEncoder.html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77" name="Google Shape;1677;p7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5" name="Shape 1695"/>
        <p:cNvGrpSpPr/>
        <p:nvPr/>
      </p:nvGrpSpPr>
      <p:grpSpPr>
        <a:xfrm>
          <a:off x="0" y="0"/>
          <a:ext cx="0" cy="0"/>
          <a:chOff x="0" y="0"/>
          <a:chExt cx="0" cy="0"/>
        </a:xfrm>
      </p:grpSpPr>
      <p:sp>
        <p:nvSpPr>
          <p:cNvPr id="1696" name="Google Shape;1696;p7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7" name="Google Shape;1697;p7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Les acquis du jour 3</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Demander une seule recommandation d'action par binôme, avec métrique, seuil, volume attendu et limite. La réponse « SMOTE marche mieux » est insuffisante si elle n'indique pas la métrique, les données et le budget. Reprendre le protocole du projet final pour y ajouter le contrat de features.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Demain : découvrir une structure quand la cible n'est pas donnée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698" name="Google Shape;1698;p7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6" name="Shape 1716"/>
        <p:cNvGrpSpPr/>
        <p:nvPr/>
      </p:nvGrpSpPr>
      <p:grpSpPr>
        <a:xfrm>
          <a:off x="0" y="0"/>
          <a:ext cx="0" cy="0"/>
          <a:chOff x="0" y="0"/>
          <a:chExt cx="0" cy="0"/>
        </a:xfrm>
      </p:grpSpPr>
      <p:sp>
        <p:nvSpPr>
          <p:cNvPr id="1717" name="Google Shape;1717;p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8" name="Google Shape;1718;p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Clustering et anomalies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L'objectif est de relier une partition à une représentation, une distance et une hypothèse. Insister sur le fait que l'absence de cible n'élimine pas le besoin d'évaluation. TP05 compare les mêmes points avec plusieurs méthodes, puis discute la stabilité et l'utilité. Les anomalies sont une extension vers la détection et le triage.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Jeudi 24 septembre · Explorer une structure sans inventer une vérité</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719" name="Google Shape;1719;p7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2" name="Shape 1732"/>
        <p:cNvGrpSpPr/>
        <p:nvPr/>
      </p:nvGrpSpPr>
      <p:grpSpPr>
        <a:xfrm>
          <a:off x="0" y="0"/>
          <a:ext cx="0" cy="0"/>
          <a:chOff x="0" y="0"/>
          <a:chExt cx="0" cy="0"/>
        </a:xfrm>
      </p:grpSpPr>
      <p:sp>
        <p:nvSpPr>
          <p:cNvPr id="1733" name="Google Shape;1733;p8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4" name="Google Shape;1734;p8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t>Un cluster dépend de la représentation</a:t>
            </a:r>
            <a:endParaRPr b="1" sz="1400"/>
          </a:p>
          <a:p>
            <a:pPr indent="0" lvl="0" marL="0" rtl="0" algn="l">
              <a:spcBef>
                <a:spcPts val="0"/>
              </a:spcBef>
              <a:spcAft>
                <a:spcPts val="0"/>
              </a:spcAft>
              <a:buSzPts val="1200"/>
              <a:buNone/>
            </a:pPr>
            <a:r>
              <a:t/>
            </a:r>
            <a:endParaRPr sz="1400"/>
          </a:p>
          <a:p>
            <a:pPr indent="0" lvl="0" marL="0" rtl="0" algn="l">
              <a:spcBef>
                <a:spcPts val="0"/>
              </a:spcBef>
              <a:spcAft>
                <a:spcPts val="0"/>
              </a:spcAft>
              <a:buClr>
                <a:schemeClr val="dk1"/>
              </a:buClr>
              <a:buSzPts val="1100"/>
              <a:buFont typeface="Arial"/>
              <a:buNone/>
            </a:pPr>
            <a:r>
              <a:rPr lang="en-US" sz="1400"/>
              <a:t>Le premier message important, c’est qu’un cluster n’existe pas indépendamment de nos choix. Ce que l’algorithme va considérer comme “proche” dépend d’abord des variables qu’on lui donne, ensuite de la distance choisie, puis enfin de l’algorithme lui-même.</a:t>
            </a:r>
            <a:endParaRPr sz="1400"/>
          </a:p>
          <a:p>
            <a:pPr indent="0" lvl="0" marL="0" rtl="0" algn="l">
              <a:spcBef>
                <a:spcPts val="0"/>
              </a:spcBef>
              <a:spcAft>
                <a:spcPts val="0"/>
              </a:spcAft>
              <a:buClr>
                <a:schemeClr val="dk1"/>
              </a:buClr>
              <a:buSzPts val="1100"/>
              <a:buFont typeface="Arial"/>
              <a:buNone/>
            </a:pPr>
            <a:r>
              <a:t/>
            </a:r>
            <a:endParaRPr sz="1400"/>
          </a:p>
          <a:p>
            <a:pPr indent="0" lvl="0" marL="0" rtl="0" algn="l">
              <a:spcBef>
                <a:spcPts val="0"/>
              </a:spcBef>
              <a:spcAft>
                <a:spcPts val="0"/>
              </a:spcAft>
              <a:buSzPts val="1100"/>
              <a:buNone/>
            </a:pPr>
            <a:r>
              <a:rPr lang="en-US" sz="1400"/>
              <a:t>Donc quand on obtient des groupes, il ne faut pas les interpréter comme des classes naturelles découvertes magiquement. Ce sont des partitions produites sous hypothèses, et ces hypothèses doivent être explicitées avant toute interprétation métier.</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[R20] Clustering. Équipe scikit-learn. 2026. https://scikit-learn.org/stable/modules/clustering.html (consulté le 19 septembre 2026).</a:t>
            </a:r>
            <a:endParaRPr sz="1400"/>
          </a:p>
          <a:p>
            <a:pPr indent="0" lvl="0" marL="0" rtl="0" algn="l">
              <a:spcBef>
                <a:spcPts val="0"/>
              </a:spcBef>
              <a:spcAft>
                <a:spcPts val="0"/>
              </a:spcAft>
              <a:buSzPts val="1200"/>
              <a:buNone/>
            </a:pPr>
            <a:r>
              <a:t/>
            </a:r>
            <a:endParaRPr sz="1400"/>
          </a:p>
          <a:p>
            <a:pPr indent="0" lvl="0" marL="0" rtl="0" algn="l">
              <a:spcBef>
                <a:spcPts val="0"/>
              </a:spcBef>
              <a:spcAft>
                <a:spcPts val="0"/>
              </a:spcAft>
              <a:buSzPts val="1200"/>
              <a:buNone/>
            </a:pPr>
            <a:r>
              <a:rPr lang="en-US" sz="1400"/>
              <a:t>Formateur : Chrys Fé-Marty NIONGOLO</a:t>
            </a:r>
            <a:endParaRPr sz="1400"/>
          </a:p>
        </p:txBody>
      </p:sp>
      <p:sp>
        <p:nvSpPr>
          <p:cNvPr id="1735" name="Google Shape;1735;p8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3" name="Shape 1753"/>
        <p:cNvGrpSpPr/>
        <p:nvPr/>
      </p:nvGrpSpPr>
      <p:grpSpPr>
        <a:xfrm>
          <a:off x="0" y="0"/>
          <a:ext cx="0" cy="0"/>
          <a:chOff x="0" y="0"/>
          <a:chExt cx="0" cy="0"/>
        </a:xfrm>
      </p:grpSpPr>
      <p:sp>
        <p:nvSpPr>
          <p:cNvPr id="1754" name="Google Shape;1754;p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5" name="Google Shape;1755;p8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t>Distances et échelles</a:t>
            </a:r>
            <a:endParaRPr b="1" sz="1500"/>
          </a:p>
          <a:p>
            <a:pPr indent="0" lvl="0" marL="0" rtl="0" algn="l">
              <a:spcBef>
                <a:spcPts val="0"/>
              </a:spcBef>
              <a:spcAft>
                <a:spcPts val="0"/>
              </a:spcAft>
              <a:buSzPts val="1200"/>
              <a:buNone/>
            </a:pPr>
            <a:r>
              <a:t/>
            </a:r>
            <a:endParaRPr b="1" sz="1500"/>
          </a:p>
          <a:p>
            <a:pPr indent="0" lvl="0" marL="0" rtl="0" algn="l">
              <a:spcBef>
                <a:spcPts val="0"/>
              </a:spcBef>
              <a:spcAft>
                <a:spcPts val="0"/>
              </a:spcAft>
              <a:buClr>
                <a:schemeClr val="dk1"/>
              </a:buClr>
              <a:buSzPts val="1100"/>
              <a:buFont typeface="Arial"/>
              <a:buNone/>
            </a:pPr>
            <a:r>
              <a:rPr lang="en-US" sz="1500"/>
              <a:t>Une distance euclidienne additionne des écarts coordonnée par coordonnée, donc une variable de grande amplitude peut écraser toutes les autres si on ne fait rien. La distance cosinus, elle, compare plutôt l’orientation de vecteurs et devient utile dans certains espaces comme le texte ou des profils normalisés.</a:t>
            </a:r>
            <a:endParaRPr sz="1500"/>
          </a:p>
          <a:p>
            <a:pPr indent="0" lvl="0" marL="0" rtl="0" algn="l">
              <a:spcBef>
                <a:spcPts val="0"/>
              </a:spcBef>
              <a:spcAft>
                <a:spcPts val="0"/>
              </a:spcAft>
              <a:buClr>
                <a:schemeClr val="dk1"/>
              </a:buClr>
              <a:buSzPts val="1100"/>
              <a:buFont typeface="Arial"/>
              <a:buNone/>
            </a:pPr>
            <a:r>
              <a:t/>
            </a:r>
            <a:endParaRPr sz="1500"/>
          </a:p>
          <a:p>
            <a:pPr indent="0" lvl="0" marL="0" rtl="0" algn="l">
              <a:spcBef>
                <a:spcPts val="0"/>
              </a:spcBef>
              <a:spcAft>
                <a:spcPts val="0"/>
              </a:spcAft>
              <a:buSzPts val="1100"/>
              <a:buNone/>
            </a:pPr>
            <a:r>
              <a:rPr lang="en-US" sz="1500"/>
              <a:t>La standardisation n’est donc pas un réflexe automatique ; c’est une décision liée à la géométrie qu’on veut imposer. On standardise quand on veut rendre les variables comparables pour la distance, pas parce qu’un tutoriel dit de toujours le faire.</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Exemple : revenu en euros et âge en années. Passer le revenu en centimes multiplie sa contribution à la distance euclidienne au carré. Standardiser peut équilibrer les contributions mais aussi donner du poids au bruit. Les données mixtes ne se traitent pas sans réflexion par une simple distance euclidienne sur un encodage one-hot. Demander quelles ressemblances le problème cherche réellement à représenter.</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Standardiser selon le sens métier, pas par automatisme. </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[R18] Preprocessing data. Équipe scikit-learn. 2026. https://scikit-learn.org/stable/modules/preprocessing.html (consulté le 19 septembre 2026).</a:t>
            </a:r>
            <a:endParaRPr sz="1500"/>
          </a:p>
          <a:p>
            <a:pPr indent="0" lvl="0" marL="0" rtl="0" algn="l">
              <a:spcBef>
                <a:spcPts val="0"/>
              </a:spcBef>
              <a:spcAft>
                <a:spcPts val="0"/>
              </a:spcAft>
              <a:buSzPts val="1200"/>
              <a:buNone/>
            </a:pPr>
            <a:r>
              <a:rPr lang="en-US" sz="1500"/>
              <a:t>[R20] Clustering. Équipe scikit-learn. 2026. https://scikit-learn.org/stable/modules/clustering.html (consulté le 19 septembre 2026).</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Formateur : Chrys Fé-Marty NIONGOLO</a:t>
            </a:r>
            <a:endParaRPr sz="1500"/>
          </a:p>
        </p:txBody>
      </p:sp>
      <p:sp>
        <p:nvSpPr>
          <p:cNvPr id="1756" name="Google Shape;1756;p8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4" name="Shape 1774"/>
        <p:cNvGrpSpPr/>
        <p:nvPr/>
      </p:nvGrpSpPr>
      <p:grpSpPr>
        <a:xfrm>
          <a:off x="0" y="0"/>
          <a:ext cx="0" cy="0"/>
          <a:chOff x="0" y="0"/>
          <a:chExt cx="0" cy="0"/>
        </a:xfrm>
      </p:grpSpPr>
      <p:sp>
        <p:nvSpPr>
          <p:cNvPr id="1775" name="Google Shape;1775;p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6" name="Google Shape;1776;p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PCA (Principal Component Analysis) : projeter en conservant de la variance</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La </a:t>
            </a:r>
            <a:r>
              <a:rPr b="1" lang="en-US" sz="1500">
                <a:latin typeface="DM Sans"/>
                <a:ea typeface="DM Sans"/>
                <a:cs typeface="DM Sans"/>
                <a:sym typeface="DM Sans"/>
              </a:rPr>
              <a:t>PCA</a:t>
            </a:r>
            <a:r>
              <a:rPr lang="en-US" sz="1500">
                <a:latin typeface="DM Sans"/>
                <a:ea typeface="DM Sans"/>
                <a:cs typeface="DM Sans"/>
                <a:sym typeface="DM Sans"/>
              </a:rPr>
              <a:t> construit de nouveaux axes orthogonaux qui capturent le plus de variance possible dans les données centrées. Formellement, on projette les données sur les vecteurs propres associés aux plus grandes valeurs singulières ou valeurs propres.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500">
              <a:latin typeface="DM Sans"/>
              <a:ea typeface="DM Sans"/>
              <a:cs typeface="DM Sans"/>
              <a:sym typeface="DM Sans"/>
            </a:endParaRPr>
          </a:p>
          <a:p>
            <a:pPr indent="0" lvl="0" marL="0" rtl="0" algn="l">
              <a:spcBef>
                <a:spcPts val="0"/>
              </a:spcBef>
              <a:spcAft>
                <a:spcPts val="0"/>
              </a:spcAft>
              <a:buSzPts val="1100"/>
              <a:buNone/>
            </a:pPr>
            <a:r>
              <a:rPr lang="en-US" sz="1500">
                <a:latin typeface="DM Sans"/>
                <a:ea typeface="DM Sans"/>
                <a:cs typeface="DM Sans"/>
                <a:sym typeface="DM Sans"/>
              </a:rPr>
              <a:t>« L’intérêt est de résumer l’information dans moins de dimensions pour visualiser, débruiter ou préparer certains algorithmes. Mais ce résumé n’est jamais gratuit : si on garde peu d’axes, on perd une partie de l’information initiale.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La </a:t>
            </a:r>
            <a:r>
              <a:rPr b="1" lang="en-US" sz="1500">
                <a:latin typeface="DM Sans"/>
                <a:ea typeface="DM Sans"/>
                <a:cs typeface="DM Sans"/>
                <a:sym typeface="DM Sans"/>
              </a:rPr>
              <a:t>SVD</a:t>
            </a:r>
            <a:r>
              <a:rPr lang="en-US" sz="1500">
                <a:latin typeface="DM Sans"/>
                <a:ea typeface="DM Sans"/>
                <a:cs typeface="DM Sans"/>
                <a:sym typeface="DM Sans"/>
              </a:rPr>
              <a:t> donne une formulation stable : les colonnes de V sont des directions de l'espace des features. La PCA centre les données, mais le scaling préalable dépend des unités et de l'objectif. La cible n'intervient pas : une direction de faible variance peut être très prédictive. Dans un pipeline supervisé, ajuster la PCA uniquement sur le train de chaque pli.</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[R22] Decomposing signals in components. Équipe scikit-learn. 2026. https://scikit-learn.org/stable/modules/decomposition.html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https://towardsdatascience.com/principal-component-analysis-pca-explained-visually-with-zero-math-1cbf392b9e7d/</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1777" name="Google Shape;1777;p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5" name="Shape 1795"/>
        <p:cNvGrpSpPr/>
        <p:nvPr/>
      </p:nvGrpSpPr>
      <p:grpSpPr>
        <a:xfrm>
          <a:off x="0" y="0"/>
          <a:ext cx="0" cy="0"/>
          <a:chOff x="0" y="0"/>
          <a:chExt cx="0" cy="0"/>
        </a:xfrm>
      </p:grpSpPr>
      <p:sp>
        <p:nvSpPr>
          <p:cNvPr id="1796" name="Google Shape;1796;p8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7" name="Google Shape;1797;p8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Lire la variance expliquée</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400">
                <a:latin typeface="DM Sans"/>
                <a:ea typeface="DM Sans"/>
                <a:cs typeface="DM Sans"/>
                <a:sym typeface="DM Sans"/>
              </a:rPr>
              <a:t>Cette diapo montre comment décider combien d’axes garder en regardant la variance cumulée expliquée. Ici, deux axes donnent 75%, trois montent à 88%, et quatre permettent de dépasser 90%.</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400">
              <a:latin typeface="DM Sans"/>
              <a:ea typeface="DM Sans"/>
              <a:cs typeface="DM Sans"/>
              <a:sym typeface="DM Sans"/>
            </a:endParaRPr>
          </a:p>
          <a:p>
            <a:pPr indent="0" lvl="0" marL="0" rtl="0" algn="l">
              <a:spcBef>
                <a:spcPts val="0"/>
              </a:spcBef>
              <a:spcAft>
                <a:spcPts val="0"/>
              </a:spcAft>
              <a:buSzPts val="1100"/>
              <a:buNone/>
            </a:pPr>
            <a:r>
              <a:rPr lang="en-US" sz="1400">
                <a:latin typeface="DM Sans"/>
                <a:ea typeface="DM Sans"/>
                <a:cs typeface="DM Sans"/>
                <a:sym typeface="DM Sans"/>
              </a:rPr>
              <a:t>Il faut bien comprendre que ce pourcentage ne mesure pas une qualité prédictive ; il mesure simplement la part de dispersion du nuage initial préservée après projection. On choisit donc un compromis entre compression, lisibilité et perte d’information.</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Spectre construit pour l'exercice : les 3 premiers axes expliquent 88%, les 4 premiers 96%.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[R22] Decomposing signals in components. Équipe scikit-learn. 2026. https://scikit-learn.org/stable/modules/decomposition.html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1798" name="Google Shape;1798;p8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5" name="Shape 1815"/>
        <p:cNvGrpSpPr/>
        <p:nvPr/>
      </p:nvGrpSpPr>
      <p:grpSpPr>
        <a:xfrm>
          <a:off x="0" y="0"/>
          <a:ext cx="0" cy="0"/>
          <a:chOff x="0" y="0"/>
          <a:chExt cx="0" cy="0"/>
        </a:xfrm>
      </p:grpSpPr>
      <p:sp>
        <p:nvSpPr>
          <p:cNvPr id="1816" name="Google Shape;1816;p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7" name="Google Shape;1817;p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K-means : minimiser l'inertie</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K-means cherche à minimiser l’inertie intra-cluster, c’est-à-dire la somme des distances quadratiques entre chaque point et le centre de son groupe. En pratique, l’algorithme alterne deux étapes simples : affecter chaque point au centre le plus proche, puis recalculer chaque centre comme la moyenne des points affectés.</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500">
              <a:latin typeface="DM Sans"/>
              <a:ea typeface="DM Sans"/>
              <a:cs typeface="DM Sans"/>
              <a:sym typeface="DM Sans"/>
            </a:endParaRPr>
          </a:p>
          <a:p>
            <a:pPr indent="0" lvl="0" marL="0" rtl="0" algn="l">
              <a:spcBef>
                <a:spcPts val="0"/>
              </a:spcBef>
              <a:spcAft>
                <a:spcPts val="0"/>
              </a:spcAft>
              <a:buSzPts val="1100"/>
              <a:buNone/>
            </a:pPr>
            <a:r>
              <a:rPr lang="en-US" sz="1500">
                <a:latin typeface="DM Sans"/>
                <a:ea typeface="DM Sans"/>
                <a:cs typeface="DM Sans"/>
                <a:sym typeface="DM Sans"/>
              </a:rPr>
              <a:t>Il faut insister sur deux conséquences : d’abord K-means suppose une géométrie euclidienne et des groupes compacts ; ensuite il converge vers un optimum local, pas forcément global. C’est pour cela qu’on relance l’algorithme plusieurs fois avec des initialisations différentes</a:t>
            </a:r>
            <a:r>
              <a:rPr lang="en-US" sz="1500">
                <a:latin typeface="DM Sans"/>
                <a:ea typeface="DM Sans"/>
                <a:cs typeface="DM Sans"/>
                <a:sym typeface="DM Sans"/>
              </a:rPr>
              <a:t>.</a:t>
            </a:r>
            <a:endParaRPr sz="1500">
              <a:latin typeface="DM Sans"/>
              <a:ea typeface="DM Sans"/>
              <a:cs typeface="DM Sans"/>
              <a:sym typeface="DM Sans"/>
            </a:endParaRPr>
          </a:p>
          <a:p>
            <a:pPr indent="0" lvl="0" marL="0" rtl="0" algn="l">
              <a:spcBef>
                <a:spcPts val="0"/>
              </a:spcBef>
              <a:spcAft>
                <a:spcPts val="0"/>
              </a:spcAft>
              <a:buSzPts val="1100"/>
              <a:buNone/>
            </a:pPr>
            <a:r>
              <a:t/>
            </a:r>
            <a:endParaRPr sz="1500">
              <a:latin typeface="DM Sans"/>
              <a:ea typeface="DM Sans"/>
              <a:cs typeface="DM Sans"/>
              <a:sym typeface="DM Sans"/>
            </a:endParaRPr>
          </a:p>
          <a:p>
            <a:pPr indent="0" lvl="0" marL="0" rtl="0" algn="l">
              <a:spcBef>
                <a:spcPts val="0"/>
              </a:spcBef>
              <a:spcAft>
                <a:spcPts val="0"/>
              </a:spcAft>
              <a:buSzPts val="1100"/>
              <a:buNone/>
            </a:pPr>
            <a:r>
              <a:rPr lang="en-US" sz="1500">
                <a:solidFill>
                  <a:schemeClr val="dk1"/>
                </a:solidFill>
              </a:rPr>
              <a:t>En très simple : </a:t>
            </a:r>
            <a:r>
              <a:rPr b="1" lang="en-US" sz="1500">
                <a:solidFill>
                  <a:schemeClr val="dk1"/>
                </a:solidFill>
              </a:rPr>
              <a:t>on mesure à quelle distance chaque point se trouve du centre de son groupe, on met cette distance au carré, puis on additionne tout.</a:t>
            </a:r>
            <a:r>
              <a:rPr lang="en-US" sz="1500">
                <a:solidFill>
                  <a:schemeClr val="dk1"/>
                </a:solidFill>
              </a:rPr>
              <a:t> K-means cherche à rendre </a:t>
            </a:r>
            <a:r>
              <a:rPr lang="en-US" sz="1500">
                <a:solidFill>
                  <a:srgbClr val="188038"/>
                </a:solidFill>
                <a:latin typeface="Roboto Mono"/>
                <a:ea typeface="Roboto Mono"/>
                <a:cs typeface="Roboto Mono"/>
                <a:sym typeface="Roboto Mono"/>
              </a:rPr>
              <a:t>J</a:t>
            </a:r>
            <a:r>
              <a:rPr lang="en-US" sz="1500">
                <a:solidFill>
                  <a:schemeClr val="dk1"/>
                </a:solidFill>
              </a:rPr>
              <a:t> aussi petit que possible.</a:t>
            </a:r>
            <a:endParaRPr sz="1500">
              <a:solidFill>
                <a:schemeClr val="dk1"/>
              </a:solidFill>
            </a:endParaRPr>
          </a:p>
          <a:p>
            <a:pPr indent="-323850" lvl="0" marL="457200" rtl="0" algn="l">
              <a:lnSpc>
                <a:spcPct val="115000"/>
              </a:lnSpc>
              <a:spcBef>
                <a:spcPts val="1500"/>
              </a:spcBef>
              <a:spcAft>
                <a:spcPts val="0"/>
              </a:spcAft>
              <a:buClr>
                <a:schemeClr val="dk1"/>
              </a:buClr>
              <a:buSzPts val="1500"/>
              <a:buChar char="●"/>
            </a:pPr>
            <a:r>
              <a:rPr lang="en-US" sz="1500">
                <a:solidFill>
                  <a:srgbClr val="188038"/>
                </a:solidFill>
                <a:latin typeface="Roboto Mono"/>
                <a:ea typeface="Roboto Mono"/>
                <a:cs typeface="Roboto Mono"/>
                <a:sym typeface="Roboto Mono"/>
              </a:rPr>
              <a:t>C_k</a:t>
            </a:r>
            <a:r>
              <a:rPr lang="en-US" sz="1500">
                <a:solidFill>
                  <a:schemeClr val="dk1"/>
                </a:solidFill>
              </a:rPr>
              <a:t> : le groupe numéro </a:t>
            </a:r>
            <a:r>
              <a:rPr lang="en-US" sz="1500">
                <a:solidFill>
                  <a:srgbClr val="188038"/>
                </a:solidFill>
                <a:latin typeface="Roboto Mono"/>
                <a:ea typeface="Roboto Mono"/>
                <a:cs typeface="Roboto Mono"/>
                <a:sym typeface="Roboto Mono"/>
              </a:rPr>
              <a:t>k</a:t>
            </a:r>
            <a:r>
              <a:rPr lang="en-US" sz="1500">
                <a:solidFill>
                  <a:schemeClr val="dk1"/>
                </a:solidFill>
              </a:rPr>
              <a:t>.</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rgbClr val="188038"/>
                </a:solidFill>
                <a:latin typeface="Roboto Mono"/>
                <a:ea typeface="Roboto Mono"/>
                <a:cs typeface="Roboto Mono"/>
                <a:sym typeface="Roboto Mono"/>
              </a:rPr>
              <a:t>x_i</a:t>
            </a:r>
            <a:r>
              <a:rPr lang="en-US" sz="1500">
                <a:solidFill>
                  <a:schemeClr val="dk1"/>
                </a:solidFill>
              </a:rPr>
              <a:t> : un point appartenant à ce groupe.</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rgbClr val="188038"/>
                </a:solidFill>
                <a:latin typeface="Roboto Mono"/>
                <a:ea typeface="Roboto Mono"/>
                <a:cs typeface="Roboto Mono"/>
                <a:sym typeface="Roboto Mono"/>
              </a:rPr>
              <a:t>\mu_k</a:t>
            </a:r>
            <a:r>
              <a:rPr lang="en-US" sz="1500">
                <a:solidFill>
                  <a:schemeClr val="dk1"/>
                </a:solidFill>
              </a:rPr>
              <a:t> : le centre du groupe, calculé comme la moyenne de ses points.</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rgbClr val="188038"/>
                </a:solidFill>
                <a:latin typeface="Roboto Mono"/>
                <a:ea typeface="Roboto Mono"/>
                <a:cs typeface="Roboto Mono"/>
                <a:sym typeface="Roboto Mono"/>
              </a:rPr>
              <a:t>\|x_i-\mu_k\|_2^2</a:t>
            </a:r>
            <a:r>
              <a:rPr lang="en-US" sz="1500">
                <a:solidFill>
                  <a:schemeClr val="dk1"/>
                </a:solidFill>
              </a:rPr>
              <a:t> : la distance </a:t>
            </a:r>
            <a:r>
              <a:rPr i="1" lang="en-US" sz="1500">
                <a:solidFill>
                  <a:schemeClr val="dk1"/>
                </a:solidFill>
              </a:rPr>
              <a:t>au carré</a:t>
            </a:r>
            <a:r>
              <a:rPr lang="en-US" sz="1500">
                <a:solidFill>
                  <a:schemeClr val="dk1"/>
                </a:solidFill>
              </a:rPr>
              <a:t> entre le point et son centre.</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Les deux </a:t>
            </a:r>
            <a:r>
              <a:rPr lang="en-US" sz="1500">
                <a:solidFill>
                  <a:srgbClr val="188038"/>
                </a:solidFill>
                <a:latin typeface="Roboto Mono"/>
                <a:ea typeface="Roboto Mono"/>
                <a:cs typeface="Roboto Mono"/>
                <a:sym typeface="Roboto Mono"/>
              </a:rPr>
              <a:t>\sum</a:t>
            </a:r>
            <a:r>
              <a:rPr lang="en-US" sz="1500">
                <a:solidFill>
                  <a:schemeClr val="dk1"/>
                </a:solidFill>
              </a:rPr>
              <a:t> signifient : « pour tous les groupes, puis pour tous les points de chaque groupe ».</a:t>
            </a:r>
            <a:endParaRPr sz="1500">
              <a:solidFill>
                <a:schemeClr val="dk1"/>
              </a:solidFill>
            </a:endParaRPr>
          </a:p>
          <a:p>
            <a:pPr indent="0" lvl="0" marL="0" rtl="0" algn="l">
              <a:lnSpc>
                <a:spcPct val="115000"/>
              </a:lnSpc>
              <a:spcBef>
                <a:spcPts val="1500"/>
              </a:spcBef>
              <a:spcAft>
                <a:spcPts val="0"/>
              </a:spcAft>
              <a:buSzPts val="1100"/>
              <a:buNone/>
            </a:pPr>
            <a:r>
              <a:rPr b="1" lang="en-US" sz="1500">
                <a:solidFill>
                  <a:schemeClr val="dk1"/>
                </a:solidFill>
              </a:rPr>
              <a:t>Exemple :</a:t>
            </a:r>
            <a:r>
              <a:rPr lang="en-US" sz="1500">
                <a:solidFill>
                  <a:schemeClr val="dk1"/>
                </a:solidFill>
              </a:rPr>
              <a:t> si un groupe contient les points </a:t>
            </a:r>
            <a:r>
              <a:rPr lang="en-US" sz="1500">
                <a:solidFill>
                  <a:srgbClr val="188038"/>
                </a:solidFill>
                <a:latin typeface="Roboto Mono"/>
                <a:ea typeface="Roboto Mono"/>
                <a:cs typeface="Roboto Mono"/>
                <a:sym typeface="Roboto Mono"/>
              </a:rPr>
              <a:t>2</a:t>
            </a:r>
            <a:r>
              <a:rPr lang="en-US" sz="1500">
                <a:solidFill>
                  <a:schemeClr val="dk1"/>
                </a:solidFill>
              </a:rPr>
              <a:t> et </a:t>
            </a:r>
            <a:r>
              <a:rPr lang="en-US" sz="1500">
                <a:solidFill>
                  <a:srgbClr val="188038"/>
                </a:solidFill>
                <a:latin typeface="Roboto Mono"/>
                <a:ea typeface="Roboto Mono"/>
                <a:cs typeface="Roboto Mono"/>
                <a:sym typeface="Roboto Mono"/>
              </a:rPr>
              <a:t>4</a:t>
            </a:r>
            <a:r>
              <a:rPr lang="en-US" sz="1500">
                <a:solidFill>
                  <a:schemeClr val="dk1"/>
                </a:solidFill>
              </a:rPr>
              <a:t>, son centre est </a:t>
            </a:r>
            <a:r>
              <a:rPr lang="en-US" sz="1500">
                <a:solidFill>
                  <a:srgbClr val="188038"/>
                </a:solidFill>
                <a:latin typeface="Roboto Mono"/>
                <a:ea typeface="Roboto Mono"/>
                <a:cs typeface="Roboto Mono"/>
                <a:sym typeface="Roboto Mono"/>
              </a:rPr>
              <a:t>3</a:t>
            </a:r>
            <a:r>
              <a:rPr lang="en-US" sz="1500">
                <a:solidFill>
                  <a:schemeClr val="dk1"/>
                </a:solidFill>
              </a:rPr>
              <a:t>. Leur contribution à </a:t>
            </a:r>
            <a:r>
              <a:rPr lang="en-US" sz="1500">
                <a:solidFill>
                  <a:srgbClr val="188038"/>
                </a:solidFill>
                <a:latin typeface="Roboto Mono"/>
                <a:ea typeface="Roboto Mono"/>
                <a:cs typeface="Roboto Mono"/>
                <a:sym typeface="Roboto Mono"/>
              </a:rPr>
              <a:t>J</a:t>
            </a:r>
            <a:r>
              <a:rPr lang="en-US" sz="1500">
                <a:solidFill>
                  <a:schemeClr val="dk1"/>
                </a:solidFill>
              </a:rPr>
              <a:t> vaut </a:t>
            </a:r>
            <a:r>
              <a:rPr lang="en-US" sz="1500">
                <a:solidFill>
                  <a:srgbClr val="188038"/>
                </a:solidFill>
                <a:latin typeface="Roboto Mono"/>
                <a:ea typeface="Roboto Mono"/>
                <a:cs typeface="Roboto Mono"/>
                <a:sym typeface="Roboto Mono"/>
              </a:rPr>
              <a:t>(2-3)^2+(4-3)^2=2</a:t>
            </a:r>
            <a:r>
              <a:rPr lang="en-US" sz="1500">
                <a:solidFill>
                  <a:schemeClr val="dk1"/>
                </a:solidFill>
              </a:rPr>
              <a:t>. Plus les points sont regroupés près de leur centre, plus cette contribution est faible.</a:t>
            </a:r>
            <a:endParaRPr sz="1500">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sz="1500">
                <a:solidFill>
                  <a:schemeClr val="dk1"/>
                </a:solidFill>
              </a:rPr>
              <a:t>Petite précision de notation : dans </a:t>
            </a:r>
            <a:r>
              <a:rPr lang="en-US" sz="1500">
                <a:solidFill>
                  <a:srgbClr val="188038"/>
                </a:solidFill>
                <a:latin typeface="Roboto Mono"/>
                <a:ea typeface="Roboto Mono"/>
                <a:cs typeface="Roboto Mono"/>
                <a:sym typeface="Roboto Mono"/>
              </a:rPr>
              <a:t>\|\cdot\|_2^2</a:t>
            </a:r>
            <a:r>
              <a:rPr lang="en-US" sz="1500">
                <a:solidFill>
                  <a:schemeClr val="dk1"/>
                </a:solidFill>
              </a:rPr>
              <a:t>, le </a:t>
            </a:r>
            <a:r>
              <a:rPr b="1" lang="en-US" sz="1500">
                <a:solidFill>
                  <a:schemeClr val="dk1"/>
                </a:solidFill>
              </a:rPr>
              <a:t>2 en bas</a:t>
            </a:r>
            <a:r>
              <a:rPr lang="en-US" sz="1500">
                <a:solidFill>
                  <a:schemeClr val="dk1"/>
                </a:solidFill>
              </a:rPr>
              <a:t> désigne la distance euclidienne et le </a:t>
            </a:r>
            <a:r>
              <a:rPr b="1" lang="en-US" sz="1500">
                <a:solidFill>
                  <a:schemeClr val="dk1"/>
                </a:solidFill>
              </a:rPr>
              <a:t>2 en haut</a:t>
            </a:r>
            <a:r>
              <a:rPr lang="en-US" sz="1500">
                <a:solidFill>
                  <a:schemeClr val="dk1"/>
                </a:solidFill>
              </a:rPr>
              <a:t> signifie qu’on la met au carré. Si ton dernier « 2 » était seulement en bas, il manquerait le carré pour écrire l’objectif classique de K-means.</a:t>
            </a:r>
            <a:endParaRPr sz="1500">
              <a:latin typeface="DM Sans"/>
              <a:ea typeface="DM Sans"/>
              <a:cs typeface="DM Sans"/>
              <a:sym typeface="DM Sans"/>
            </a:endParaRPr>
          </a:p>
          <a:p>
            <a:pPr indent="0" lvl="0" marL="0" rtl="0" algn="l">
              <a:spcBef>
                <a:spcPts val="150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[R20] Clustering. Équipe scikit-learn. 2026. https://scikit-learn.org/stable/modules/clustering.html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1818" name="Google Shape;1818;p8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6" name="Shape 1836"/>
        <p:cNvGrpSpPr/>
        <p:nvPr/>
      </p:nvGrpSpPr>
      <p:grpSpPr>
        <a:xfrm>
          <a:off x="0" y="0"/>
          <a:ext cx="0" cy="0"/>
          <a:chOff x="0" y="0"/>
          <a:chExt cx="0" cy="0"/>
        </a:xfrm>
      </p:grpSpPr>
      <p:sp>
        <p:nvSpPr>
          <p:cNvPr id="1837" name="Google Shape;1837;p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8" name="Google Shape;1838;p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Une itération de K-means</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400">
                <a:latin typeface="DM Sans"/>
                <a:ea typeface="DM Sans"/>
                <a:cs typeface="DM Sans"/>
                <a:sym typeface="DM Sans"/>
              </a:rPr>
              <a:t>« Ici, on prend un exemple en une dimension pour démystifier l’algorithme. Les points 1 et 2 sont plus proches du centre 0, les points 8 et 9 du centre 10, puis les nouveaux centres deviennent simplement les moyennes 1,5 et 8,5. »</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400">
                <a:latin typeface="DM Sans"/>
                <a:ea typeface="DM Sans"/>
                <a:cs typeface="DM Sans"/>
                <a:sym typeface="DM Sans"/>
              </a:rPr>
              <a:t>« L’intérêt pédagogique est de montrer que la baisse d’inertie vient mécaniquement de la mise à jour des centres. On voit aussi pourquoi les centres ne sont pas des observations réelles mais des barycentres, ce qui peut être utile ou au contraire gênant selon le type de données.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[R20] Clustering. Équipe scikit-learn. 2026. https://scikit-learn.org/stable/modules/clustering.html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1839" name="Google Shape;1839;p8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p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7" name="Google Shape;1857;p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Une géométrie que K-means représente mal</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Cette slide illustre une limite classique : si les vrais groupes ont une forme courbe, comme les deux lunes, K-means les découpe mal parce qu’il préfère des régions autour de centres. Même si la partition semble stable, elle peut être conceptuellement fausse pour la structure qu’on cherche à retrouver.</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Cela permet de rappeler une règle simple : un algorithme ne “voit” pas les formes comme un humain. Il optimise un critère géométrique précis, et si ce critère n’est pas adapté à la structure des données, le résultat peut être propre mathématiquement mais peu pertinent analytiquement.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Les points sont des données synthétiques originales produites avec make_moons et la graine 42. Les couleurs montrent les groupes prédits, pas les classes de génération. Demander aux étudiants de proposer une notion de voisinage plutôt qu'une notion de centre. La comparaison suivante utilisera exactement les mêmes points et échelles.</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Mêmes 180 lunes synthétiques, graine 42. Les couleurs représentent les clusters estimés.</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[R20] Clustering. Équipe scikit-learn. 2026. https://scikit-learn.org/stable/modules/clustering.html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1858" name="Google Shape;1858;p8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5" name="Shape 1875"/>
        <p:cNvGrpSpPr/>
        <p:nvPr/>
      </p:nvGrpSpPr>
      <p:grpSpPr>
        <a:xfrm>
          <a:off x="0" y="0"/>
          <a:ext cx="0" cy="0"/>
          <a:chOff x="0" y="0"/>
          <a:chExt cx="0" cy="0"/>
        </a:xfrm>
      </p:grpSpPr>
      <p:sp>
        <p:nvSpPr>
          <p:cNvPr id="1876" name="Google Shape;1876;p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7" name="Google Shape;1877;p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L'inertie ne choisit pas K à votre place</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L’inertie baisse presque toujours quand on augmente le nombre de centres, donc elle ne permet pas à elle seule de découvrir automatiquement le “bon” nombre de clusters. La méthode du coude peut aider, mais le coude peut être flou, multiple ou complètement absent.</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5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500">
                <a:latin typeface="DM Sans"/>
                <a:ea typeface="DM Sans"/>
                <a:cs typeface="DM Sans"/>
                <a:sym typeface="DM Sans"/>
              </a:rPr>
              <a:t>Il faut donc compléter avec d’autres diagnostics : stabilité des partitions, interprétabilité, taille des groupes et utilité métier. Le nombre de clusters n’est pas une vérité cachée dans les données, c’est souvent un compromis d’analyse.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La courbe est mesurée sur les mêmes lunes synthétiques. Un coude peut refléter une approximation géométrique plutôt que des classes naturelles. Ne pas choisir K à partir d'un seul critère puis annoncer une découverte. Demander comment le nombre de groupes s'articule avec le nombre d'actions réellement possibles dans une équipe.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L'inertie optimale décroît avec K ; cette courbe ne prouve pas le vrai nombre de groupes.</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[R20] Clustering. Équipe scikit-learn. 2026. https://scikit-learn.org/stable/modules/clustering.html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1878" name="Google Shape;1878;p8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p8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7" name="Google Shape;1897;p8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t>Silhouette : séparation et compacité</a:t>
            </a:r>
            <a:endParaRPr b="1" sz="1500"/>
          </a:p>
          <a:p>
            <a:pPr indent="0" lvl="0" marL="0" rtl="0" algn="l">
              <a:spcBef>
                <a:spcPts val="0"/>
              </a:spcBef>
              <a:spcAft>
                <a:spcPts val="0"/>
              </a:spcAft>
              <a:buSzPts val="1200"/>
              <a:buNone/>
            </a:pPr>
            <a:r>
              <a:t/>
            </a:r>
            <a:endParaRPr sz="1500"/>
          </a:p>
          <a:p>
            <a:pPr indent="0" lvl="0" marL="0" rtl="0" algn="l">
              <a:spcBef>
                <a:spcPts val="0"/>
              </a:spcBef>
              <a:spcAft>
                <a:spcPts val="0"/>
              </a:spcAft>
              <a:buClr>
                <a:schemeClr val="dk1"/>
              </a:buClr>
              <a:buSzPts val="1100"/>
              <a:buFont typeface="Arial"/>
              <a:buNone/>
            </a:pPr>
            <a:r>
              <a:rPr lang="en-US" sz="1500"/>
              <a:t>La silhouette compare pour chaque point sa cohésion avec son propre groupe et sa proximité avec le meilleur groupe alternatif. Une valeur proche de 1 indique que le point est bien placé, proche de 0 qu’il est à la frontière, et négative qu’il serait peut-être mieux ailleurs.</a:t>
            </a:r>
            <a:endParaRPr sz="1500"/>
          </a:p>
          <a:p>
            <a:pPr indent="0" lvl="0" marL="0" rtl="0" algn="l">
              <a:spcBef>
                <a:spcPts val="0"/>
              </a:spcBef>
              <a:spcAft>
                <a:spcPts val="0"/>
              </a:spcAft>
              <a:buClr>
                <a:schemeClr val="dk1"/>
              </a:buClr>
              <a:buSzPts val="1100"/>
              <a:buFont typeface="Arial"/>
              <a:buNone/>
            </a:pPr>
            <a:r>
              <a:t/>
            </a:r>
            <a:endParaRPr sz="1500"/>
          </a:p>
          <a:p>
            <a:pPr indent="0" lvl="0" marL="0" rtl="0" algn="l">
              <a:spcBef>
                <a:spcPts val="0"/>
              </a:spcBef>
              <a:spcAft>
                <a:spcPts val="0"/>
              </a:spcAft>
              <a:buSzPts val="1100"/>
              <a:buNone/>
            </a:pPr>
            <a:r>
              <a:rPr lang="en-US" sz="1500"/>
              <a:t>C’est un bon outil de diagnostic local et global, mais il ne faut pas en faire un oracle. Un score de silhouette correct n’implique pas automatiquement que les clusters ont un sens métier ; il dit surtout que la partition est géométriquement cohérente pour la distance utilisée.</a:t>
            </a:r>
            <a:endParaRPr sz="1500"/>
          </a:p>
          <a:p>
            <a:pPr indent="0" lvl="0" marL="0" rtl="0" algn="l">
              <a:lnSpc>
                <a:spcPct val="115000"/>
              </a:lnSpc>
              <a:spcBef>
                <a:spcPts val="1500"/>
              </a:spcBef>
              <a:spcAft>
                <a:spcPts val="0"/>
              </a:spcAft>
              <a:buClr>
                <a:schemeClr val="dk1"/>
              </a:buClr>
              <a:buSzPts val="1100"/>
              <a:buFont typeface="Arial"/>
              <a:buNone/>
            </a:pPr>
            <a:r>
              <a:rPr lang="en-US" sz="1500">
                <a:solidFill>
                  <a:schemeClr val="dk1"/>
                </a:solidFill>
              </a:rPr>
              <a:t>C’est le </a:t>
            </a:r>
            <a:r>
              <a:rPr b="1" lang="en-US" sz="1500">
                <a:solidFill>
                  <a:schemeClr val="dk1"/>
                </a:solidFill>
              </a:rPr>
              <a:t>score de silhouette</a:t>
            </a:r>
            <a:r>
              <a:rPr lang="en-US" sz="1500">
                <a:solidFill>
                  <a:schemeClr val="dk1"/>
                </a:solidFill>
              </a:rPr>
              <a:t> : il mesure si un point </a:t>
            </a:r>
            <a:r>
              <a:rPr lang="en-US" sz="1500">
                <a:solidFill>
                  <a:srgbClr val="188038"/>
                </a:solidFill>
                <a:latin typeface="Roboto Mono"/>
                <a:ea typeface="Roboto Mono"/>
                <a:cs typeface="Roboto Mono"/>
                <a:sym typeface="Roboto Mono"/>
              </a:rPr>
              <a:t>i</a:t>
            </a:r>
            <a:r>
              <a:rPr lang="en-US" sz="1500">
                <a:solidFill>
                  <a:schemeClr val="dk1"/>
                </a:solidFill>
              </a:rPr>
              <a:t> est bien placé dans son groupe (</a:t>
            </a:r>
            <a:r>
              <a:rPr i="1" lang="en-US" sz="1500">
                <a:solidFill>
                  <a:schemeClr val="dk1"/>
                </a:solidFill>
              </a:rPr>
              <a:t>cluster</a:t>
            </a:r>
            <a:r>
              <a:rPr lang="en-US" sz="1500">
                <a:solidFill>
                  <a:schemeClr val="dk1"/>
                </a:solidFill>
              </a:rPr>
              <a:t>). Il compare sa proximité avec son propre groupe à sa proximité avec le groupe voisin le plus proche.</a:t>
            </a:r>
            <a:endParaRPr sz="1500">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sz="1500">
                <a:solidFill>
                  <a:schemeClr val="dk1"/>
                </a:solidFill>
              </a:rPr>
              <a:t>s(i)=\frac{b(i)-a(i)}{\max\bigl(a(i),b(i)\bigr)}</a:t>
            </a:r>
            <a:endParaRPr sz="1500">
              <a:solidFill>
                <a:schemeClr val="dk1"/>
              </a:solidFill>
            </a:endParaRPr>
          </a:p>
          <a:p>
            <a:pPr indent="-323850" lvl="0" marL="457200" rtl="0" algn="l">
              <a:lnSpc>
                <a:spcPct val="115000"/>
              </a:lnSpc>
              <a:spcBef>
                <a:spcPts val="1500"/>
              </a:spcBef>
              <a:spcAft>
                <a:spcPts val="0"/>
              </a:spcAft>
              <a:buClr>
                <a:schemeClr val="dk1"/>
              </a:buClr>
              <a:buSzPts val="1500"/>
              <a:buChar char="●"/>
            </a:pPr>
            <a:r>
              <a:rPr lang="en-US" sz="1500">
                <a:solidFill>
                  <a:srgbClr val="188038"/>
                </a:solidFill>
                <a:latin typeface="Roboto Mono"/>
                <a:ea typeface="Roboto Mono"/>
                <a:cs typeface="Roboto Mono"/>
                <a:sym typeface="Roboto Mono"/>
              </a:rPr>
              <a:t>a(i)</a:t>
            </a:r>
            <a:r>
              <a:rPr lang="en-US" sz="1500">
                <a:solidFill>
                  <a:schemeClr val="dk1"/>
                </a:solidFill>
              </a:rPr>
              <a:t> : distance moyenne entre le point </a:t>
            </a:r>
            <a:r>
              <a:rPr lang="en-US" sz="1500">
                <a:solidFill>
                  <a:srgbClr val="188038"/>
                </a:solidFill>
                <a:latin typeface="Roboto Mono"/>
                <a:ea typeface="Roboto Mono"/>
                <a:cs typeface="Roboto Mono"/>
                <a:sym typeface="Roboto Mono"/>
              </a:rPr>
              <a:t>i</a:t>
            </a:r>
            <a:r>
              <a:rPr lang="en-US" sz="1500">
                <a:solidFill>
                  <a:schemeClr val="dk1"/>
                </a:solidFill>
              </a:rPr>
              <a:t> et les </a:t>
            </a:r>
            <a:r>
              <a:rPr b="1" lang="en-US" sz="1500">
                <a:solidFill>
                  <a:schemeClr val="dk1"/>
                </a:solidFill>
              </a:rPr>
              <a:t>autres points de son groupe</a:t>
            </a:r>
            <a:r>
              <a:rPr lang="en-US" sz="1500">
                <a:solidFill>
                  <a:schemeClr val="dk1"/>
                </a:solidFill>
              </a:rPr>
              <a:t>. On la veut petite.</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rgbClr val="188038"/>
                </a:solidFill>
                <a:latin typeface="Roboto Mono"/>
                <a:ea typeface="Roboto Mono"/>
                <a:cs typeface="Roboto Mono"/>
                <a:sym typeface="Roboto Mono"/>
              </a:rPr>
              <a:t>b(i)</a:t>
            </a:r>
            <a:r>
              <a:rPr lang="en-US" sz="1500">
                <a:solidFill>
                  <a:schemeClr val="dk1"/>
                </a:solidFill>
              </a:rPr>
              <a:t> : distance moyenne entre le point </a:t>
            </a:r>
            <a:r>
              <a:rPr lang="en-US" sz="1500">
                <a:solidFill>
                  <a:srgbClr val="188038"/>
                </a:solidFill>
                <a:latin typeface="Roboto Mono"/>
                <a:ea typeface="Roboto Mono"/>
                <a:cs typeface="Roboto Mono"/>
                <a:sym typeface="Roboto Mono"/>
              </a:rPr>
              <a:t>i</a:t>
            </a:r>
            <a:r>
              <a:rPr lang="en-US" sz="1500">
                <a:solidFill>
                  <a:schemeClr val="dk1"/>
                </a:solidFill>
              </a:rPr>
              <a:t> et les points du </a:t>
            </a:r>
            <a:r>
              <a:rPr b="1" lang="en-US" sz="1500">
                <a:solidFill>
                  <a:schemeClr val="dk1"/>
                </a:solidFill>
              </a:rPr>
              <a:t>groupe voisin le plus proche</a:t>
            </a:r>
            <a:r>
              <a:rPr lang="en-US" sz="1500">
                <a:solidFill>
                  <a:schemeClr val="dk1"/>
                </a:solidFill>
              </a:rPr>
              <a:t>. On la veut grande.</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rgbClr val="188038"/>
                </a:solidFill>
                <a:latin typeface="Roboto Mono"/>
                <a:ea typeface="Roboto Mono"/>
                <a:cs typeface="Roboto Mono"/>
                <a:sym typeface="Roboto Mono"/>
              </a:rPr>
              <a:t>\max(a(i),b(i))</a:t>
            </a:r>
            <a:r>
              <a:rPr lang="en-US" sz="1500">
                <a:solidFill>
                  <a:schemeClr val="dk1"/>
                </a:solidFill>
              </a:rPr>
              <a:t> : la plus grande des deux valeurs ; elle ramène le résultat entre </a:t>
            </a:r>
            <a:r>
              <a:rPr lang="en-US" sz="1500">
                <a:solidFill>
                  <a:srgbClr val="188038"/>
                </a:solidFill>
                <a:latin typeface="Roboto Mono"/>
                <a:ea typeface="Roboto Mono"/>
                <a:cs typeface="Roboto Mono"/>
                <a:sym typeface="Roboto Mono"/>
              </a:rPr>
              <a:t>-1</a:t>
            </a:r>
            <a:r>
              <a:rPr lang="en-US" sz="1500">
                <a:solidFill>
                  <a:schemeClr val="dk1"/>
                </a:solidFill>
              </a:rPr>
              <a:t> et </a:t>
            </a:r>
            <a:r>
              <a:rPr lang="en-US" sz="1500">
                <a:solidFill>
                  <a:srgbClr val="188038"/>
                </a:solidFill>
                <a:latin typeface="Roboto Mono"/>
                <a:ea typeface="Roboto Mono"/>
                <a:cs typeface="Roboto Mono"/>
                <a:sym typeface="Roboto Mono"/>
              </a:rPr>
              <a:t>1</a:t>
            </a:r>
            <a:r>
              <a:rPr lang="en-US" sz="1500">
                <a:solidFill>
                  <a:schemeClr val="dk1"/>
                </a:solidFill>
              </a:rPr>
              <a:t>.</a:t>
            </a:r>
            <a:endParaRPr sz="1500">
              <a:solidFill>
                <a:schemeClr val="dk1"/>
              </a:solidFill>
            </a:endParaRPr>
          </a:p>
          <a:p>
            <a:pPr indent="0" lvl="0" marL="0" rtl="0" algn="l">
              <a:lnSpc>
                <a:spcPct val="115000"/>
              </a:lnSpc>
              <a:spcBef>
                <a:spcPts val="1500"/>
              </a:spcBef>
              <a:spcAft>
                <a:spcPts val="0"/>
              </a:spcAft>
              <a:buSzPts val="1100"/>
              <a:buNone/>
            </a:pPr>
            <a:r>
              <a:rPr b="1" lang="en-US" sz="1500">
                <a:solidFill>
                  <a:schemeClr val="dk1"/>
                </a:solidFill>
              </a:rPr>
              <a:t>Exemple :</a:t>
            </a:r>
            <a:r>
              <a:rPr lang="en-US" sz="1500">
                <a:solidFill>
                  <a:schemeClr val="dk1"/>
                </a:solidFill>
              </a:rPr>
              <a:t> si </a:t>
            </a:r>
            <a:r>
              <a:rPr lang="en-US" sz="1500">
                <a:solidFill>
                  <a:srgbClr val="188038"/>
                </a:solidFill>
                <a:latin typeface="Roboto Mono"/>
                <a:ea typeface="Roboto Mono"/>
                <a:cs typeface="Roboto Mono"/>
                <a:sym typeface="Roboto Mono"/>
              </a:rPr>
              <a:t>a(i)=2</a:t>
            </a:r>
            <a:r>
              <a:rPr lang="en-US" sz="1500">
                <a:solidFill>
                  <a:schemeClr val="dk1"/>
                </a:solidFill>
              </a:rPr>
              <a:t> et </a:t>
            </a:r>
            <a:r>
              <a:rPr lang="en-US" sz="1500">
                <a:solidFill>
                  <a:srgbClr val="188038"/>
                </a:solidFill>
                <a:latin typeface="Roboto Mono"/>
                <a:ea typeface="Roboto Mono"/>
                <a:cs typeface="Roboto Mono"/>
                <a:sym typeface="Roboto Mono"/>
              </a:rPr>
              <a:t>b(i)=8</a:t>
            </a:r>
            <a:r>
              <a:rPr lang="en-US" sz="1500">
                <a:solidFill>
                  <a:schemeClr val="dk1"/>
                </a:solidFill>
              </a:rPr>
              <a:t>, alors</a:t>
            </a:r>
            <a:endParaRPr sz="1500">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sz="1500">
                <a:solidFill>
                  <a:schemeClr val="dk1"/>
                </a:solidFill>
              </a:rPr>
              <a:t>s(i)=\frac{8-2}{8}=0{,}75.</a:t>
            </a:r>
            <a:endParaRPr sz="1500">
              <a:solidFill>
                <a:schemeClr val="dk1"/>
              </a:solidFill>
            </a:endParaRPr>
          </a:p>
          <a:p>
            <a:pPr indent="0" lvl="0" marL="0" rtl="0" algn="l">
              <a:lnSpc>
                <a:spcPct val="115000"/>
              </a:lnSpc>
              <a:spcBef>
                <a:spcPts val="1500"/>
              </a:spcBef>
              <a:spcAft>
                <a:spcPts val="0"/>
              </a:spcAft>
              <a:buClr>
                <a:schemeClr val="dk1"/>
              </a:buClr>
              <a:buSzPts val="1100"/>
              <a:buFont typeface="Arial"/>
              <a:buNone/>
            </a:pPr>
            <a:r>
              <a:rPr lang="en-US" sz="1500">
                <a:solidFill>
                  <a:schemeClr val="dk1"/>
                </a:solidFill>
              </a:rPr>
              <a:t>Le point est nettement plus proche de son groupe que du groupe voisin : il est donc plutôt bien classé. Un score proche de </a:t>
            </a:r>
            <a:r>
              <a:rPr b="1" lang="en-US" sz="1500">
                <a:solidFill>
                  <a:schemeClr val="dk1"/>
                </a:solidFill>
              </a:rPr>
              <a:t>1</a:t>
            </a:r>
            <a:r>
              <a:rPr lang="en-US" sz="1500">
                <a:solidFill>
                  <a:schemeClr val="dk1"/>
                </a:solidFill>
              </a:rPr>
              <a:t> est bon, proche de </a:t>
            </a:r>
            <a:r>
              <a:rPr b="1" lang="en-US" sz="1500">
                <a:solidFill>
                  <a:schemeClr val="dk1"/>
                </a:solidFill>
              </a:rPr>
              <a:t>0</a:t>
            </a:r>
            <a:r>
              <a:rPr lang="en-US" sz="1500">
                <a:solidFill>
                  <a:schemeClr val="dk1"/>
                </a:solidFill>
              </a:rPr>
              <a:t> signifie que le point est à la frontière, et </a:t>
            </a:r>
            <a:r>
              <a:rPr b="1" lang="en-US" sz="1500">
                <a:solidFill>
                  <a:schemeClr val="dk1"/>
                </a:solidFill>
              </a:rPr>
              <a:t>négatif</a:t>
            </a:r>
            <a:r>
              <a:rPr lang="en-US" sz="1500">
                <a:solidFill>
                  <a:schemeClr val="dk1"/>
                </a:solidFill>
              </a:rPr>
              <a:t> suggère qu’il serait peut-être mieux dans un autre groupe.</a:t>
            </a:r>
            <a:endParaRPr sz="1500">
              <a:solidFill>
                <a:schemeClr val="dk1"/>
              </a:solidFill>
            </a:endParaRPr>
          </a:p>
          <a:p>
            <a:pPr indent="0" lvl="0" marL="0" rtl="0" algn="l">
              <a:lnSpc>
                <a:spcPct val="115000"/>
              </a:lnSpc>
              <a:spcBef>
                <a:spcPts val="1500"/>
              </a:spcBef>
              <a:spcAft>
                <a:spcPts val="0"/>
              </a:spcAft>
              <a:buSzPts val="1100"/>
              <a:buNone/>
            </a:pPr>
            <a:r>
              <a:rPr lang="en-US" sz="1500">
                <a:solidFill>
                  <a:schemeClr val="dk1"/>
                </a:solidFill>
              </a:rPr>
              <a:t>Lien avec ta formule K-means précédente : </a:t>
            </a:r>
            <a:r>
              <a:rPr lang="en-US" sz="1500">
                <a:solidFill>
                  <a:srgbClr val="188038"/>
                </a:solidFill>
                <a:latin typeface="Roboto Mono"/>
                <a:ea typeface="Roboto Mono"/>
                <a:cs typeface="Roboto Mono"/>
                <a:sym typeface="Roboto Mono"/>
              </a:rPr>
              <a:t>J</a:t>
            </a:r>
            <a:r>
              <a:rPr lang="en-US" sz="1500">
                <a:solidFill>
                  <a:schemeClr val="dk1"/>
                </a:solidFill>
              </a:rPr>
              <a:t> mesure à quel point les groupes sont </a:t>
            </a:r>
            <a:r>
              <a:rPr b="1" lang="en-US" sz="1500">
                <a:solidFill>
                  <a:schemeClr val="dk1"/>
                </a:solidFill>
              </a:rPr>
              <a:t>compacts</a:t>
            </a:r>
            <a:r>
              <a:rPr lang="en-US" sz="1500">
                <a:solidFill>
                  <a:schemeClr val="dk1"/>
                </a:solidFill>
              </a:rPr>
              <a:t> ; la silhouette vérifie aussi s’ils sont </a:t>
            </a:r>
            <a:r>
              <a:rPr b="1" lang="en-US" sz="1500">
                <a:solidFill>
                  <a:schemeClr val="dk1"/>
                </a:solidFill>
              </a:rPr>
              <a:t>bien séparés les uns des autres</a:t>
            </a:r>
            <a:r>
              <a:rPr lang="en-US" sz="1500">
                <a:solidFill>
                  <a:schemeClr val="dk1"/>
                </a:solidFill>
              </a:rPr>
              <a:t>.</a:t>
            </a:r>
            <a:endParaRPr sz="1500"/>
          </a:p>
          <a:p>
            <a:pPr indent="0" lvl="0" marL="0" rtl="0" algn="l">
              <a:spcBef>
                <a:spcPts val="1500"/>
              </a:spcBef>
              <a:spcAft>
                <a:spcPts val="0"/>
              </a:spcAft>
              <a:buSzPts val="1200"/>
              <a:buNone/>
            </a:pPr>
            <a:r>
              <a:t/>
            </a:r>
            <a:endParaRPr sz="1500"/>
          </a:p>
          <a:p>
            <a:pPr indent="0" lvl="0" marL="0" rtl="0" algn="l">
              <a:spcBef>
                <a:spcPts val="0"/>
              </a:spcBef>
              <a:spcAft>
                <a:spcPts val="0"/>
              </a:spcAft>
              <a:buSzPts val="1200"/>
              <a:buNone/>
            </a:pPr>
            <a:r>
              <a:rPr lang="en-US" sz="1500"/>
              <a:t>[R20] Clustering. Équipe scikit-learn. 2026. https://scikit-learn.org/stable/modules/clustering.html (consulté le 19 septembre 2026).</a:t>
            </a:r>
            <a:endParaRPr sz="1500"/>
          </a:p>
          <a:p>
            <a:pPr indent="0" lvl="0" marL="0" rtl="0" algn="l">
              <a:spcBef>
                <a:spcPts val="0"/>
              </a:spcBef>
              <a:spcAft>
                <a:spcPts val="0"/>
              </a:spcAft>
              <a:buSzPts val="1200"/>
              <a:buNone/>
            </a:pPr>
            <a:r>
              <a:t/>
            </a:r>
            <a:endParaRPr sz="1500"/>
          </a:p>
          <a:p>
            <a:pPr indent="0" lvl="0" marL="0" rtl="0" algn="l">
              <a:spcBef>
                <a:spcPts val="0"/>
              </a:spcBef>
              <a:spcAft>
                <a:spcPts val="0"/>
              </a:spcAft>
              <a:buSzPts val="1200"/>
              <a:buNone/>
            </a:pPr>
            <a:r>
              <a:rPr lang="en-US" sz="1500"/>
              <a:t>Formateur : Chrys Fé-Marty NIONGOLO</a:t>
            </a:r>
            <a:endParaRPr sz="1500"/>
          </a:p>
        </p:txBody>
      </p:sp>
      <p:sp>
        <p:nvSpPr>
          <p:cNvPr id="1898" name="Google Shape;1898;p8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p8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8" name="Google Shape;1918;p8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GMM : une appartenance probabiliste</a:t>
            </a:r>
            <a:endParaRPr b="1"/>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lang="en-US"/>
              <a:t>Avec un Gaussian Mixture Model, on ne décrit plus chaque cluster par un seul centre, mais par une composante gaussienne avec un poids, une moyenne et une covariance. Cela permet de représenter des groupes elliptiques, orientés et de tailles différentes.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Surtout, l’appartenance devient probabiliste : une observation peut avoir 70% de responsabilité dans une composante et 30% dans une autre. C’est très utile quand les frontières sont floues ou quand on veut mesurer une incertitude d’affectation.</a:t>
            </a:r>
            <a:endParaRPr/>
          </a:p>
          <a:p>
            <a:pPr indent="0" lvl="0" marL="0" rtl="0" algn="l">
              <a:lnSpc>
                <a:spcPct val="115000"/>
              </a:lnSpc>
              <a:spcBef>
                <a:spcPts val="1500"/>
              </a:spcBef>
              <a:spcAft>
                <a:spcPts val="0"/>
              </a:spcAft>
              <a:buSzPts val="1100"/>
              <a:buNone/>
            </a:pPr>
            <a:r>
              <a:rPr lang="en-US" sz="1100">
                <a:solidFill>
                  <a:schemeClr val="dk1"/>
                </a:solidFill>
              </a:rPr>
              <a:t>Je lis ta formule comme celle d’un </a:t>
            </a:r>
            <a:r>
              <a:rPr b="1" lang="en-US" sz="1100">
                <a:solidFill>
                  <a:schemeClr val="dk1"/>
                </a:solidFill>
              </a:rPr>
              <a:t>modèle de mélange gaussien</a:t>
            </a:r>
            <a:r>
              <a:rPr lang="en-US" sz="1100">
                <a:solidFill>
                  <a:schemeClr val="dk1"/>
                </a:solidFill>
              </a:rPr>
              <a:t> (</a:t>
            </a:r>
            <a:r>
              <a:rPr i="1" lang="en-US" sz="1100">
                <a:solidFill>
                  <a:schemeClr val="dk1"/>
                </a:solidFill>
              </a:rPr>
              <a:t>GMM</a:t>
            </a:r>
            <a:r>
              <a:rPr lang="en-US" sz="1100">
                <a:solidFill>
                  <a:schemeClr val="dk1"/>
                </a:solidFill>
              </a:rPr>
              <a:t>) :</a:t>
            </a:r>
            <a:endParaRPr sz="1100">
              <a:solidFill>
                <a:schemeClr val="dk1"/>
              </a:solidFill>
            </a:endParaRPr>
          </a:p>
          <a:p>
            <a:pPr indent="0" lvl="0" marL="0" rtl="0" algn="l">
              <a:lnSpc>
                <a:spcPct val="115000"/>
              </a:lnSpc>
              <a:spcBef>
                <a:spcPts val="1500"/>
              </a:spcBef>
              <a:spcAft>
                <a:spcPts val="0"/>
              </a:spcAft>
              <a:buSzPts val="1100"/>
              <a:buNone/>
            </a:pPr>
            <a:r>
              <a:rPr lang="en-US" sz="1100">
                <a:solidFill>
                  <a:schemeClr val="dk1"/>
                </a:solidFill>
              </a:rPr>
              <a:t>p(x)=\sum_{k=1}^{K}\pi_k\,\mathcal{N}(x\mid\mu_k,\Sigma_k)</a:t>
            </a:r>
            <a:endParaRPr sz="1100">
              <a:solidFill>
                <a:schemeClr val="dk1"/>
              </a:solidFill>
            </a:endParaRPr>
          </a:p>
          <a:p>
            <a:pPr indent="0" lvl="0" marL="0" rtl="0" algn="l">
              <a:lnSpc>
                <a:spcPct val="115000"/>
              </a:lnSpc>
              <a:spcBef>
                <a:spcPts val="1500"/>
              </a:spcBef>
              <a:spcAft>
                <a:spcPts val="0"/>
              </a:spcAft>
              <a:buSzPts val="1100"/>
              <a:buNone/>
            </a:pPr>
            <a:r>
              <a:rPr lang="en-US" sz="1100">
                <a:solidFill>
                  <a:schemeClr val="dk1"/>
                </a:solidFill>
              </a:rPr>
              <a:t>En simple : </a:t>
            </a:r>
            <a:r>
              <a:rPr b="1" lang="en-US" sz="1100">
                <a:solidFill>
                  <a:schemeClr val="dk1"/>
                </a:solidFill>
              </a:rPr>
              <a:t>on représente les données comme un mélange de plusieurs « cloches »</a:t>
            </a:r>
            <a:r>
              <a:rPr lang="en-US" sz="1100">
                <a:solidFill>
                  <a:schemeClr val="dk1"/>
                </a:solidFill>
              </a:rPr>
              <a:t>. Chaque cloche décrit une zone où les observations peuvent se trouver, et chaque cloche a un poids dans le mélange.</a:t>
            </a:r>
            <a:endParaRPr sz="1100">
              <a:solidFill>
                <a:schemeClr val="dk1"/>
              </a:solidFill>
            </a:endParaRPr>
          </a:p>
          <a:p>
            <a:pPr indent="-298450" lvl="0" marL="457200" rtl="0" algn="l">
              <a:lnSpc>
                <a:spcPct val="115000"/>
              </a:lnSpc>
              <a:spcBef>
                <a:spcPts val="1500"/>
              </a:spcBef>
              <a:spcAft>
                <a:spcPts val="0"/>
              </a:spcAft>
              <a:buClr>
                <a:schemeClr val="dk1"/>
              </a:buClr>
              <a:buSzPts val="1100"/>
              <a:buChar char="●"/>
            </a:pPr>
            <a:r>
              <a:rPr lang="en-US" sz="1100">
                <a:solidFill>
                  <a:srgbClr val="188038"/>
                </a:solidFill>
                <a:latin typeface="Roboto Mono"/>
                <a:ea typeface="Roboto Mono"/>
                <a:cs typeface="Roboto Mono"/>
                <a:sym typeface="Roboto Mono"/>
              </a:rPr>
              <a:t>x</a:t>
            </a:r>
            <a:r>
              <a:rPr lang="en-US" sz="1100">
                <a:solidFill>
                  <a:schemeClr val="dk1"/>
                </a:solidFill>
              </a:rPr>
              <a:t> : le point que l’on examine.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K</a:t>
            </a:r>
            <a:r>
              <a:rPr lang="en-US" sz="1100">
                <a:solidFill>
                  <a:schemeClr val="dk1"/>
                </a:solidFill>
              </a:rPr>
              <a:t> : le nombre de cloches, ou </a:t>
            </a:r>
            <a:r>
              <a:rPr i="1" lang="en-US" sz="1100">
                <a:solidFill>
                  <a:schemeClr val="dk1"/>
                </a:solidFill>
              </a:rPr>
              <a:t>composantes</a:t>
            </a:r>
            <a:r>
              <a:rPr lang="en-US"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\mu_k</a:t>
            </a:r>
            <a:r>
              <a:rPr lang="en-US" sz="1100">
                <a:solidFill>
                  <a:schemeClr val="dk1"/>
                </a:solidFill>
              </a:rPr>
              <a:t> : le centre de la cloche </a:t>
            </a:r>
            <a:r>
              <a:rPr lang="en-US" sz="1100">
                <a:solidFill>
                  <a:srgbClr val="188038"/>
                </a:solidFill>
                <a:latin typeface="Roboto Mono"/>
                <a:ea typeface="Roboto Mono"/>
                <a:cs typeface="Roboto Mono"/>
                <a:sym typeface="Roboto Mono"/>
              </a:rPr>
              <a:t>k</a:t>
            </a:r>
            <a:r>
              <a:rPr lang="en-US"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\Sigma_k</a:t>
            </a:r>
            <a:r>
              <a:rPr lang="en-US" sz="1100">
                <a:solidFill>
                  <a:schemeClr val="dk1"/>
                </a:solidFill>
              </a:rPr>
              <a:t> : son étalement et sa forme.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\mathcal{N}(x\mid\mu_k,\Sigma_k)</a:t>
            </a:r>
            <a:r>
              <a:rPr lang="en-US" sz="1100">
                <a:solidFill>
                  <a:schemeClr val="dk1"/>
                </a:solidFill>
              </a:rPr>
              <a:t> : la densité que cette cloche attribue au point </a:t>
            </a:r>
            <a:r>
              <a:rPr lang="en-US" sz="1100">
                <a:solidFill>
                  <a:srgbClr val="188038"/>
                </a:solidFill>
                <a:latin typeface="Roboto Mono"/>
                <a:ea typeface="Roboto Mono"/>
                <a:cs typeface="Roboto Mono"/>
                <a:sym typeface="Roboto Mono"/>
              </a:rPr>
              <a:t>x</a:t>
            </a:r>
            <a:r>
              <a:rPr lang="en-US"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US" sz="1100">
                <a:solidFill>
                  <a:srgbClr val="188038"/>
                </a:solidFill>
                <a:latin typeface="Roboto Mono"/>
                <a:ea typeface="Roboto Mono"/>
                <a:cs typeface="Roboto Mono"/>
                <a:sym typeface="Roboto Mono"/>
              </a:rPr>
              <a:t>\pi_k</a:t>
            </a:r>
            <a:r>
              <a:rPr lang="en-US" sz="1100">
                <a:solidFill>
                  <a:schemeClr val="dk1"/>
                </a:solidFill>
              </a:rPr>
              <a:t> : le poids de cette cloche ; tous les poids s’additionnent à </a:t>
            </a:r>
            <a:r>
              <a:rPr lang="en-US" sz="1100">
                <a:solidFill>
                  <a:srgbClr val="188038"/>
                </a:solidFill>
                <a:latin typeface="Roboto Mono"/>
                <a:ea typeface="Roboto Mono"/>
                <a:cs typeface="Roboto Mono"/>
                <a:sym typeface="Roboto Mono"/>
              </a:rPr>
              <a:t>1</a:t>
            </a:r>
            <a:r>
              <a:rPr lang="en-US" sz="1100">
                <a:solidFill>
                  <a:schemeClr val="dk1"/>
                </a:solidFill>
              </a:rPr>
              <a:t>.</a:t>
            </a:r>
            <a:endParaRPr sz="1100">
              <a:solidFill>
                <a:schemeClr val="dk1"/>
              </a:solidFill>
            </a:endParaRPr>
          </a:p>
          <a:p>
            <a:pPr indent="0" lvl="0" marL="0" rtl="0" algn="l">
              <a:lnSpc>
                <a:spcPct val="115000"/>
              </a:lnSpc>
              <a:spcBef>
                <a:spcPts val="1500"/>
              </a:spcBef>
              <a:spcAft>
                <a:spcPts val="0"/>
              </a:spcAft>
              <a:buSzPts val="1100"/>
              <a:buNone/>
            </a:pPr>
            <a:r>
              <a:rPr b="1" lang="en-US" sz="1100">
                <a:solidFill>
                  <a:schemeClr val="dk1"/>
                </a:solidFill>
              </a:rPr>
              <a:t>Exemple :</a:t>
            </a:r>
            <a:r>
              <a:rPr lang="en-US" sz="1100">
                <a:solidFill>
                  <a:schemeClr val="dk1"/>
                </a:solidFill>
              </a:rPr>
              <a:t> si les données forment deux amas, on peut utiliser deux cloches. La première a un poids de </a:t>
            </a:r>
            <a:r>
              <a:rPr lang="en-US" sz="1100">
                <a:solidFill>
                  <a:srgbClr val="188038"/>
                </a:solidFill>
                <a:latin typeface="Roboto Mono"/>
                <a:ea typeface="Roboto Mono"/>
                <a:cs typeface="Roboto Mono"/>
                <a:sym typeface="Roboto Mono"/>
              </a:rPr>
              <a:t>0{,}7</a:t>
            </a:r>
            <a:r>
              <a:rPr lang="en-US" sz="1100">
                <a:solidFill>
                  <a:schemeClr val="dk1"/>
                </a:solidFill>
              </a:rPr>
              <a:t>, la seconde de </a:t>
            </a:r>
            <a:r>
              <a:rPr lang="en-US" sz="1100">
                <a:solidFill>
                  <a:srgbClr val="188038"/>
                </a:solidFill>
                <a:latin typeface="Roboto Mono"/>
                <a:ea typeface="Roboto Mono"/>
                <a:cs typeface="Roboto Mono"/>
                <a:sym typeface="Roboto Mono"/>
              </a:rPr>
              <a:t>0{,}3</a:t>
            </a:r>
            <a:r>
              <a:rPr lang="en-US" sz="1100">
                <a:solidFill>
                  <a:schemeClr val="dk1"/>
                </a:solidFill>
              </a:rPr>
              <a:t>. Pour calculer </a:t>
            </a:r>
            <a:r>
              <a:rPr lang="en-US" sz="1100">
                <a:solidFill>
                  <a:srgbClr val="188038"/>
                </a:solidFill>
                <a:latin typeface="Roboto Mono"/>
                <a:ea typeface="Roboto Mono"/>
                <a:cs typeface="Roboto Mono"/>
                <a:sym typeface="Roboto Mono"/>
              </a:rPr>
              <a:t>p(x)</a:t>
            </a:r>
            <a:r>
              <a:rPr lang="en-US" sz="1100">
                <a:solidFill>
                  <a:schemeClr val="dk1"/>
                </a:solidFill>
              </a:rPr>
              <a:t>, on regarde la densité de </a:t>
            </a:r>
            <a:r>
              <a:rPr lang="en-US" sz="1100">
                <a:solidFill>
                  <a:srgbClr val="188038"/>
                </a:solidFill>
                <a:latin typeface="Roboto Mono"/>
                <a:ea typeface="Roboto Mono"/>
                <a:cs typeface="Roboto Mono"/>
                <a:sym typeface="Roboto Mono"/>
              </a:rPr>
              <a:t>x</a:t>
            </a:r>
            <a:r>
              <a:rPr lang="en-US" sz="1100">
                <a:solidFill>
                  <a:schemeClr val="dk1"/>
                </a:solidFill>
              </a:rPr>
              <a:t> sous chacune, on multiplie par son poids, puis on additionne :</a:t>
            </a:r>
            <a:endParaRPr sz="1100">
              <a:solidFill>
                <a:schemeClr val="dk1"/>
              </a:solidFill>
            </a:endParaRPr>
          </a:p>
          <a:p>
            <a:pPr indent="0" lvl="0" marL="0" rtl="0" algn="l">
              <a:lnSpc>
                <a:spcPct val="115000"/>
              </a:lnSpc>
              <a:spcBef>
                <a:spcPts val="1500"/>
              </a:spcBef>
              <a:spcAft>
                <a:spcPts val="0"/>
              </a:spcAft>
              <a:buSzPts val="1100"/>
              <a:buNone/>
            </a:pPr>
            <a:r>
              <a:rPr b="1" lang="en-US" sz="1100">
                <a:solidFill>
                  <a:schemeClr val="dk1"/>
                </a:solidFill>
              </a:rPr>
              <a:t>Lien avec K-means :</a:t>
            </a:r>
            <a:r>
              <a:rPr lang="en-US" sz="1100">
                <a:solidFill>
                  <a:schemeClr val="dk1"/>
                </a:solidFill>
              </a:rPr>
              <a:t> K-means place chaque point dans un seul groupe. Un GMM permet plutôt de dire qu’un point situé entre deux amas peut être associé </a:t>
            </a:r>
            <a:r>
              <a:rPr i="1" lang="en-US" sz="1100">
                <a:solidFill>
                  <a:schemeClr val="dk1"/>
                </a:solidFill>
              </a:rPr>
              <a:t>en partie</a:t>
            </a:r>
            <a:r>
              <a:rPr lang="en-US" sz="1100">
                <a:solidFill>
                  <a:schemeClr val="dk1"/>
                </a:solidFill>
              </a:rPr>
              <a:t> aux deux. Attention : </a:t>
            </a:r>
            <a:r>
              <a:rPr lang="en-US" sz="1100">
                <a:solidFill>
                  <a:srgbClr val="188038"/>
                </a:solidFill>
                <a:latin typeface="Roboto Mono"/>
                <a:ea typeface="Roboto Mono"/>
                <a:cs typeface="Roboto Mono"/>
                <a:sym typeface="Roboto Mono"/>
              </a:rPr>
              <a:t>p(x)</a:t>
            </a:r>
            <a:r>
              <a:rPr lang="en-US" sz="1100">
                <a:solidFill>
                  <a:schemeClr val="dk1"/>
                </a:solidFill>
              </a:rPr>
              <a:t> est une </a:t>
            </a:r>
            <a:r>
              <a:rPr b="1" lang="en-US" sz="1100">
                <a:solidFill>
                  <a:schemeClr val="dk1"/>
                </a:solidFill>
              </a:rPr>
              <a:t>densité</a:t>
            </a:r>
            <a:r>
              <a:rPr lang="en-US" sz="1100">
                <a:solidFill>
                  <a:schemeClr val="dk1"/>
                </a:solidFill>
              </a:rPr>
              <a:t>, pas directement la probabilité que </a:t>
            </a:r>
            <a:r>
              <a:rPr lang="en-US" sz="1100">
                <a:solidFill>
                  <a:srgbClr val="188038"/>
                </a:solidFill>
                <a:latin typeface="Roboto Mono"/>
                <a:ea typeface="Roboto Mono"/>
                <a:cs typeface="Roboto Mono"/>
                <a:sym typeface="Roboto Mono"/>
              </a:rPr>
              <a:t>x</a:t>
            </a:r>
            <a:r>
              <a:rPr lang="en-US" sz="1100">
                <a:solidFill>
                  <a:schemeClr val="dk1"/>
                </a:solidFill>
              </a:rPr>
              <a:t> appartienne à un groupe précis.</a:t>
            </a:r>
            <a:endParaRPr/>
          </a:p>
          <a:p>
            <a:pPr indent="0" lvl="0" marL="0" rtl="0" algn="l">
              <a:spcBef>
                <a:spcPts val="1500"/>
              </a:spcBef>
              <a:spcAft>
                <a:spcPts val="0"/>
              </a:spcAft>
              <a:buSzPts val="1200"/>
              <a:buNone/>
            </a:pPr>
            <a:r>
              <a:t/>
            </a:r>
            <a:endParaRPr/>
          </a:p>
          <a:p>
            <a:pPr indent="0" lvl="0" marL="0" rtl="0" algn="l">
              <a:spcBef>
                <a:spcPts val="0"/>
              </a:spcBef>
              <a:spcAft>
                <a:spcPts val="0"/>
              </a:spcAft>
              <a:buSzPts val="1200"/>
              <a:buNone/>
            </a:pPr>
            <a:r>
              <a:rPr lang="en-US" sz="1200"/>
              <a:t>[R21] Gaussian mixture models. Équipe scikit-learn. 2026. https://scikit-learn.org/stable/modules/mixture.html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919" name="Google Shape;1919;p8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7" name="Shape 1937"/>
        <p:cNvGrpSpPr/>
        <p:nvPr/>
      </p:nvGrpSpPr>
      <p:grpSpPr>
        <a:xfrm>
          <a:off x="0" y="0"/>
          <a:ext cx="0" cy="0"/>
          <a:chOff x="0" y="0"/>
          <a:chExt cx="0" cy="0"/>
        </a:xfrm>
      </p:grpSpPr>
      <p:sp>
        <p:nvSpPr>
          <p:cNvPr id="1938" name="Google Shape;1938;p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9" name="Google Shape;1939;p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EM : alterner deux problèmes plus simples</a:t>
            </a:r>
            <a:endParaRPr b="1" sz="1200"/>
          </a:p>
          <a:p>
            <a:pPr indent="0" lvl="0" marL="0" rtl="0" algn="l">
              <a:spcBef>
                <a:spcPts val="0"/>
              </a:spcBef>
              <a:spcAft>
                <a:spcPts val="0"/>
              </a:spcAft>
              <a:buSzPts val="1200"/>
              <a:buNone/>
            </a:pPr>
            <a:r>
              <a:t/>
            </a:r>
            <a:endParaRPr b="1"/>
          </a:p>
          <a:p>
            <a:pPr indent="0" lvl="0" marL="0" rtl="0" algn="l">
              <a:spcBef>
                <a:spcPts val="0"/>
              </a:spcBef>
              <a:spcAft>
                <a:spcPts val="0"/>
              </a:spcAft>
              <a:buClr>
                <a:schemeClr val="dk1"/>
              </a:buClr>
              <a:buSzPts val="1100"/>
              <a:buFont typeface="Arial"/>
              <a:buNone/>
            </a:pPr>
            <a:r>
              <a:rPr lang="en-US"/>
              <a:t>L’algorithme EM alterne une étape E, où l’on calcule les responsabilités des composantes pour chaque point, puis une étape M, où l’on réestime les paramètres des composantes à partir de ces responsabilités. Chaque étape simplifie le problème global, et leur alternance fait monter la vraisemblance.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Mais, comme K-means, EM peut converger vers un optimum local. Il faut donc surveiller les initialisations, le nombre de composantes, la structure des covariances, et ne pas confondre convergence numérique avec vérité statistique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[R21] Gaussian mixture models. Équipe scikit-learn. 2026. https://scikit-learn.org/stable/modules/mixture.html (consulté le 19 septembre 2026).</a:t>
            </a:r>
            <a:endParaRPr/>
          </a:p>
          <a:p>
            <a:pPr indent="0" lvl="0" marL="0" rtl="0" algn="l">
              <a:spcBef>
                <a:spcPts val="0"/>
              </a:spcBef>
              <a:spcAft>
                <a:spcPts val="0"/>
              </a:spcAft>
              <a:buSzPts val="1200"/>
              <a:buNone/>
            </a:pPr>
            <a:r>
              <a:rPr lang="en-US"/>
              <a:t>https://fr.wikipedia.org/wiki/Algorithme_esp%C3%A9rance-maximisation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940" name="Google Shape;1940;p9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8" name="Shape 1958"/>
        <p:cNvGrpSpPr/>
        <p:nvPr/>
      </p:nvGrpSpPr>
      <p:grpSpPr>
        <a:xfrm>
          <a:off x="0" y="0"/>
          <a:ext cx="0" cy="0"/>
          <a:chOff x="0" y="0"/>
          <a:chExt cx="0" cy="0"/>
        </a:xfrm>
      </p:grpSpPr>
      <p:sp>
        <p:nvSpPr>
          <p:cNvPr id="1959" name="Google Shape;1959;p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0" name="Google Shape;1960;p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Classification hiérarchique agglomérative</a:t>
            </a:r>
            <a:endParaRPr b="1" sz="1200"/>
          </a:p>
          <a:p>
            <a:pPr indent="0" lvl="0" marL="0" rtl="0" algn="l">
              <a:spcBef>
                <a:spcPts val="0"/>
              </a:spcBef>
              <a:spcAft>
                <a:spcPts val="0"/>
              </a:spcAft>
              <a:buSzPts val="1100"/>
              <a:buNone/>
            </a:pPr>
            <a:r>
              <a:t/>
            </a:r>
            <a:endParaRPr b="1"/>
          </a:p>
          <a:p>
            <a:pPr indent="0" lvl="0" marL="0" rtl="0" algn="l">
              <a:spcBef>
                <a:spcPts val="0"/>
              </a:spcBef>
              <a:spcAft>
                <a:spcPts val="0"/>
              </a:spcAft>
              <a:buClr>
                <a:schemeClr val="dk1"/>
              </a:buClr>
              <a:buSzPts val="1100"/>
              <a:buFont typeface="Arial"/>
              <a:buNone/>
            </a:pPr>
            <a:r>
              <a:rPr lang="en-US"/>
              <a:t>Ici, au lieu de fixer immédiatement K, on part d’objets isolés puis on fusionne progressivement les groupes selon une règle de linkage. Single, complete, average ou Ward ne racontent pas la même histoire géométrique.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L’intérêt du dendrogramme est de donner une vue multi-échelle de la structure. Mais la coupe finale reste un choix d’analyste : elle dépend à la fois du linkage, de l’échelle des variables et du niveau de granularité jugé utile.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961" name="Google Shape;1961;p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9" name="Shape 1979"/>
        <p:cNvGrpSpPr/>
        <p:nvPr/>
      </p:nvGrpSpPr>
      <p:grpSpPr>
        <a:xfrm>
          <a:off x="0" y="0"/>
          <a:ext cx="0" cy="0"/>
          <a:chOff x="0" y="0"/>
          <a:chExt cx="0" cy="0"/>
        </a:xfrm>
      </p:grpSpPr>
      <p:sp>
        <p:nvSpPr>
          <p:cNvPr id="1980" name="Google Shape;1980;p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1" name="Google Shape;1981;p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DBSCAN : relier les régions denses</a:t>
            </a:r>
            <a:endParaRPr b="1"/>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b="1" lang="en-US"/>
              <a:t>DBSCAN</a:t>
            </a:r>
            <a:r>
              <a:rPr lang="en-US"/>
              <a:t> ne cherche pas des centres, mais des zones de densité suffisante. Un point cœur doit avoir assez de voisins dans un rayon eps, et les régions denses se construisent ensuite par connexité.</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Cela donne deux avantages importants : on peut récupérer des formes non convexes, et certains points restent sans groupe, étiquetés comme bruit. En revanche, le comportement dépend fortement de l’échelle des variables et du choix du couple </a:t>
            </a:r>
            <a:r>
              <a:rPr i="1" lang="en-US"/>
              <a:t>eps</a:t>
            </a:r>
            <a:r>
              <a:rPr lang="en-US"/>
              <a:t> / </a:t>
            </a:r>
            <a:r>
              <a:rPr i="1" lang="en-US"/>
              <a:t>min_samples</a:t>
            </a:r>
            <a:r>
              <a:rPr lang="en-US"/>
              <a: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1982" name="Google Shape;1982;p9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p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2" name="Google Shape;2002;p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Les mêmes lunes avec DBSCAN</a:t>
            </a:r>
            <a:endParaRPr b="1" sz="1200"/>
          </a:p>
          <a:p>
            <a:pPr indent="0" lvl="0" marL="0" rtl="0" algn="l">
              <a:spcBef>
                <a:spcPts val="0"/>
              </a:spcBef>
              <a:spcAft>
                <a:spcPts val="0"/>
              </a:spcAft>
              <a:buSzPts val="1100"/>
              <a:buNone/>
            </a:pPr>
            <a:r>
              <a:t/>
            </a:r>
            <a:endParaRPr/>
          </a:p>
          <a:p>
            <a:pPr indent="0" lvl="0" marL="0" rtl="0" algn="l">
              <a:spcBef>
                <a:spcPts val="0"/>
              </a:spcBef>
              <a:spcAft>
                <a:spcPts val="0"/>
              </a:spcAft>
              <a:buClr>
                <a:schemeClr val="dk1"/>
              </a:buClr>
              <a:buSzPts val="1100"/>
              <a:buFont typeface="Arial"/>
              <a:buNone/>
            </a:pPr>
            <a:r>
              <a:rPr lang="en-US"/>
              <a:t>Sur les deux lunes, DBSCAN suit beaucoup mieux la structure courbe que K-means, justement parce qu’il raisonne en termes de densité connectée et non de distance à un centre.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Mais cela n’en fait pas une méthode universelle : un eps trop petit fragmente les groupes, un eps trop grand les fusionne. La diapo sert donc à montrer une réussite géométrique, mais aussi la sensibilité du réglage.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points et leur standardisation sont exactement ceux du graphique K-means. Seul l'algorithme change. Cette réussite synthétique ne prouve pas une supériorité générale de DBSCAN. Discuter sa sensibilité au bruit, aux densités variables et à la dimension. Faire anticiper le résultat pour un eps très grand, puis très petit.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Mêmes 180 lunes synthétiques, graine 42. Les couleurs représentent les clusters estimés.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03" name="Google Shape;2003;p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0" name="Shape 2020"/>
        <p:cNvGrpSpPr/>
        <p:nvPr/>
      </p:nvGrpSpPr>
      <p:grpSpPr>
        <a:xfrm>
          <a:off x="0" y="0"/>
          <a:ext cx="0" cy="0"/>
          <a:chOff x="0" y="0"/>
          <a:chExt cx="0" cy="0"/>
        </a:xfrm>
      </p:grpSpPr>
      <p:sp>
        <p:nvSpPr>
          <p:cNvPr id="2021" name="Google Shape;2021;p9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2" name="Google Shape;2022;p9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HDBSCAN</a:t>
            </a:r>
            <a:r>
              <a:rPr lang="en-US" sz="1200"/>
              <a:t> : </a:t>
            </a:r>
            <a:r>
              <a:rPr lang="en-US"/>
              <a:t>E</a:t>
            </a:r>
            <a:r>
              <a:rPr lang="en-US" sz="1200"/>
              <a:t>xaminer plusieurs échelles</a:t>
            </a:r>
            <a:endParaRPr/>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b="1" lang="en-US"/>
              <a:t>HDBSCAN</a:t>
            </a:r>
            <a:r>
              <a:rPr lang="en-US"/>
              <a:t> généralise l’idée de densité en construisant une hiérarchie de structures denses à plusieurs échelles. Au lieu de figer un seul rayon eps, il examine la persistance des groupes quand l’échelle varie.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SzPts val="1100"/>
              <a:buNone/>
            </a:pPr>
            <a:r>
              <a:rPr lang="en-US"/>
              <a:t>Cela le rend souvent plus robuste que DBSCAN quand la densité n’est pas homogène dans tout l’espace. En contrepartie, il faut bien comprendre les paramètres, notamment </a:t>
            </a:r>
            <a:r>
              <a:rPr i="1" lang="en-US" u="sng"/>
              <a:t>min_cluster_size</a:t>
            </a:r>
            <a:r>
              <a:rPr lang="en-US"/>
              <a:t>, ainsi que la convention choisie pour </a:t>
            </a:r>
            <a:r>
              <a:rPr i="1" lang="en-US" u="sng"/>
              <a:t>min_samples</a:t>
            </a:r>
            <a:r>
              <a:rPr lang="en-US"/>
              <a:t> selon l’implémentation.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[R23] HDBSCAN. Équipe scikit-learn. 2026. https://scikit-learn.org/stable/modules/generated/sklearn.cluster.HDBSCAN.html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23" name="Google Shape;2023;p9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1" name="Shape 2041"/>
        <p:cNvGrpSpPr/>
        <p:nvPr/>
      </p:nvGrpSpPr>
      <p:grpSpPr>
        <a:xfrm>
          <a:off x="0" y="0"/>
          <a:ext cx="0" cy="0"/>
          <a:chOff x="0" y="0"/>
          <a:chExt cx="0" cy="0"/>
        </a:xfrm>
      </p:grpSpPr>
      <p:sp>
        <p:nvSpPr>
          <p:cNvPr id="2042" name="Google Shape;2042;p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3" name="Google Shape;2043;p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Comparer les familles de clustering</a:t>
            </a:r>
            <a:endParaRPr b="1" sz="1200"/>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lang="en-US"/>
              <a:t>Cette slide est très utile pour synthétiser les hypothèses de chaque famille. K-means suppose des groupes compacts euclidiens, GMM des mélanges gaussiens, la CAH une logique de fusion hiérarchique, DBSCAN une connexité dense et HDBSCAN une densité étudiée à plusieurs échelles.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Le message à faire passer est que le choix d’un algorithme n’est pas une question de mode, mais d’adéquation entre l’hypothèse géométrique de la méthode et la structure que l’on pense plausible dans les données.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Demander aux binômes de choisir deux méthodes pour une population compacte, puis deux méthodes pour des groupes non convexes. Ils doivent justifier ce qu'ils considèrent comme une distance légitime. Certains estimateurs n'ont pas de méthode predict pour de nouveaux points : anticiper comment la segmentation sera utilisée après l'analyse.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a:t>
            </a:r>
            <a:r>
              <a:rPr b="1" lang="en-US" sz="1200"/>
              <a:t>Clustering</a:t>
            </a:r>
            <a:r>
              <a:rPr lang="en-US" sz="1200"/>
              <a:t>. Équipe scikit-learn. 2026. https://scikit-learn.org/stable/modules/clustering.html (consulté le 19 septembre 2026).</a:t>
            </a:r>
            <a:endParaRPr/>
          </a:p>
          <a:p>
            <a:pPr indent="0" lvl="0" marL="0" rtl="0" algn="l">
              <a:spcBef>
                <a:spcPts val="0"/>
              </a:spcBef>
              <a:spcAft>
                <a:spcPts val="0"/>
              </a:spcAft>
              <a:buSzPts val="1200"/>
              <a:buNone/>
            </a:pPr>
            <a:r>
              <a:rPr lang="en-US" sz="1200"/>
              <a:t>[R21] </a:t>
            </a:r>
            <a:r>
              <a:rPr b="1" lang="en-US" sz="1200"/>
              <a:t>Gaussian</a:t>
            </a:r>
            <a:r>
              <a:rPr lang="en-US" sz="1200"/>
              <a:t> mixture models. Équipe scikit-learn. 2026. https://scikit-learn.org/stable/modules/mixture.html (consulté le 19 septembre 2026).</a:t>
            </a:r>
            <a:endParaRPr/>
          </a:p>
          <a:p>
            <a:pPr indent="0" lvl="0" marL="0" rtl="0" algn="l">
              <a:spcBef>
                <a:spcPts val="0"/>
              </a:spcBef>
              <a:spcAft>
                <a:spcPts val="0"/>
              </a:spcAft>
              <a:buSzPts val="1200"/>
              <a:buNone/>
            </a:pPr>
            <a:r>
              <a:rPr lang="en-US" sz="1200"/>
              <a:t>[R23] </a:t>
            </a:r>
            <a:r>
              <a:rPr b="1" lang="en-US" sz="1200"/>
              <a:t>HDBSCAN</a:t>
            </a:r>
            <a:r>
              <a:rPr lang="en-US" sz="1200"/>
              <a:t>. Équipe scikit-learn. 2026. https://scikit-learn.org/stable/modules/generated/sklearn.cluster.HDBSCAN.html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44" name="Google Shape;2044;p9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0" name="Shape 2060"/>
        <p:cNvGrpSpPr/>
        <p:nvPr/>
      </p:nvGrpSpPr>
      <p:grpSpPr>
        <a:xfrm>
          <a:off x="0" y="0"/>
          <a:ext cx="0" cy="0"/>
          <a:chOff x="0" y="0"/>
          <a:chExt cx="0" cy="0"/>
        </a:xfrm>
      </p:grpSpPr>
      <p:sp>
        <p:nvSpPr>
          <p:cNvPr id="2061" name="Google Shape;2061;p9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2" name="Google Shape;2062;p9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Évaluer sans labels</a:t>
            </a:r>
            <a:endParaRPr b="1" sz="1200"/>
          </a:p>
          <a:p>
            <a:pPr indent="0" lvl="0" marL="0" rtl="0" algn="l">
              <a:spcBef>
                <a:spcPts val="0"/>
              </a:spcBef>
              <a:spcAft>
                <a:spcPts val="0"/>
              </a:spcAft>
              <a:buSzPts val="1200"/>
              <a:buNone/>
            </a:pPr>
            <a:r>
              <a:t/>
            </a:r>
            <a:endParaRPr/>
          </a:p>
          <a:p>
            <a:pPr indent="0" lvl="0" marL="0" rtl="0" algn="l">
              <a:spcBef>
                <a:spcPts val="0"/>
              </a:spcBef>
              <a:spcAft>
                <a:spcPts val="0"/>
              </a:spcAft>
              <a:buClr>
                <a:schemeClr val="dk1"/>
              </a:buClr>
              <a:buSzPts val="1100"/>
              <a:buFont typeface="Arial"/>
              <a:buNone/>
            </a:pPr>
            <a:r>
              <a:rPr lang="en-US"/>
              <a:t>En non supervisé, on n’a pas de vérité terrain simple à comparer à une cible. On doit donc évaluer autrement : stabilité aux graines, sensibilité aux sous-échantillons, robustesse aux paramètres, taille et profils des groupes, proportion de bruit, puis surtout utilité pour l’usage réel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Il faut marteler qu’une belle partition n’est pas forcément une partition utile. En clustering, stabilité, séparation géométrique et valeur métier sont trois questions différentes, et la dernière ne se lit pas directement dans une métrique interne.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L'ARI </a:t>
            </a:r>
            <a:r>
              <a:rPr lang="en-US"/>
              <a:t>(</a:t>
            </a:r>
            <a:r>
              <a:rPr b="1" lang="en-US" u="sng">
                <a:solidFill>
                  <a:schemeClr val="dk1"/>
                </a:solidFill>
                <a:hlinkClick r:id="rId2">
                  <a:extLst>
                    <a:ext uri="{A12FA001-AC4F-418D-AE19-62706E023703}">
                      <ahyp:hlinkClr val="tx"/>
                    </a:ext>
                  </a:extLst>
                </a:hlinkClick>
              </a:rPr>
              <a:t>Adjusted Rand Index</a:t>
            </a:r>
            <a:r>
              <a:rPr lang="en-US"/>
              <a:t>)</a:t>
            </a:r>
            <a:r>
              <a:rPr lang="en-US" sz="1200"/>
              <a:t> compare deux partitions en tenant compte de l'accord attendu au hasard, avec des correspondances de numéros de groupes inutiles. Pour des partitions issues de sous-échantillons différents, comparer les observations communes ou utiliser une procédure d'affectation cohérente. Un score interne élevé n'est pas une garantie de pertinence. Ne pas utiliser les labels synthétiques pour régler puis pour annoncer une évaluation indépendante.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b="1" lang="en-US" sz="1200"/>
              <a:t>Stabilité</a:t>
            </a:r>
            <a:r>
              <a:rPr lang="en-US" sz="1200"/>
              <a:t>, </a:t>
            </a:r>
            <a:r>
              <a:rPr b="1" lang="en-US"/>
              <a:t>S</a:t>
            </a:r>
            <a:r>
              <a:rPr b="1" lang="en-US" sz="1200"/>
              <a:t>éparation</a:t>
            </a:r>
            <a:r>
              <a:rPr lang="en-US" sz="1200"/>
              <a:t> et </a:t>
            </a:r>
            <a:r>
              <a:rPr b="1" lang="en-US"/>
              <a:t>U</a:t>
            </a:r>
            <a:r>
              <a:rPr b="1" lang="en-US" sz="1200"/>
              <a:t>tilité</a:t>
            </a:r>
            <a:r>
              <a:rPr lang="en-US" sz="1200"/>
              <a:t> répondent à des questions différentes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63" name="Google Shape;2063;p9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1" name="Shape 2081"/>
        <p:cNvGrpSpPr/>
        <p:nvPr/>
      </p:nvGrpSpPr>
      <p:grpSpPr>
        <a:xfrm>
          <a:off x="0" y="0"/>
          <a:ext cx="0" cy="0"/>
          <a:chOff x="0" y="0"/>
          <a:chExt cx="0" cy="0"/>
        </a:xfrm>
      </p:grpSpPr>
      <p:sp>
        <p:nvSpPr>
          <p:cNvPr id="2082" name="Google Shape;2082;p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3" name="Google Shape;2083;p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Projections : explorer avec prudence</a:t>
            </a:r>
            <a:endParaRPr b="1" sz="1200"/>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Montrer que la projection peut rapprocher ou éloigner des observations autrement qu'une lecture naïve ne le suggère. Ne pas interpréter automatiquement la taille d'un îlot ou les distances entre tous les groupes. UMAP peut être mentionné comme prolongement, sans en faire un socle obligatoire. Toujours revenir aux variables, aux voisins et à une validation dans l'espace pertinent.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Un joli nuage 2D ne démontre pas le nombre de clusters.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a:t>
            </a:r>
            <a:r>
              <a:rPr b="1" lang="en-US" sz="1200"/>
              <a:t>R22</a:t>
            </a:r>
            <a:r>
              <a:rPr lang="en-US" sz="1200"/>
              <a:t>] Decomposing signals in components. Équipe scikit-learn. 2026. https://scikit-learn.org/stable/modules/decomposition.html (consulté le 19 septembre 2026).</a:t>
            </a:r>
            <a:endParaRPr/>
          </a:p>
          <a:p>
            <a:pPr indent="0" lvl="0" marL="0" rtl="0" algn="l">
              <a:spcBef>
                <a:spcPts val="0"/>
              </a:spcBef>
              <a:spcAft>
                <a:spcPts val="0"/>
              </a:spcAft>
              <a:buSzPts val="1200"/>
              <a:buNone/>
            </a:pPr>
            <a:r>
              <a:rPr lang="en-US" sz="1200"/>
              <a:t>[</a:t>
            </a:r>
            <a:r>
              <a:rPr b="1" lang="en-US" sz="1200"/>
              <a:t>R42</a:t>
            </a:r>
            <a:r>
              <a:rPr lang="en-US" sz="1200"/>
              <a:t>] Manifold learning. Équipe scikit-learn. 2026. https://scikit-learn.org/stable/modules/manifold.html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084" name="Google Shape;2084;p9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2" name="Shape 2102"/>
        <p:cNvGrpSpPr/>
        <p:nvPr/>
      </p:nvGrpSpPr>
      <p:grpSpPr>
        <a:xfrm>
          <a:off x="0" y="0"/>
          <a:ext cx="0" cy="0"/>
          <a:chOff x="0" y="0"/>
          <a:chExt cx="0" cy="0"/>
        </a:xfrm>
      </p:grpSpPr>
      <p:sp>
        <p:nvSpPr>
          <p:cNvPr id="2103" name="Google Shape;2103;p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4" name="Google Shape;2104;p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latin typeface="DM Sans"/>
                <a:ea typeface="DM Sans"/>
                <a:cs typeface="DM Sans"/>
                <a:sym typeface="DM Sans"/>
              </a:rPr>
              <a:t>Anomalie, nouveauté et classe rare</a:t>
            </a:r>
            <a:endParaRPr b="1" sz="1200">
              <a:latin typeface="DM Sans"/>
              <a:ea typeface="DM Sans"/>
              <a:cs typeface="DM Sans"/>
              <a:sym typeface="DM Sans"/>
            </a:endParaRPr>
          </a:p>
          <a:p>
            <a:pPr indent="0" lvl="0" marL="0" rtl="0" algn="l">
              <a:spcBef>
                <a:spcPts val="0"/>
              </a:spcBef>
              <a:spcAft>
                <a:spcPts val="0"/>
              </a:spcAft>
              <a:buSzPts val="1200"/>
              <a:buNone/>
            </a:pPr>
            <a:r>
              <a:t/>
            </a:r>
            <a:endParaRPr b="1">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a:latin typeface="DM Sans"/>
                <a:ea typeface="DM Sans"/>
                <a:cs typeface="DM Sans"/>
                <a:sym typeface="DM Sans"/>
              </a:rPr>
              <a:t>Une anomalie n’est pas simplement un point rare. C’est une observation jugée atypique au regard d’une représentation, d’une échelle et d’un objectif d’analyse donnés.</a:t>
            </a:r>
            <a:endParaRPr>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b="1">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a:latin typeface="DM Sans"/>
                <a:ea typeface="DM Sans"/>
                <a:cs typeface="DM Sans"/>
                <a:sym typeface="DM Sans"/>
              </a:rPr>
              <a:t>Il faut donc distinguer plusieurs cas : erreur de mesure, événement exceptionnel mais légitime, nouveauté métier intéressante, ou signal réellement problématique. Sans cette clarification, on risque de détecter des points surprenants sans savoir quoi en faire.</a:t>
            </a:r>
            <a:endParaRPr>
              <a:latin typeface="DM Sans"/>
              <a:ea typeface="DM Sans"/>
              <a:cs typeface="DM Sans"/>
              <a:sym typeface="DM Sans"/>
            </a:endParaRPr>
          </a:p>
          <a:p>
            <a:pPr indent="0" lvl="0" marL="0" rtl="0" algn="l">
              <a:spcBef>
                <a:spcPts val="0"/>
              </a:spcBef>
              <a:spcAft>
                <a:spcPts val="0"/>
              </a:spcAft>
              <a:buSzPts val="1200"/>
              <a:buNone/>
            </a:pPr>
            <a:r>
              <a:t/>
            </a:r>
            <a:endParaRPr b="1">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a:latin typeface="DM Sans"/>
                <a:ea typeface="DM Sans"/>
                <a:cs typeface="DM Sans"/>
                <a:sym typeface="DM Sans"/>
              </a:rPr>
              <a:t>On distingue souvent trois formes d’anomalies. Une anomalie globale est loin de tout le monde, une anomalie locale paraît normale globalement mais étrange dans son voisinage, et une anomalie contextuelle dépend du moment, du lieu ou d’une autre variable de contexte.</a:t>
            </a:r>
            <a:endParaRPr>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a:latin typeface="DM Sans"/>
                <a:ea typeface="DM Sans"/>
                <a:cs typeface="DM Sans"/>
                <a:sym typeface="DM Sans"/>
              </a:rPr>
              <a:t>Cette distinction est importante car toutes les méthodes ne capturent pas les trois types. Une méthode purement géométrique peut très bien manquer une anomalie contextuelle si on n’a pas intégré la bonne variable de contexte dans la représentation.</a:t>
            </a:r>
            <a:endParaRPr b="1">
              <a:latin typeface="DM Sans"/>
              <a:ea typeface="DM Sans"/>
              <a:cs typeface="DM Sans"/>
              <a:sym typeface="DM Sans"/>
            </a:endParaRPr>
          </a:p>
          <a:p>
            <a:pPr indent="0" lvl="0" marL="0" rtl="0" algn="l">
              <a:spcBef>
                <a:spcPts val="0"/>
              </a:spcBef>
              <a:spcAft>
                <a:spcPts val="0"/>
              </a:spcAft>
              <a:buSzPts val="1200"/>
              <a:buNone/>
            </a:pPr>
            <a:r>
              <a:t/>
            </a:r>
            <a:endParaRPr>
              <a:latin typeface="DM Sans"/>
              <a:ea typeface="DM Sans"/>
              <a:cs typeface="DM Sans"/>
              <a:sym typeface="DM Sans"/>
            </a:endParaRPr>
          </a:p>
          <a:p>
            <a:pPr indent="0" lvl="0" marL="0" rtl="0" algn="l">
              <a:spcBef>
                <a:spcPts val="0"/>
              </a:spcBef>
              <a:spcAft>
                <a:spcPts val="0"/>
              </a:spcAft>
              <a:buSzPts val="1200"/>
              <a:buNone/>
            </a:pPr>
            <a:r>
              <a:rPr lang="en-US" sz="1200">
                <a:latin typeface="DM Sans"/>
                <a:ea typeface="DM Sans"/>
                <a:cs typeface="DM Sans"/>
                <a:sym typeface="DM Sans"/>
              </a:rPr>
              <a:t>[R24] Novelty and Outlier Detection. Équipe scikit-learn. 2026. https://scikit-learn.org/stable/modules/outlier_detection.html (consulté le 19 septembre 2026).</a:t>
            </a:r>
            <a:endParaRPr>
              <a:latin typeface="DM Sans"/>
              <a:ea typeface="DM Sans"/>
              <a:cs typeface="DM Sans"/>
              <a:sym typeface="DM Sans"/>
            </a:endParaRPr>
          </a:p>
          <a:p>
            <a:pPr indent="0" lvl="0" marL="0" rtl="0" algn="l">
              <a:spcBef>
                <a:spcPts val="0"/>
              </a:spcBef>
              <a:spcAft>
                <a:spcPts val="0"/>
              </a:spcAft>
              <a:buSzPts val="1200"/>
              <a:buNone/>
            </a:pPr>
            <a:r>
              <a:t/>
            </a:r>
            <a:endParaRPr>
              <a:latin typeface="DM Sans"/>
              <a:ea typeface="DM Sans"/>
              <a:cs typeface="DM Sans"/>
              <a:sym typeface="DM Sans"/>
            </a:endParaRPr>
          </a:p>
          <a:p>
            <a:pPr indent="0" lvl="0" marL="0" rtl="0" algn="l">
              <a:spcBef>
                <a:spcPts val="0"/>
              </a:spcBef>
              <a:spcAft>
                <a:spcPts val="0"/>
              </a:spcAft>
              <a:buSzPts val="1200"/>
              <a:buNone/>
            </a:pPr>
            <a:r>
              <a:rPr lang="en-US" sz="1200">
                <a:latin typeface="DM Sans"/>
                <a:ea typeface="DM Sans"/>
                <a:cs typeface="DM Sans"/>
                <a:sym typeface="DM Sans"/>
              </a:rPr>
              <a:t>Formateur : Chrys Fé-Marty NIONGOLO</a:t>
            </a:r>
            <a:endParaRPr>
              <a:latin typeface="DM Sans"/>
              <a:ea typeface="DM Sans"/>
              <a:cs typeface="DM Sans"/>
              <a:sym typeface="DM Sans"/>
            </a:endParaRPr>
          </a:p>
        </p:txBody>
      </p:sp>
      <p:sp>
        <p:nvSpPr>
          <p:cNvPr id="2105" name="Google Shape;2105;p9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3" name="Shape 2123"/>
        <p:cNvGrpSpPr/>
        <p:nvPr/>
      </p:nvGrpSpPr>
      <p:grpSpPr>
        <a:xfrm>
          <a:off x="0" y="0"/>
          <a:ext cx="0" cy="0"/>
          <a:chOff x="0" y="0"/>
          <a:chExt cx="0" cy="0"/>
        </a:xfrm>
      </p:grpSpPr>
      <p:sp>
        <p:nvSpPr>
          <p:cNvPr id="2124" name="Google Shape;2124;p9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5" name="Google Shape;2125;p9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TP05 : expliquer une partition</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temps comprend les trois exercices centraux et une analyse rédigée des profils. L'extension Ward est facultative si le groupe doit revenir sur PCA. Donner la priorité aux comparaisons contrôlées et à l'argumentation. Exiger qu'aucune conclusion métier soit tirée de simples numéros de clusters.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150 minutes · notebooks/etudiants/05_clustering.ipynb</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rPr lang="en-US" sz="1200"/>
              <a:t>[R21] Gaussian mixture models. Équipe scikit-learn. 2026. https://scikit-learn.org/stable/modules/mixture.html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126" name="Google Shape;2126;p9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4" name="Shape 2144"/>
        <p:cNvGrpSpPr/>
        <p:nvPr/>
      </p:nvGrpSpPr>
      <p:grpSpPr>
        <a:xfrm>
          <a:off x="0" y="0"/>
          <a:ext cx="0" cy="0"/>
          <a:chOff x="0" y="0"/>
          <a:chExt cx="0" cy="0"/>
        </a:xfrm>
      </p:grpSpPr>
      <p:sp>
        <p:nvSpPr>
          <p:cNvPr id="2145" name="Google Shape;2145;p10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6" name="Google Shape;2146;p10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Quiz J4 : reconnaître les hypothèses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Réponses : non, l'inertie décroît avec la flexibilité ; non, il faut examiner les points exclus et l'objectif ; non, PCA ne voit pas la cible. Demander à chacun un exemple qui contredit une intuition trop simple. Reprendre les schémas du jour pour rattacher chaque réponse à une hypothèse.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[R20] Clustering. Équipe scikit-learn. 2026. https://scikit-learn.org/stable/modules/clustering.html (consulté le 19 septembre 2026).</a:t>
            </a:r>
            <a:endParaRPr/>
          </a:p>
          <a:p>
            <a:pPr indent="0" lvl="0" marL="0" rtl="0" algn="l">
              <a:spcBef>
                <a:spcPts val="0"/>
              </a:spcBef>
              <a:spcAft>
                <a:spcPts val="0"/>
              </a:spcAft>
              <a:buSzPts val="1200"/>
              <a:buNone/>
            </a:pPr>
            <a:r>
              <a:rPr lang="en-US" sz="1200"/>
              <a:t>[R22] Decomposing signals in components. Équipe scikit-learn. 2026. https://scikit-learn.org/stable/modules/decomposition.html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147" name="Google Shape;2147;p10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4" name="Shape 2164"/>
        <p:cNvGrpSpPr/>
        <p:nvPr/>
      </p:nvGrpSpPr>
      <p:grpSpPr>
        <a:xfrm>
          <a:off x="0" y="0"/>
          <a:ext cx="0" cy="0"/>
          <a:chOff x="0" y="0"/>
          <a:chExt cx="0" cy="0"/>
        </a:xfrm>
      </p:grpSpPr>
      <p:sp>
        <p:nvSpPr>
          <p:cNvPr id="2165" name="Google Shape;2165;p10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6" name="Google Shape;2166;p10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Les acquis du jour 4</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Faire rédiger une fiche de segmentation : variables, transformations, distance, paramètres, profils, stabilité et limites. Cette fiche permet d'évaluer une analyse non supervisée même sans chiffre unique de performance. Elle peut servir d'extension au projet final, sans remplacer la classification demandée.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Demain : expliquer, documenter et défendre le modèle final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167" name="Google Shape;2167;p10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5" name="Shape 2185"/>
        <p:cNvGrpSpPr/>
        <p:nvPr/>
      </p:nvGrpSpPr>
      <p:grpSpPr>
        <a:xfrm>
          <a:off x="0" y="0"/>
          <a:ext cx="0" cy="0"/>
          <a:chOff x="0" y="0"/>
          <a:chExt cx="0" cy="0"/>
        </a:xfrm>
      </p:grpSpPr>
      <p:sp>
        <p:nvSpPr>
          <p:cNvPr id="2186" name="Google Shape;2186;p10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7" name="Google Shape;2187;p10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Interpréter et restituer</a:t>
            </a:r>
            <a:endParaRPr b="1" sz="1400">
              <a:latin typeface="DM Sans"/>
              <a:ea typeface="DM Sans"/>
              <a:cs typeface="DM Sans"/>
              <a:sym typeface="DM Sans"/>
            </a:endParaRPr>
          </a:p>
          <a:p>
            <a:pPr indent="0" lvl="0" marL="0" rtl="0" algn="l">
              <a:spcBef>
                <a:spcPts val="0"/>
              </a:spcBef>
              <a:spcAft>
                <a:spcPts val="0"/>
              </a:spcAft>
              <a:buSzPts val="1200"/>
              <a:buNone/>
            </a:pPr>
            <a:r>
              <a:t/>
            </a:r>
            <a:endParaRPr b="1"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rPr lang="en-US" sz="1400">
                <a:latin typeface="DM Sans"/>
                <a:ea typeface="DM Sans"/>
                <a:cs typeface="DM Sans"/>
                <a:sym typeface="DM Sans"/>
              </a:rPr>
              <a:t>Aujourd’hui, on change légèrement de posture : on ne cherche plus seulement à obtenir un bon score, mais à comprendre ce qu’on peut dire honnêtement sur le modèle, ses prédictions et leurs limites</a:t>
            </a:r>
            <a:r>
              <a:rPr lang="en-US" sz="1400">
                <a:latin typeface="DM Sans"/>
                <a:ea typeface="DM Sans"/>
                <a:cs typeface="DM Sans"/>
                <a:sym typeface="DM Sans"/>
              </a:rPr>
              <a:t>.</a:t>
            </a:r>
            <a:endParaRPr sz="1400">
              <a:latin typeface="DM Sans"/>
              <a:ea typeface="DM Sans"/>
              <a:cs typeface="DM Sans"/>
              <a:sym typeface="DM Sans"/>
            </a:endParaRPr>
          </a:p>
          <a:p>
            <a:pPr indent="0" lvl="0" marL="0" rtl="0" algn="l">
              <a:spcBef>
                <a:spcPts val="0"/>
              </a:spcBef>
              <a:spcAft>
                <a:spcPts val="0"/>
              </a:spcAft>
              <a:buClr>
                <a:schemeClr val="dk1"/>
              </a:buClr>
              <a:buSzPts val="1100"/>
              <a:buFont typeface="Arial"/>
              <a:buNone/>
            </a:pPr>
            <a:r>
              <a:t/>
            </a:r>
            <a:endParaRPr sz="1400">
              <a:latin typeface="DM Sans"/>
              <a:ea typeface="DM Sans"/>
              <a:cs typeface="DM Sans"/>
              <a:sym typeface="DM Sans"/>
            </a:endParaRPr>
          </a:p>
          <a:p>
            <a:pPr indent="0" lvl="0" marL="0" rtl="0" algn="l">
              <a:spcBef>
                <a:spcPts val="0"/>
              </a:spcBef>
              <a:spcAft>
                <a:spcPts val="0"/>
              </a:spcAft>
              <a:buSzPts val="1100"/>
              <a:buNone/>
            </a:pPr>
            <a:r>
              <a:rPr lang="en-US" sz="1400">
                <a:latin typeface="DM Sans"/>
                <a:ea typeface="DM Sans"/>
                <a:cs typeface="DM Sans"/>
                <a:sym typeface="DM Sans"/>
              </a:rPr>
              <a:t>Le point clé, c’est qu’interpréter un modèle ne veut pas dire lire une vérité cachée ; cela veut dire produire un diagnostic utile sur ce que le modèle semble utiliser et sur les conditions dans lesquelles on accepte ou non de s’en servir.</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b="1" lang="en-US" sz="1400" u="sng">
                <a:latin typeface="DM Sans"/>
                <a:ea typeface="DM Sans"/>
                <a:cs typeface="DM Sans"/>
                <a:sym typeface="DM Sans"/>
              </a:rPr>
              <a:t>Vendredi 25 septembre · Défendre une décision avec ses limites</a:t>
            </a:r>
            <a:endParaRPr b="1" sz="1400" u="sng">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188" name="Google Shape;2188;p10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10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03" name="Google Shape;2203;p10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Trois niveaux d'explication</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Posons trois questions différentes. Au niveau global : de quelles informations le modèle semble-t-il dépendre sur une population ? Au niveau local : qu’est-ce qui contribue à une prédiction particulière ? Et au niveau de l’action : que se passerait-il si nous intervenions réellement ? Les deux premières questions portent sur la prédiction ; elles ne répondent pas, à elles seules, à la troisième.</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[R25] Permutation feature importance. Équipe scikit-learn. 2026. https://scikit-learn.org/stable/modules/permutation_importance.html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[R27] A Unified Approach to Interpreting Model Predictions. Lundberg et Lee. NeurIPS 2017. https://papers.nips.cc/paper/2017/hash/8a20a8621978632d76c43dfd28b67767-Abstract.html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b="1" lang="en-US" sz="1400">
                <a:latin typeface="DM Sans"/>
                <a:ea typeface="DM Sans"/>
                <a:cs typeface="DM Sans"/>
                <a:sym typeface="DM Sans"/>
              </a:rPr>
              <a:t>Formateur : Chrys Fé-Marty NIONGOLO</a:t>
            </a:r>
            <a:endParaRPr b="1" sz="1400">
              <a:latin typeface="DM Sans"/>
              <a:ea typeface="DM Sans"/>
              <a:cs typeface="DM Sans"/>
              <a:sym typeface="DM Sans"/>
            </a:endParaRPr>
          </a:p>
        </p:txBody>
      </p:sp>
      <p:sp>
        <p:nvSpPr>
          <p:cNvPr id="2204" name="Google Shape;2204;p10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10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4" name="Google Shape;2224;p10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Importance par permutation</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Nous mesurons d’abord le score sur un jeu réservé au diagnostic. Puis nous mélangeons une variable et regardons la dégradation : si le modèle perd en qualité, c’est qu’il utilisait une information portée par cette variable. Répétons le mélange, car le résultat varie, et précisons toujours la métrique choisie : une importance n’existe pas indépendamment de ce que nous cherchons à bien prédire.</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[R25] Permutation feature importance. Équipe scikit-learn. 2026. https://scikit-learn.org/stable/modules/permutation_importance.html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225" name="Google Shape;2225;p10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2" name="Shape 2242"/>
        <p:cNvGrpSpPr/>
        <p:nvPr/>
      </p:nvGrpSpPr>
      <p:grpSpPr>
        <a:xfrm>
          <a:off x="0" y="0"/>
          <a:ext cx="0" cy="0"/>
          <a:chOff x="0" y="0"/>
          <a:chExt cx="0" cy="0"/>
        </a:xfrm>
      </p:grpSpPr>
      <p:sp>
        <p:nvSpPr>
          <p:cNvPr id="2243" name="Google Shape;2243;p10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4" name="Google Shape;2244;p10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Variables corrélées : une explication ambiguë</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Imaginez deux variables qui racontent presque la même chose. Si j’en mélange une, le modèle peut encore s’appuyer sur l’autre : chacune paraît alors peu importante prise isolément. Il faut parfois tester leur importance ensemble, ou retirer tout le groupe puis réévaluer le modèle. Une faible importance individuelle ne démontre donc pas qu’une variable ne sert à rien.</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[R25] Permutation feature importance. Équipe scikit-learn. 2026. https://scikit-learn.org/stable/modules/permutation_importance.html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[R27] A Unified Approach to Interpreting Model Predictions. Lundberg et Lee. NeurIPS 2017. https://papers.nips.cc/paper/2017/hash/8a20a8621978632d76c43dfd28b67767-Abstract.html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245" name="Google Shape;2245;p10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3" name="Shape 2263"/>
        <p:cNvGrpSpPr/>
        <p:nvPr/>
      </p:nvGrpSpPr>
      <p:grpSpPr>
        <a:xfrm>
          <a:off x="0" y="0"/>
          <a:ext cx="0" cy="0"/>
          <a:chOff x="0" y="0"/>
          <a:chExt cx="0" cy="0"/>
        </a:xfrm>
      </p:grpSpPr>
      <p:sp>
        <p:nvSpPr>
          <p:cNvPr id="2264" name="Google Shape;2264;p1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65" name="Google Shape;2265;p1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latin typeface="DM Sans"/>
                <a:ea typeface="DM Sans"/>
                <a:cs typeface="DM Sans"/>
                <a:sym typeface="DM Sans"/>
              </a:rPr>
              <a:t>PDP et ICE</a:t>
            </a:r>
            <a:endParaRPr b="1">
              <a:latin typeface="DM Sans"/>
              <a:ea typeface="DM Sans"/>
              <a:cs typeface="DM Sans"/>
              <a:sym typeface="DM Sans"/>
            </a:endParaRPr>
          </a:p>
          <a:p>
            <a:pPr indent="0" lvl="0" marL="0" rtl="0" algn="l">
              <a:spcBef>
                <a:spcPts val="0"/>
              </a:spcBef>
              <a:spcAft>
                <a:spcPts val="0"/>
              </a:spcAft>
              <a:buSzPts val="1200"/>
              <a:buNone/>
            </a:pPr>
            <a:r>
              <a:t/>
            </a:r>
            <a:endParaRPr>
              <a:latin typeface="DM Sans"/>
              <a:ea typeface="DM Sans"/>
              <a:cs typeface="DM Sans"/>
              <a:sym typeface="DM Sans"/>
            </a:endParaRPr>
          </a:p>
          <a:p>
            <a:pPr indent="0" lvl="0" marL="0" rtl="0" algn="l">
              <a:spcBef>
                <a:spcPts val="0"/>
              </a:spcBef>
              <a:spcAft>
                <a:spcPts val="0"/>
              </a:spcAft>
              <a:buSzPts val="1200"/>
              <a:buNone/>
            </a:pPr>
            <a:r>
              <a:rPr lang="en-US" sz="1400">
                <a:solidFill>
                  <a:schemeClr val="dk1"/>
                </a:solidFill>
                <a:latin typeface="DM Sans"/>
                <a:ea typeface="DM Sans"/>
                <a:cs typeface="DM Sans"/>
                <a:sym typeface="DM Sans"/>
              </a:rPr>
              <a:t>La dépendance partielle résume ce que prédit </a:t>
            </a:r>
            <a:r>
              <a:rPr i="1" lang="en-US" sz="1400">
                <a:solidFill>
                  <a:schemeClr val="dk1"/>
                </a:solidFill>
                <a:latin typeface="DM Sans"/>
                <a:ea typeface="DM Sans"/>
                <a:cs typeface="DM Sans"/>
                <a:sym typeface="DM Sans"/>
              </a:rPr>
              <a:t>en moyenne</a:t>
            </a:r>
            <a:r>
              <a:rPr lang="en-US" sz="1400">
                <a:solidFill>
                  <a:schemeClr val="dk1"/>
                </a:solidFill>
                <a:latin typeface="DM Sans"/>
                <a:ea typeface="DM Sans"/>
                <a:cs typeface="DM Sans"/>
                <a:sym typeface="DM Sans"/>
              </a:rPr>
              <a:t> le modèle quand on fait varier une variable. Les courbes ICE montrent les trajectoires observation par observation : elles permettent de voir si cette moyenne cache des comportements différents. Mais attention : si deux variables sont fortement liées, faire varier l’une en maintenant l’autre telle quelle peut créer des profils peu plausibles.</a:t>
            </a:r>
            <a:endParaRPr sz="1500">
              <a:latin typeface="DM Sans"/>
              <a:ea typeface="DM Sans"/>
              <a:cs typeface="DM Sans"/>
              <a:sym typeface="DM Sans"/>
            </a:endParaRPr>
          </a:p>
          <a:p>
            <a:pPr indent="0" lvl="0" marL="0" rtl="0" algn="l">
              <a:spcBef>
                <a:spcPts val="0"/>
              </a:spcBef>
              <a:spcAft>
                <a:spcPts val="0"/>
              </a:spcAft>
              <a:buSzPts val="1200"/>
              <a:buNone/>
            </a:pPr>
            <a:r>
              <a:t/>
            </a:r>
            <a:endParaRPr>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[R26] Partial Dependence and Individual Conditional Expectation. Équipe scikit-learn. 2026. https://scikit-learn.org/stable/modules/partial_dependence.html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266" name="Google Shape;2266;p10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4" name="Shape 2284"/>
        <p:cNvGrpSpPr/>
        <p:nvPr/>
      </p:nvGrpSpPr>
      <p:grpSpPr>
        <a:xfrm>
          <a:off x="0" y="0"/>
          <a:ext cx="0" cy="0"/>
          <a:chOff x="0" y="0"/>
          <a:chExt cx="0" cy="0"/>
        </a:xfrm>
      </p:grpSpPr>
      <p:sp>
        <p:nvSpPr>
          <p:cNvPr id="2285" name="Google Shape;2285;p1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6" name="Google Shape;2286;p10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SHAP : répartir une différence de prédiction</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solidFill>
                  <a:schemeClr val="dk1"/>
                </a:solidFill>
                <a:latin typeface="DM Sans"/>
                <a:ea typeface="DM Sans"/>
                <a:cs typeface="DM Sans"/>
                <a:sym typeface="DM Sans"/>
              </a:rPr>
              <a:t>SHAP répartit l’écart entre une prédiction et une valeur de référence entre les variables, selon une règle d’attribution. C’est une manière structurée de décrire </a:t>
            </a:r>
            <a:r>
              <a:rPr i="1" lang="en-US" sz="1400">
                <a:solidFill>
                  <a:schemeClr val="dk1"/>
                </a:solidFill>
                <a:latin typeface="DM Sans"/>
                <a:ea typeface="DM Sans"/>
                <a:cs typeface="DM Sans"/>
                <a:sym typeface="DM Sans"/>
              </a:rPr>
              <a:t>ce modèle et cette prédiction</a:t>
            </a:r>
            <a:r>
              <a:rPr lang="en-US" sz="1400">
                <a:solidFill>
                  <a:schemeClr val="dk1"/>
                </a:solidFill>
                <a:latin typeface="DM Sans"/>
                <a:ea typeface="DM Sans"/>
                <a:cs typeface="DM Sans"/>
                <a:sym typeface="DM Sans"/>
              </a:rPr>
              <a:t>, pas de découvrir la cause réelle du résultat. Quand vous montrez des valeurs SHAP, dites quelle est la référence et sur quelle échelle vous travaillez score brut ou probabilité, par exemple.</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[R27] A Unified Approach to Interpreting Model Predictions. Lundberg et Lee. NeurIPS 2017. https://papers.nips.cc/paper/2017/hash/8a20a8621978632d76c43dfd28b67767-Abstract.html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[R28] SHAP documentation. Équipe SHAP. consulté en 2026. https://shap.readthedocs.io/en/latest/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287" name="Google Shape;2287;p10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5" name="Shape 2305"/>
        <p:cNvGrpSpPr/>
        <p:nvPr/>
      </p:nvGrpSpPr>
      <p:grpSpPr>
        <a:xfrm>
          <a:off x="0" y="0"/>
          <a:ext cx="0" cy="0"/>
          <a:chOff x="0" y="0"/>
          <a:chExt cx="0" cy="0"/>
        </a:xfrm>
      </p:grpSpPr>
      <p:sp>
        <p:nvSpPr>
          <p:cNvPr id="2306" name="Google Shape;2306;p10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7" name="Google Shape;2307;p10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Un calcul de Shapley à deux variables</a:t>
            </a:r>
            <a:endParaRPr b="1" sz="1200"/>
          </a:p>
          <a:p>
            <a:pPr indent="0" lvl="0" marL="0" rtl="0" algn="l">
              <a:spcBef>
                <a:spcPts val="0"/>
              </a:spcBef>
              <a:spcAft>
                <a:spcPts val="0"/>
              </a:spcAft>
              <a:buSzPts val="1200"/>
              <a:buNone/>
            </a:pPr>
            <a:r>
              <a:t/>
            </a:r>
            <a:endParaRPr b="1"/>
          </a:p>
          <a:p>
            <a:pPr indent="0" lvl="0" marL="0" rtl="0" algn="l">
              <a:spcBef>
                <a:spcPts val="0"/>
              </a:spcBef>
              <a:spcAft>
                <a:spcPts val="0"/>
              </a:spcAft>
              <a:buSzPts val="1200"/>
              <a:buNone/>
            </a:pPr>
            <a:r>
              <a:rPr lang="en-US"/>
              <a:t>Faisons le calcul lentement. Partons de la prédiction de référence, puis regardons ce qu’apporte A lorsqu’elle arrive avant B et lorsqu’elle arrive après B ; sa contribution est la moyenne de ces deux apports. On fait de même pour B. Ici, les attributions se recomposent bien avec la référence pour retrouver la prédiction finale ; l’intérêt de l’exercice est de comprendre la règle de partage, notamment lorsqu’il existe une interaction.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Exemple original fondé sur un jeu de coalition arbitraire mais cohérent. La contribution de A vaut 4 lorsqu'elle arrive avant B et 8 lorsqu'elle arrive après B ; la moyenne vaut 6. Pour B : 2 puis 6, moyenne 4. L'interaction de 4 est répartie équitablement. Les nombres ne sont pas une explication d'un modèle bancaire réel.</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φA = ½ [(14−10) + (20−12)] = 6 ; φB = 4</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[R27] A Unified Approach to Interpreting Model Predictions. Lundberg et Lee. NeurIPS 2017. https://papers.nips.cc/paper/2017/hash/8a20a8621978632d76c43dfd28b67767-Abstract.html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308" name="Google Shape;2308;p10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4" name="Shape 2324"/>
        <p:cNvGrpSpPr/>
        <p:nvPr/>
      </p:nvGrpSpPr>
      <p:grpSpPr>
        <a:xfrm>
          <a:off x="0" y="0"/>
          <a:ext cx="0" cy="0"/>
          <a:chOff x="0" y="0"/>
          <a:chExt cx="0" cy="0"/>
        </a:xfrm>
      </p:grpSpPr>
      <p:sp>
        <p:nvSpPr>
          <p:cNvPr id="2325" name="Google Shape;2325;p1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6" name="Google Shape;2326;p1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Une prédiction ponctuelle laisse une incertitude</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Une valeur prédite seule ne dit pas quelle amplitude d’erreur nous devons anticiper. Un intervalle ajoute cette information, mais il faut toujours annoncer le niveau de couverture visé et les hypothèses qui le soutiennent. Un intervalle très large peut être correctement construit tout en étant trop peu précis pour la décision envisagée.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[R29] A Gentle Introduction to Conformal Prediction and Distribution-Free Uncertainty Quantification. Angelopoulos et Bates. 2021, révisions ultérieures. https://arxiv.org/abs/2107.07511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327" name="Google Shape;2327;p10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5" name="Shape 2345"/>
        <p:cNvGrpSpPr/>
        <p:nvPr/>
      </p:nvGrpSpPr>
      <p:grpSpPr>
        <a:xfrm>
          <a:off x="0" y="0"/>
          <a:ext cx="0" cy="0"/>
          <a:chOff x="0" y="0"/>
          <a:chExt cx="0" cy="0"/>
        </a:xfrm>
      </p:grpSpPr>
      <p:sp>
        <p:nvSpPr>
          <p:cNvPr id="2346" name="Google Shape;2346;p1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7" name="Google Shape;2347;p1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200"/>
              <a:t>Split-conformal : trois ensembles séparés</a:t>
            </a:r>
            <a:endParaRPr b="1" sz="1200"/>
          </a:p>
          <a:p>
            <a:pPr indent="0" lvl="0" marL="0" rtl="0" algn="l">
              <a:spcBef>
                <a:spcPts val="0"/>
              </a:spcBef>
              <a:spcAft>
                <a:spcPts val="0"/>
              </a:spcAft>
              <a:buSzPts val="1200"/>
              <a:buNone/>
            </a:pPr>
            <a:r>
              <a:t/>
            </a:r>
            <a:endParaRPr b="1"/>
          </a:p>
          <a:p>
            <a:pPr indent="0" lvl="0" marL="0" rtl="0" algn="l">
              <a:spcBef>
                <a:spcPts val="0"/>
              </a:spcBef>
              <a:spcAft>
                <a:spcPts val="0"/>
              </a:spcAft>
              <a:buSzPts val="1200"/>
              <a:buNone/>
            </a:pPr>
            <a:r>
              <a:rPr lang="en-US"/>
              <a:t>Nous séparons les données en trois rôles : entraîner le modèle, calibrer l’intervalle et évaluer le résultat. Sur la calibration, nous mesurons des erreurs absolues commises par un modèle qui n’a pas appris sur ces observations ; un quantile corrigé de ces erreurs devient la marge autour de la nouvelle prédiction. Le point crucial est de ne pas réutiliser la calibration pour entraîner le modèle.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scores sont ordonnés et le rang est indexé à partir de 1. Si k dépasse ncal, on prend un intervalle infini dans la formulation conservatrice. Pour ncal=200 et alpha=0,1, k=181. La correction fini-échantillon compte. Les hypothèses portent notamment sur l'échangeabilité des scores de calibration et de la nouvelle observation, et sur la séparation des données d'ajustement.</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[R29] A Gentle Introduction to Conformal Prediction and Distribution-Free Uncertainty Quantification. Angelopoulos et Bates. 2021, révisions ultérieures. https://arxiv.org/abs/2107.07511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348" name="Google Shape;2348;p1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6" name="Shape 2366"/>
        <p:cNvGrpSpPr/>
        <p:nvPr/>
      </p:nvGrpSpPr>
      <p:grpSpPr>
        <a:xfrm>
          <a:off x="0" y="0"/>
          <a:ext cx="0" cy="0"/>
          <a:chOff x="0" y="0"/>
          <a:chExt cx="0" cy="0"/>
        </a:xfrm>
      </p:grpSpPr>
      <p:sp>
        <p:nvSpPr>
          <p:cNvPr id="2367" name="Google Shape;2367;p1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68" name="Google Shape;2368;p1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Lire les intervalles conformes</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Le graphique montre un extrait trié des prédictions d'un test synthétique. Le TP calcule la couverture sur tout le test et par deux sous-groupes. </a:t>
            </a:r>
            <a:endParaRPr sz="1400">
              <a:latin typeface="DM Sans"/>
              <a:ea typeface="DM Sans"/>
              <a:cs typeface="DM Sans"/>
              <a:sym typeface="DM Sans"/>
            </a:endParaRPr>
          </a:p>
          <a:p>
            <a:pPr indent="0" lvl="0" marL="0" rtl="0" algn="l">
              <a:spcBef>
                <a:spcPts val="0"/>
              </a:spcBef>
              <a:spcAft>
                <a:spcPts val="0"/>
              </a:spcAft>
              <a:buSzPts val="1200"/>
              <a:buNone/>
            </a:pPr>
            <a:r>
              <a:rPr lang="en-US" sz="1400">
                <a:solidFill>
                  <a:schemeClr val="dk1"/>
                </a:solidFill>
                <a:latin typeface="DM Sans"/>
                <a:ea typeface="DM Sans"/>
                <a:cs typeface="DM Sans"/>
                <a:sym typeface="DM Sans"/>
              </a:rPr>
              <a:t>Une couverture visée de 90% ne promet pas que </a:t>
            </a:r>
            <a:r>
              <a:rPr i="1" lang="en-US" sz="1400">
                <a:solidFill>
                  <a:schemeClr val="dk1"/>
                </a:solidFill>
                <a:latin typeface="DM Sans"/>
                <a:ea typeface="DM Sans"/>
                <a:cs typeface="DM Sans"/>
                <a:sym typeface="DM Sans"/>
              </a:rPr>
              <a:t>chaque</a:t>
            </a:r>
            <a:r>
              <a:rPr lang="en-US" sz="1400">
                <a:solidFill>
                  <a:schemeClr val="dk1"/>
                </a:solidFill>
                <a:latin typeface="DM Sans"/>
                <a:ea typeface="DM Sans"/>
                <a:cs typeface="DM Sans"/>
                <a:sym typeface="DM Sans"/>
              </a:rPr>
              <a:t> observation ait 90% de chances de tomber dans son intervalle, ni que tous les sous-groupes soient couverts à 90%. Elle décrit une garantie marginale sous les hypothèses de la méthode, notamment la comparabilité des données. Sur un test fini, la fréquence observée peut s’écarter de la cible : regardez donc à la fois la couverture et la largeur des intervalles.</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b="1" lang="en-US" sz="1400">
                <a:latin typeface="DM Sans"/>
                <a:ea typeface="DM Sans"/>
                <a:cs typeface="DM Sans"/>
                <a:sym typeface="DM Sans"/>
              </a:rPr>
              <a:t>Split-conformal 90%</a:t>
            </a:r>
            <a:r>
              <a:rPr lang="en-US" sz="1400">
                <a:latin typeface="DM Sans"/>
                <a:ea typeface="DM Sans"/>
                <a:cs typeface="DM Sans"/>
                <a:sym typeface="DM Sans"/>
              </a:rPr>
              <a:t> : 600 train, 200 calibration, 200 test ; extrait des 40 plus petites prédictions. Couverture marginale, pas individuelle.</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[R29] A Gentle Introduction to Conformal Prediction and Distribution-Free Uncertainty Quantification. Angelopoulos et Bates. 2021, révisions ultérieures. https://arxiv.org/abs/2107.07511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369" name="Google Shape;2369;p1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6" name="Shape 2386"/>
        <p:cNvGrpSpPr/>
        <p:nvPr/>
      </p:nvGrpSpPr>
      <p:grpSpPr>
        <a:xfrm>
          <a:off x="0" y="0"/>
          <a:ext cx="0" cy="0"/>
          <a:chOff x="0" y="0"/>
          <a:chExt cx="0" cy="0"/>
        </a:xfrm>
      </p:grpSpPr>
      <p:sp>
        <p:nvSpPr>
          <p:cNvPr id="2387" name="Google Shape;2387;p1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8" name="Google Shape;2388;p1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Évaluer des segments</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Les segments doivent répondre à des questions d'usage et être définis avec prudence.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Un bon résultat moyen peut cacher une mauvaise performance pour un groupe important. Découpons donc l’évaluation selon des segments pertinents pour l’usage, puis montrons les effectifs, les erreurs et, si nécessaire, la calibration de chacun. Soyons prudents lorsque les groupes sont petits : une différence spectaculaire sur quelques cas reste incertaine.</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Une moyenne satisfaisante peut masquer un échec local.</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[R30] Model Cards for Model Reporting. Mitchell et al.. 2019 (prépublication 2018). https://arxiv.org/abs/1810.03993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[R16] Probability calibration. Équipe scikit-learn. 2026. https://scikit-learn.org/stable/modules/calibration.html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389" name="Google Shape;2389;p1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7" name="Shape 2407"/>
        <p:cNvGrpSpPr/>
        <p:nvPr/>
      </p:nvGrpSpPr>
      <p:grpSpPr>
        <a:xfrm>
          <a:off x="0" y="0"/>
          <a:ext cx="0" cy="0"/>
          <a:chOff x="0" y="0"/>
          <a:chExt cx="0" cy="0"/>
        </a:xfrm>
      </p:grpSpPr>
      <p:sp>
        <p:nvSpPr>
          <p:cNvPr id="2408" name="Google Shape;2408;p1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9" name="Google Shape;2409;p1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Préparer un modèle à être utilisé</a:t>
            </a:r>
            <a:endParaRPr b="1" sz="1500">
              <a:latin typeface="DM Sans"/>
              <a:ea typeface="DM Sans"/>
              <a:cs typeface="DM Sans"/>
              <a:sym typeface="DM Sans"/>
            </a:endParaRPr>
          </a:p>
          <a:p>
            <a:pPr indent="0" lvl="0" marL="0" rtl="0" algn="l">
              <a:spcBef>
                <a:spcPts val="0"/>
              </a:spcBef>
              <a:spcAft>
                <a:spcPts val="0"/>
              </a:spcAft>
              <a:buSzPts val="1200"/>
              <a:buNone/>
            </a:pPr>
            <a:r>
              <a:t/>
            </a:r>
            <a:endParaRPr b="1"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Le fichier du modèle seul ne suffit pas. Pour reproduire une prédiction, il faut aussi conserver le prétraitement, le schéma des entrées, les versions, le seuil de décision et la façon dont ces choix ont été validés. Avant tout usage réel, il faut également savoir qui surveille le système et comment revenir en arrière si quelque chose se dégrade.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[R31] Model persistence. Équipe scikit-learn. 2026. https://scikit-learn.org/stable/model_persistence.html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[R30] Model Cards for Model Reporting. Mitchell et al.. 2019 (prépublication 2018). https://arxiv.org/abs/1810.03993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410" name="Google Shape;2410;p1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1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0" name="Google Shape;2430;p1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Trois dérives à distinguer</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Ne mettons pas tous les changements sous le mot “dérive”. Des catégories nouvelles ou davantage de valeurs manquantes signalent d’abord un problème possible de qualité des entrées ; un changement de distribution des variables demande une analyse de population ; une baisse de performance nécessite des labels pour être mesurée. Le suivi doit associer chaque signal à une vérification et à une action, pas seulement à une alerte automatique.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[R30] Model Cards for Model Reporting. Mitchell et al.. 2019 (prépublication 2018). https://arxiv.org/abs/1810.03993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431" name="Google Shape;2431;p1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7" name="Shape 2447"/>
        <p:cNvGrpSpPr/>
        <p:nvPr/>
      </p:nvGrpSpPr>
      <p:grpSpPr>
        <a:xfrm>
          <a:off x="0" y="0"/>
          <a:ext cx="0" cy="0"/>
          <a:chOff x="0" y="0"/>
          <a:chExt cx="0" cy="0"/>
        </a:xfrm>
      </p:grpSpPr>
      <p:sp>
        <p:nvSpPr>
          <p:cNvPr id="2448" name="Google Shape;2448;p1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9" name="Google Shape;2449;p1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Une distribution différente n'est qu'un signal</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Le graphique nous montre un déplacement des entrées, pas une preuve que le modèle prédit moins bien.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Ce déplacement peut changer le nombre de décisions positives ; il peut aussi être sans effet majeur sur la qualité prédictive. Pour conclure sur cette qualité, il faudra obtenir les résultats réels, examiner les segments concernés et comparer à une référence pertinente.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Distributions construites : un changement de P(X) ne prouve pas une baisse de performance.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[R30] Model Cards for Model Reporting. Mitchell et al.. 2019 (prépublication 2018). https://arxiv.org/abs/1810.03993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450" name="Google Shape;2450;p1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7" name="Shape 2467"/>
        <p:cNvGrpSpPr/>
        <p:nvPr/>
      </p:nvGrpSpPr>
      <p:grpSpPr>
        <a:xfrm>
          <a:off x="0" y="0"/>
          <a:ext cx="0" cy="0"/>
          <a:chOff x="0" y="0"/>
          <a:chExt cx="0" cy="0"/>
        </a:xfrm>
      </p:grpSpPr>
      <p:sp>
        <p:nvSpPr>
          <p:cNvPr id="2468" name="Google Shape;2468;p1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69" name="Google Shape;2469;p1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La model card rend les limites visibles</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solidFill>
                  <a:schemeClr val="dk1"/>
                </a:solidFill>
                <a:latin typeface="DM Sans"/>
                <a:ea typeface="DM Sans"/>
                <a:cs typeface="DM Sans"/>
                <a:sym typeface="DM Sans"/>
              </a:rPr>
              <a:t>La model card répond à une question simple : de quoi une personne qui n’a pas construit le modèle a-t-elle besoin pour juger son usage ? </a:t>
            </a:r>
            <a:endParaRPr sz="1400">
              <a:solidFill>
                <a:schemeClr val="dk1"/>
              </a:solidFill>
              <a:latin typeface="DM Sans"/>
              <a:ea typeface="DM Sans"/>
              <a:cs typeface="DM Sans"/>
              <a:sym typeface="DM Sans"/>
            </a:endParaRPr>
          </a:p>
          <a:p>
            <a:pPr indent="0" lvl="0" marL="0" rtl="0" algn="l">
              <a:spcBef>
                <a:spcPts val="0"/>
              </a:spcBef>
              <a:spcAft>
                <a:spcPts val="0"/>
              </a:spcAft>
              <a:buSzPts val="1200"/>
              <a:buNone/>
            </a:pPr>
            <a:r>
              <a:t/>
            </a:r>
            <a:endParaRPr sz="1400">
              <a:solidFill>
                <a:schemeClr val="dk1"/>
              </a:solidFill>
              <a:latin typeface="DM Sans"/>
              <a:ea typeface="DM Sans"/>
              <a:cs typeface="DM Sans"/>
              <a:sym typeface="DM Sans"/>
            </a:endParaRPr>
          </a:p>
          <a:p>
            <a:pPr indent="0" lvl="0" marL="0" rtl="0" algn="l">
              <a:spcBef>
                <a:spcPts val="0"/>
              </a:spcBef>
              <a:spcAft>
                <a:spcPts val="0"/>
              </a:spcAft>
              <a:buSzPts val="1200"/>
              <a:buNone/>
            </a:pPr>
            <a:r>
              <a:rPr lang="en-US" sz="1400">
                <a:solidFill>
                  <a:schemeClr val="dk1"/>
                </a:solidFill>
                <a:latin typeface="DM Sans"/>
                <a:ea typeface="DM Sans"/>
                <a:cs typeface="DM Sans"/>
                <a:sym typeface="DM Sans"/>
              </a:rPr>
              <a:t>Il faut écrire à qui il s’adresse, sur quelles données et avec quel protocole il a été évalué, où il réussit moins bien et quels usages sont exclus. La rubrique la plus importante est parfois celle qui dit explicitement ce que nos résultats ne permettent </a:t>
            </a:r>
            <a:r>
              <a:rPr i="1" lang="en-US" sz="1400">
                <a:solidFill>
                  <a:schemeClr val="dk1"/>
                </a:solidFill>
                <a:latin typeface="DM Sans"/>
                <a:ea typeface="DM Sans"/>
                <a:cs typeface="DM Sans"/>
                <a:sym typeface="DM Sans"/>
              </a:rPr>
              <a:t>pas</a:t>
            </a:r>
            <a:r>
              <a:rPr lang="en-US" sz="1400">
                <a:solidFill>
                  <a:schemeClr val="dk1"/>
                </a:solidFill>
                <a:latin typeface="DM Sans"/>
                <a:ea typeface="DM Sans"/>
                <a:cs typeface="DM Sans"/>
                <a:sym typeface="DM Sans"/>
              </a:rPr>
              <a:t> d’affirmer.</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[R30] Model Cards for Model Reporting. Mitchell et al.. 2019 (prépublication 2018). https://arxiv.org/abs/1810.03993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[R32] Bank Marketing. Moro, Rita et Cortez ; UCI Machine Learning Repository. 2014, données 2008–2010. https://archive.ics.uci.edu/dataset/222/bank+marketing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470" name="Google Shape;2470;p1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8" name="Shape 2488"/>
        <p:cNvGrpSpPr/>
        <p:nvPr/>
      </p:nvGrpSpPr>
      <p:grpSpPr>
        <a:xfrm>
          <a:off x="0" y="0"/>
          <a:ext cx="0" cy="0"/>
          <a:chOff x="0" y="0"/>
          <a:chExt cx="0" cy="0"/>
        </a:xfrm>
      </p:grpSpPr>
      <p:sp>
        <p:nvSpPr>
          <p:cNvPr id="2489" name="Google Shape;2489;p1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90" name="Google Shape;2490;p1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TP06 : expliquer et quantifier</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Pour ce TP, ne cherchez pas à produire trois graphiques indépendants. Reliez-les : l’importance par permutation décrit une dépendance prédictive, PDP et ICE montrent sa forme et son hétérogénéité, puis l’intervalle conforme aborde l’incertitude d’une nouvelle prédiction. Pour chaque résultat, notez une conclusion permise et une limite qui empêcherait de le surinterpréter.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90 minutes · notebooks/etudiants/06_interpretation.ipynb</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[R25] Permutation feature importance. Équipe scikit-learn. 2026. https://scikit-learn.org/stable/modules/permutation_importance.html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[R26] Partial Dependence and Individual Conditional Expectation. Équipe scikit-learn. 2026. https://scikit-learn.org/stable/modules/partial_dependence.html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[R29] A Gentle Introduction to Conformal Prediction and Distribution-Free Uncertainty Quantification. Angelopoulos et Bates. 2021, révisions ultérieures. https://arxiv.org/abs/2107.07511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491" name="Google Shape;2491;p1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9" name="Shape 2509"/>
        <p:cNvGrpSpPr/>
        <p:nvPr/>
      </p:nvGrpSpPr>
      <p:grpSpPr>
        <a:xfrm>
          <a:off x="0" y="0"/>
          <a:ext cx="0" cy="0"/>
          <a:chOff x="0" y="0"/>
          <a:chExt cx="0" cy="0"/>
        </a:xfrm>
      </p:grpSpPr>
      <p:sp>
        <p:nvSpPr>
          <p:cNvPr id="2510" name="Google Shape;2510;p1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1" name="Google Shape;2511;p1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Veille au 19 septembre 2026</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La version 1.9.1 est documentée en septembre 2026. Les TP figent les versions dans uv.lock plutôt que dépendre d'un site stable évolutif. Présenter TabArena comme un benchmark vivant : les rangs varient avec les réglages, le budget et les jeux. Aucune supériorité universelle ni mesure de vitesse locale n'est affirmée dans ce cours. Dans les 15 minutes de veille, réserver 10 minutes aux publications/benchmarks et 5 minutes à une ouverture uniquement orale sur Ray. Suivre docs/NOTES_ORALES_RAY.md : du TP Optuna à la coordination d'essais avec Tune, rôle de Core, Data et Train, checkpoints et coût de distribution. Ray remonte à 2018 ; le situer dans les pratiques actuelles sans le présenter comme une invention de 2026. Aucun TP, installation Ray ou évaluation supplémentaire.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La nouveauté ne dispense pas d'une baseline ni d'un test adapté</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[R34] Version 1.9 release notes. Équipe scikit-learn. juin 2026 ; correctif 1.9.1 septembre 2026. https://scikit-learn.org/stable/whats_new/v1.9.html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[R36] TabArena: A Living Benchmark for Machine Learning on Tabular Data. Erickson et al.. 2025. https://arxiv.org/abs/2506.16791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[R44] Ray Overview. Équipe Ray. documentation 2.58.0 consultée le 19 septembre 2026. https://docs.ray.io/en/latest/ray-overview/index.html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[R45] Ray Tune. Équipe Ray. consulté le 19 septembre 2026. https://docs.ray.io/en/latest/tune/index.html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[R47] Ray: A Distributed Framework for Emerging AI Applications. Moritz et al.. OSDI 2018. https://www.usenix.org/conference/osdi18/presentation/moritz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[R48] Ray Train. Équipe Ray. consulté le 19 septembre 2026. https://docs.ray.io/en/latest/train/train.html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[R49] Ray Data. Équipe Ray. consulté le 19 septembre 2026. https://docs.ray.io/en/latest/data/data.html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512" name="Google Shape;2512;p1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1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2" name="Google Shape;2532;p1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TabPFN : publication et annonce récente</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Distinguons les niveaux de preuve. Un article scientifique, un rapport technique récent et une annonce de l’éditeur n’ont pas exactement le même statut ; aucun ne remplace une évaluation dans nos conditions d’utilisation. Si nous envisageons cet outil, comparons non seulement le score, mais aussi le temps, les ressources, les conditions d’accès et les types de données sur lesquels il a été étudié.</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[R35] Accurate predictions on small data with a tabular foundation model. Hollmann et al.. Nature, 8 janvier 2025. https://www.nature.com/articles/s41586-024-08328-6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[R37] TabPFN-3.5: Technical Report. Prior Labs. 15 septembre 2026. https://priorlabs.ai/technical-reports/tabpfn-3-5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533" name="Google Shape;2533;p1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p1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3" name="Google Shape;2553;p1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Lire un benchmark de façon critique</a:t>
            </a:r>
            <a:endParaRPr b="1" sz="1500">
              <a:latin typeface="DM Sans"/>
              <a:ea typeface="DM Sans"/>
              <a:cs typeface="DM Sans"/>
              <a:sym typeface="DM Sans"/>
            </a:endParaRPr>
          </a:p>
          <a:p>
            <a:pPr indent="0" lvl="0" marL="0" rtl="0" algn="l">
              <a:spcBef>
                <a:spcPts val="0"/>
              </a:spcBef>
              <a:spcAft>
                <a:spcPts val="0"/>
              </a:spcAft>
              <a:buSzPts val="1200"/>
              <a:buNone/>
            </a:pPr>
            <a:r>
              <a:t/>
            </a:r>
            <a:endParaRPr b="1"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Avant de retenir un classement, demandons-nous ce qui a été comparé : </a:t>
            </a:r>
            <a:endParaRPr sz="1500">
              <a:latin typeface="DM Sans"/>
              <a:ea typeface="DM Sans"/>
              <a:cs typeface="DM Sans"/>
              <a:sym typeface="DM Sans"/>
            </a:endParaRPr>
          </a:p>
          <a:p>
            <a:pPr indent="-323850" lvl="0" marL="457200" rtl="0" algn="l">
              <a:spcBef>
                <a:spcPts val="0"/>
              </a:spcBef>
              <a:spcAft>
                <a:spcPts val="0"/>
              </a:spcAft>
              <a:buSzPts val="1500"/>
              <a:buFont typeface="DM Sans"/>
              <a:buChar char="-"/>
            </a:pPr>
            <a:r>
              <a:rPr lang="en-US" sz="1500">
                <a:latin typeface="DM Sans"/>
                <a:ea typeface="DM Sans"/>
                <a:cs typeface="DM Sans"/>
                <a:sym typeface="DM Sans"/>
              </a:rPr>
              <a:t>quels jeux de données ?  </a:t>
            </a:r>
            <a:endParaRPr sz="1500">
              <a:latin typeface="DM Sans"/>
              <a:ea typeface="DM Sans"/>
              <a:cs typeface="DM Sans"/>
              <a:sym typeface="DM Sans"/>
            </a:endParaRPr>
          </a:p>
          <a:p>
            <a:pPr indent="-323850" lvl="0" marL="457200" rtl="0" algn="l">
              <a:spcBef>
                <a:spcPts val="0"/>
              </a:spcBef>
              <a:spcAft>
                <a:spcPts val="0"/>
              </a:spcAft>
              <a:buSzPts val="1500"/>
              <a:buFont typeface="DM Sans"/>
              <a:buChar char="-"/>
            </a:pPr>
            <a:r>
              <a:rPr lang="en-US" sz="1500">
                <a:latin typeface="DM Sans"/>
                <a:ea typeface="DM Sans"/>
                <a:cs typeface="DM Sans"/>
                <a:sym typeface="DM Sans"/>
              </a:rPr>
              <a:t>quelles tailles ?  </a:t>
            </a:r>
            <a:endParaRPr sz="1500">
              <a:latin typeface="DM Sans"/>
              <a:ea typeface="DM Sans"/>
              <a:cs typeface="DM Sans"/>
              <a:sym typeface="DM Sans"/>
            </a:endParaRPr>
          </a:p>
          <a:p>
            <a:pPr indent="-323850" lvl="0" marL="457200" rtl="0" algn="l">
              <a:spcBef>
                <a:spcPts val="0"/>
              </a:spcBef>
              <a:spcAft>
                <a:spcPts val="0"/>
              </a:spcAft>
              <a:buSzPts val="1500"/>
              <a:buFont typeface="DM Sans"/>
              <a:buChar char="-"/>
            </a:pPr>
            <a:r>
              <a:rPr lang="en-US" sz="1500">
                <a:latin typeface="DM Sans"/>
                <a:ea typeface="DM Sans"/>
                <a:cs typeface="DM Sans"/>
                <a:sym typeface="DM Sans"/>
              </a:rPr>
              <a:t>quel temps de réglage ? </a:t>
            </a:r>
            <a:endParaRPr sz="1500">
              <a:latin typeface="DM Sans"/>
              <a:ea typeface="DM Sans"/>
              <a:cs typeface="DM Sans"/>
              <a:sym typeface="DM Sans"/>
            </a:endParaRPr>
          </a:p>
          <a:p>
            <a:pPr indent="-323850" lvl="0" marL="457200" rtl="0" algn="l">
              <a:spcBef>
                <a:spcPts val="0"/>
              </a:spcBef>
              <a:spcAft>
                <a:spcPts val="0"/>
              </a:spcAft>
              <a:buSzPts val="1500"/>
              <a:buFont typeface="DM Sans"/>
              <a:buChar char="-"/>
            </a:pPr>
            <a:r>
              <a:rPr lang="en-US" sz="1500">
                <a:latin typeface="DM Sans"/>
                <a:ea typeface="DM Sans"/>
                <a:cs typeface="DM Sans"/>
                <a:sym typeface="DM Sans"/>
              </a:rPr>
              <a:t>quel matériel ? </a:t>
            </a:r>
            <a:endParaRPr sz="1500">
              <a:latin typeface="DM Sans"/>
              <a:ea typeface="DM Sans"/>
              <a:cs typeface="DM Sans"/>
              <a:sym typeface="DM Sans"/>
            </a:endParaRPr>
          </a:p>
          <a:p>
            <a:pPr indent="0" lvl="0" marL="457200" rtl="0" algn="l">
              <a:spcBef>
                <a:spcPts val="0"/>
              </a:spcBef>
              <a:spcAft>
                <a:spcPts val="0"/>
              </a:spcAft>
              <a:buNone/>
            </a:pPr>
            <a:r>
              <a:t/>
            </a:r>
            <a:endParaRPr sz="1500">
              <a:latin typeface="DM Sans"/>
              <a:ea typeface="DM Sans"/>
              <a:cs typeface="DM Sans"/>
              <a:sym typeface="DM Sans"/>
            </a:endParaRPr>
          </a:p>
          <a:p>
            <a:pPr indent="0" lvl="0" marL="0" rtl="0" algn="l">
              <a:spcBef>
                <a:spcPts val="0"/>
              </a:spcBef>
              <a:spcAft>
                <a:spcPts val="0"/>
              </a:spcAft>
              <a:buNone/>
            </a:pPr>
            <a:r>
              <a:rPr lang="en-US" sz="1500">
                <a:latin typeface="DM Sans"/>
                <a:ea typeface="DM Sans"/>
                <a:cs typeface="DM Sans"/>
                <a:sym typeface="DM Sans"/>
              </a:rPr>
              <a:t>Regardons aussi la dispersion des résultats plutôt que la seule moyenne, ainsi que les situations où une méthode échoue. </a:t>
            </a:r>
            <a:endParaRPr sz="1500">
              <a:latin typeface="DM Sans"/>
              <a:ea typeface="DM Sans"/>
              <a:cs typeface="DM Sans"/>
              <a:sym typeface="DM Sans"/>
            </a:endParaRPr>
          </a:p>
          <a:p>
            <a:pPr indent="0" lvl="0" marL="0" rtl="0" algn="l">
              <a:spcBef>
                <a:spcPts val="0"/>
              </a:spcBef>
              <a:spcAft>
                <a:spcPts val="0"/>
              </a:spcAft>
              <a:buNone/>
            </a:pPr>
            <a:r>
              <a:t/>
            </a:r>
            <a:endParaRPr sz="1500">
              <a:latin typeface="DM Sans"/>
              <a:ea typeface="DM Sans"/>
              <a:cs typeface="DM Sans"/>
              <a:sym typeface="DM Sans"/>
            </a:endParaRPr>
          </a:p>
          <a:p>
            <a:pPr indent="0" lvl="0" marL="0" rtl="0" algn="l">
              <a:spcBef>
                <a:spcPts val="0"/>
              </a:spcBef>
              <a:spcAft>
                <a:spcPts val="0"/>
              </a:spcAft>
              <a:buNone/>
            </a:pPr>
            <a:r>
              <a:rPr lang="en-US" sz="1500">
                <a:latin typeface="DM Sans"/>
                <a:ea typeface="DM Sans"/>
                <a:cs typeface="DM Sans"/>
                <a:sym typeface="DM Sans"/>
              </a:rPr>
              <a:t>Un benchmark aide à choisir quoi essayer ; il ne tranche pas à notre place la décision sur notre propre population.</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[R36] TabArena: A Living Benchmark for Machine Learning on Tabular Data. Erickson et al.. 2025. https://arxiv.org/abs/2506.16791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[R37] TabPFN-3.5: Technical Report. Prior Labs. 15 septembre 2026. https://priorlabs.ai/technical-reports/tabpfn-3-5 (consulté le 19 septembre 2026).</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554" name="Google Shape;2554;p1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p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4" name="Google Shape;2574;p1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400">
                <a:latin typeface="DM Sans"/>
                <a:ea typeface="DM Sans"/>
                <a:cs typeface="DM Sans"/>
                <a:sym typeface="DM Sans"/>
              </a:rPr>
              <a:t>Projet final : prioriser une campagne</a:t>
            </a:r>
            <a:endParaRPr b="1"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Revenons au fil rouge : quels clients contacter avant une campagne, avec quelles informations réellement disponibles avant l’appel ? Comparez une baseline et deux familles de modèles dans un budget annoncé. Ensuite, figez le modèle et le seuil avant d’ouvrir le test ; votre conclusion doit porter sur une décision de campagne, et rappeler qu’un score de souscription ne mesure pas l’effet causal de l’appel.</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180 minutes · binôme · notebook, manifeste, model card et restitution</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[R32] Bank Marketing. Moro, Rita et Cortez ; UCI Machine Learning Repository. 2014, données 2008–2010. https://archive.ics.uci.edu/dataset/222/bank+marketing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[R30] Model Cards for Model Reporting. Mitchell et al.. 2019 (prépublication 2018). https://arxiv.org/abs/1810.03993 (consulté le 19 septembre 2026).</a:t>
            </a:r>
            <a:endParaRPr sz="1400">
              <a:latin typeface="DM Sans"/>
              <a:ea typeface="DM Sans"/>
              <a:cs typeface="DM Sans"/>
              <a:sym typeface="DM Sans"/>
            </a:endParaRPr>
          </a:p>
          <a:p>
            <a:pPr indent="0" lvl="0" marL="0" rtl="0" algn="l">
              <a:spcBef>
                <a:spcPts val="0"/>
              </a:spcBef>
              <a:spcAft>
                <a:spcPts val="0"/>
              </a:spcAft>
              <a:buSzPts val="1200"/>
              <a:buNone/>
            </a:pPr>
            <a:r>
              <a:t/>
            </a:r>
            <a:endParaRPr sz="1400">
              <a:latin typeface="DM Sans"/>
              <a:ea typeface="DM Sans"/>
              <a:cs typeface="DM Sans"/>
              <a:sym typeface="DM Sans"/>
            </a:endParaRPr>
          </a:p>
          <a:p>
            <a:pPr indent="0" lvl="0" marL="0" rtl="0" algn="l">
              <a:spcBef>
                <a:spcPts val="0"/>
              </a:spcBef>
              <a:spcAft>
                <a:spcPts val="0"/>
              </a:spcAft>
              <a:buSzPts val="1200"/>
              <a:buNone/>
            </a:pPr>
            <a:r>
              <a:rPr lang="en-US" sz="1400">
                <a:latin typeface="DM Sans"/>
                <a:ea typeface="DM Sans"/>
                <a:cs typeface="DM Sans"/>
                <a:sym typeface="DM Sans"/>
              </a:rPr>
              <a:t>Formateur : Chrys Fé-Marty NIONGOLO</a:t>
            </a:r>
            <a:endParaRPr sz="1400">
              <a:latin typeface="DM Sans"/>
              <a:ea typeface="DM Sans"/>
              <a:cs typeface="DM Sans"/>
              <a:sym typeface="DM Sans"/>
            </a:endParaRPr>
          </a:p>
        </p:txBody>
      </p:sp>
      <p:sp>
        <p:nvSpPr>
          <p:cNvPr id="2575" name="Google Shape;2575;p1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p1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5" name="Google Shape;2595;p1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Une évaluation sur des preuves</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Le barème valorise une démarche vérifiable, pas seulement un chiffre élevé. Le protocole sans fuite pèse le plus lourd, puis viennent les comparaisons, la décision face aux classes rares, l’interprétation, la reproductibilité et la restitution. Pour chaque choix que vous présentez, montrez sa preuve : un split, un tableau de résultats, un paramètre enregistré ou une limite documentée. </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Les critères détaillés figurent dans evaluation/PROJET.md.</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596" name="Google Shape;2596;p1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2" name="Shape 2612"/>
        <p:cNvGrpSpPr/>
        <p:nvPr/>
      </p:nvGrpSpPr>
      <p:grpSpPr>
        <a:xfrm>
          <a:off x="0" y="0"/>
          <a:ext cx="0" cy="0"/>
          <a:chOff x="0" y="0"/>
          <a:chExt cx="0" cy="0"/>
        </a:xfrm>
      </p:grpSpPr>
      <p:sp>
        <p:nvSpPr>
          <p:cNvPr id="2613" name="Google Shape;2613;p1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4" name="Google Shape;2614;p1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b="1" lang="en-US" sz="1500">
                <a:latin typeface="DM Sans"/>
                <a:ea typeface="DM Sans"/>
                <a:cs typeface="DM Sans"/>
                <a:sym typeface="DM Sans"/>
              </a:rPr>
              <a:t>Soutenance : cinq minutes pour décider</a:t>
            </a:r>
            <a:endParaRPr b="1"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En cinq minutes, je dois pouvoir comprendre trois choses : quelle décision vous proposez, sur quelle preuve repose le choix du modèle et du seuil, et ce qui vous empêche encore d’en recommander sereinement l’usage réel. Ne racontez pas toutes les expériences dans l’ordre où vous les avez menées. Sélectionnez celles qui justifient effectivement votre recommandation.</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615" name="Google Shape;2615;p1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3" name="Shape 2633"/>
        <p:cNvGrpSpPr/>
        <p:nvPr/>
      </p:nvGrpSpPr>
      <p:grpSpPr>
        <a:xfrm>
          <a:off x="0" y="0"/>
          <a:ext cx="0" cy="0"/>
          <a:chOff x="0" y="0"/>
          <a:chExt cx="0" cy="0"/>
        </a:xfrm>
      </p:grpSpPr>
      <p:sp>
        <p:nvSpPr>
          <p:cNvPr id="2634" name="Google Shape;2634;p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5" name="Google Shape;2635;p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500">
                <a:latin typeface="DM Sans"/>
                <a:ea typeface="DM Sans"/>
                <a:cs typeface="DM Sans"/>
                <a:sym typeface="DM Sans"/>
              </a:rPr>
              <a:t>Quiz final : raisonner sur un cas nouveau</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Pour chacun des trois cas, commencez par identifier l’hypothèse qui vient de tomber. Une variable connue après l’événement évoque une fuite ; beaucoup de points classés bruit imposent de revoir l’utilité de la partition ; une couverture qui chute après changement de population met en question la comparabilité requise par l’intervalle. Ensuite seulement, proposez une vérification concrète et une correction possible.</a:t>
            </a:r>
            <a:endParaRPr sz="1500">
              <a:latin typeface="DM Sans"/>
              <a:ea typeface="DM Sans"/>
              <a:cs typeface="DM Sans"/>
              <a:sym typeface="DM Sans"/>
            </a:endParaRPr>
          </a:p>
          <a:p>
            <a:pPr indent="0" lvl="0" marL="0" rtl="0" algn="l">
              <a:spcBef>
                <a:spcPts val="0"/>
              </a:spcBef>
              <a:spcAft>
                <a:spcPts val="0"/>
              </a:spcAft>
              <a:buSzPts val="1200"/>
              <a:buNone/>
            </a:pPr>
            <a:r>
              <a:t/>
            </a:r>
            <a:endParaRPr sz="1500">
              <a:latin typeface="DM Sans"/>
              <a:ea typeface="DM Sans"/>
              <a:cs typeface="DM Sans"/>
              <a:sym typeface="DM Sans"/>
            </a:endParaRPr>
          </a:p>
          <a:p>
            <a:pPr indent="0" lvl="0" marL="0" rtl="0" algn="l">
              <a:spcBef>
                <a:spcPts val="0"/>
              </a:spcBef>
              <a:spcAft>
                <a:spcPts val="0"/>
              </a:spcAft>
              <a:buSzPts val="1200"/>
              <a:buNone/>
            </a:pPr>
            <a:r>
              <a:rPr lang="en-US" sz="1500">
                <a:latin typeface="DM Sans"/>
                <a:ea typeface="DM Sans"/>
                <a:cs typeface="DM Sans"/>
                <a:sym typeface="DM Sans"/>
              </a:rPr>
              <a:t>Formateur : Chrys Fé-Marty NIONGOLO</a:t>
            </a:r>
            <a:endParaRPr sz="1500">
              <a:latin typeface="DM Sans"/>
              <a:ea typeface="DM Sans"/>
              <a:cs typeface="DM Sans"/>
              <a:sym typeface="DM Sans"/>
            </a:endParaRPr>
          </a:p>
        </p:txBody>
      </p:sp>
      <p:sp>
        <p:nvSpPr>
          <p:cNvPr id="2636" name="Google Shape;2636;p1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4" name="Shape 2654"/>
        <p:cNvGrpSpPr/>
        <p:nvPr/>
      </p:nvGrpSpPr>
      <p:grpSpPr>
        <a:xfrm>
          <a:off x="0" y="0"/>
          <a:ext cx="0" cy="0"/>
          <a:chOff x="0" y="0"/>
          <a:chExt cx="0" cy="0"/>
        </a:xfrm>
      </p:grpSpPr>
      <p:sp>
        <p:nvSpPr>
          <p:cNvPr id="2655" name="Google Shape;2655;p1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56" name="Google Shape;2656;p1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Ressources : apprendre et pratiquer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Parcours de consolidation : choisir une faiblesse du diagnostic, faire une activité du MOOC et reproduire un exemple de documentation en changeant une seule hypothèse. Le livre et les ressources sont en anglais pour une large part ; les explications et exercices du cours restent en français.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Liens complets dans les notes et resources/RESSOURCES.md</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[R01] An Introduction to Statistical Learning, with Applications in Python. James, Witten, Hastie, Tibshirani et Taylor. 2023. https://www.statlearning.com/ (consulté le 19 septembre 2026).</a:t>
            </a:r>
            <a:endParaRPr/>
          </a:p>
          <a:p>
            <a:pPr indent="0" lvl="0" marL="0" rtl="0" algn="l">
              <a:spcBef>
                <a:spcPts val="0"/>
              </a:spcBef>
              <a:spcAft>
                <a:spcPts val="0"/>
              </a:spcAft>
              <a:buSzPts val="1200"/>
              <a:buNone/>
            </a:pPr>
            <a:r>
              <a:rPr lang="en-US" sz="1200"/>
              <a:t>[R33] Scikit-learn MOOC. Inria et contributeurs scikit-learn. ressource pédagogique vivante. https://inria.github.io/scikit-learn-mooc/ (consulté le 19 septembre 2026).</a:t>
            </a:r>
            <a:endParaRPr/>
          </a:p>
          <a:p>
            <a:pPr indent="0" lvl="0" marL="0" rtl="0" algn="l">
              <a:spcBef>
                <a:spcPts val="0"/>
              </a:spcBef>
              <a:spcAft>
                <a:spcPts val="0"/>
              </a:spcAft>
              <a:buSzPts val="1200"/>
              <a:buNone/>
            </a:pPr>
            <a:r>
              <a:rPr lang="en-US" sz="1200"/>
              <a:t>[R02] Common pitfalls and recommended practices. Équipe scikit-learn. documentation 1.9.1, 2026. https://scikit-learn.org/stable/common_pitfalls.html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657" name="Google Shape;2657;p1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5" name="Shape 2675"/>
        <p:cNvGrpSpPr/>
        <p:nvPr/>
      </p:nvGrpSpPr>
      <p:grpSpPr>
        <a:xfrm>
          <a:off x="0" y="0"/>
          <a:ext cx="0" cy="0"/>
          <a:chOff x="0" y="0"/>
          <a:chExt cx="0" cy="0"/>
        </a:xfrm>
      </p:grpSpPr>
      <p:sp>
        <p:nvSpPr>
          <p:cNvPr id="2676" name="Google Shape;2676;p1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7" name="Google Shape;2677;p1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Ressources : articles et veille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Les ressources sont accessibles à la lecture sans abonnement. Un texte gratuit n'est pas nécessairement libre de redistribution ; les liens sont préférés aux copies. Le dépôt conserve auteur, titre, date et rôle pédagogique pour chaque source. Les deux supports de 2020 sont référencés séparément avec leurs pages d'origine.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[R15] SMOTE: Synthetic Minority Over-sampling Technique. Chawla, Bowyer, Hall et Kegelmeyer. 2002. https://www.jair.org/index.php/jair/article/view/10302 (consulté le 19 septembre 2026).</a:t>
            </a:r>
            <a:endParaRPr/>
          </a:p>
          <a:p>
            <a:pPr indent="0" lvl="0" marL="0" rtl="0" algn="l">
              <a:spcBef>
                <a:spcPts val="0"/>
              </a:spcBef>
              <a:spcAft>
                <a:spcPts val="0"/>
              </a:spcAft>
              <a:buSzPts val="1200"/>
              <a:buNone/>
            </a:pPr>
            <a:r>
              <a:rPr lang="en-US" sz="1200"/>
              <a:t>[R27] A Unified Approach to Interpreting Model Predictions. Lundberg et Lee. NeurIPS 2017. https://papers.nips.cc/paper/2017/hash/8a20a8621978632d76c43dfd28b67767-Abstract.html (consulté le 19 septembre 2026).</a:t>
            </a:r>
            <a:endParaRPr/>
          </a:p>
          <a:p>
            <a:pPr indent="0" lvl="0" marL="0" rtl="0" algn="l">
              <a:spcBef>
                <a:spcPts val="0"/>
              </a:spcBef>
              <a:spcAft>
                <a:spcPts val="0"/>
              </a:spcAft>
              <a:buSzPts val="1200"/>
              <a:buNone/>
            </a:pPr>
            <a:r>
              <a:rPr lang="en-US" sz="1200"/>
              <a:t>[R29] A Gentle Introduction to Conformal Prediction and Distribution-Free Uncertainty Quantification. Angelopoulos et Bates. 2021, révisions ultérieures. https://arxiv.org/abs/2107.07511 (consulté le 19 septembre 2026).</a:t>
            </a:r>
            <a:endParaRPr/>
          </a:p>
          <a:p>
            <a:pPr indent="0" lvl="0" marL="0" rtl="0" algn="l">
              <a:spcBef>
                <a:spcPts val="0"/>
              </a:spcBef>
              <a:spcAft>
                <a:spcPts val="0"/>
              </a:spcAft>
              <a:buSzPts val="1200"/>
              <a:buNone/>
            </a:pPr>
            <a:r>
              <a:rPr lang="en-US" sz="1200"/>
              <a:t>[R30] Model Cards for Model Reporting. Mitchell et al.. 2019 (prépublication 2018). https://arxiv.org/abs/1810.03993 (consulté le 19 septembre 2026).</a:t>
            </a:r>
            <a:endParaRPr/>
          </a:p>
          <a:p>
            <a:pPr indent="0" lvl="0" marL="0" rtl="0" algn="l">
              <a:spcBef>
                <a:spcPts val="0"/>
              </a:spcBef>
              <a:spcAft>
                <a:spcPts val="0"/>
              </a:spcAft>
              <a:buSzPts val="1200"/>
              <a:buNone/>
            </a:pPr>
            <a:r>
              <a:rPr lang="en-US" sz="1200"/>
              <a:t>[R35] Accurate predictions on small data with a tabular foundation model. Hollmann et al.. Nature, 8 janvier 2025. https://www.nature.com/articles/s41586-024-08328-6 (consulté le 19 septembre 2026).</a:t>
            </a:r>
            <a:endParaRPr/>
          </a:p>
          <a:p>
            <a:pPr indent="0" lvl="0" marL="0" rtl="0" algn="l">
              <a:spcBef>
                <a:spcPts val="0"/>
              </a:spcBef>
              <a:spcAft>
                <a:spcPts val="0"/>
              </a:spcAft>
              <a:buSzPts val="1200"/>
              <a:buNone/>
            </a:pPr>
            <a:r>
              <a:rPr lang="en-US" sz="1200"/>
              <a:t>[R36] TabArena: A Living Benchmark for Machine Learning on Tabular Data. Erickson et al.. 2025. https://arxiv.org/abs/2506.16791 (consulté le 19 septembre 2026).</a:t>
            </a:r>
            <a:endParaRPr/>
          </a:p>
          <a:p>
            <a:pPr indent="0" lvl="0" marL="0" rtl="0" algn="l">
              <a:spcBef>
                <a:spcPts val="0"/>
              </a:spcBef>
              <a:spcAft>
                <a:spcPts val="0"/>
              </a:spcAft>
              <a:buSzPts val="1200"/>
              <a:buNone/>
            </a:pPr>
            <a:r>
              <a:rPr lang="en-US" sz="1200"/>
              <a:t>[R37] TabPFN-3.5: Technical Report. Prior Labs. 15 septembre 2026. https://priorlabs.ai/technical-reports/tabpfn-3-5 (consulté le 19 septembre 2026).</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678" name="Google Shape;2678;p1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5" name="Shape 2695"/>
        <p:cNvGrpSpPr/>
        <p:nvPr/>
      </p:nvGrpSpPr>
      <p:grpSpPr>
        <a:xfrm>
          <a:off x="0" y="0"/>
          <a:ext cx="0" cy="0"/>
          <a:chOff x="0" y="0"/>
          <a:chExt cx="0" cy="0"/>
        </a:xfrm>
      </p:grpSpPr>
      <p:sp>
        <p:nvSpPr>
          <p:cNvPr id="2696" name="Google Shape;2696;p1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97" name="Google Shape;2697;p1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Ce que vous savez maintenant défendre</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Revenir aux six objectifs et demander à chaque participant une preuve issue de son travail. Recueillir une question restant ouverte. Donner une action après formation : reproduire le protocole sur un problème autorisé, puis documenter les différences de population, de coût et de disponibilité des données.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Le livrable est une décision justifiée, accompagnée de preuves reproductibles</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698" name="Google Shape;2698;p1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6" name="Shape 2716"/>
        <p:cNvGrpSpPr/>
        <p:nvPr/>
      </p:nvGrpSpPr>
      <p:grpSpPr>
        <a:xfrm>
          <a:off x="0" y="0"/>
          <a:ext cx="0" cy="0"/>
          <a:chOff x="0" y="0"/>
          <a:chExt cx="0" cy="0"/>
        </a:xfrm>
      </p:grpSpPr>
      <p:sp>
        <p:nvSpPr>
          <p:cNvPr id="2717" name="Google Shape;2717;p1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8" name="Google Shape;2718;p1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200"/>
              <a:buNone/>
            </a:pPr>
            <a:r>
              <a:rPr lang="en-US" sz="1200"/>
              <a:t>Merci</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Remercier le groupe. Formateur : Chrys Fé-Marty NIONGOLO. Le lien cliquable mène au dépôt GitHub privé des ressources. Les droits d'accès sont nécessaires. Le dossier étudiant peut aussi être diffusé hors ligne par le formateur. Le profil LinkedIn est accessible depuis la diapositive formateur.</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t/>
            </a:r>
            <a:endParaRPr/>
          </a:p>
          <a:p>
            <a:pPr indent="0" lvl="0" marL="0" rtl="0" algn="l">
              <a:spcBef>
                <a:spcPts val="0"/>
              </a:spcBef>
              <a:spcAft>
                <a:spcPts val="0"/>
              </a:spcAft>
              <a:buSzPts val="1200"/>
              <a:buNone/>
            </a:pPr>
            <a:r>
              <a:rPr lang="en-US" sz="1200"/>
              <a:t>Formateur : Chrys Fé-Marty NIONGOLO</a:t>
            </a:r>
            <a:endParaRPr/>
          </a:p>
        </p:txBody>
      </p:sp>
      <p:sp>
        <p:nvSpPr>
          <p:cNvPr id="2719" name="Google Shape;2719;p1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https://www.linkedin.com/in/chrys-f%C3%A9-marty-niongolo-410770153/"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17.png"/><Relationship Id="rId7"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pn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6.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6.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6.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6.png"/><Relationship Id="rId4"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6.png"/><Relationship Id="rId4"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2.png"/><Relationship Id="rId4"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6.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6.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6.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1" Type="http://schemas.openxmlformats.org/officeDocument/2006/relationships/hyperlink" Target="https://docs.google.com/presentation/d/1B93tlnEdW8bNRq8_mdkXAbhXNYt5HsR063DusKjy6sw/edit?slide=id.p69#slide=id.p69" TargetMode="External"/><Relationship Id="rId10" Type="http://schemas.openxmlformats.org/officeDocument/2006/relationships/hyperlink" Target="https://docs.google.com/presentation/d/1B93tlnEdW8bNRq8_mdkXAbhXNYt5HsR063DusKjy6sw/edit?slide=id.p69#slide=id.p69" TargetMode="External"/><Relationship Id="rId13" Type="http://schemas.openxmlformats.org/officeDocument/2006/relationships/hyperlink" Target="https://docs.google.com/presentation/d/1B93tlnEdW8bNRq8_mdkXAbhXNYt5HsR063DusKjy6sw/edit?slide=id.p69#slide=id.p69" TargetMode="External"/><Relationship Id="rId12" Type="http://schemas.openxmlformats.org/officeDocument/2006/relationships/hyperlink" Target="https://docs.google.com/presentation/d/1B93tlnEdW8bNRq8_mdkXAbhXNYt5HsR063DusKjy6sw/edit?slide=id.p69#slide=id.p69" TargetMode="External"/><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6.png"/><Relationship Id="rId4" Type="http://schemas.openxmlformats.org/officeDocument/2006/relationships/image" Target="../media/image1.png"/><Relationship Id="rId9" Type="http://schemas.openxmlformats.org/officeDocument/2006/relationships/hyperlink" Target="https://docs.google.com/presentation/d/1B93tlnEdW8bNRq8_mdkXAbhXNYt5HsR063DusKjy6sw/edit?slide=id.p69#slide=id.p69" TargetMode="External"/><Relationship Id="rId14" Type="http://schemas.openxmlformats.org/officeDocument/2006/relationships/hyperlink" Target="https://docs.google.com/presentation/d/1B93tlnEdW8bNRq8_mdkXAbhXNYt5HsR063DusKjy6sw/edit?slide=id.p69#slide=id.p69" TargetMode="External"/><Relationship Id="rId5" Type="http://schemas.openxmlformats.org/officeDocument/2006/relationships/hyperlink" Target="https://docs.google.com/presentation/d/1B93tlnEdW8bNRq8_mdkXAbhXNYt5HsR063DusKjy6sw/edit?slide=id.p69#slide=id.p69" TargetMode="External"/><Relationship Id="rId6" Type="http://schemas.openxmlformats.org/officeDocument/2006/relationships/hyperlink" Target="https://docs.google.com/presentation/d/1B93tlnEdW8bNRq8_mdkXAbhXNYt5HsR063DusKjy6sw/edit?slide=id.p69#slide=id.p69" TargetMode="External"/><Relationship Id="rId7" Type="http://schemas.openxmlformats.org/officeDocument/2006/relationships/hyperlink" Target="https://docs.google.com/presentation/d/1B93tlnEdW8bNRq8_mdkXAbhXNYt5HsR063DusKjy6sw/edit?slide=id.p69#slide=id.p69" TargetMode="External"/><Relationship Id="rId8" Type="http://schemas.openxmlformats.org/officeDocument/2006/relationships/hyperlink" Target="https://docs.google.com/presentation/d/1B93tlnEdW8bNRq8_mdkXAbhXNYt5HsR063DusKjy6sw/edit?slide=id.p69#slide=id.p69"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png"/><Relationship Id="rId4"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6.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6.png"/><Relationship Id="rId4"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6.png"/><Relationship Id="rId4"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6.png"/><Relationship Id="rId4"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6.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6.png"/><Relationship Id="rId4"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6.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png"/><Relationship Id="rId4"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6.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6.png"/><Relationship Id="rId4"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4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6.png"/><Relationship Id="rId4"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5.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6.png"/><Relationship Id="rId4"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6.png"/><Relationship Id="rId4"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6.png"/><Relationship Id="rId4"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6.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6.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6.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6.png"/><Relationship Id="rId4"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6.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6.png"/><Relationship Id="rId4"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png"/><Relationship Id="rId4" Type="http://schemas.openxmlformats.org/officeDocument/2006/relationships/image" Target="../media/image1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6.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6.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6.png"/><Relationship Id="rId4"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6.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6.png"/><Relationship Id="rId4"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9.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40.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6.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6.png"/><Relationship Id="rId4"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6.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6.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6.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6.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6.png"/><Relationship Id="rId4"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6.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6.png"/><Relationship Id="rId4"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6.png"/><Relationship Id="rId4"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6.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6.png"/><Relationship Id="rId4"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6.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6.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6.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https://github.com/svngoku/cybersup-machine-learning-avanc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F2E00"/>
        </a:solidFill>
      </p:bgPr>
    </p:bg>
    <p:spTree>
      <p:nvGrpSpPr>
        <p:cNvPr id="15" name="Shape 15"/>
        <p:cNvGrpSpPr/>
        <p:nvPr/>
      </p:nvGrpSpPr>
      <p:grpSpPr>
        <a:xfrm>
          <a:off x="0" y="0"/>
          <a:ext cx="0" cy="0"/>
          <a:chOff x="0" y="0"/>
          <a:chExt cx="0" cy="0"/>
        </a:xfrm>
      </p:grpSpPr>
      <p:sp>
        <p:nvSpPr>
          <p:cNvPr id="16" name="Google Shape;16;p3"/>
          <p:cNvSpPr/>
          <p:nvPr/>
        </p:nvSpPr>
        <p:spPr>
          <a:xfrm>
            <a:off x="914400" y="1123950"/>
            <a:ext cx="10382250" cy="209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8200"/>
              <a:buFont typeface="Archivo Black"/>
              <a:buNone/>
            </a:pPr>
            <a:r>
              <a:rPr lang="en-US" sz="5850">
                <a:solidFill>
                  <a:srgbClr val="FFFFFF"/>
                </a:solidFill>
                <a:latin typeface="Archivo Black"/>
                <a:ea typeface="Archivo Black"/>
                <a:cs typeface="Archivo Black"/>
                <a:sym typeface="Archivo Black"/>
              </a:rPr>
              <a:t>MACHINE LEARNING</a:t>
            </a:r>
            <a:endParaRPr b="0" i="0" sz="7600" u="none" cap="non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8200"/>
              <a:buFont typeface="Archivo Black"/>
              <a:buNone/>
            </a:pPr>
            <a:r>
              <a:rPr lang="en-US" sz="5850">
                <a:solidFill>
                  <a:srgbClr val="FFFFFF"/>
                </a:solidFill>
                <a:latin typeface="Archivo Black"/>
                <a:ea typeface="Archivo Black"/>
                <a:cs typeface="Archivo Black"/>
                <a:sym typeface="Archivo Black"/>
              </a:rPr>
              <a:t>AVANCÉ</a:t>
            </a:r>
            <a:endParaRPr b="0" i="0" sz="7600" u="none" cap="none">
              <a:solidFill>
                <a:schemeClr val="dk1"/>
              </a:solidFill>
              <a:latin typeface="Calibri"/>
              <a:ea typeface="Calibri"/>
              <a:cs typeface="Calibri"/>
              <a:sym typeface="Calibri"/>
            </a:endParaRPr>
          </a:p>
        </p:txBody>
      </p:sp>
      <p:sp>
        <p:nvSpPr>
          <p:cNvPr id="17" name="Google Shape;17;p3"/>
          <p:cNvSpPr/>
          <p:nvPr/>
        </p:nvSpPr>
        <p:spPr>
          <a:xfrm>
            <a:off x="914400" y="3457575"/>
            <a:ext cx="8763000" cy="95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8200"/>
              <a:buFont typeface="Archivo Black"/>
              <a:buNone/>
            </a:pPr>
            <a:r>
              <a:rPr lang="en-US" sz="2400">
                <a:solidFill>
                  <a:srgbClr val="FFFFFF"/>
                </a:solidFill>
                <a:latin typeface="DM Sans"/>
                <a:ea typeface="DM Sans"/>
                <a:cs typeface="DM Sans"/>
                <a:sym typeface="DM Sans"/>
              </a:rPr>
              <a:t>21–25 SEPTEMBRE 2026</a:t>
            </a:r>
            <a:endParaRPr b="0" i="0" sz="4500" u="none" cap="non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8200"/>
              <a:buFont typeface="Archivo Black"/>
              <a:buNone/>
            </a:pPr>
            <a:r>
              <a:rPr lang="en-US" sz="2400">
                <a:solidFill>
                  <a:srgbClr val="FFFFFF"/>
                </a:solidFill>
                <a:latin typeface="DM Sans"/>
                <a:ea typeface="DM Sans"/>
                <a:cs typeface="DM Sans"/>
                <a:sym typeface="DM Sans"/>
              </a:rPr>
              <a:t>35 heures · M2 Data / IA</a:t>
            </a:r>
            <a:endParaRPr b="0" i="0" sz="4500" u="none" cap="none">
              <a:solidFill>
                <a:schemeClr val="dk1"/>
              </a:solidFill>
              <a:latin typeface="Calibri"/>
              <a:ea typeface="Calibri"/>
              <a:cs typeface="Calibri"/>
              <a:sym typeface="Calibri"/>
            </a:endParaRPr>
          </a:p>
        </p:txBody>
      </p:sp>
      <p:sp>
        <p:nvSpPr>
          <p:cNvPr id="18" name="Google Shape;18;p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001</a:t>
            </a:r>
            <a:endParaRPr b="0" i="0" sz="1300" u="none" cap="none">
              <a:solidFill>
                <a:schemeClr val="dk1"/>
              </a:solidFill>
              <a:latin typeface="Calibri"/>
              <a:ea typeface="Calibri"/>
              <a:cs typeface="Calibri"/>
              <a:sym typeface="Calibri"/>
            </a:endParaRPr>
          </a:p>
        </p:txBody>
      </p:sp>
      <p:pic>
        <p:nvPicPr>
          <p:cNvPr id="19" name="Google Shape;19;p3"/>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sp>
        <p:nvSpPr>
          <p:cNvPr id="20" name="Google Shape;20;p3"/>
          <p:cNvSpPr/>
          <p:nvPr/>
        </p:nvSpPr>
        <p:spPr>
          <a:xfrm>
            <a:off x="10458907" y="4496105"/>
            <a:ext cx="1162200" cy="1410000"/>
          </a:xfrm>
          <a:prstGeom prst="roundRect">
            <a:avLst>
              <a:gd fmla="val 5159" name="adj"/>
            </a:avLst>
          </a:prstGeom>
          <a:solidFill>
            <a:srgbClr val="FFFFFF"/>
          </a:solidFill>
          <a:ln cap="flat" cmpd="sng" w="12700">
            <a:solidFill>
              <a:srgbClr val="E5E7EB"/>
            </a:solidFill>
            <a:prstDash val="solid"/>
            <a:round/>
            <a:headEnd len="sm" w="sm" type="none"/>
            <a:tailEnd len="sm" w="sm" type="none"/>
          </a:ln>
          <a:effectLst>
            <a:outerShdw blurRad="63500" rotWithShape="0" algn="bl" dir="5400000" dist="38100">
              <a:srgbClr val="000000">
                <a:alpha val="4706"/>
              </a:srgbClr>
            </a:outerShdw>
          </a:effectLst>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 name="Google Shape;21;p3"/>
          <p:cNvSpPr/>
          <p:nvPr/>
        </p:nvSpPr>
        <p:spPr>
          <a:xfrm>
            <a:off x="10534650" y="5753100"/>
            <a:ext cx="1028700" cy="13335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900"/>
              <a:buFont typeface="Archivo Black"/>
              <a:buNone/>
            </a:pPr>
            <a:r>
              <a:rPr b="0" i="0" lang="en-US" sz="750" u="none" cap="none">
                <a:solidFill>
                  <a:srgbClr val="12194C"/>
                </a:solidFill>
                <a:latin typeface="DM Sans"/>
                <a:ea typeface="DM Sans"/>
                <a:cs typeface="DM Sans"/>
                <a:sym typeface="DM Sans"/>
              </a:rPr>
              <a:t>ACCÈS PRIVÉ</a:t>
            </a:r>
            <a:endParaRPr b="0" i="0" sz="900" u="none" cap="none">
              <a:solidFill>
                <a:schemeClr val="dk1"/>
              </a:solidFill>
              <a:latin typeface="Calibri"/>
              <a:ea typeface="Calibri"/>
              <a:cs typeface="Calibri"/>
              <a:sym typeface="Calibri"/>
            </a:endParaRPr>
          </a:p>
        </p:txBody>
      </p:sp>
      <p:sp>
        <p:nvSpPr>
          <p:cNvPr id="22" name="Google Shape;22;p3"/>
          <p:cNvSpPr/>
          <p:nvPr/>
        </p:nvSpPr>
        <p:spPr>
          <a:xfrm>
            <a:off x="10701593" y="4545949"/>
            <a:ext cx="676800" cy="133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900"/>
              <a:buFont typeface="Archivo Black"/>
              <a:buNone/>
            </a:pPr>
            <a:r>
              <a:rPr lang="en-US" sz="825">
                <a:solidFill>
                  <a:srgbClr val="12194C"/>
                </a:solidFill>
                <a:latin typeface="DM Sans"/>
                <a:ea typeface="DM Sans"/>
                <a:cs typeface="DM Sans"/>
                <a:sym typeface="DM Sans"/>
              </a:rPr>
              <a:t>RESSOURCES</a:t>
            </a:r>
            <a:endParaRPr b="0" i="0" sz="900" u="none" cap="none">
              <a:solidFill>
                <a:schemeClr val="dk1"/>
              </a:solidFill>
              <a:latin typeface="Calibri"/>
              <a:ea typeface="Calibri"/>
              <a:cs typeface="Calibri"/>
              <a:sym typeface="Calibri"/>
            </a:endParaRPr>
          </a:p>
        </p:txBody>
      </p:sp>
      <p:sp>
        <p:nvSpPr>
          <p:cNvPr id="23" name="Google Shape;23;p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4" name="Google Shape;24;p3"/>
          <p:cNvSpPr/>
          <p:nvPr/>
        </p:nvSpPr>
        <p:spPr>
          <a:xfrm>
            <a:off x="914400" y="5705856"/>
            <a:ext cx="10362900" cy="9000"/>
          </a:xfrm>
          <a:prstGeom prst="rect">
            <a:avLst/>
          </a:prstGeom>
          <a:solidFill>
            <a:srgbClr val="FFFFFF">
              <a:alpha val="80000"/>
            </a:srgbClr>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pic>
        <p:nvPicPr>
          <p:cNvPr id="25" name="Google Shape;25;p3"/>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26" name="Google Shape;26;p3"/>
          <p:cNvSpPr/>
          <p:nvPr/>
        </p:nvSpPr>
        <p:spPr>
          <a:xfrm>
            <a:off x="914400" y="4733925"/>
            <a:ext cx="866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025">
                <a:solidFill>
                  <a:srgbClr val="FFFFFF"/>
                </a:solidFill>
                <a:latin typeface="DM Sans"/>
                <a:ea typeface="DM Sans"/>
                <a:cs typeface="DM Sans"/>
                <a:sym typeface="DM Sans"/>
              </a:rPr>
              <a:t>Chrys Fé-Marty NIONGOLO</a:t>
            </a:r>
            <a:endParaRPr/>
          </a:p>
        </p:txBody>
      </p:sp>
      <p:pic>
        <p:nvPicPr>
          <p:cNvPr id="27" name="Google Shape;27;p3"/>
          <p:cNvPicPr preferRelativeResize="0"/>
          <p:nvPr/>
        </p:nvPicPr>
        <p:blipFill rotWithShape="1">
          <a:blip r:embed="rId5">
            <a:alphaModFix/>
          </a:blip>
          <a:srcRect b="0" l="0" r="0" t="0"/>
          <a:stretch/>
        </p:blipFill>
        <p:spPr>
          <a:xfrm>
            <a:off x="10534650" y="4752975"/>
            <a:ext cx="1009650" cy="10096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F2E00"/>
        </a:solidFill>
      </p:bgPr>
    </p:bg>
    <p:spTree>
      <p:nvGrpSpPr>
        <p:cNvPr id="32" name="Shape 32"/>
        <p:cNvGrpSpPr/>
        <p:nvPr/>
      </p:nvGrpSpPr>
      <p:grpSpPr>
        <a:xfrm>
          <a:off x="0" y="0"/>
          <a:ext cx="0" cy="0"/>
          <a:chOff x="0" y="0"/>
          <a:chExt cx="0" cy="0"/>
        </a:xfrm>
      </p:grpSpPr>
      <p:sp>
        <p:nvSpPr>
          <p:cNvPr id="33" name="Google Shape;33;p4"/>
          <p:cNvSpPr/>
          <p:nvPr/>
        </p:nvSpPr>
        <p:spPr>
          <a:xfrm>
            <a:off x="571500" y="5935791"/>
            <a:ext cx="110487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4" name="Google Shape;34;p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002</a:t>
            </a:r>
            <a:endParaRPr b="0" i="0" sz="1300" u="none" cap="none">
              <a:solidFill>
                <a:schemeClr val="dk1"/>
              </a:solidFill>
              <a:latin typeface="Calibri"/>
              <a:ea typeface="Calibri"/>
              <a:cs typeface="Calibri"/>
              <a:sym typeface="Calibri"/>
            </a:endParaRPr>
          </a:p>
        </p:txBody>
      </p:sp>
      <p:pic>
        <p:nvPicPr>
          <p:cNvPr id="35" name="Google Shape;35;p4"/>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sp>
        <p:nvSpPr>
          <p:cNvPr id="36" name="Google Shape;36;p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pic>
        <p:nvPicPr>
          <p:cNvPr id="37" name="Google Shape;37;p4"/>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38" name="Google Shape;38;p4"/>
          <p:cNvSpPr/>
          <p:nvPr/>
        </p:nvSpPr>
        <p:spPr>
          <a:xfrm>
            <a:off x="571500" y="638175"/>
            <a:ext cx="1047750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FFFFFF"/>
                </a:solidFill>
                <a:latin typeface="Archivo Black"/>
                <a:ea typeface="Archivo Black"/>
                <a:cs typeface="Archivo Black"/>
                <a:sym typeface="Archivo Black"/>
              </a:rPr>
              <a:t>VOTRE FORMATEUR</a:t>
            </a:r>
            <a:endParaRPr/>
          </a:p>
        </p:txBody>
      </p:sp>
      <p:sp>
        <p:nvSpPr>
          <p:cNvPr id="39" name="Google Shape;39;p4"/>
          <p:cNvSpPr/>
          <p:nvPr/>
        </p:nvSpPr>
        <p:spPr>
          <a:xfrm>
            <a:off x="619125" y="1657350"/>
            <a:ext cx="3429000" cy="228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3450">
                <a:solidFill>
                  <a:srgbClr val="FFFFFF"/>
                </a:solidFill>
                <a:latin typeface="Archivo Black"/>
                <a:ea typeface="Archivo Black"/>
                <a:cs typeface="Archivo Black"/>
                <a:sym typeface="Archivo Black"/>
              </a:rPr>
              <a:t>Chrys</a:t>
            </a:r>
            <a:endParaRPr/>
          </a:p>
          <a:p>
            <a:pPr indent="0" lvl="0" marL="0" marR="0" rtl="0" algn="l">
              <a:spcBef>
                <a:spcPts val="0"/>
              </a:spcBef>
              <a:spcAft>
                <a:spcPts val="0"/>
              </a:spcAft>
              <a:buNone/>
            </a:pPr>
            <a:r>
              <a:rPr b="0" lang="en-US" sz="3450">
                <a:solidFill>
                  <a:srgbClr val="FFFFFF"/>
                </a:solidFill>
                <a:latin typeface="Archivo Black"/>
                <a:ea typeface="Archivo Black"/>
                <a:cs typeface="Archivo Black"/>
                <a:sym typeface="Archivo Black"/>
              </a:rPr>
              <a:t>Fé-Marty</a:t>
            </a:r>
            <a:endParaRPr/>
          </a:p>
          <a:p>
            <a:pPr indent="0" lvl="0" marL="0" marR="0" rtl="0" algn="l">
              <a:spcBef>
                <a:spcPts val="0"/>
              </a:spcBef>
              <a:spcAft>
                <a:spcPts val="0"/>
              </a:spcAft>
              <a:buNone/>
            </a:pPr>
            <a:r>
              <a:rPr b="0" lang="en-US" sz="3450">
                <a:solidFill>
                  <a:srgbClr val="FFFFFF"/>
                </a:solidFill>
                <a:latin typeface="Archivo Black"/>
                <a:ea typeface="Archivo Black"/>
                <a:cs typeface="Archivo Black"/>
                <a:sym typeface="Archivo Black"/>
              </a:rPr>
              <a:t>NIONGOLO</a:t>
            </a:r>
            <a:endParaRPr/>
          </a:p>
        </p:txBody>
      </p:sp>
      <p:sp>
        <p:nvSpPr>
          <p:cNvPr id="40" name="Google Shape;40;p4"/>
          <p:cNvSpPr/>
          <p:nvPr/>
        </p:nvSpPr>
        <p:spPr>
          <a:xfrm>
            <a:off x="619125" y="4191000"/>
            <a:ext cx="3333750" cy="1047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FFFFFF"/>
                </a:solidFill>
                <a:latin typeface="DM Sans"/>
                <a:ea typeface="DM Sans"/>
                <a:cs typeface="DM Sans"/>
                <a:sym typeface="DM Sans"/>
              </a:rPr>
              <a:t>Machine Learning Avancé</a:t>
            </a:r>
            <a:endParaRPr/>
          </a:p>
          <a:p>
            <a:pPr indent="0" lvl="0" marL="0" marR="0" rtl="0" algn="l">
              <a:spcBef>
                <a:spcPts val="0"/>
              </a:spcBef>
              <a:spcAft>
                <a:spcPts val="0"/>
              </a:spcAft>
              <a:buNone/>
            </a:pPr>
            <a:r>
              <a:rPr b="0" lang="en-US" sz="1800">
                <a:solidFill>
                  <a:srgbClr val="FFFFFF"/>
                </a:solidFill>
                <a:latin typeface="DM Sans"/>
                <a:ea typeface="DM Sans"/>
                <a:cs typeface="DM Sans"/>
                <a:sym typeface="DM Sans"/>
              </a:rPr>
              <a:t>Cybersup · Septembre 2026</a:t>
            </a:r>
            <a:endParaRPr/>
          </a:p>
        </p:txBody>
      </p:sp>
      <p:sp>
        <p:nvSpPr>
          <p:cNvPr id="41" name="Google Shape;41;p4"/>
          <p:cNvSpPr/>
          <p:nvPr/>
        </p:nvSpPr>
        <p:spPr>
          <a:xfrm>
            <a:off x="4429125" y="1657350"/>
            <a:ext cx="6762750" cy="619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Archivo Black"/>
                <a:ea typeface="Archivo Black"/>
                <a:cs typeface="Archivo Black"/>
                <a:sym typeface="Archivo Black"/>
              </a:rPr>
              <a:t>UNE SEMAINE POUR PRATIQUER</a:t>
            </a:r>
            <a:endParaRPr/>
          </a:p>
        </p:txBody>
      </p:sp>
      <p:sp>
        <p:nvSpPr>
          <p:cNvPr id="42" name="Google Shape;42;p4"/>
          <p:cNvSpPr/>
          <p:nvPr/>
        </p:nvSpPr>
        <p:spPr>
          <a:xfrm>
            <a:off x="4429125" y="2495550"/>
            <a:ext cx="6572250" cy="2524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950">
                <a:solidFill>
                  <a:srgbClr val="FFFFFF"/>
                </a:solidFill>
                <a:latin typeface="DM Sans"/>
                <a:ea typeface="DM Sans"/>
                <a:cs typeface="DM Sans"/>
                <a:sym typeface="DM Sans"/>
              </a:rPr>
              <a:t>Formateur : Chrys Fé-Marty NIONGOLO.</a:t>
            </a:r>
            <a:endParaRPr/>
          </a:p>
          <a:p>
            <a:pPr indent="0" lvl="0" marL="0" marR="0" rtl="0" algn="l">
              <a:spcBef>
                <a:spcPts val="0"/>
              </a:spcBef>
              <a:spcAft>
                <a:spcPts val="0"/>
              </a:spcAft>
              <a:buNone/>
            </a:pPr>
            <a:r>
              <a:t/>
            </a:r>
            <a:endParaRPr b="0" sz="1950">
              <a:solidFill>
                <a:srgbClr val="FFFFFF"/>
              </a:solidFill>
              <a:latin typeface="DM Sans"/>
              <a:ea typeface="DM Sans"/>
              <a:cs typeface="DM Sans"/>
              <a:sym typeface="DM Sans"/>
            </a:endParaRPr>
          </a:p>
          <a:p>
            <a:pPr indent="0" lvl="0" marL="0" marR="0" rtl="0" algn="l">
              <a:spcBef>
                <a:spcPts val="0"/>
              </a:spcBef>
              <a:spcAft>
                <a:spcPts val="0"/>
              </a:spcAft>
              <a:buNone/>
            </a:pPr>
            <a:r>
              <a:rPr b="0" lang="en-US" sz="1950">
                <a:solidFill>
                  <a:srgbClr val="FFFFFF"/>
                </a:solidFill>
                <a:latin typeface="DM Sans"/>
                <a:ea typeface="DM Sans"/>
                <a:cs typeface="DM Sans"/>
                <a:sym typeface="DM Sans"/>
              </a:rPr>
              <a:t>Une démarche centrée sur les mécanismes, l'expérimentation et la justification des choix.</a:t>
            </a:r>
            <a:endParaRPr/>
          </a:p>
          <a:p>
            <a:pPr indent="0" lvl="0" marL="0" marR="0" rtl="0" algn="l">
              <a:spcBef>
                <a:spcPts val="0"/>
              </a:spcBef>
              <a:spcAft>
                <a:spcPts val="0"/>
              </a:spcAft>
              <a:buNone/>
            </a:pPr>
            <a:r>
              <a:t/>
            </a:r>
            <a:endParaRPr b="0" sz="1950">
              <a:solidFill>
                <a:srgbClr val="FFFFFF"/>
              </a:solidFill>
              <a:latin typeface="DM Sans"/>
              <a:ea typeface="DM Sans"/>
              <a:cs typeface="DM Sans"/>
              <a:sym typeface="DM Sans"/>
            </a:endParaRPr>
          </a:p>
          <a:p>
            <a:pPr indent="0" lvl="0" marL="0" marR="0" rtl="0" algn="l">
              <a:spcBef>
                <a:spcPts val="0"/>
              </a:spcBef>
              <a:spcAft>
                <a:spcPts val="0"/>
              </a:spcAft>
              <a:buNone/>
            </a:pPr>
            <a:r>
              <a:rPr b="0" lang="en-US" sz="1950">
                <a:solidFill>
                  <a:srgbClr val="FFFFFF"/>
                </a:solidFill>
                <a:latin typeface="DM Sans"/>
                <a:ea typeface="DM Sans"/>
                <a:cs typeface="DM Sans"/>
                <a:sym typeface="DM Sans"/>
              </a:rPr>
              <a:t>Des exemples calculables, des notebooks Python et un projet à présenter en binôme.</a:t>
            </a:r>
            <a:endParaRPr/>
          </a:p>
        </p:txBody>
      </p:sp>
      <p:sp>
        <p:nvSpPr>
          <p:cNvPr id="43" name="Google Shape;43;p4"/>
          <p:cNvSpPr/>
          <p:nvPr/>
        </p:nvSpPr>
        <p:spPr>
          <a:xfrm>
            <a:off x="4429125" y="5181600"/>
            <a:ext cx="66675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650" u="sng">
                <a:solidFill>
                  <a:schemeClr val="hlink"/>
                </a:solidFill>
                <a:latin typeface="DM Sans"/>
                <a:ea typeface="DM Sans"/>
                <a:cs typeface="DM Sans"/>
                <a:sym typeface="DM Sans"/>
                <a:hlinkClick r:id="rId5"/>
              </a:rPr>
              <a:t>Profil LinkedIn de Chrys Fé-Marty NIONGOLO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47">
            <a:alpha val="88235"/>
          </a:srgbClr>
        </a:solidFill>
      </p:bgPr>
    </p:bg>
    <p:spTree>
      <p:nvGrpSpPr>
        <p:cNvPr id="48" name="Shape 48"/>
        <p:cNvGrpSpPr/>
        <p:nvPr/>
      </p:nvGrpSpPr>
      <p:grpSpPr>
        <a:xfrm>
          <a:off x="0" y="0"/>
          <a:ext cx="0" cy="0"/>
          <a:chOff x="0" y="0"/>
          <a:chExt cx="0" cy="0"/>
        </a:xfrm>
      </p:grpSpPr>
      <p:sp>
        <p:nvSpPr>
          <p:cNvPr id="49" name="Google Shape;49;p5"/>
          <p:cNvSpPr/>
          <p:nvPr/>
        </p:nvSpPr>
        <p:spPr>
          <a:xfrm>
            <a:off x="914400" y="981636"/>
            <a:ext cx="476400" cy="35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0" i="0" lang="en-US" sz="2100" u="none" cap="none">
                <a:solidFill>
                  <a:srgbClr val="FFFFFF"/>
                </a:solidFill>
                <a:latin typeface="DM Sans"/>
                <a:ea typeface="DM Sans"/>
                <a:cs typeface="DM Sans"/>
                <a:sym typeface="DM Sans"/>
              </a:rPr>
              <a:t>01</a:t>
            </a:r>
            <a:endParaRPr b="0" i="0" sz="2100" u="none" cap="none">
              <a:solidFill>
                <a:schemeClr val="dk1"/>
              </a:solidFill>
              <a:latin typeface="Calibri"/>
              <a:ea typeface="Calibri"/>
              <a:cs typeface="Calibri"/>
              <a:sym typeface="Calibri"/>
            </a:endParaRPr>
          </a:p>
        </p:txBody>
      </p:sp>
      <p:sp>
        <p:nvSpPr>
          <p:cNvPr id="50" name="Google Shape;50;p5"/>
          <p:cNvSpPr/>
          <p:nvPr/>
        </p:nvSpPr>
        <p:spPr>
          <a:xfrm>
            <a:off x="1638300" y="981075"/>
            <a:ext cx="6143625" cy="4381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1" i="0" lang="en-US" sz="2100" u="none" cap="none">
                <a:solidFill>
                  <a:srgbClr val="FFFFFF"/>
                </a:solidFill>
                <a:latin typeface="DM Sans"/>
                <a:ea typeface="DM Sans"/>
                <a:cs typeface="DM Sans"/>
                <a:sym typeface="DM Sans"/>
              </a:rPr>
              <a:t>Évaluer et régulariser</a:t>
            </a:r>
            <a:endParaRPr b="0" i="0" sz="1800" u="none" cap="none">
              <a:solidFill>
                <a:schemeClr val="dk1"/>
              </a:solidFill>
              <a:latin typeface="Calibri"/>
              <a:ea typeface="Calibri"/>
              <a:cs typeface="Calibri"/>
              <a:sym typeface="Calibri"/>
            </a:endParaRPr>
          </a:p>
        </p:txBody>
      </p:sp>
      <p:sp>
        <p:nvSpPr>
          <p:cNvPr id="51" name="Google Shape;51;p5"/>
          <p:cNvSpPr/>
          <p:nvPr/>
        </p:nvSpPr>
        <p:spPr>
          <a:xfrm>
            <a:off x="914400" y="1533934"/>
            <a:ext cx="609900" cy="35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0" i="0" lang="en-US" sz="2100" u="none" cap="none">
                <a:solidFill>
                  <a:srgbClr val="FFFFFF"/>
                </a:solidFill>
                <a:latin typeface="DM Sans"/>
                <a:ea typeface="DM Sans"/>
                <a:cs typeface="DM Sans"/>
                <a:sym typeface="DM Sans"/>
              </a:rPr>
              <a:t>0</a:t>
            </a:r>
            <a:r>
              <a:rPr lang="en-US" sz="2100">
                <a:solidFill>
                  <a:srgbClr val="FFFFFF"/>
                </a:solidFill>
                <a:latin typeface="DM Sans"/>
                <a:ea typeface="DM Sans"/>
                <a:cs typeface="DM Sans"/>
                <a:sym typeface="DM Sans"/>
              </a:rPr>
              <a:t>2</a:t>
            </a:r>
            <a:endParaRPr b="0" i="0" sz="2100" u="none" cap="none">
              <a:solidFill>
                <a:schemeClr val="dk1"/>
              </a:solidFill>
              <a:latin typeface="Calibri"/>
              <a:ea typeface="Calibri"/>
              <a:cs typeface="Calibri"/>
              <a:sym typeface="Calibri"/>
            </a:endParaRPr>
          </a:p>
        </p:txBody>
      </p:sp>
      <p:sp>
        <p:nvSpPr>
          <p:cNvPr id="52" name="Google Shape;52;p5"/>
          <p:cNvSpPr/>
          <p:nvPr/>
        </p:nvSpPr>
        <p:spPr>
          <a:xfrm>
            <a:off x="1638300" y="1533525"/>
            <a:ext cx="6143625" cy="4381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1" i="0" lang="en-US" sz="2100" u="none" cap="none">
                <a:solidFill>
                  <a:srgbClr val="FFFFFF"/>
                </a:solidFill>
                <a:latin typeface="DM Sans"/>
                <a:ea typeface="DM Sans"/>
                <a:cs typeface="DM Sans"/>
                <a:sym typeface="DM Sans"/>
              </a:rPr>
              <a:t>Ensembles et optimisation</a:t>
            </a:r>
            <a:endParaRPr b="0" i="0" sz="1800" u="none" cap="none">
              <a:solidFill>
                <a:schemeClr val="dk1"/>
              </a:solidFill>
              <a:latin typeface="Calibri"/>
              <a:ea typeface="Calibri"/>
              <a:cs typeface="Calibri"/>
              <a:sym typeface="Calibri"/>
            </a:endParaRPr>
          </a:p>
        </p:txBody>
      </p:sp>
      <p:sp>
        <p:nvSpPr>
          <p:cNvPr id="53" name="Google Shape;53;p5"/>
          <p:cNvSpPr/>
          <p:nvPr/>
        </p:nvSpPr>
        <p:spPr>
          <a:xfrm>
            <a:off x="914400" y="2087146"/>
            <a:ext cx="543300" cy="35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0" i="0" lang="en-US" sz="2100" u="none" cap="none">
                <a:solidFill>
                  <a:srgbClr val="FFFFFF"/>
                </a:solidFill>
                <a:latin typeface="DM Sans"/>
                <a:ea typeface="DM Sans"/>
                <a:cs typeface="DM Sans"/>
                <a:sym typeface="DM Sans"/>
              </a:rPr>
              <a:t>0</a:t>
            </a:r>
            <a:r>
              <a:rPr lang="en-US" sz="2100">
                <a:solidFill>
                  <a:srgbClr val="FFFFFF"/>
                </a:solidFill>
                <a:latin typeface="DM Sans"/>
                <a:ea typeface="DM Sans"/>
                <a:cs typeface="DM Sans"/>
                <a:sym typeface="DM Sans"/>
              </a:rPr>
              <a:t>3</a:t>
            </a:r>
            <a:endParaRPr b="0" i="0" sz="2100" u="none" cap="none">
              <a:solidFill>
                <a:schemeClr val="dk1"/>
              </a:solidFill>
              <a:latin typeface="Calibri"/>
              <a:ea typeface="Calibri"/>
              <a:cs typeface="Calibri"/>
              <a:sym typeface="Calibri"/>
            </a:endParaRPr>
          </a:p>
        </p:txBody>
      </p:sp>
      <p:sp>
        <p:nvSpPr>
          <p:cNvPr id="54" name="Google Shape;54;p5"/>
          <p:cNvSpPr/>
          <p:nvPr/>
        </p:nvSpPr>
        <p:spPr>
          <a:xfrm>
            <a:off x="1638300" y="2085975"/>
            <a:ext cx="6143625" cy="4381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1" i="0" lang="en-US" sz="2100" u="none" cap="none">
                <a:solidFill>
                  <a:srgbClr val="FFFFFF"/>
                </a:solidFill>
                <a:latin typeface="DM Sans"/>
                <a:ea typeface="DM Sans"/>
                <a:cs typeface="DM Sans"/>
                <a:sym typeface="DM Sans"/>
              </a:rPr>
              <a:t>Déséquilibre et features</a:t>
            </a:r>
            <a:endParaRPr b="0" i="0" sz="1800" u="none" cap="none">
              <a:solidFill>
                <a:schemeClr val="dk1"/>
              </a:solidFill>
              <a:latin typeface="Calibri"/>
              <a:ea typeface="Calibri"/>
              <a:cs typeface="Calibri"/>
              <a:sym typeface="Calibri"/>
            </a:endParaRPr>
          </a:p>
        </p:txBody>
      </p:sp>
      <p:sp>
        <p:nvSpPr>
          <p:cNvPr id="55" name="Google Shape;55;p5"/>
          <p:cNvSpPr/>
          <p:nvPr/>
        </p:nvSpPr>
        <p:spPr>
          <a:xfrm>
            <a:off x="914400" y="2639443"/>
            <a:ext cx="553200" cy="35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0" i="0" lang="en-US" sz="2100" u="none" cap="none">
                <a:solidFill>
                  <a:srgbClr val="FFFFFF"/>
                </a:solidFill>
                <a:latin typeface="DM Sans"/>
                <a:ea typeface="DM Sans"/>
                <a:cs typeface="DM Sans"/>
                <a:sym typeface="DM Sans"/>
              </a:rPr>
              <a:t>0</a:t>
            </a:r>
            <a:r>
              <a:rPr lang="en-US" sz="2100">
                <a:solidFill>
                  <a:srgbClr val="FFFFFF"/>
                </a:solidFill>
                <a:latin typeface="DM Sans"/>
                <a:ea typeface="DM Sans"/>
                <a:cs typeface="DM Sans"/>
                <a:sym typeface="DM Sans"/>
              </a:rPr>
              <a:t>4</a:t>
            </a:r>
            <a:endParaRPr b="0" i="0" sz="2100" u="none" cap="none">
              <a:solidFill>
                <a:schemeClr val="dk1"/>
              </a:solidFill>
              <a:latin typeface="Calibri"/>
              <a:ea typeface="Calibri"/>
              <a:cs typeface="Calibri"/>
              <a:sym typeface="Calibri"/>
            </a:endParaRPr>
          </a:p>
        </p:txBody>
      </p:sp>
      <p:sp>
        <p:nvSpPr>
          <p:cNvPr id="56" name="Google Shape;56;p5"/>
          <p:cNvSpPr/>
          <p:nvPr/>
        </p:nvSpPr>
        <p:spPr>
          <a:xfrm>
            <a:off x="1638300" y="2638425"/>
            <a:ext cx="6143625" cy="4381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1" i="0" lang="en-US" sz="2100" u="none" cap="none">
                <a:solidFill>
                  <a:srgbClr val="FFFFFF"/>
                </a:solidFill>
                <a:latin typeface="DM Sans"/>
                <a:ea typeface="DM Sans"/>
                <a:cs typeface="DM Sans"/>
                <a:sym typeface="DM Sans"/>
              </a:rPr>
              <a:t>Clustering et anomalies</a:t>
            </a:r>
            <a:endParaRPr b="0" i="0" sz="1800" u="none" cap="none">
              <a:solidFill>
                <a:schemeClr val="dk1"/>
              </a:solidFill>
              <a:latin typeface="Calibri"/>
              <a:ea typeface="Calibri"/>
              <a:cs typeface="Calibri"/>
              <a:sym typeface="Calibri"/>
            </a:endParaRPr>
          </a:p>
        </p:txBody>
      </p:sp>
      <p:sp>
        <p:nvSpPr>
          <p:cNvPr id="57" name="Google Shape;57;p5"/>
          <p:cNvSpPr/>
          <p:nvPr/>
        </p:nvSpPr>
        <p:spPr>
          <a:xfrm>
            <a:off x="914400" y="3191741"/>
            <a:ext cx="553200" cy="35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0" i="0" lang="en-US" sz="2100" u="none" cap="none">
                <a:solidFill>
                  <a:srgbClr val="FFFFFF"/>
                </a:solidFill>
                <a:latin typeface="DM Sans"/>
                <a:ea typeface="DM Sans"/>
                <a:cs typeface="DM Sans"/>
                <a:sym typeface="DM Sans"/>
              </a:rPr>
              <a:t>0</a:t>
            </a:r>
            <a:r>
              <a:rPr lang="en-US" sz="2100">
                <a:solidFill>
                  <a:srgbClr val="FFFFFF"/>
                </a:solidFill>
                <a:latin typeface="DM Sans"/>
                <a:ea typeface="DM Sans"/>
                <a:cs typeface="DM Sans"/>
                <a:sym typeface="DM Sans"/>
              </a:rPr>
              <a:t>5</a:t>
            </a:r>
            <a:endParaRPr b="0" i="0" sz="2100" u="none" cap="none">
              <a:solidFill>
                <a:schemeClr val="dk1"/>
              </a:solidFill>
              <a:latin typeface="Calibri"/>
              <a:ea typeface="Calibri"/>
              <a:cs typeface="Calibri"/>
              <a:sym typeface="Calibri"/>
            </a:endParaRPr>
          </a:p>
        </p:txBody>
      </p:sp>
      <p:sp>
        <p:nvSpPr>
          <p:cNvPr id="58" name="Google Shape;58;p5"/>
          <p:cNvSpPr/>
          <p:nvPr/>
        </p:nvSpPr>
        <p:spPr>
          <a:xfrm>
            <a:off x="1638300" y="3190875"/>
            <a:ext cx="6143625" cy="4381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DM Sans"/>
              <a:buNone/>
            </a:pPr>
            <a:r>
              <a:rPr b="1" i="0" lang="en-US" sz="2100" u="none" cap="none">
                <a:solidFill>
                  <a:srgbClr val="FFFFFF"/>
                </a:solidFill>
                <a:latin typeface="DM Sans"/>
                <a:ea typeface="DM Sans"/>
                <a:cs typeface="DM Sans"/>
                <a:sym typeface="DM Sans"/>
              </a:rPr>
              <a:t>Interpréter et restituer</a:t>
            </a:r>
            <a:endParaRPr b="0" i="0" sz="1800" u="none" cap="none">
              <a:solidFill>
                <a:schemeClr val="dk1"/>
              </a:solidFill>
              <a:latin typeface="Calibri"/>
              <a:ea typeface="Calibri"/>
              <a:cs typeface="Calibri"/>
              <a:sym typeface="Calibri"/>
            </a:endParaRPr>
          </a:p>
        </p:txBody>
      </p:sp>
      <p:sp>
        <p:nvSpPr>
          <p:cNvPr id="59" name="Google Shape;59;p5"/>
          <p:cNvSpPr/>
          <p:nvPr/>
        </p:nvSpPr>
        <p:spPr>
          <a:xfrm>
            <a:off x="914400" y="4224528"/>
            <a:ext cx="7696505" cy="12390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000"/>
              <a:buFont typeface="Archivo Black"/>
              <a:buNone/>
            </a:pPr>
            <a:r>
              <a:rPr b="0" i="0" lang="en-US" sz="9000" u="none" cap="none">
                <a:solidFill>
                  <a:srgbClr val="FFFFFF"/>
                </a:solidFill>
                <a:latin typeface="Archivo Black"/>
                <a:ea typeface="Archivo Black"/>
                <a:cs typeface="Archivo Black"/>
                <a:sym typeface="Archivo Black"/>
              </a:rPr>
              <a:t>SOMMAIRE</a:t>
            </a:r>
            <a:endParaRPr b="0" i="0" sz="9000" u="none" cap="none">
              <a:solidFill>
                <a:schemeClr val="dk1"/>
              </a:solidFill>
              <a:latin typeface="Calibri"/>
              <a:ea typeface="Calibri"/>
              <a:cs typeface="Calibri"/>
              <a:sym typeface="Calibri"/>
            </a:endParaRPr>
          </a:p>
        </p:txBody>
      </p:sp>
      <p:sp>
        <p:nvSpPr>
          <p:cNvPr id="60" name="Google Shape;60;p5"/>
          <p:cNvSpPr/>
          <p:nvPr/>
        </p:nvSpPr>
        <p:spPr>
          <a:xfrm>
            <a:off x="914400" y="5705856"/>
            <a:ext cx="10362895" cy="9144"/>
          </a:xfrm>
          <a:prstGeom prst="rect">
            <a:avLst/>
          </a:prstGeom>
          <a:solidFill>
            <a:srgbClr val="FFFFFF">
              <a:alpha val="80000"/>
            </a:srgbClr>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1" name="Google Shape;61;p5"/>
          <p:cNvSpPr/>
          <p:nvPr/>
        </p:nvSpPr>
        <p:spPr>
          <a:xfrm>
            <a:off x="8191500" y="1000348"/>
            <a:ext cx="38400" cy="267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solidFill>
                <a:schemeClr val="lt1"/>
              </a:solidFill>
            </a:endParaRPr>
          </a:p>
        </p:txBody>
      </p:sp>
      <p:sp>
        <p:nvSpPr>
          <p:cNvPr id="62" name="Google Shape;62;p5"/>
          <p:cNvSpPr/>
          <p:nvPr/>
        </p:nvSpPr>
        <p:spPr>
          <a:xfrm>
            <a:off x="8381695" y="1028694"/>
            <a:ext cx="2210100" cy="210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500"/>
              <a:buFont typeface="Archivo Black"/>
              <a:buNone/>
            </a:pPr>
            <a:r>
              <a:rPr b="0" i="0" lang="en-US" sz="1500" u="none" cap="none">
                <a:solidFill>
                  <a:schemeClr val="lt1"/>
                </a:solidFill>
                <a:latin typeface="Archivo Black"/>
                <a:ea typeface="Archivo Black"/>
                <a:cs typeface="Archivo Black"/>
                <a:sym typeface="Archivo Black"/>
              </a:rPr>
              <a:t>APERÇU DU COURS</a:t>
            </a:r>
            <a:endParaRPr b="0" i="0" sz="1500" u="none" cap="none">
              <a:solidFill>
                <a:schemeClr val="lt1"/>
              </a:solidFill>
              <a:latin typeface="Calibri"/>
              <a:ea typeface="Calibri"/>
              <a:cs typeface="Calibri"/>
              <a:sym typeface="Calibri"/>
            </a:endParaRPr>
          </a:p>
        </p:txBody>
      </p:sp>
      <p:sp>
        <p:nvSpPr>
          <p:cNvPr id="63" name="Google Shape;63;p5"/>
          <p:cNvSpPr/>
          <p:nvPr/>
        </p:nvSpPr>
        <p:spPr>
          <a:xfrm>
            <a:off x="8286750" y="1438275"/>
            <a:ext cx="3286125" cy="1666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2937"/>
              </a:buClr>
              <a:buSzPts val="1300"/>
              <a:buFont typeface="DM Sans"/>
              <a:buNone/>
            </a:pPr>
            <a:r>
              <a:rPr b="0" i="0" lang="en-US" sz="1650" u="none" cap="none">
                <a:solidFill>
                  <a:srgbClr val="FFFFFF"/>
                </a:solidFill>
                <a:latin typeface="DM Sans"/>
                <a:ea typeface="DM Sans"/>
                <a:cs typeface="DM Sans"/>
                <a:sym typeface="DM Sans"/>
              </a:rPr>
              <a:t>Évaluer, optimiser et interpréter des modèles.</a:t>
            </a:r>
            <a:endParaRPr b="0" i="0" sz="1300" u="none" cap="none">
              <a:solidFill>
                <a:schemeClr val="lt1"/>
              </a:solidFill>
              <a:latin typeface="Calibri"/>
              <a:ea typeface="Calibri"/>
              <a:cs typeface="Calibri"/>
              <a:sym typeface="Calibri"/>
            </a:endParaRPr>
          </a:p>
          <a:p>
            <a:pPr indent="0" lvl="0" marL="0" marR="0" rtl="0" algn="l">
              <a:spcBef>
                <a:spcPts val="0"/>
              </a:spcBef>
              <a:spcAft>
                <a:spcPts val="0"/>
              </a:spcAft>
              <a:buClr>
                <a:srgbClr val="1F2937"/>
              </a:buClr>
              <a:buSzPts val="1300"/>
              <a:buFont typeface="DM Sans"/>
              <a:buNone/>
            </a:pPr>
            <a:r>
              <a:t/>
            </a:r>
            <a:endParaRPr b="0" i="0" sz="1300" u="none" cap="none">
              <a:solidFill>
                <a:schemeClr val="lt1"/>
              </a:solidFill>
              <a:latin typeface="Calibri"/>
              <a:ea typeface="Calibri"/>
              <a:cs typeface="Calibri"/>
              <a:sym typeface="Calibri"/>
            </a:endParaRPr>
          </a:p>
          <a:p>
            <a:pPr indent="0" lvl="0" marL="0" marR="0" rtl="0" algn="l">
              <a:spcBef>
                <a:spcPts val="0"/>
              </a:spcBef>
              <a:spcAft>
                <a:spcPts val="0"/>
              </a:spcAft>
              <a:buClr>
                <a:srgbClr val="1F2937"/>
              </a:buClr>
              <a:buSzPts val="1300"/>
              <a:buFont typeface="DM Sans"/>
              <a:buNone/>
            </a:pPr>
            <a:r>
              <a:rPr b="0" i="0" lang="en-US" sz="1650" u="none" cap="none">
                <a:solidFill>
                  <a:srgbClr val="FFFFFF"/>
                </a:solidFill>
                <a:latin typeface="DM Sans"/>
                <a:ea typeface="DM Sans"/>
                <a:cs typeface="DM Sans"/>
                <a:sym typeface="DM Sans"/>
              </a:rPr>
              <a:t>Cours, TP Python et projet en binôme.</a:t>
            </a:r>
            <a:endParaRPr b="0" i="0" sz="1300" u="none" cap="none">
              <a:solidFill>
                <a:schemeClr val="lt1"/>
              </a:solidFill>
              <a:latin typeface="Calibri"/>
              <a:ea typeface="Calibri"/>
              <a:cs typeface="Calibri"/>
              <a:sym typeface="Calibri"/>
            </a:endParaRPr>
          </a:p>
        </p:txBody>
      </p:sp>
      <p:sp>
        <p:nvSpPr>
          <p:cNvPr id="64" name="Google Shape;64;p5"/>
          <p:cNvSpPr/>
          <p:nvPr/>
        </p:nvSpPr>
        <p:spPr>
          <a:xfrm>
            <a:off x="8191500" y="3053684"/>
            <a:ext cx="381300" cy="381300"/>
          </a:xfrm>
          <a:prstGeom prst="roundRect">
            <a:avLst>
              <a:gd fmla="val 239808" name="adj"/>
            </a:avLst>
          </a:prstGeom>
          <a:noFill/>
          <a:ln cap="flat" cmpd="sng" w="25400">
            <a:solidFill>
              <a:schemeClr val="lt1"/>
            </a:solidFill>
            <a:prstDash val="solid"/>
            <a:round/>
            <a:headEnd len="sm" w="sm" type="none"/>
            <a:tailEnd len="sm" w="sm" type="none"/>
          </a:ln>
          <a:effectLst>
            <a:outerShdw blurRad="57150" rotWithShape="0" algn="bl" dir="5400000" dist="19050">
              <a:srgbClr val="000000">
                <a:alpha val="50196"/>
              </a:srgbClr>
            </a:outerShdw>
          </a:effectLst>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pic>
        <p:nvPicPr>
          <p:cNvPr id="65" name="Google Shape;65;p5"/>
          <p:cNvPicPr preferRelativeResize="0"/>
          <p:nvPr/>
        </p:nvPicPr>
        <p:blipFill rotWithShape="1">
          <a:blip r:embed="rId3">
            <a:alphaModFix/>
          </a:blip>
          <a:srcRect b="0" l="0" r="0" t="0"/>
          <a:stretch/>
        </p:blipFill>
        <p:spPr>
          <a:xfrm>
            <a:off x="8305800" y="3167984"/>
            <a:ext cx="152705" cy="152705"/>
          </a:xfrm>
          <a:prstGeom prst="rect">
            <a:avLst/>
          </a:prstGeom>
          <a:noFill/>
          <a:ln>
            <a:noFill/>
          </a:ln>
        </p:spPr>
      </p:pic>
      <p:sp>
        <p:nvSpPr>
          <p:cNvPr id="66" name="Google Shape;66;p5"/>
          <p:cNvSpPr/>
          <p:nvPr/>
        </p:nvSpPr>
        <p:spPr>
          <a:xfrm>
            <a:off x="8715375" y="3133725"/>
            <a:ext cx="2714625" cy="2857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200"/>
              <a:buFont typeface="DM Sans"/>
              <a:buNone/>
            </a:pPr>
            <a:r>
              <a:rPr b="1" lang="en-US" sz="1500">
                <a:solidFill>
                  <a:srgbClr val="FFFFFF"/>
                </a:solidFill>
                <a:latin typeface="DM Sans"/>
                <a:ea typeface="DM Sans"/>
                <a:cs typeface="DM Sans"/>
                <a:sym typeface="DM Sans"/>
              </a:rPr>
              <a:t>35 h en présentiel</a:t>
            </a:r>
            <a:endParaRPr b="0" i="0" sz="1200" u="none" cap="none">
              <a:solidFill>
                <a:schemeClr val="lt1"/>
              </a:solidFill>
              <a:latin typeface="Calibri"/>
              <a:ea typeface="Calibri"/>
              <a:cs typeface="Calibri"/>
              <a:sym typeface="Calibri"/>
            </a:endParaRPr>
          </a:p>
        </p:txBody>
      </p:sp>
      <p:sp>
        <p:nvSpPr>
          <p:cNvPr id="67" name="Google Shape;67;p5"/>
          <p:cNvSpPr/>
          <p:nvPr/>
        </p:nvSpPr>
        <p:spPr>
          <a:xfrm>
            <a:off x="8191500" y="3587693"/>
            <a:ext cx="381300" cy="381300"/>
          </a:xfrm>
          <a:prstGeom prst="roundRect">
            <a:avLst>
              <a:gd fmla="val 239808" name="adj"/>
            </a:avLst>
          </a:prstGeom>
          <a:noFill/>
          <a:ln cap="flat" cmpd="sng" w="25400">
            <a:solidFill>
              <a:schemeClr val="lt1"/>
            </a:solidFill>
            <a:prstDash val="solid"/>
            <a:round/>
            <a:headEnd len="sm" w="sm" type="none"/>
            <a:tailEnd len="sm" w="sm" type="none"/>
          </a:ln>
          <a:effectLst>
            <a:outerShdw blurRad="57150" rotWithShape="0" algn="bl" dir="5400000" dist="19050">
              <a:srgbClr val="000000">
                <a:alpha val="50196"/>
              </a:srgbClr>
            </a:outerShdw>
          </a:effectLst>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pic>
        <p:nvPicPr>
          <p:cNvPr id="68" name="Google Shape;68;p5"/>
          <p:cNvPicPr preferRelativeResize="0"/>
          <p:nvPr/>
        </p:nvPicPr>
        <p:blipFill rotWithShape="1">
          <a:blip r:embed="rId4">
            <a:alphaModFix/>
          </a:blip>
          <a:srcRect b="0" l="-30" r="-40" t="0"/>
          <a:stretch/>
        </p:blipFill>
        <p:spPr>
          <a:xfrm>
            <a:off x="8296656" y="3701993"/>
            <a:ext cx="171907" cy="152705"/>
          </a:xfrm>
          <a:prstGeom prst="rect">
            <a:avLst/>
          </a:prstGeom>
          <a:noFill/>
          <a:ln>
            <a:noFill/>
          </a:ln>
        </p:spPr>
      </p:pic>
      <p:sp>
        <p:nvSpPr>
          <p:cNvPr id="69" name="Google Shape;69;p5"/>
          <p:cNvSpPr/>
          <p:nvPr/>
        </p:nvSpPr>
        <p:spPr>
          <a:xfrm>
            <a:off x="8715375" y="3676650"/>
            <a:ext cx="2714625" cy="2857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200"/>
              <a:buFont typeface="DM Sans"/>
              <a:buNone/>
            </a:pPr>
            <a:r>
              <a:rPr b="1" i="0" lang="en-US" sz="1500" u="none" cap="none">
                <a:solidFill>
                  <a:srgbClr val="FFFFFF"/>
                </a:solidFill>
                <a:latin typeface="DM Sans"/>
                <a:ea typeface="DM Sans"/>
                <a:cs typeface="DM Sans"/>
                <a:sym typeface="DM Sans"/>
              </a:rPr>
              <a:t>5 journées</a:t>
            </a:r>
            <a:endParaRPr b="0" i="0" sz="1200" u="none" cap="none">
              <a:solidFill>
                <a:schemeClr val="lt1"/>
              </a:solidFill>
              <a:latin typeface="Calibri"/>
              <a:ea typeface="Calibri"/>
              <a:cs typeface="Calibri"/>
              <a:sym typeface="Calibri"/>
            </a:endParaRPr>
          </a:p>
        </p:txBody>
      </p:sp>
      <p:sp>
        <p:nvSpPr>
          <p:cNvPr id="70" name="Google Shape;70;p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003</a:t>
            </a:r>
            <a:endParaRPr b="0" i="0" sz="1300" u="none" cap="none">
              <a:solidFill>
                <a:schemeClr val="dk1"/>
              </a:solidFill>
              <a:latin typeface="Calibri"/>
              <a:ea typeface="Calibri"/>
              <a:cs typeface="Calibri"/>
              <a:sym typeface="Calibri"/>
            </a:endParaRPr>
          </a:p>
        </p:txBody>
      </p:sp>
      <p:pic>
        <p:nvPicPr>
          <p:cNvPr id="71" name="Google Shape;71;p5"/>
          <p:cNvPicPr preferRelativeResize="0"/>
          <p:nvPr/>
        </p:nvPicPr>
        <p:blipFill rotWithShape="1">
          <a:blip r:embed="rId5">
            <a:alphaModFix/>
          </a:blip>
          <a:srcRect b="0" l="0" r="0" t="0"/>
          <a:stretch/>
        </p:blipFill>
        <p:spPr>
          <a:xfrm>
            <a:off x="8659888" y="6240002"/>
            <a:ext cx="1519799" cy="197995"/>
          </a:xfrm>
          <a:prstGeom prst="rect">
            <a:avLst/>
          </a:prstGeom>
          <a:noFill/>
          <a:ln>
            <a:noFill/>
          </a:ln>
        </p:spPr>
      </p:pic>
      <p:sp>
        <p:nvSpPr>
          <p:cNvPr id="72" name="Google Shape;72;p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3" name="Google Shape;73;p5"/>
          <p:cNvSpPr/>
          <p:nvPr/>
        </p:nvSpPr>
        <p:spPr>
          <a:xfrm>
            <a:off x="914400" y="5705856"/>
            <a:ext cx="10362900" cy="9000"/>
          </a:xfrm>
          <a:prstGeom prst="rect">
            <a:avLst/>
          </a:prstGeom>
          <a:solidFill>
            <a:srgbClr val="FFFFFF">
              <a:alpha val="80000"/>
            </a:srgbClr>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pic>
        <p:nvPicPr>
          <p:cNvPr id="74" name="Google Shape;74;p5"/>
          <p:cNvPicPr preferRelativeResize="0"/>
          <p:nvPr/>
        </p:nvPicPr>
        <p:blipFill rotWithShape="1">
          <a:blip r:embed="rId6">
            <a:alphaModFix/>
          </a:blip>
          <a:srcRect b="0" l="0" r="0" t="0"/>
          <a:stretch/>
        </p:blipFill>
        <p:spPr>
          <a:xfrm>
            <a:off x="862073" y="6064542"/>
            <a:ext cx="549625" cy="549625"/>
          </a:xfrm>
          <a:prstGeom prst="rect">
            <a:avLst/>
          </a:prstGeom>
          <a:noFill/>
          <a:ln>
            <a:noFill/>
          </a:ln>
        </p:spPr>
      </p:pic>
      <p:pic>
        <p:nvPicPr>
          <p:cNvPr id="75" name="Google Shape;75;p5"/>
          <p:cNvPicPr preferRelativeResize="0"/>
          <p:nvPr/>
        </p:nvPicPr>
        <p:blipFill rotWithShape="1">
          <a:blip r:embed="rId7">
            <a:alphaModFix/>
          </a:blip>
          <a:srcRect b="0" l="0" r="0" t="0"/>
          <a:stretch/>
        </p:blipFill>
        <p:spPr>
          <a:xfrm>
            <a:off x="979165" y="6171138"/>
            <a:ext cx="333379" cy="345450"/>
          </a:xfrm>
          <a:prstGeom prst="rect">
            <a:avLst/>
          </a:prstGeom>
          <a:noFill/>
          <a:ln>
            <a:noFill/>
          </a:ln>
        </p:spPr>
      </p:pic>
      <p:sp>
        <p:nvSpPr>
          <p:cNvPr id="76" name="Google Shape;76;p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7" name="Google Shape;77;p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4" name="Google Shape;84;p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5" name="Google Shape;85;p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6" name="Google Shape;86;p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004</a:t>
            </a:r>
            <a:endParaRPr b="0" i="0" sz="1300" u="none" cap="none">
              <a:solidFill>
                <a:schemeClr val="dk1"/>
              </a:solidFill>
              <a:latin typeface="Calibri"/>
              <a:ea typeface="Calibri"/>
              <a:cs typeface="Calibri"/>
              <a:sym typeface="Calibri"/>
            </a:endParaRPr>
          </a:p>
        </p:txBody>
      </p:sp>
      <p:pic>
        <p:nvPicPr>
          <p:cNvPr id="87" name="Google Shape;87;p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8" name="Google Shape;88;p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9" name="Google Shape;89;p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90" name="Google Shape;90;p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1" name="Google Shape;91;p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2" name="Google Shape;92;p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3" name="Google Shape;93;p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Six compétences à démontrer</a:t>
            </a:r>
            <a:endParaRPr/>
          </a:p>
        </p:txBody>
      </p:sp>
      <p:graphicFrame>
        <p:nvGraphicFramePr>
          <p:cNvPr id="94" name="Google Shape;94;p6"/>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5334000"/>
                <a:gridCol w="5334000"/>
              </a:tblGrid>
              <a:tr h="435425">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strike="noStrike">
                          <a:solidFill>
                            <a:srgbClr val="FFFFFF"/>
                          </a:solidFill>
                          <a:latin typeface="DM Sans"/>
                          <a:ea typeface="DM Sans"/>
                          <a:cs typeface="DM Sans"/>
                          <a:sym typeface="DM Sans"/>
                        </a:rPr>
                        <a:t>Compétence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Preuve attendue</a:t>
                      </a:r>
                      <a:endParaRPr/>
                    </a:p>
                  </a:txBody>
                  <a:tcPr marT="45725" marB="45725" marR="91450" marL="91450">
                    <a:solidFill>
                      <a:srgbClr val="303C8B"/>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Choisir un ensemble ou un clustering</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Comparer des hypothèses et résultats</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Optimiser sans contaminer le test</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Pipeline et validation adaptée</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Gérer classes rares et features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AP, calibration, seuil et ablations</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Interpréter les prédictions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Diagnostic avec limites explicites</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Évaluer de façon fiable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Protocole, variabilité et groupes</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Préparer la reproductibilité</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Environnement, manifeste et model card</a:t>
                      </a:r>
                      <a:endParaRPr/>
                    </a:p>
                  </a:txBody>
                  <a:tcPr marT="45725" marB="45725" marR="91450" marL="91450">
                    <a:solidFill>
                      <a:srgbClr val="FFFFFF"/>
                    </a:solidFill>
                  </a:tcPr>
                </a:tc>
              </a:tr>
            </a:tbl>
          </a:graphicData>
        </a:graphic>
      </p:graphicFrame>
      <p:sp>
        <p:nvSpPr>
          <p:cNvPr id="95" name="Google Shape;95;p6"/>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96" name="Google Shape;96;p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3" name="Google Shape;103;p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4" name="Google Shape;104;p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5" name="Google Shape;105;p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005</a:t>
            </a:r>
            <a:endParaRPr b="0" i="0" sz="1300" u="none" cap="none">
              <a:solidFill>
                <a:schemeClr val="dk1"/>
              </a:solidFill>
              <a:latin typeface="Calibri"/>
              <a:ea typeface="Calibri"/>
              <a:cs typeface="Calibri"/>
              <a:sym typeface="Calibri"/>
            </a:endParaRPr>
          </a:p>
        </p:txBody>
      </p:sp>
      <p:pic>
        <p:nvPicPr>
          <p:cNvPr id="106" name="Google Shape;106;p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7" name="Google Shape;107;p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8" name="Google Shape;108;p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109" name="Google Shape;109;p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10" name="Google Shape;110;p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11" name="Google Shape;111;p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12" name="Google Shape;112;p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Prérequis et diagnostic</a:t>
            </a:r>
            <a:endParaRPr/>
          </a:p>
        </p:txBody>
      </p:sp>
      <p:sp>
        <p:nvSpPr>
          <p:cNvPr id="113" name="Google Shape;113;p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Python : fonctions, tableaux NumPy, DataFrame pandas et graphiques simples.</a:t>
            </a:r>
            <a:endParaRPr/>
          </a:p>
        </p:txBody>
      </p:sp>
      <p:sp>
        <p:nvSpPr>
          <p:cNvPr id="114" name="Google Shape;114;p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Statistiques : moyenne, variance, probabilité conditionnelle, corrélation.</a:t>
            </a:r>
            <a:endParaRPr/>
          </a:p>
        </p:txBody>
      </p:sp>
      <p:sp>
        <p:nvSpPr>
          <p:cNvPr id="115" name="Google Shape;115;p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ML : entraînement/test, régression, classification et lecture d'une matrice de confusion.</a:t>
            </a:r>
            <a:endParaRPr/>
          </a:p>
        </p:txBody>
      </p:sp>
      <p:sp>
        <p:nvSpPr>
          <p:cNvPr id="116" name="Google Shape;116;p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Diagnostic de 10 minutes puis groupes de travail complémentaires</a:t>
            </a:r>
            <a:endParaRPr/>
          </a:p>
        </p:txBody>
      </p:sp>
      <p:sp>
        <p:nvSpPr>
          <p:cNvPr id="117" name="Google Shape;117;p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R01, R33 · liens et détails dans les notes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4" name="Google Shape;124;p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5" name="Google Shape;125;p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6" name="Google Shape;126;p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006</a:t>
            </a:r>
            <a:endParaRPr b="0" i="0" sz="1300" u="none" cap="none">
              <a:solidFill>
                <a:schemeClr val="dk1"/>
              </a:solidFill>
              <a:latin typeface="Calibri"/>
              <a:ea typeface="Calibri"/>
              <a:cs typeface="Calibri"/>
              <a:sym typeface="Calibri"/>
            </a:endParaRPr>
          </a:p>
        </p:txBody>
      </p:sp>
      <p:pic>
        <p:nvPicPr>
          <p:cNvPr id="127" name="Google Shape;127;p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28" name="Google Shape;128;p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29" name="Google Shape;129;p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130" name="Google Shape;130;p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1" name="Google Shape;131;p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2" name="Google Shape;132;p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3" name="Google Shape;133;p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rythme des cinq journées</a:t>
            </a:r>
            <a:endParaRPr/>
          </a:p>
        </p:txBody>
      </p:sp>
      <p:graphicFrame>
        <p:nvGraphicFramePr>
          <p:cNvPr id="134" name="Google Shape;134;p8"/>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Jour</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Thème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Pratique principale</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Lun. 21/09</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Évaluation, régularisation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TP00 + TP01</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Mar. 22/09</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Ensembles, optimisation</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TP02 + TP03</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Mer. 23/09</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Classes rares, features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TP04</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Jeu. 24/09</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PCA, clustering, anomalies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TP05</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Ven. 25/09</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Explication, incertitude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TP06 + projet final</a:t>
                      </a:r>
                      <a:endParaRPr/>
                    </a:p>
                  </a:txBody>
                  <a:tcPr marT="45725" marB="45725" marR="91450" marL="91450">
                    <a:solidFill>
                      <a:srgbClr val="F4F5F8"/>
                    </a:solidFill>
                  </a:tcPr>
                </a:tc>
              </a:tr>
            </a:tbl>
          </a:graphicData>
        </a:graphic>
      </p:graphicFrame>
      <p:sp>
        <p:nvSpPr>
          <p:cNvPr id="135" name="Google Shape;135;p8"/>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Chaque jour : 7 heures pédagogiques, pauses exclues</a:t>
            </a:r>
            <a:endParaRPr/>
          </a:p>
        </p:txBody>
      </p:sp>
      <p:sp>
        <p:nvSpPr>
          <p:cNvPr id="136" name="Google Shape;136;p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3" name="Google Shape;143;p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4" name="Google Shape;144;p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5" name="Google Shape;145;p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007</a:t>
            </a:r>
            <a:endParaRPr b="0" i="0" sz="1300" u="none" cap="none">
              <a:solidFill>
                <a:schemeClr val="dk1"/>
              </a:solidFill>
              <a:latin typeface="Calibri"/>
              <a:ea typeface="Calibri"/>
              <a:cs typeface="Calibri"/>
              <a:sym typeface="Calibri"/>
            </a:endParaRPr>
          </a:p>
        </p:txBody>
      </p:sp>
      <p:pic>
        <p:nvPicPr>
          <p:cNvPr id="146" name="Google Shape;146;p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7" name="Google Shape;147;p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8" name="Google Shape;148;p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149" name="Google Shape;149;p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0" name="Google Shape;150;p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51" name="Google Shape;151;p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52" name="Google Shape;152;p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fil rouge : prioriser des appels</a:t>
            </a:r>
            <a:endParaRPr/>
          </a:p>
        </p:txBody>
      </p:sp>
      <p:sp>
        <p:nvSpPr>
          <p:cNvPr id="153" name="Google Shape;153;p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Décision : quels clients contacter avant une campagne ?</a:t>
            </a:r>
            <a:endParaRPr/>
          </a:p>
        </p:txBody>
      </p:sp>
      <p:sp>
        <p:nvSpPr>
          <p:cNvPr id="154" name="Google Shape;154;p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Prédiction : estimer une probabilité de souscription à partir des informations disponibles.</a:t>
            </a:r>
            <a:endParaRPr/>
          </a:p>
        </p:txBody>
      </p:sp>
      <p:sp>
        <p:nvSpPr>
          <p:cNvPr id="155" name="Google Shape;155;p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Évaluation : comparer au hasard, justifier le seuil et documenter les limites.</a:t>
            </a:r>
            <a:endParaRPr/>
          </a:p>
        </p:txBody>
      </p:sp>
      <p:sp>
        <p:nvSpPr>
          <p:cNvPr id="156" name="Google Shape;156;p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score de propension n'est pas l'effet causal d'un appel</a:t>
            </a:r>
            <a:endParaRPr/>
          </a:p>
        </p:txBody>
      </p:sp>
      <p:sp>
        <p:nvSpPr>
          <p:cNvPr id="157" name="Google Shape;157;p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R32, R39 · liens et détails dans les notes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1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4" name="Google Shape;164;p1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5" name="Google Shape;165;p1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6" name="Google Shape;166;p1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008</a:t>
            </a:r>
            <a:endParaRPr b="0" i="0" sz="1300" u="none" cap="none">
              <a:solidFill>
                <a:schemeClr val="dk1"/>
              </a:solidFill>
              <a:latin typeface="Calibri"/>
              <a:ea typeface="Calibri"/>
              <a:cs typeface="Calibri"/>
              <a:sym typeface="Calibri"/>
            </a:endParaRPr>
          </a:p>
        </p:txBody>
      </p:sp>
      <p:pic>
        <p:nvPicPr>
          <p:cNvPr id="167" name="Google Shape;167;p1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8" name="Google Shape;168;p1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9" name="Google Shape;169;p1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170" name="Google Shape;170;p1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1" name="Google Shape;171;p1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2" name="Google Shape;172;p1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3" name="Google Shape;173;p1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Nos ressources de travail</a:t>
            </a:r>
            <a:endParaRPr/>
          </a:p>
        </p:txBody>
      </p:sp>
      <p:sp>
        <p:nvSpPr>
          <p:cNvPr id="174" name="Google Shape;174;p1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diaporama pose les mécanismes et les questions à discuter.</a:t>
            </a:r>
            <a:endParaRPr/>
          </a:p>
        </p:txBody>
      </p:sp>
      <p:sp>
        <p:nvSpPr>
          <p:cNvPr id="175" name="Google Shape;175;p1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notebooks contiennent des exemples, des exercices et des vérifications.</a:t>
            </a:r>
            <a:endParaRPr/>
          </a:p>
        </p:txBody>
      </p:sp>
      <p:sp>
        <p:nvSpPr>
          <p:cNvPr id="176" name="Google Shape;176;p1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dépôt conserve le programme, les sources, le barème et les versions des dépendances.</a:t>
            </a:r>
            <a:endParaRPr/>
          </a:p>
        </p:txBody>
      </p:sp>
      <p:sp>
        <p:nvSpPr>
          <p:cNvPr id="177" name="Google Shape;177;p1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CPU suffisant ; données des TP disponibles hors ligne après installation</a:t>
            </a:r>
            <a:endParaRPr/>
          </a:p>
        </p:txBody>
      </p:sp>
      <p:sp>
        <p:nvSpPr>
          <p:cNvPr id="178" name="Google Shape;178;p1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5" name="Google Shape;185;p1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6" name="Google Shape;186;p1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7" name="Google Shape;187;p1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009</a:t>
            </a:r>
            <a:endParaRPr b="0" i="0" sz="1300" u="none" cap="none">
              <a:solidFill>
                <a:schemeClr val="dk1"/>
              </a:solidFill>
              <a:latin typeface="Calibri"/>
              <a:ea typeface="Calibri"/>
              <a:cs typeface="Calibri"/>
              <a:sym typeface="Calibri"/>
            </a:endParaRPr>
          </a:p>
        </p:txBody>
      </p:sp>
      <p:pic>
        <p:nvPicPr>
          <p:cNvPr id="188" name="Google Shape;188;p1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9" name="Google Shape;189;p1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0" name="Google Shape;190;p1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191" name="Google Shape;191;p1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2" name="Google Shape;192;p1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3" name="Google Shape;193;p1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4" name="Google Shape;194;p1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Exécuter un exemple dans Colab</a:t>
            </a:r>
            <a:endParaRPr/>
          </a:p>
        </p:txBody>
      </p:sp>
      <p:sp>
        <p:nvSpPr>
          <p:cNvPr id="195" name="Google Shape;195;p1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Importer un notebook autonome depuis le pack étudiant.</a:t>
            </a:r>
            <a:endParaRPr/>
          </a:p>
        </p:txBody>
      </p:sp>
      <p:sp>
        <p:nvSpPr>
          <p:cNvPr id="196" name="Google Shape;196;p1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Installer les dépendances, puis exécuter les cellules dans l'ordre.</a:t>
            </a:r>
            <a:endParaRPr/>
          </a:p>
        </p:txBody>
      </p:sp>
      <p:sp>
        <p:nvSpPr>
          <p:cNvPr id="197" name="Google Shape;197;p1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Sauvegarder le notebook et ses résultats avant de quitter la session.</a:t>
            </a:r>
            <a:endParaRPr/>
          </a:p>
        </p:txBody>
      </p:sp>
      <p:sp>
        <p:nvSpPr>
          <p:cNvPr id="198" name="Google Shape;198;p1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CPU pour les TP ; GPU facultatif pour la démonstration XGBoost</a:t>
            </a:r>
            <a:endParaRPr/>
          </a:p>
        </p:txBody>
      </p:sp>
      <p:sp>
        <p:nvSpPr>
          <p:cNvPr id="199" name="Google Shape;199;p1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R43, R46 · liens et détails dans les notes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6" name="Google Shape;206;p1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7" name="Google Shape;207;p1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8" name="Google Shape;208;p1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010</a:t>
            </a:r>
            <a:endParaRPr b="0" i="0" sz="1300" u="none" cap="none">
              <a:solidFill>
                <a:schemeClr val="dk1"/>
              </a:solidFill>
              <a:latin typeface="Calibri"/>
              <a:ea typeface="Calibri"/>
              <a:cs typeface="Calibri"/>
              <a:sym typeface="Calibri"/>
            </a:endParaRPr>
          </a:p>
        </p:txBody>
      </p:sp>
      <p:pic>
        <p:nvPicPr>
          <p:cNvPr id="209" name="Google Shape;209;p1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10" name="Google Shape;210;p1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11" name="Google Shape;211;p1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CYBERSUP</a:t>
            </a:r>
            <a:endParaRPr b="0" sz="1300" u="none" cap="none">
              <a:solidFill>
                <a:schemeClr val="dk1"/>
              </a:solidFill>
              <a:latin typeface="Calibri"/>
              <a:ea typeface="Calibri"/>
              <a:cs typeface="Calibri"/>
              <a:sym typeface="Calibri"/>
            </a:endParaRPr>
          </a:p>
        </p:txBody>
      </p:sp>
      <p:sp>
        <p:nvSpPr>
          <p:cNvPr id="212" name="Google Shape;212;p1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3" name="Google Shape;213;p1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4" name="Google Shape;214;p1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15" name="Google Shape;215;p1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Ce que nous reprenons des supports de 2020</a:t>
            </a:r>
            <a:endParaRPr/>
          </a:p>
        </p:txBody>
      </p:sp>
      <p:sp>
        <p:nvSpPr>
          <p:cNvPr id="216" name="Google Shape;216;p1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cadrage du problème, les types de variables et le cycle de projet.</a:t>
            </a:r>
            <a:endParaRPr/>
          </a:p>
        </p:txBody>
      </p:sp>
      <p:sp>
        <p:nvSpPr>
          <p:cNvPr id="217" name="Google Shape;217;p1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arbres, la matrice de confusion et le raisonnement par scoring.</a:t>
            </a:r>
            <a:endParaRPr/>
          </a:p>
        </p:txBody>
      </p:sp>
      <p:sp>
        <p:nvSpPr>
          <p:cNvPr id="218" name="Google Shape;218;p1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extension vers les ensembles, la validation robuste et l'incertitude.</a:t>
            </a:r>
            <a:endParaRPr/>
          </a:p>
        </p:txBody>
      </p:sp>
      <p:sp>
        <p:nvSpPr>
          <p:cNvPr id="219" name="Google Shape;219;p1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Exemples et illustrations du cours reconstruits et attribués</a:t>
            </a:r>
            <a:endParaRPr/>
          </a:p>
        </p:txBody>
      </p:sp>
      <p:sp>
        <p:nvSpPr>
          <p:cNvPr id="220" name="Google Shape;220;p1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R38, R39 · liens et détails dans les notes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364"/>
        </a:solidFill>
      </p:bgPr>
    </p:bg>
    <p:spTree>
      <p:nvGrpSpPr>
        <p:cNvPr id="225" name="Shape 225"/>
        <p:cNvGrpSpPr/>
        <p:nvPr/>
      </p:nvGrpSpPr>
      <p:grpSpPr>
        <a:xfrm>
          <a:off x="0" y="0"/>
          <a:ext cx="0" cy="0"/>
          <a:chOff x="0" y="0"/>
          <a:chExt cx="0" cy="0"/>
        </a:xfrm>
      </p:grpSpPr>
      <p:sp>
        <p:nvSpPr>
          <p:cNvPr id="226" name="Google Shape;226;p13"/>
          <p:cNvSpPr/>
          <p:nvPr/>
        </p:nvSpPr>
        <p:spPr>
          <a:xfrm>
            <a:off x="952505" y="3947599"/>
            <a:ext cx="102870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7" name="Google Shape;227;p13"/>
          <p:cNvSpPr/>
          <p:nvPr/>
        </p:nvSpPr>
        <p:spPr>
          <a:xfrm>
            <a:off x="952805" y="2076602"/>
            <a:ext cx="1452982"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000" u="none" cap="none">
                <a:solidFill>
                  <a:srgbClr val="FFFFFF"/>
                </a:solidFill>
                <a:latin typeface="Roboto Mono"/>
                <a:ea typeface="Roboto Mono"/>
                <a:cs typeface="Roboto Mono"/>
                <a:sym typeface="Roboto Mono"/>
              </a:rPr>
              <a:t>01</a:t>
            </a:r>
            <a:endParaRPr b="0" i="0" sz="6700" u="none" cap="none">
              <a:solidFill>
                <a:schemeClr val="lt1"/>
              </a:solidFill>
              <a:latin typeface="Calibri"/>
              <a:ea typeface="Calibri"/>
              <a:cs typeface="Calibri"/>
              <a:sym typeface="Calibri"/>
            </a:endParaRPr>
          </a:p>
        </p:txBody>
      </p:sp>
      <p:sp>
        <p:nvSpPr>
          <p:cNvPr id="228" name="Google Shape;228;p13"/>
          <p:cNvSpPr/>
          <p:nvPr/>
        </p:nvSpPr>
        <p:spPr>
          <a:xfrm>
            <a:off x="1946758" y="2076602"/>
            <a:ext cx="976579"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700" u="none" cap="none">
                <a:solidFill>
                  <a:schemeClr val="lt1"/>
                </a:solidFill>
                <a:latin typeface="DM Sans"/>
                <a:ea typeface="DM Sans"/>
                <a:cs typeface="DM Sans"/>
                <a:sym typeface="DM Sans"/>
              </a:rPr>
              <a:t>/</a:t>
            </a:r>
            <a:endParaRPr b="0" i="0" sz="6700" u="none" cap="none">
              <a:solidFill>
                <a:schemeClr val="lt1"/>
              </a:solidFill>
              <a:latin typeface="Calibri"/>
              <a:ea typeface="Calibri"/>
              <a:cs typeface="Calibri"/>
              <a:sym typeface="Calibri"/>
            </a:endParaRPr>
          </a:p>
        </p:txBody>
      </p:sp>
      <p:sp>
        <p:nvSpPr>
          <p:cNvPr id="229" name="Google Shape;229;p13"/>
          <p:cNvSpPr/>
          <p:nvPr/>
        </p:nvSpPr>
        <p:spPr>
          <a:xfrm>
            <a:off x="2619375" y="2209800"/>
            <a:ext cx="8620125" cy="1638300"/>
          </a:xfrm>
          <a:prstGeom prst="rect">
            <a:avLst/>
          </a:prstGeom>
          <a:noFill/>
          <a:ln>
            <a:noFill/>
          </a:ln>
        </p:spPr>
        <p:txBody>
          <a:bodyPr anchorCtr="0" anchor="t" bIns="0" lIns="0" spcFirstLastPara="1" rIns="0" wrap="square" tIns="0">
            <a:noAutofit/>
          </a:bodyPr>
          <a:lstStyle/>
          <a:p>
            <a:pPr indent="0" lvl="0" marL="0" marR="0" rtl="0" algn="l">
              <a:lnSpc>
                <a:spcPct val="65000"/>
              </a:lnSpc>
              <a:spcBef>
                <a:spcPts val="0"/>
              </a:spcBef>
              <a:spcAft>
                <a:spcPts val="0"/>
              </a:spcAft>
              <a:buClr>
                <a:srgbClr val="000000"/>
              </a:buClr>
              <a:buSzPts val="7500"/>
              <a:buFont typeface="Archivo Black"/>
              <a:buNone/>
            </a:pPr>
            <a:r>
              <a:rPr lang="en-US" sz="4050">
                <a:solidFill>
                  <a:srgbClr val="FFFFFF"/>
                </a:solidFill>
                <a:latin typeface="Archivo Black"/>
                <a:ea typeface="Archivo Black"/>
                <a:cs typeface="Archivo Black"/>
                <a:sym typeface="Archivo Black"/>
              </a:rPr>
              <a:t>Évaluer et régulariser</a:t>
            </a:r>
            <a:endParaRPr sz="7500">
              <a:solidFill>
                <a:schemeClr val="lt1"/>
              </a:solidFill>
              <a:latin typeface="Archivo Black"/>
              <a:ea typeface="Archivo Black"/>
              <a:cs typeface="Archivo Black"/>
              <a:sym typeface="Archivo Black"/>
            </a:endParaRPr>
          </a:p>
        </p:txBody>
      </p:sp>
      <p:sp>
        <p:nvSpPr>
          <p:cNvPr id="230" name="Google Shape;230;p1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1" name="Google Shape;231;p1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011</a:t>
            </a:r>
            <a:endParaRPr b="0" i="0" sz="1300" u="none" cap="none">
              <a:solidFill>
                <a:schemeClr val="dk1"/>
              </a:solidFill>
              <a:latin typeface="Calibri"/>
              <a:ea typeface="Calibri"/>
              <a:cs typeface="Calibri"/>
              <a:sym typeface="Calibri"/>
            </a:endParaRPr>
          </a:p>
        </p:txBody>
      </p:sp>
      <p:pic>
        <p:nvPicPr>
          <p:cNvPr id="232" name="Google Shape;232;p13"/>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pic>
        <p:nvPicPr>
          <p:cNvPr id="233" name="Google Shape;233;p13"/>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234" name="Google Shape;234;p1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35" name="Google Shape;235;p1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36" name="Google Shape;236;p13"/>
          <p:cNvSpPr/>
          <p:nvPr/>
        </p:nvSpPr>
        <p:spPr>
          <a:xfrm>
            <a:off x="952500" y="4476750"/>
            <a:ext cx="1028700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DM Sans"/>
                <a:ea typeface="DM Sans"/>
                <a:cs typeface="DM Sans"/>
                <a:sym typeface="DM Sans"/>
              </a:rPr>
              <a:t>Lundi 21 septembre · Construire une comparaison fiable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3" name="Google Shape;243;p1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4" name="Google Shape;244;p1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5" name="Google Shape;245;p1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012</a:t>
            </a:r>
            <a:endParaRPr b="0" i="0" sz="1300" u="none" cap="none">
              <a:solidFill>
                <a:schemeClr val="dk1"/>
              </a:solidFill>
              <a:latin typeface="Calibri"/>
              <a:ea typeface="Calibri"/>
              <a:cs typeface="Calibri"/>
              <a:sym typeface="Calibri"/>
            </a:endParaRPr>
          </a:p>
        </p:txBody>
      </p:sp>
      <p:pic>
        <p:nvPicPr>
          <p:cNvPr id="246" name="Google Shape;246;p1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7" name="Google Shape;247;p1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8" name="Google Shape;248;p1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249" name="Google Shape;249;p1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0" name="Google Shape;250;p1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1" name="Google Shape;251;p1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2" name="Google Shape;252;p1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problème avant l'algorithme</a:t>
            </a:r>
            <a:endParaRPr/>
          </a:p>
        </p:txBody>
      </p:sp>
      <p:sp>
        <p:nvSpPr>
          <p:cNvPr id="253" name="Google Shape;253;p1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décision sera prise, pour qui et à quel moment ?</a:t>
            </a:r>
            <a:endParaRPr/>
          </a:p>
        </p:txBody>
      </p:sp>
      <p:sp>
        <p:nvSpPr>
          <p:cNvPr id="254" name="Google Shape;254;p1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cible observe-t-on, avec quel délai et quelles erreurs de mesure ?</a:t>
            </a:r>
            <a:endParaRPr/>
          </a:p>
        </p:txBody>
      </p:sp>
      <p:sp>
        <p:nvSpPr>
          <p:cNvPr id="255" name="Google Shape;255;p1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population devra bénéficier du modèle une fois utilisé ?</a:t>
            </a:r>
            <a:endParaRPr/>
          </a:p>
        </p:txBody>
      </p:sp>
      <p:sp>
        <p:nvSpPr>
          <p:cNvPr id="256" name="Google Shape;256;p1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Écrire la décision, l'horizon et la métrique avant d'entraîner</a:t>
            </a:r>
            <a:endParaRPr/>
          </a:p>
        </p:txBody>
      </p:sp>
      <p:sp>
        <p:nvSpPr>
          <p:cNvPr id="257" name="Google Shape;257;p1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R38 · liens et détails dans les notes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1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4" name="Google Shape;264;p1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5" name="Google Shape;265;p1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6" name="Google Shape;266;p1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013</a:t>
            </a:r>
            <a:endParaRPr b="0" i="0" sz="1300" u="none" cap="none">
              <a:solidFill>
                <a:schemeClr val="dk1"/>
              </a:solidFill>
              <a:latin typeface="Calibri"/>
              <a:ea typeface="Calibri"/>
              <a:cs typeface="Calibri"/>
              <a:sym typeface="Calibri"/>
            </a:endParaRPr>
          </a:p>
        </p:txBody>
      </p:sp>
      <p:pic>
        <p:nvPicPr>
          <p:cNvPr id="267" name="Google Shape;267;p1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8" name="Google Shape;268;p1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9" name="Google Shape;269;p1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270" name="Google Shape;270;p1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71" name="Google Shape;271;p1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72" name="Google Shape;272;p1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73" name="Google Shape;273;p1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contrat des données du fil rouge</a:t>
            </a:r>
            <a:endParaRPr/>
          </a:p>
        </p:txBody>
      </p:sp>
      <p:graphicFrame>
        <p:nvGraphicFramePr>
          <p:cNvPr id="274" name="Google Shape;274;p15"/>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5334000"/>
                <a:gridCol w="5334000"/>
              </a:tblGrid>
              <a:tr h="435425">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Élément</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Choix pédagogique</a:t>
                      </a:r>
                      <a:endParaRPr/>
                    </a:p>
                  </a:txBody>
                  <a:tcPr marT="45725" marB="45725" marR="91450" marL="91450">
                    <a:solidFill>
                      <a:srgbClr val="303C8B"/>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Source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UCI Bank Marketing, CC BY 4.0</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Fichier utilisé</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bank-additional.csv : 4 119 lignes</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Entrées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20 variables originales, 19 après exclusion</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Cible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y = souscription oui / non</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Variable exclue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1" lang="en-US" sz="1500" u="none" cap="none">
                          <a:solidFill>
                            <a:srgbClr val="12194C"/>
                          </a:solidFill>
                          <a:latin typeface="DM Sans"/>
                          <a:ea typeface="DM Sans"/>
                          <a:cs typeface="DM Sans"/>
                          <a:sym typeface="DM Sans"/>
                        </a:rPr>
                        <a:t>duration</a:t>
                      </a:r>
                      <a:r>
                        <a:rPr b="0" lang="en-US" sz="1500" u="none" cap="none">
                          <a:solidFill>
                            <a:srgbClr val="12194C"/>
                          </a:solidFill>
                          <a:latin typeface="DM Sans"/>
                          <a:ea typeface="DM Sans"/>
                          <a:cs typeface="DM Sans"/>
                          <a:sym typeface="DM Sans"/>
                        </a:rPr>
                        <a:t>, connue après l'appel</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Limite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Historique 2008–2010, pas de date complète ici</a:t>
                      </a:r>
                      <a:endParaRPr/>
                    </a:p>
                  </a:txBody>
                  <a:tcPr marT="45725" marB="45725" marR="91450" marL="91450">
                    <a:solidFill>
                      <a:srgbClr val="FFFFFF"/>
                    </a:solidFill>
                  </a:tcPr>
                </a:tc>
              </a:tr>
            </a:tbl>
          </a:graphicData>
        </a:graphic>
      </p:graphicFrame>
      <p:sp>
        <p:nvSpPr>
          <p:cNvPr id="275" name="Google Shape;275;p15"/>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276" name="Google Shape;276;p1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R32 · liens et détails dans les notes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1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83" name="Google Shape;283;p1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84" name="Google Shape;284;p1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85" name="Google Shape;285;p1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014</a:t>
            </a:r>
            <a:endParaRPr b="0" i="0" sz="1300" u="none" cap="none">
              <a:solidFill>
                <a:schemeClr val="dk1"/>
              </a:solidFill>
              <a:latin typeface="Calibri"/>
              <a:ea typeface="Calibri"/>
              <a:cs typeface="Calibri"/>
              <a:sym typeface="Calibri"/>
            </a:endParaRPr>
          </a:p>
        </p:txBody>
      </p:sp>
      <p:pic>
        <p:nvPicPr>
          <p:cNvPr id="286" name="Google Shape;286;p1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87" name="Google Shape;287;p1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88" name="Google Shape;288;p1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289" name="Google Shape;289;p1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90" name="Google Shape;290;p1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91" name="Google Shape;291;p1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92" name="Google Shape;292;p1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Trois familles de fuites</a:t>
            </a:r>
            <a:endParaRPr/>
          </a:p>
        </p:txBody>
      </p:sp>
      <p:sp>
        <p:nvSpPr>
          <p:cNvPr id="293" name="Google Shape;293;p16"/>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Fuite de cible</a:t>
            </a:r>
            <a:r>
              <a:rPr b="0" lang="en-US" sz="2250">
                <a:solidFill>
                  <a:srgbClr val="12194C"/>
                </a:solidFill>
                <a:latin typeface="DM Sans"/>
                <a:ea typeface="DM Sans"/>
                <a:cs typeface="DM Sans"/>
                <a:sym typeface="DM Sans"/>
              </a:rPr>
              <a:t> : une variable encode directement ou indirectement le résultat.</a:t>
            </a:r>
            <a:endParaRPr/>
          </a:p>
        </p:txBody>
      </p:sp>
      <p:sp>
        <p:nvSpPr>
          <p:cNvPr id="294" name="Google Shape;294;p16"/>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Fuite de prétraitement </a:t>
            </a:r>
            <a:r>
              <a:rPr b="0" lang="en-US" sz="2250">
                <a:solidFill>
                  <a:srgbClr val="12194C"/>
                </a:solidFill>
                <a:latin typeface="DM Sans"/>
                <a:ea typeface="DM Sans"/>
                <a:cs typeface="DM Sans"/>
                <a:sym typeface="DM Sans"/>
              </a:rPr>
              <a:t>: une moyenne, une sélection ou un encodage utilise le test.</a:t>
            </a:r>
            <a:endParaRPr/>
          </a:p>
        </p:txBody>
      </p:sp>
      <p:sp>
        <p:nvSpPr>
          <p:cNvPr id="295" name="Google Shape;295;p16"/>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Fuite de structure</a:t>
            </a:r>
            <a:r>
              <a:rPr b="0" lang="en-US" sz="2250">
                <a:solidFill>
                  <a:srgbClr val="12194C"/>
                </a:solidFill>
                <a:latin typeface="DM Sans"/>
                <a:ea typeface="DM Sans"/>
                <a:cs typeface="DM Sans"/>
                <a:sym typeface="DM Sans"/>
              </a:rPr>
              <a:t> : le même client, document ou futur se retrouve des deux côtés.</a:t>
            </a:r>
            <a:endParaRPr/>
          </a:p>
        </p:txBody>
      </p:sp>
      <p:sp>
        <p:nvSpPr>
          <p:cNvPr id="296" name="Google Shape;296;p16"/>
          <p:cNvSpPr/>
          <p:nvPr/>
        </p:nvSpPr>
        <p:spPr>
          <a:xfrm>
            <a:off x="762000" y="5219700"/>
            <a:ext cx="10620300" cy="345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variable disponible dans le fichier n'est pas forcément disponible à la décision</a:t>
            </a:r>
            <a:endParaRPr/>
          </a:p>
        </p:txBody>
      </p:sp>
      <p:sp>
        <p:nvSpPr>
          <p:cNvPr id="297" name="Google Shape;297;p1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R02, R32 · liens et détails dans les notes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1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04" name="Google Shape;304;p1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05" name="Google Shape;305;p1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06" name="Google Shape;306;p1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015</a:t>
            </a:r>
            <a:endParaRPr b="0" i="0" sz="1300" u="none" cap="none">
              <a:solidFill>
                <a:schemeClr val="dk1"/>
              </a:solidFill>
              <a:latin typeface="Calibri"/>
              <a:ea typeface="Calibri"/>
              <a:cs typeface="Calibri"/>
              <a:sym typeface="Calibri"/>
            </a:endParaRPr>
          </a:p>
        </p:txBody>
      </p:sp>
      <p:pic>
        <p:nvPicPr>
          <p:cNvPr id="307" name="Google Shape;307;p1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308" name="Google Shape;308;p1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309" name="Google Shape;309;p1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310" name="Google Shape;310;p1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311" name="Google Shape;311;p1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312" name="Google Shape;312;p1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313" name="Google Shape;313;p1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Entraînement, validation et test</a:t>
            </a:r>
            <a:endParaRPr/>
          </a:p>
        </p:txBody>
      </p:sp>
      <p:sp>
        <p:nvSpPr>
          <p:cNvPr id="314" name="Google Shape;314;p1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Entraînement</a:t>
            </a:r>
            <a:r>
              <a:rPr b="0" lang="en-US" sz="2250">
                <a:solidFill>
                  <a:srgbClr val="12194C"/>
                </a:solidFill>
                <a:latin typeface="DM Sans"/>
                <a:ea typeface="DM Sans"/>
                <a:cs typeface="DM Sans"/>
                <a:sym typeface="DM Sans"/>
              </a:rPr>
              <a:t> : ajuster les paramètres du modèle et les transformations. </a:t>
            </a:r>
            <a:endParaRPr/>
          </a:p>
        </p:txBody>
      </p:sp>
      <p:sp>
        <p:nvSpPr>
          <p:cNvPr id="315" name="Google Shape;315;p1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Validation</a:t>
            </a:r>
            <a:r>
              <a:rPr b="0" lang="en-US" sz="2250">
                <a:solidFill>
                  <a:srgbClr val="12194C"/>
                </a:solidFill>
                <a:latin typeface="DM Sans"/>
                <a:ea typeface="DM Sans"/>
                <a:cs typeface="DM Sans"/>
                <a:sym typeface="DM Sans"/>
              </a:rPr>
              <a:t> : choisir la famille, les hyperparamètres et le seuil.</a:t>
            </a:r>
            <a:endParaRPr/>
          </a:p>
        </p:txBody>
      </p:sp>
      <p:sp>
        <p:nvSpPr>
          <p:cNvPr id="316" name="Google Shape;316;p1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Test final </a:t>
            </a:r>
            <a:r>
              <a:rPr b="0" lang="en-US" sz="2250">
                <a:solidFill>
                  <a:srgbClr val="12194C"/>
                </a:solidFill>
                <a:latin typeface="DM Sans"/>
                <a:ea typeface="DM Sans"/>
                <a:cs typeface="DM Sans"/>
                <a:sym typeface="DM Sans"/>
              </a:rPr>
              <a:t>: estimer la performance d'une procédure désormais figée.</a:t>
            </a:r>
            <a:endParaRPr/>
          </a:p>
        </p:txBody>
      </p:sp>
      <p:sp>
        <p:nvSpPr>
          <p:cNvPr id="317" name="Google Shape;317;p1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Regarder souvent le test revient à l'utiliser pour choisir</a:t>
            </a:r>
            <a:endParaRPr/>
          </a:p>
        </p:txBody>
      </p:sp>
      <p:sp>
        <p:nvSpPr>
          <p:cNvPr id="318" name="Google Shape;318;p1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R03 · liens et détails dans les notes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1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25" name="Google Shape;325;p1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26" name="Google Shape;326;p1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27" name="Google Shape;327;p1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016</a:t>
            </a:r>
            <a:endParaRPr b="0" i="0" sz="1300" u="none" cap="none">
              <a:solidFill>
                <a:schemeClr val="dk1"/>
              </a:solidFill>
              <a:latin typeface="Calibri"/>
              <a:ea typeface="Calibri"/>
              <a:cs typeface="Calibri"/>
              <a:sym typeface="Calibri"/>
            </a:endParaRPr>
          </a:p>
        </p:txBody>
      </p:sp>
      <p:pic>
        <p:nvPicPr>
          <p:cNvPr id="328" name="Google Shape;328;p1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329" name="Google Shape;329;p1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330" name="Google Shape;330;p1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331" name="Google Shape;331;p1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332" name="Google Shape;332;p1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333" name="Google Shape;333;p1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334" name="Google Shape;334;p1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Choisir le bon découpage</a:t>
            </a:r>
            <a:endParaRPr/>
          </a:p>
        </p:txBody>
      </p:sp>
      <p:graphicFrame>
        <p:nvGraphicFramePr>
          <p:cNvPr id="335" name="Google Shape;335;p18"/>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6096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Situation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Découpage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Risque si ignoré</a:t>
                      </a:r>
                      <a:endParaRPr/>
                    </a:p>
                  </a:txBody>
                  <a:tcPr marT="45725" marB="45725" marR="91450" marL="91450">
                    <a:solidFill>
                      <a:srgbClr val="303C8B"/>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Lignes indépendantes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Stratifié si classification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Proportion de classe instable</a:t>
                      </a:r>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Plusieurs lignes par client</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12194C"/>
                          </a:solidFill>
                          <a:latin typeface="DM Sans"/>
                          <a:ea typeface="DM Sans"/>
                          <a:cs typeface="DM Sans"/>
                          <a:sym typeface="DM Sans"/>
                        </a:rPr>
                        <a:t>GroupKFold</a:t>
                      </a:r>
                      <a:r>
                        <a:rPr b="0" lang="en-US" sz="1725" u="none" cap="none">
                          <a:solidFill>
                            <a:srgbClr val="12194C"/>
                          </a:solidFill>
                          <a:latin typeface="DM Sans"/>
                          <a:ea typeface="DM Sans"/>
                          <a:cs typeface="DM Sans"/>
                          <a:sym typeface="DM Sans"/>
                        </a:rPr>
                        <a:t> / split par client</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Même personne des deux côtés</a:t>
                      </a:r>
                      <a:endParaRPr/>
                    </a:p>
                  </a:txBody>
                  <a:tcPr marT="45725" marB="45725" marR="91450" marL="91450">
                    <a:solidFill>
                      <a:srgbClr val="FFFFFF"/>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Prédire le futur</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Blocs temporels + éventuel gap</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Information future</a:t>
                      </a:r>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Choisir des hyperparamètres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t>
                      </a:r>
                      <a:r>
                        <a:rPr lang="en-US" sz="1725">
                          <a:solidFill>
                            <a:srgbClr val="12194C"/>
                          </a:solidFill>
                          <a:latin typeface="DM Sans"/>
                          <a:ea typeface="DM Sans"/>
                          <a:cs typeface="DM Sans"/>
                          <a:sym typeface="DM Sans"/>
                        </a:rPr>
                        <a:t>ross </a:t>
                      </a:r>
                      <a:r>
                        <a:rPr b="0" lang="en-US" sz="1725" u="none" cap="none">
                          <a:solidFill>
                            <a:srgbClr val="12194C"/>
                          </a:solidFill>
                          <a:latin typeface="DM Sans"/>
                          <a:ea typeface="DM Sans"/>
                          <a:cs typeface="DM Sans"/>
                          <a:sym typeface="DM Sans"/>
                        </a:rPr>
                        <a:t>Valid</a:t>
                      </a:r>
                      <a:r>
                        <a:rPr lang="en-US" sz="1725">
                          <a:solidFill>
                            <a:srgbClr val="12194C"/>
                          </a:solidFill>
                          <a:latin typeface="DM Sans"/>
                          <a:ea typeface="DM Sans"/>
                          <a:cs typeface="DM Sans"/>
                          <a:sym typeface="DM Sans"/>
                        </a:rPr>
                        <a:t>ation (CV)</a:t>
                      </a:r>
                      <a:r>
                        <a:rPr b="0" lang="en-US" sz="1725" u="none" cap="none">
                          <a:solidFill>
                            <a:srgbClr val="12194C"/>
                          </a:solidFill>
                          <a:latin typeface="DM Sans"/>
                          <a:ea typeface="DM Sans"/>
                          <a:cs typeface="DM Sans"/>
                          <a:sym typeface="DM Sans"/>
                        </a:rPr>
                        <a:t> interne et externe.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Score de sélection optimiste</a:t>
                      </a:r>
                      <a:endParaRPr/>
                    </a:p>
                  </a:txBody>
                  <a:tcPr marT="45725" marB="45725" marR="91450" marL="91450">
                    <a:solidFill>
                      <a:srgbClr val="FFFFFF"/>
                    </a:solidFill>
                  </a:tcPr>
                </a:tc>
              </a:tr>
            </a:tbl>
          </a:graphicData>
        </a:graphic>
      </p:graphicFrame>
      <p:sp>
        <p:nvSpPr>
          <p:cNvPr id="336" name="Google Shape;336;p18"/>
          <p:cNvSpPr/>
          <p:nvPr/>
        </p:nvSpPr>
        <p:spPr>
          <a:xfrm>
            <a:off x="708900" y="5052326"/>
            <a:ext cx="10901400" cy="345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1200"/>
              <a:t>Slides d’explication sur la CV Interne &amp; Externes.</a:t>
            </a:r>
            <a:endParaRPr sz="1200"/>
          </a:p>
        </p:txBody>
      </p:sp>
      <p:sp>
        <p:nvSpPr>
          <p:cNvPr id="337" name="Google Shape;337;p1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R03 · liens et détails dans les notes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1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44" name="Google Shape;344;p19"/>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45" name="Google Shape;345;p1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46" name="Google Shape;346;p19"/>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016</a:t>
            </a:r>
            <a:endParaRPr b="0" i="0" sz="1300" u="none" cap="none">
              <a:solidFill>
                <a:schemeClr val="dk1"/>
              </a:solidFill>
              <a:latin typeface="Calibri"/>
              <a:ea typeface="Calibri"/>
              <a:cs typeface="Calibri"/>
              <a:sym typeface="Calibri"/>
            </a:endParaRPr>
          </a:p>
        </p:txBody>
      </p:sp>
      <p:pic>
        <p:nvPicPr>
          <p:cNvPr id="347" name="Google Shape;347;p1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348" name="Google Shape;348;p1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349" name="Google Shape;349;p1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350" name="Google Shape;350;p1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351" name="Google Shape;351;p1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352" name="Google Shape;352;p1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353" name="Google Shape;353;p19"/>
          <p:cNvSpPr/>
          <p:nvPr/>
        </p:nvSpPr>
        <p:spPr>
          <a:xfrm>
            <a:off x="762000" y="857250"/>
            <a:ext cx="10572900" cy="58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700">
                <a:solidFill>
                  <a:srgbClr val="12194C"/>
                </a:solidFill>
                <a:latin typeface="Archivo Black"/>
                <a:ea typeface="Archivo Black"/>
                <a:cs typeface="Archivo Black"/>
                <a:sym typeface="Archivo Black"/>
              </a:rPr>
              <a:t>Cross Validation Interne et Externe</a:t>
            </a:r>
            <a:endParaRPr/>
          </a:p>
        </p:txBody>
      </p:sp>
      <p:graphicFrame>
        <p:nvGraphicFramePr>
          <p:cNvPr id="354" name="Google Shape;354;p19"/>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2667000"/>
                <a:gridCol w="2667000"/>
                <a:gridCol w="2667000"/>
                <a:gridCol w="2667000"/>
              </a:tblGrid>
              <a:tr h="476150">
                <a:tc>
                  <a:txBody>
                    <a:bodyPr/>
                    <a:lstStyle/>
                    <a:p>
                      <a:pPr indent="0" lvl="0" marL="0" marR="0" rtl="0" algn="l">
                        <a:lnSpc>
                          <a:spcPct val="100000"/>
                        </a:lnSpc>
                        <a:spcBef>
                          <a:spcPts val="0"/>
                        </a:spcBef>
                        <a:spcAft>
                          <a:spcPts val="0"/>
                        </a:spcAft>
                        <a:buNone/>
                      </a:pPr>
                      <a:r>
                        <a:t/>
                      </a:r>
                      <a:endParaRPr b="1" sz="1725">
                        <a:solidFill>
                          <a:srgbClr val="FFFFFF"/>
                        </a:solidFill>
                        <a:latin typeface="DM Sans"/>
                        <a:ea typeface="DM Sans"/>
                        <a:cs typeface="DM Sans"/>
                        <a:sym typeface="DM Sans"/>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a:solidFill>
                            <a:srgbClr val="FFFFFF"/>
                          </a:solidFill>
                          <a:latin typeface="DM Sans"/>
                          <a:ea typeface="DM Sans"/>
                          <a:cs typeface="DM Sans"/>
                          <a:sym typeface="DM Sans"/>
                        </a:rPr>
                        <a:t>Role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a:solidFill>
                            <a:srgbClr val="FFFFFF"/>
                          </a:solidFill>
                          <a:latin typeface="DM Sans"/>
                          <a:ea typeface="DM Sans"/>
                          <a:cs typeface="DM Sans"/>
                          <a:sym typeface="DM Sans"/>
                        </a:rPr>
                        <a:t>Fonctionnement</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a:solidFill>
                            <a:srgbClr val="FFFFFF"/>
                          </a:solidFill>
                          <a:latin typeface="DM Sans"/>
                          <a:ea typeface="DM Sans"/>
                          <a:cs typeface="DM Sans"/>
                          <a:sym typeface="DM Sans"/>
                        </a:rPr>
                        <a:t>Sortie</a:t>
                      </a:r>
                      <a:endParaRPr/>
                    </a:p>
                  </a:txBody>
                  <a:tcPr marT="45725" marB="45725" marR="91450" marL="91450">
                    <a:solidFill>
                      <a:srgbClr val="303C8B"/>
                    </a:solidFill>
                  </a:tcPr>
                </a:tc>
              </a:tr>
              <a:tr h="1371475">
                <a:tc>
                  <a:txBody>
                    <a:bodyPr/>
                    <a:lstStyle/>
                    <a:p>
                      <a:pPr indent="0" lvl="0" marL="0" marR="0" rtl="0" algn="l">
                        <a:lnSpc>
                          <a:spcPct val="100000"/>
                        </a:lnSpc>
                        <a:spcBef>
                          <a:spcPts val="0"/>
                        </a:spcBef>
                        <a:spcAft>
                          <a:spcPts val="0"/>
                        </a:spcAft>
                        <a:buNone/>
                      </a:pPr>
                      <a:r>
                        <a:rPr b="1" lang="en-US" sz="1725">
                          <a:solidFill>
                            <a:srgbClr val="12194C"/>
                          </a:solidFill>
                          <a:latin typeface="DM Sans"/>
                          <a:ea typeface="DM Sans"/>
                          <a:cs typeface="DM Sans"/>
                          <a:sym typeface="DM Sans"/>
                        </a:rPr>
                        <a:t>Cross Validation Interne</a:t>
                      </a:r>
                      <a:endParaRPr b="1" sz="1725">
                        <a:solidFill>
                          <a:srgbClr val="12194C"/>
                        </a:solidFill>
                        <a:latin typeface="DM Sans"/>
                        <a:ea typeface="DM Sans"/>
                        <a:cs typeface="DM Sans"/>
                        <a:sym typeface="DM Sans"/>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Régler et choisie les hyperparameters sans toucher aux données d’évaluation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Exécute exclusivement à </a:t>
                      </a:r>
                      <a:r>
                        <a:rPr lang="en-US" sz="1725">
                          <a:solidFill>
                            <a:srgbClr val="12194C"/>
                          </a:solidFill>
                          <a:latin typeface="DM Sans"/>
                          <a:ea typeface="DM Sans"/>
                          <a:cs typeface="DM Sans"/>
                          <a:sym typeface="DM Sans"/>
                        </a:rPr>
                        <a:t>l'intérieur</a:t>
                      </a:r>
                      <a:r>
                        <a:rPr lang="en-US" sz="1725">
                          <a:solidFill>
                            <a:srgbClr val="12194C"/>
                          </a:solidFill>
                          <a:latin typeface="DM Sans"/>
                          <a:ea typeface="DM Sans"/>
                          <a:cs typeface="DM Sans"/>
                          <a:sym typeface="DM Sans"/>
                        </a:rPr>
                        <a:t> du jeu d’entrainement de la bouche externe.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La meilleure configuration </a:t>
                      </a:r>
                      <a:r>
                        <a:rPr lang="en-US" sz="1725">
                          <a:solidFill>
                            <a:srgbClr val="12194C"/>
                          </a:solidFill>
                          <a:latin typeface="DM Sans"/>
                          <a:ea typeface="DM Sans"/>
                          <a:cs typeface="DM Sans"/>
                          <a:sym typeface="DM Sans"/>
                        </a:rPr>
                        <a:t>de hyperparameters</a:t>
                      </a:r>
                      <a:r>
                        <a:rPr lang="en-US" sz="1725">
                          <a:solidFill>
                            <a:srgbClr val="12194C"/>
                          </a:solidFill>
                          <a:latin typeface="DM Sans"/>
                          <a:ea typeface="DM Sans"/>
                          <a:cs typeface="DM Sans"/>
                          <a:sym typeface="DM Sans"/>
                        </a:rPr>
                        <a:t> retenue pour le jeu </a:t>
                      </a:r>
                      <a:r>
                        <a:rPr lang="en-US" sz="1725">
                          <a:solidFill>
                            <a:srgbClr val="12194C"/>
                          </a:solidFill>
                          <a:latin typeface="DM Sans"/>
                          <a:ea typeface="DM Sans"/>
                          <a:cs typeface="DM Sans"/>
                          <a:sym typeface="DM Sans"/>
                        </a:rPr>
                        <a:t>d'entraînement</a:t>
                      </a:r>
                      <a:endParaRPr/>
                    </a:p>
                  </a:txBody>
                  <a:tcPr marT="45725" marB="45725" marR="91450" marL="91450">
                    <a:solidFill>
                      <a:srgbClr val="F4F5F8"/>
                    </a:solidFill>
                  </a:tcPr>
                </a:tc>
              </a:tr>
              <a:tr h="1444875">
                <a:tc>
                  <a:txBody>
                    <a:bodyPr/>
                    <a:lstStyle/>
                    <a:p>
                      <a:pPr indent="0" lvl="0" marL="0" marR="0" rtl="0" algn="l">
                        <a:lnSpc>
                          <a:spcPct val="100000"/>
                        </a:lnSpc>
                        <a:spcBef>
                          <a:spcPts val="0"/>
                        </a:spcBef>
                        <a:spcAft>
                          <a:spcPts val="0"/>
                        </a:spcAft>
                        <a:buNone/>
                      </a:pPr>
                      <a:r>
                        <a:rPr b="1" lang="en-US" sz="1725">
                          <a:solidFill>
                            <a:srgbClr val="12194C"/>
                          </a:solidFill>
                          <a:latin typeface="DM Sans"/>
                          <a:ea typeface="DM Sans"/>
                          <a:cs typeface="DM Sans"/>
                          <a:sym typeface="DM Sans"/>
                        </a:rPr>
                        <a:t>Cross Validation Externe</a:t>
                      </a:r>
                      <a:endParaRPr b="1" sz="1725" u="none" cap="none">
                        <a:solidFill>
                          <a:srgbClr val="12194C"/>
                        </a:solidFill>
                        <a:latin typeface="DM Sans"/>
                        <a:ea typeface="DM Sans"/>
                        <a:cs typeface="DM Sans"/>
                        <a:sym typeface="DM Sans"/>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Estimer la façon impartiale et non biaisée la capacité de généralisation de la procédure complète d’apprentissage.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Découpe le jeu de données global en plis </a:t>
                      </a:r>
                      <a:r>
                        <a:rPr lang="en-US" sz="1725">
                          <a:solidFill>
                            <a:srgbClr val="12194C"/>
                          </a:solidFill>
                          <a:latin typeface="DM Sans"/>
                          <a:ea typeface="DM Sans"/>
                          <a:cs typeface="DM Sans"/>
                          <a:sym typeface="DM Sans"/>
                        </a:rPr>
                        <a:t>d'entraînement</a:t>
                      </a:r>
                      <a:r>
                        <a:rPr lang="en-US" sz="1725">
                          <a:solidFill>
                            <a:srgbClr val="12194C"/>
                          </a:solidFill>
                          <a:latin typeface="DM Sans"/>
                          <a:ea typeface="DM Sans"/>
                          <a:cs typeface="DM Sans"/>
                          <a:sym typeface="DM Sans"/>
                        </a:rPr>
                        <a:t> et plis test/validation externe.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lang="en-US" sz="1725">
                          <a:solidFill>
                            <a:srgbClr val="12194C"/>
                          </a:solidFill>
                          <a:latin typeface="DM Sans"/>
                          <a:ea typeface="DM Sans"/>
                          <a:cs typeface="DM Sans"/>
                          <a:sym typeface="DM Sans"/>
                        </a:rPr>
                        <a:t>Une estimation robuste et réaliste des performances en production.</a:t>
                      </a:r>
                      <a:endParaRPr/>
                    </a:p>
                  </a:txBody>
                  <a:tcPr marT="45725" marB="45725" marR="91450" marL="91450">
                    <a:solidFill>
                      <a:srgbClr val="FFFFFF"/>
                    </a:solidFill>
                  </a:tcPr>
                </a:tc>
              </a:tr>
            </a:tbl>
          </a:graphicData>
        </a:graphic>
      </p:graphicFrame>
      <p:sp>
        <p:nvSpPr>
          <p:cNvPr id="355" name="Google Shape;355;p19"/>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R03 · liens et détails dans les notes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2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62" name="Google Shape;362;p2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63" name="Google Shape;363;p2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64" name="Google Shape;364;p2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017</a:t>
            </a:r>
            <a:endParaRPr b="0" i="0" sz="1300" u="none" cap="none">
              <a:solidFill>
                <a:schemeClr val="dk1"/>
              </a:solidFill>
              <a:latin typeface="Calibri"/>
              <a:ea typeface="Calibri"/>
              <a:cs typeface="Calibri"/>
              <a:sym typeface="Calibri"/>
            </a:endParaRPr>
          </a:p>
        </p:txBody>
      </p:sp>
      <p:pic>
        <p:nvPicPr>
          <p:cNvPr id="365" name="Google Shape;365;p2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366" name="Google Shape;366;p2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367" name="Google Shape;367;p2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368" name="Google Shape;368;p2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369" name="Google Shape;369;p2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370" name="Google Shape;370;p2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371" name="Google Shape;371;p2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La pipeline apprend dans chaque pli</a:t>
            </a:r>
            <a:endParaRPr/>
          </a:p>
        </p:txBody>
      </p:sp>
      <p:sp>
        <p:nvSpPr>
          <p:cNvPr id="372" name="Google Shape;372;p2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fit</a:t>
            </a:r>
            <a:r>
              <a:rPr b="0" lang="en-US" sz="2250">
                <a:solidFill>
                  <a:srgbClr val="12194C"/>
                </a:solidFill>
                <a:latin typeface="DM Sans"/>
                <a:ea typeface="DM Sans"/>
                <a:cs typeface="DM Sans"/>
                <a:sym typeface="DM Sans"/>
              </a:rPr>
              <a:t> : apprendre l'imputation, les catégories, le scaling et le modèle sur le train du pli.</a:t>
            </a:r>
            <a:endParaRPr/>
          </a:p>
        </p:txBody>
      </p:sp>
      <p:sp>
        <p:nvSpPr>
          <p:cNvPr id="373" name="Google Shape;373;p2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2194C"/>
                </a:solidFill>
                <a:latin typeface="DM Sans"/>
                <a:ea typeface="DM Sans"/>
                <a:cs typeface="DM Sans"/>
                <a:sym typeface="DM Sans"/>
              </a:rPr>
              <a:t>transform / predict </a:t>
            </a:r>
            <a:r>
              <a:rPr b="0" lang="en-US" sz="2250">
                <a:solidFill>
                  <a:srgbClr val="12194C"/>
                </a:solidFill>
                <a:latin typeface="DM Sans"/>
                <a:ea typeface="DM Sans"/>
                <a:cs typeface="DM Sans"/>
                <a:sym typeface="DM Sans"/>
              </a:rPr>
              <a:t>: appliquer ces paramètres au pli de validation.</a:t>
            </a:r>
            <a:endParaRPr/>
          </a:p>
        </p:txBody>
      </p:sp>
      <p:sp>
        <p:nvSpPr>
          <p:cNvPr id="374" name="Google Shape;374;p2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sélection de variables et le sampling font aussi partie de cette procédure.</a:t>
            </a:r>
            <a:endParaRPr/>
          </a:p>
        </p:txBody>
      </p:sp>
      <p:sp>
        <p:nvSpPr>
          <p:cNvPr id="375" name="Google Shape;375;p2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ColumnTransformer traite les colonnes ; Pipeline relie les étapes</a:t>
            </a:r>
            <a:endParaRPr/>
          </a:p>
        </p:txBody>
      </p:sp>
      <p:sp>
        <p:nvSpPr>
          <p:cNvPr id="376" name="Google Shape;376;p2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R02, R18 · liens et détails dans les notes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83" name="Google Shape;383;p2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84" name="Google Shape;384;p2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385" name="Google Shape;385;p2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018</a:t>
            </a:r>
            <a:endParaRPr b="0" i="0" sz="1300" u="none" cap="none">
              <a:solidFill>
                <a:schemeClr val="dk1"/>
              </a:solidFill>
              <a:latin typeface="Calibri"/>
              <a:ea typeface="Calibri"/>
              <a:cs typeface="Calibri"/>
              <a:sym typeface="Calibri"/>
            </a:endParaRPr>
          </a:p>
        </p:txBody>
      </p:sp>
      <p:pic>
        <p:nvPicPr>
          <p:cNvPr id="386" name="Google Shape;386;p2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387" name="Google Shape;387;p2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388" name="Google Shape;388;p2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389" name="Google Shape;389;p2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390" name="Google Shape;390;p2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391" name="Google Shape;391;p2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392" name="Google Shape;392;p21"/>
          <p:cNvSpPr/>
          <p:nvPr/>
        </p:nvSpPr>
        <p:spPr>
          <a:xfrm>
            <a:off x="762000" y="857250"/>
            <a:ext cx="105729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La matrice de confusion se lit avec un coût</a:t>
            </a:r>
            <a:endParaRPr/>
          </a:p>
        </p:txBody>
      </p:sp>
      <p:graphicFrame>
        <p:nvGraphicFramePr>
          <p:cNvPr id="393" name="Google Shape;393;p21"/>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1016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Réel / prédit</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Positif</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Négatif</a:t>
                      </a:r>
                      <a:endParaRPr/>
                    </a:p>
                  </a:txBody>
                  <a:tcPr marT="45725" marB="45725" marR="91450" marL="91450">
                    <a:solidFill>
                      <a:srgbClr val="303C8B"/>
                    </a:solidFill>
                  </a:tcPr>
                </a:tc>
              </a:tr>
              <a:tr h="1016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Positif (100</a:t>
                      </a:r>
                      <a:r>
                        <a:rPr lang="en-US" sz="1725">
                          <a:solidFill>
                            <a:srgbClr val="12194C"/>
                          </a:solidFill>
                          <a:latin typeface="DM Sans"/>
                          <a:ea typeface="DM Sans"/>
                          <a:cs typeface="DM Sans"/>
                          <a:sym typeface="DM Sans"/>
                        </a:rPr>
                        <a:t>)</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VP = 60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FN = 40</a:t>
                      </a:r>
                      <a:endParaRPr/>
                    </a:p>
                  </a:txBody>
                  <a:tcPr marT="45725" marB="45725" marR="91450" marL="91450">
                    <a:solidFill>
                      <a:srgbClr val="F4F5F8"/>
                    </a:solidFill>
                  </a:tcPr>
                </a:tc>
              </a:tr>
              <a:tr h="1016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Négatif (900)</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FP = 90</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VN = 810</a:t>
                      </a:r>
                      <a:endParaRPr/>
                    </a:p>
                  </a:txBody>
                  <a:tcPr marT="45725" marB="45725" marR="91450" marL="91450">
                    <a:solidFill>
                      <a:srgbClr val="FFFFFF"/>
                    </a:solidFill>
                  </a:tcPr>
                </a:tc>
              </a:tr>
            </a:tbl>
          </a:graphicData>
        </a:graphic>
      </p:graphicFrame>
      <p:sp>
        <p:nvSpPr>
          <p:cNvPr id="394" name="Google Shape;394;p21"/>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1 000 observations : 60 vrais positifs et 90 faux positifs</a:t>
            </a:r>
            <a:endParaRPr/>
          </a:p>
        </p:txBody>
      </p:sp>
      <p:sp>
        <p:nvSpPr>
          <p:cNvPr id="395" name="Google Shape;395;p2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R39 · liens et détails dans les notes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2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02" name="Google Shape;402;p22"/>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03" name="Google Shape;403;p2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pic>
        <p:nvPicPr>
          <p:cNvPr id="404" name="Google Shape;404;p2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sp>
        <p:nvSpPr>
          <p:cNvPr id="405" name="Google Shape;405;p22"/>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018</a:t>
            </a:r>
            <a:endParaRPr b="0" i="0" sz="1300" u="none" cap="none">
              <a:solidFill>
                <a:schemeClr val="dk1"/>
              </a:solidFill>
              <a:latin typeface="Calibri"/>
              <a:ea typeface="Calibri"/>
              <a:cs typeface="Calibri"/>
              <a:sym typeface="Calibri"/>
            </a:endParaRPr>
          </a:p>
        </p:txBody>
      </p:sp>
      <p:pic>
        <p:nvPicPr>
          <p:cNvPr id="406" name="Google Shape;406;p2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407" name="Google Shape;407;p2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408" name="Google Shape;408;p2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409" name="Google Shape;409;p2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410" name="Google Shape;410;p2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411" name="Google Shape;411;p22"/>
          <p:cNvSpPr/>
          <p:nvPr/>
        </p:nvSpPr>
        <p:spPr>
          <a:xfrm>
            <a:off x="762000" y="857250"/>
            <a:ext cx="105729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700">
                <a:solidFill>
                  <a:srgbClr val="12194C"/>
                </a:solidFill>
                <a:latin typeface="Archivo Black"/>
                <a:ea typeface="Archivo Black"/>
                <a:cs typeface="Archivo Black"/>
                <a:sym typeface="Archivo Black"/>
              </a:rPr>
              <a:t>Définition des métriques</a:t>
            </a:r>
            <a:endParaRPr/>
          </a:p>
        </p:txBody>
      </p:sp>
      <p:sp>
        <p:nvSpPr>
          <p:cNvPr id="412" name="Google Shape;412;p22"/>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R39 · liens et détails dans les notes</a:t>
            </a:r>
            <a:endParaRPr/>
          </a:p>
        </p:txBody>
      </p:sp>
      <p:sp>
        <p:nvSpPr>
          <p:cNvPr id="413" name="Google Shape;413;p22"/>
          <p:cNvSpPr txBox="1"/>
          <p:nvPr/>
        </p:nvSpPr>
        <p:spPr>
          <a:xfrm>
            <a:off x="761700" y="1481826"/>
            <a:ext cx="10795800" cy="3786600"/>
          </a:xfrm>
          <a:prstGeom prst="rect">
            <a:avLst/>
          </a:prstGeom>
          <a:noFill/>
          <a:ln>
            <a:noFill/>
          </a:ln>
        </p:spPr>
        <p:txBody>
          <a:bodyPr anchorCtr="0" anchor="t" bIns="91425" lIns="91425" spcFirstLastPara="1" rIns="91425" wrap="square" tIns="91425">
            <a:spAutoFit/>
          </a:bodyPr>
          <a:lstStyle/>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Recall (Rappel, sensibilité)</a:t>
            </a:r>
            <a:r>
              <a:rPr lang="en-US" sz="1800">
                <a:solidFill>
                  <a:schemeClr val="dk1"/>
                </a:solidFill>
                <a:latin typeface="DM Sans"/>
                <a:ea typeface="DM Sans"/>
                <a:cs typeface="DM Sans"/>
                <a:sym typeface="DM Sans"/>
              </a:rPr>
              <a:t> : Mésure la capacité d’un modèle à retrouver tous les vrais positifs parmis les cas réellement positifs.</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Accuracy</a:t>
            </a:r>
            <a:r>
              <a:rPr lang="en-US" sz="1800">
                <a:solidFill>
                  <a:schemeClr val="dk1"/>
                </a:solidFill>
                <a:latin typeface="DM Sans"/>
                <a:ea typeface="DM Sans"/>
                <a:cs typeface="DM Sans"/>
                <a:sym typeface="DM Sans"/>
              </a:rPr>
              <a:t> : Quelle proportion totale de prédictions est correcte. Classes relativement équilibrés</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Précision </a:t>
            </a:r>
            <a:r>
              <a:rPr lang="en-US" sz="1800">
                <a:solidFill>
                  <a:schemeClr val="dk1"/>
                </a:solidFill>
                <a:latin typeface="DM Sans"/>
                <a:ea typeface="DM Sans"/>
                <a:cs typeface="DM Sans"/>
                <a:sym typeface="DM Sans"/>
              </a:rPr>
              <a:t>:  Quand le modèle prédit “positif”, as-t’il raison ? Faux positifs couteux = alertes fraudes, bannisements, spam</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Spécificité / TNR (True Negative Rate)</a:t>
            </a:r>
            <a:r>
              <a:rPr lang="en-US" sz="1800">
                <a:solidFill>
                  <a:schemeClr val="dk1"/>
                </a:solidFill>
                <a:latin typeface="DM Sans"/>
                <a:ea typeface="DM Sans"/>
                <a:cs typeface="DM Sans"/>
                <a:sym typeface="DM Sans"/>
              </a:rPr>
              <a:t> : Parmi les négatifs réels, combien sont correctement rejetés ? Eviter les fausses alertes.</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F1-score</a:t>
            </a:r>
            <a:r>
              <a:rPr lang="en-US" sz="1800">
                <a:solidFill>
                  <a:schemeClr val="dk1"/>
                </a:solidFill>
                <a:latin typeface="DM Sans"/>
                <a:ea typeface="DM Sans"/>
                <a:cs typeface="DM Sans"/>
                <a:sym typeface="DM Sans"/>
              </a:rPr>
              <a:t>: Quel compromis entre précision et recall. Classes déséquilibrées, importance égale de P et R.</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Fβ</a:t>
            </a:r>
            <a:r>
              <a:rPr lang="en-US" sz="1800">
                <a:solidFill>
                  <a:schemeClr val="dk1"/>
                </a:solidFill>
                <a:latin typeface="DM Sans"/>
                <a:ea typeface="DM Sans"/>
                <a:cs typeface="DM Sans"/>
                <a:sym typeface="DM Sans"/>
              </a:rPr>
              <a:t>(beta): Veut-on favoriser précision ou recall ? β&gt;1 favorise recal ; β&lt;1 favorise precision.</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Balanced accuracy </a:t>
            </a:r>
            <a:r>
              <a:rPr lang="en-US" sz="1800">
                <a:solidFill>
                  <a:schemeClr val="dk1"/>
                </a:solidFill>
                <a:latin typeface="DM Sans"/>
                <a:ea typeface="DM Sans"/>
                <a:cs typeface="DM Sans"/>
                <a:sym typeface="DM Sans"/>
              </a:rPr>
              <a:t>: Le modèle marche-t-il pour les deux classes ? Fort déséquilibre de classe</a:t>
            </a:r>
            <a:endParaRPr sz="1800">
              <a:solidFill>
                <a:schemeClr val="dk1"/>
              </a:solidFill>
              <a:latin typeface="DM Sans"/>
              <a:ea typeface="DM Sans"/>
              <a:cs typeface="DM Sans"/>
              <a:sym typeface="DM Sans"/>
            </a:endParaRPr>
          </a:p>
          <a:p>
            <a:pPr indent="-342900" lvl="0" marL="457200" rtl="0" algn="l">
              <a:spcBef>
                <a:spcPts val="0"/>
              </a:spcBef>
              <a:spcAft>
                <a:spcPts val="0"/>
              </a:spcAft>
              <a:buClr>
                <a:schemeClr val="dk1"/>
              </a:buClr>
              <a:buSzPts val="1800"/>
              <a:buChar char="-"/>
            </a:pPr>
            <a:r>
              <a:rPr b="1" lang="en-US" sz="1800">
                <a:solidFill>
                  <a:schemeClr val="dk1"/>
                </a:solidFill>
                <a:latin typeface="DM Sans"/>
                <a:ea typeface="DM Sans"/>
                <a:cs typeface="DM Sans"/>
                <a:sym typeface="DM Sans"/>
              </a:rPr>
              <a:t>MCC (Matthews Correlation Coefficient) : </a:t>
            </a:r>
            <a:r>
              <a:rPr lang="en-US" sz="1800">
                <a:solidFill>
                  <a:schemeClr val="dk1"/>
                </a:solidFill>
                <a:latin typeface="DM Sans"/>
                <a:ea typeface="DM Sans"/>
                <a:cs typeface="DM Sans"/>
                <a:sym typeface="DM Sans"/>
              </a:rPr>
              <a:t>Corrélation entre prédictions et réalité. Le modèle est-il globalement fiable avec toutes les cellules (TP/TN). </a:t>
            </a:r>
            <a:endParaRPr sz="1800">
              <a:latin typeface="DM Sans"/>
              <a:ea typeface="DM Sans"/>
              <a:cs typeface="DM Sans"/>
              <a:sym typeface="DM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2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20" name="Google Shape;420;p2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21" name="Google Shape;421;p2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22" name="Google Shape;422;p2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019</a:t>
            </a:r>
            <a:endParaRPr b="0" i="0" sz="1300" u="none" cap="none">
              <a:solidFill>
                <a:schemeClr val="dk1"/>
              </a:solidFill>
              <a:latin typeface="Calibri"/>
              <a:ea typeface="Calibri"/>
              <a:cs typeface="Calibri"/>
              <a:sym typeface="Calibri"/>
            </a:endParaRPr>
          </a:p>
        </p:txBody>
      </p:sp>
      <p:pic>
        <p:nvPicPr>
          <p:cNvPr id="423" name="Google Shape;423;p2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424" name="Google Shape;424;p2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425" name="Google Shape;425;p2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426" name="Google Shape;426;p2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427" name="Google Shape;427;p2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428" name="Google Shape;428;p2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429" name="Google Shape;429;p2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piège de l'accuracy</a:t>
            </a:r>
            <a:endParaRPr/>
          </a:p>
        </p:txBody>
      </p:sp>
      <p:sp>
        <p:nvSpPr>
          <p:cNvPr id="430" name="Google Shape;430;p2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Avec 99 % de négatifs, prédire toujours « négatif » donne 99 % d'accuracy.</a:t>
            </a:r>
            <a:endParaRPr/>
          </a:p>
        </p:txBody>
      </p:sp>
      <p:sp>
        <p:nvSpPr>
          <p:cNvPr id="431" name="Google Shape;431;p2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rappel de la classe positive reste pourtant nul.</a:t>
            </a:r>
            <a:endParaRPr/>
          </a:p>
        </p:txBody>
      </p:sp>
      <p:sp>
        <p:nvSpPr>
          <p:cNvPr id="432" name="Google Shape;432;p2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à </a:t>
            </a:r>
            <a:r>
              <a:rPr b="1" lang="en-US" sz="2250">
                <a:solidFill>
                  <a:srgbClr val="12194C"/>
                </a:solidFill>
                <a:latin typeface="DM Sans"/>
                <a:ea typeface="DM Sans"/>
                <a:cs typeface="DM Sans"/>
                <a:sym typeface="DM Sans"/>
              </a:rPr>
              <a:t>DummyClassifier</a:t>
            </a:r>
            <a:r>
              <a:rPr b="0" lang="en-US" sz="2250">
                <a:solidFill>
                  <a:srgbClr val="12194C"/>
                </a:solidFill>
                <a:latin typeface="DM Sans"/>
                <a:ea typeface="DM Sans"/>
                <a:cs typeface="DM Sans"/>
                <a:sym typeface="DM Sans"/>
              </a:rPr>
              <a:t> et rapporter les effectifs de chaque classe.</a:t>
            </a:r>
            <a:endParaRPr/>
          </a:p>
        </p:txBody>
      </p:sp>
      <p:sp>
        <p:nvSpPr>
          <p:cNvPr id="433" name="Google Shape;433;p2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La métrique dépend de la décision, pas de ce qui donne le plus grand nombre</a:t>
            </a:r>
            <a:endParaRPr/>
          </a:p>
        </p:txBody>
      </p:sp>
      <p:sp>
        <p:nvSpPr>
          <p:cNvPr id="434" name="Google Shape;434;p2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 liens et détails dans les notes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2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41" name="Google Shape;441;p2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42" name="Google Shape;442;p2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43" name="Google Shape;443;p2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020</a:t>
            </a:r>
            <a:endParaRPr b="0" i="0" sz="1300" u="none" cap="none">
              <a:solidFill>
                <a:schemeClr val="dk1"/>
              </a:solidFill>
              <a:latin typeface="Calibri"/>
              <a:ea typeface="Calibri"/>
              <a:cs typeface="Calibri"/>
              <a:sym typeface="Calibri"/>
            </a:endParaRPr>
          </a:p>
        </p:txBody>
      </p:sp>
      <p:pic>
        <p:nvPicPr>
          <p:cNvPr id="444" name="Google Shape;444;p2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445" name="Google Shape;445;p2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446" name="Google Shape;446;p2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447" name="Google Shape;447;p2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448" name="Google Shape;448;p2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449" name="Google Shape;449;p2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450" name="Google Shape;450;p2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ROC : ordonner les positifs et les négatifs</a:t>
            </a:r>
            <a:endParaRPr/>
          </a:p>
        </p:txBody>
      </p:sp>
      <p:pic>
        <p:nvPicPr>
          <p:cNvPr id="451" name="Google Shape;451;p24"/>
          <p:cNvPicPr preferRelativeResize="0"/>
          <p:nvPr/>
        </p:nvPicPr>
        <p:blipFill rotWithShape="1">
          <a:blip r:embed="rId5">
            <a:alphaModFix/>
          </a:blip>
          <a:srcRect b="0" l="0" r="0" t="0"/>
          <a:stretch/>
        </p:blipFill>
        <p:spPr>
          <a:xfrm>
            <a:off x="723900" y="1808580"/>
            <a:ext cx="7194300" cy="3573000"/>
          </a:xfrm>
          <a:prstGeom prst="rect">
            <a:avLst/>
          </a:prstGeom>
          <a:noFill/>
          <a:ln>
            <a:noFill/>
          </a:ln>
        </p:spPr>
      </p:pic>
      <p:sp>
        <p:nvSpPr>
          <p:cNvPr id="452" name="Google Shape;452;p24"/>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Chaque point correspond à un seuil.</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1" lang="en-US" sz="1875">
                <a:solidFill>
                  <a:srgbClr val="12194C"/>
                </a:solidFill>
                <a:latin typeface="DM Sans"/>
                <a:ea typeface="DM Sans"/>
                <a:cs typeface="DM Sans"/>
                <a:sym typeface="DM Sans"/>
              </a:rPr>
              <a:t>Axe horizontal</a:t>
            </a:r>
            <a:r>
              <a:rPr b="0" lang="en-US" sz="1875">
                <a:solidFill>
                  <a:srgbClr val="12194C"/>
                </a:solidFill>
                <a:latin typeface="DM Sans"/>
                <a:ea typeface="DM Sans"/>
                <a:cs typeface="DM Sans"/>
                <a:sym typeface="DM Sans"/>
              </a:rPr>
              <a:t> : FP / négatifs.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1" lang="en-US" sz="1875">
                <a:solidFill>
                  <a:srgbClr val="12194C"/>
                </a:solidFill>
                <a:latin typeface="DM Sans"/>
                <a:ea typeface="DM Sans"/>
                <a:cs typeface="DM Sans"/>
                <a:sym typeface="DM Sans"/>
              </a:rPr>
              <a:t>Axe vertical</a:t>
            </a:r>
            <a:r>
              <a:rPr b="0" lang="en-US" sz="1875">
                <a:solidFill>
                  <a:srgbClr val="12194C"/>
                </a:solidFill>
                <a:latin typeface="DM Sans"/>
                <a:ea typeface="DM Sans"/>
                <a:cs typeface="DM Sans"/>
                <a:sym typeface="DM Sans"/>
              </a:rPr>
              <a:t> : VP / positifs.</a:t>
            </a:r>
            <a:endParaRPr/>
          </a:p>
        </p:txBody>
      </p:sp>
      <p:sp>
        <p:nvSpPr>
          <p:cNvPr id="453" name="Google Shape;453;p24"/>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Validation synthétique (n=420) ; les points de la courbe correspondent à différents seuils.</a:t>
            </a:r>
            <a:endParaRPr/>
          </a:p>
        </p:txBody>
      </p:sp>
      <p:sp>
        <p:nvSpPr>
          <p:cNvPr id="454" name="Google Shape;454;p2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 liens et détails dans les notes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p2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61" name="Google Shape;461;p2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62" name="Google Shape;462;p2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63" name="Google Shape;463;p2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021</a:t>
            </a:r>
            <a:endParaRPr b="0" i="0" sz="1300" u="none" cap="none">
              <a:solidFill>
                <a:schemeClr val="dk1"/>
              </a:solidFill>
              <a:latin typeface="Calibri"/>
              <a:ea typeface="Calibri"/>
              <a:cs typeface="Calibri"/>
              <a:sym typeface="Calibri"/>
            </a:endParaRPr>
          </a:p>
        </p:txBody>
      </p:sp>
      <p:pic>
        <p:nvPicPr>
          <p:cNvPr id="464" name="Google Shape;464;p2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465" name="Google Shape;465;p2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466" name="Google Shape;466;p2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467" name="Google Shape;467;p2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468" name="Google Shape;468;p2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469" name="Google Shape;469;p2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470" name="Google Shape;470;p2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Précision-rappel : regarder les alertes utiles</a:t>
            </a:r>
            <a:endParaRPr/>
          </a:p>
        </p:txBody>
      </p:sp>
      <p:pic>
        <p:nvPicPr>
          <p:cNvPr id="471" name="Google Shape;471;p25"/>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472" name="Google Shape;472;p25"/>
          <p:cNvSpPr/>
          <p:nvPr/>
        </p:nvSpPr>
        <p:spPr>
          <a:xfrm>
            <a:off x="8143875" y="2000250"/>
            <a:ext cx="3314700" cy="191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Précision : VP / (VP + FP).</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Rappel : VP / (VP + FN).</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La référence dépend de la prévalence.</a:t>
            </a:r>
            <a:endParaRPr/>
          </a:p>
        </p:txBody>
      </p:sp>
      <p:sp>
        <p:nvSpPr>
          <p:cNvPr id="473" name="Google Shape;473;p25"/>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Même validation que la ROC ; ligne de référence = prévalence observée. AP et aire trapézoïdale diffèrent.</a:t>
            </a:r>
            <a:endParaRPr/>
          </a:p>
        </p:txBody>
      </p:sp>
      <p:sp>
        <p:nvSpPr>
          <p:cNvPr id="474" name="Google Shape;474;p2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 liens et détails dans les notes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2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81" name="Google Shape;481;p2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82" name="Google Shape;482;p2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483" name="Google Shape;483;p2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022</a:t>
            </a:r>
            <a:endParaRPr b="0" i="0" sz="1300" u="none" cap="none">
              <a:solidFill>
                <a:schemeClr val="dk1"/>
              </a:solidFill>
              <a:latin typeface="Calibri"/>
              <a:ea typeface="Calibri"/>
              <a:cs typeface="Calibri"/>
              <a:sym typeface="Calibri"/>
            </a:endParaRPr>
          </a:p>
        </p:txBody>
      </p:sp>
      <p:pic>
        <p:nvPicPr>
          <p:cNvPr id="484" name="Google Shape;484;p2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485" name="Google Shape;485;p2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486" name="Google Shape;486;p2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487" name="Google Shape;487;p2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488" name="Google Shape;488;p2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489" name="Google Shape;489;p2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490" name="Google Shape;490;p2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Évaluer une régression</a:t>
            </a:r>
            <a:endParaRPr/>
          </a:p>
        </p:txBody>
      </p:sp>
      <p:sp>
        <p:nvSpPr>
          <p:cNvPr id="491" name="Google Shape;491;p26"/>
          <p:cNvSpPr/>
          <p:nvPr/>
        </p:nvSpPr>
        <p:spPr>
          <a:xfrm>
            <a:off x="809625" y="2992938"/>
            <a:ext cx="10477500" cy="605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MAE (Mean </a:t>
            </a:r>
            <a:r>
              <a:rPr lang="en-US" sz="2250">
                <a:solidFill>
                  <a:srgbClr val="12194C"/>
                </a:solidFill>
                <a:latin typeface="DM Sans"/>
                <a:ea typeface="DM Sans"/>
                <a:cs typeface="DM Sans"/>
                <a:sym typeface="DM Sans"/>
              </a:rPr>
              <a:t>Absolute Error</a:t>
            </a:r>
            <a:r>
              <a:rPr b="0" lang="en-US" sz="2250">
                <a:solidFill>
                  <a:srgbClr val="12194C"/>
                </a:solidFill>
                <a:latin typeface="DM Sans"/>
                <a:ea typeface="DM Sans"/>
                <a:cs typeface="DM Sans"/>
                <a:sym typeface="DM Sans"/>
              </a:rPr>
              <a:t>) conserve une lecture en unités de la cible.</a:t>
            </a:r>
            <a:endParaRPr/>
          </a:p>
        </p:txBody>
      </p:sp>
      <p:sp>
        <p:nvSpPr>
          <p:cNvPr id="492" name="Google Shape;492;p26"/>
          <p:cNvSpPr/>
          <p:nvPr/>
        </p:nvSpPr>
        <p:spPr>
          <a:xfrm>
            <a:off x="809625" y="3700688"/>
            <a:ext cx="10477500" cy="53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RMSE (Root Mean </a:t>
            </a:r>
            <a:r>
              <a:rPr lang="en-US" sz="2250">
                <a:solidFill>
                  <a:srgbClr val="12194C"/>
                </a:solidFill>
                <a:latin typeface="DM Sans"/>
                <a:ea typeface="DM Sans"/>
                <a:cs typeface="DM Sans"/>
                <a:sym typeface="DM Sans"/>
              </a:rPr>
              <a:t>Squared Error</a:t>
            </a:r>
            <a:r>
              <a:rPr b="0" lang="en-US" sz="2250">
                <a:solidFill>
                  <a:srgbClr val="12194C"/>
                </a:solidFill>
                <a:latin typeface="DM Sans"/>
                <a:ea typeface="DM Sans"/>
                <a:cs typeface="DM Sans"/>
                <a:sym typeface="DM Sans"/>
              </a:rPr>
              <a:t>)</a:t>
            </a:r>
            <a:r>
              <a:rPr lang="en-US" sz="2250">
                <a:solidFill>
                  <a:srgbClr val="12194C"/>
                </a:solidFill>
                <a:latin typeface="DM Sans"/>
                <a:ea typeface="DM Sans"/>
                <a:cs typeface="DM Sans"/>
                <a:sym typeface="DM Sans"/>
              </a:rPr>
              <a:t> </a:t>
            </a:r>
            <a:r>
              <a:rPr b="0" lang="en-US" sz="2250">
                <a:solidFill>
                  <a:srgbClr val="12194C"/>
                </a:solidFill>
                <a:latin typeface="DM Sans"/>
                <a:ea typeface="DM Sans"/>
                <a:cs typeface="DM Sans"/>
                <a:sym typeface="DM Sans"/>
              </a:rPr>
              <a:t>pénalise davantage les grandes erreurs.</a:t>
            </a:r>
            <a:endParaRPr/>
          </a:p>
        </p:txBody>
      </p:sp>
      <p:sp>
        <p:nvSpPr>
          <p:cNvPr id="493" name="Google Shape;493;p26"/>
          <p:cNvSpPr/>
          <p:nvPr/>
        </p:nvSpPr>
        <p:spPr>
          <a:xfrm>
            <a:off x="809625" y="4350175"/>
            <a:ext cx="10477500" cy="53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R² peut être négatif sur des données nouvelles.</a:t>
            </a:r>
            <a:endParaRPr/>
          </a:p>
        </p:txBody>
      </p:sp>
      <p:sp>
        <p:nvSpPr>
          <p:cNvPr id="494" name="Google Shape;494;p2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 liens et détails dans les notes</a:t>
            </a:r>
            <a:endParaRPr/>
          </a:p>
        </p:txBody>
      </p:sp>
      <p:pic>
        <p:nvPicPr>
          <p:cNvPr id="495" name="Google Shape;495;p26"/>
          <p:cNvPicPr preferRelativeResize="0"/>
          <p:nvPr/>
        </p:nvPicPr>
        <p:blipFill>
          <a:blip r:embed="rId5">
            <a:alphaModFix/>
          </a:blip>
          <a:stretch>
            <a:fillRect/>
          </a:stretch>
        </p:blipFill>
        <p:spPr>
          <a:xfrm>
            <a:off x="3366500" y="1315850"/>
            <a:ext cx="6546675" cy="139154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
        <p:nvSpPr>
          <p:cNvPr id="501" name="Google Shape;501;p2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02" name="Google Shape;502;p2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03" name="Google Shape;503;p2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04" name="Google Shape;504;p2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023</a:t>
            </a:r>
            <a:endParaRPr b="0" i="0" sz="1300" u="none" cap="none">
              <a:solidFill>
                <a:schemeClr val="dk1"/>
              </a:solidFill>
              <a:latin typeface="Calibri"/>
              <a:ea typeface="Calibri"/>
              <a:cs typeface="Calibri"/>
              <a:sym typeface="Calibri"/>
            </a:endParaRPr>
          </a:p>
        </p:txBody>
      </p:sp>
      <p:pic>
        <p:nvPicPr>
          <p:cNvPr id="505" name="Google Shape;505;p2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506" name="Google Shape;506;p2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507" name="Google Shape;507;p2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508" name="Google Shape;508;p2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509" name="Google Shape;509;p2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510" name="Google Shape;510;p2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511" name="Google Shape;511;p27"/>
          <p:cNvSpPr/>
          <p:nvPr/>
        </p:nvSpPr>
        <p:spPr>
          <a:xfrm>
            <a:off x="762000" y="857250"/>
            <a:ext cx="10572900" cy="5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Minimiser une perte avec une pénalité</a:t>
            </a:r>
            <a:endParaRPr/>
          </a:p>
        </p:txBody>
      </p:sp>
      <p:sp>
        <p:nvSpPr>
          <p:cNvPr id="512" name="Google Shape;512;p27"/>
          <p:cNvSpPr/>
          <p:nvPr/>
        </p:nvSpPr>
        <p:spPr>
          <a:xfrm>
            <a:off x="761700" y="2814500"/>
            <a:ext cx="10477500" cy="5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perte mesure une erreur sur l'entraînement.</a:t>
            </a:r>
            <a:endParaRPr/>
          </a:p>
        </p:txBody>
      </p:sp>
      <p:sp>
        <p:nvSpPr>
          <p:cNvPr id="513" name="Google Shape;513;p27"/>
          <p:cNvSpPr/>
          <p:nvPr/>
        </p:nvSpPr>
        <p:spPr>
          <a:xfrm>
            <a:off x="809700" y="3625650"/>
            <a:ext cx="10477500" cy="5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pénalité exprime une préférence pour certaines solutions.</a:t>
            </a:r>
            <a:endParaRPr/>
          </a:p>
        </p:txBody>
      </p:sp>
      <p:sp>
        <p:nvSpPr>
          <p:cNvPr id="514" name="Google Shape;514;p27"/>
          <p:cNvSpPr/>
          <p:nvPr/>
        </p:nvSpPr>
        <p:spPr>
          <a:xfrm>
            <a:off x="761700" y="4436788"/>
            <a:ext cx="10477500" cy="5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validation choisit la force de cette préférence.</a:t>
            </a:r>
            <a:endParaRPr/>
          </a:p>
        </p:txBody>
      </p:sp>
      <p:sp>
        <p:nvSpPr>
          <p:cNvPr id="515" name="Google Shape;515;p2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R05 · liens et détails dans les notes</a:t>
            </a:r>
            <a:endParaRPr/>
          </a:p>
        </p:txBody>
      </p:sp>
      <p:pic>
        <p:nvPicPr>
          <p:cNvPr id="516" name="Google Shape;516;p27"/>
          <p:cNvPicPr preferRelativeResize="0"/>
          <p:nvPr/>
        </p:nvPicPr>
        <p:blipFill>
          <a:blip r:embed="rId5">
            <a:alphaModFix/>
          </a:blip>
          <a:stretch>
            <a:fillRect/>
          </a:stretch>
        </p:blipFill>
        <p:spPr>
          <a:xfrm>
            <a:off x="3561848" y="1384838"/>
            <a:ext cx="5615377" cy="13242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2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23" name="Google Shape;523;p2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24" name="Google Shape;524;p2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25" name="Google Shape;525;p2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024</a:t>
            </a:r>
            <a:endParaRPr b="0" i="0" sz="1300" u="none" cap="none">
              <a:solidFill>
                <a:schemeClr val="dk1"/>
              </a:solidFill>
              <a:latin typeface="Calibri"/>
              <a:ea typeface="Calibri"/>
              <a:cs typeface="Calibri"/>
              <a:sym typeface="Calibri"/>
            </a:endParaRPr>
          </a:p>
        </p:txBody>
      </p:sp>
      <p:pic>
        <p:nvPicPr>
          <p:cNvPr id="526" name="Google Shape;526;p2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527" name="Google Shape;527;p2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528" name="Google Shape;528;p2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529" name="Google Shape;529;p2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530" name="Google Shape;530;p2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531" name="Google Shape;531;p2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532" name="Google Shape;532;p2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Biais et variance</a:t>
            </a:r>
            <a:endParaRPr/>
          </a:p>
        </p:txBody>
      </p:sp>
      <p:pic>
        <p:nvPicPr>
          <p:cNvPr id="533" name="Google Shape;533;p28"/>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534" name="Google Shape;534;p28"/>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Biais : erreur systématique liée à la famille de modèles.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Variance : sensibilité aux données d'entraînement.</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Bruit : part irréductible du problème.</a:t>
            </a:r>
            <a:endParaRPr/>
          </a:p>
        </p:txBody>
      </p:sp>
      <p:sp>
        <p:nvSpPr>
          <p:cNvPr id="535" name="Google Shape;535;p28"/>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Courbes schématiques originales ; erreur = biais² + variance + bruit (0,5).</a:t>
            </a:r>
            <a:endParaRPr/>
          </a:p>
        </p:txBody>
      </p:sp>
      <p:sp>
        <p:nvSpPr>
          <p:cNvPr id="536" name="Google Shape;536;p2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R08 · liens et détails dans les notes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2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43" name="Google Shape;543;p2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44" name="Google Shape;544;p2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45" name="Google Shape;545;p2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025</a:t>
            </a:r>
            <a:endParaRPr b="0" i="0" sz="1300" u="none" cap="none">
              <a:solidFill>
                <a:schemeClr val="dk1"/>
              </a:solidFill>
              <a:latin typeface="Calibri"/>
              <a:ea typeface="Calibri"/>
              <a:cs typeface="Calibri"/>
              <a:sym typeface="Calibri"/>
            </a:endParaRPr>
          </a:p>
        </p:txBody>
      </p:sp>
      <p:pic>
        <p:nvPicPr>
          <p:cNvPr id="546" name="Google Shape;546;p2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547" name="Google Shape;547;p2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548" name="Google Shape;548;p2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549" name="Google Shape;549;p2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550" name="Google Shape;550;p2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551" name="Google Shape;551;p2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552" name="Google Shape;552;p2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Courbes d'apprentissage</a:t>
            </a:r>
            <a:endParaRPr/>
          </a:p>
        </p:txBody>
      </p:sp>
      <p:pic>
        <p:nvPicPr>
          <p:cNvPr id="553" name="Google Shape;553;p29"/>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554" name="Google Shape;554;p29"/>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Grand écart train/validation : examiner la variance.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Scores tous deux faibles : examiner biais, features et labels.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La courbe aide à juger l'intérêt de données supplémentaires.</a:t>
            </a:r>
            <a:endParaRPr/>
          </a:p>
        </p:txBody>
      </p:sp>
      <p:sp>
        <p:nvSpPr>
          <p:cNvPr id="555" name="Google Shape;555;p29"/>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Valeurs construites pour expliquer un diagnostic ; aucun résultat de benchmark.</a:t>
            </a:r>
            <a:endParaRPr/>
          </a:p>
        </p:txBody>
      </p:sp>
      <p:sp>
        <p:nvSpPr>
          <p:cNvPr id="556" name="Google Shape;556;p2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R08 · liens et détails dans les notes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3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63" name="Google Shape;563;p3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64" name="Google Shape;564;p3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65" name="Google Shape;565;p3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026</a:t>
            </a:r>
            <a:endParaRPr b="0" i="0" sz="1300" u="none" cap="none">
              <a:solidFill>
                <a:schemeClr val="dk1"/>
              </a:solidFill>
              <a:latin typeface="Calibri"/>
              <a:ea typeface="Calibri"/>
              <a:cs typeface="Calibri"/>
              <a:sym typeface="Calibri"/>
            </a:endParaRPr>
          </a:p>
        </p:txBody>
      </p:sp>
      <p:pic>
        <p:nvPicPr>
          <p:cNvPr id="566" name="Google Shape;566;p3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567" name="Google Shape;567;p3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568" name="Google Shape;568;p3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569" name="Google Shape;569;p3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570" name="Google Shape;570;p3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571" name="Google Shape;571;p3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572" name="Google Shape;572;p3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L1 et L2 n'ont pas le même effet</a:t>
            </a:r>
            <a:endParaRPr/>
          </a:p>
        </p:txBody>
      </p:sp>
      <p:pic>
        <p:nvPicPr>
          <p:cNvPr id="573" name="Google Shape;573;p30"/>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574" name="Google Shape;574;p30"/>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L2 réduit progressivement les coefficients.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L1 peut annuler certains coefficients.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 scaling modifie le sens d'une pénalité sur les poids.</a:t>
            </a:r>
            <a:endParaRPr/>
          </a:p>
        </p:txBody>
      </p:sp>
      <p:sp>
        <p:nvSpPr>
          <p:cNvPr id="575" name="Google Shape;575;p30"/>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Exemple analytique à une variable, norme de x fixée et perte quadratique normalisée.</a:t>
            </a:r>
            <a:endParaRPr/>
          </a:p>
        </p:txBody>
      </p:sp>
      <p:sp>
        <p:nvSpPr>
          <p:cNvPr id="576" name="Google Shape;576;p3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R05 · liens et détails dans les notes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1" name="Shape 581"/>
        <p:cNvGrpSpPr/>
        <p:nvPr/>
      </p:nvGrpSpPr>
      <p:grpSpPr>
        <a:xfrm>
          <a:off x="0" y="0"/>
          <a:ext cx="0" cy="0"/>
          <a:chOff x="0" y="0"/>
          <a:chExt cx="0" cy="0"/>
        </a:xfrm>
      </p:grpSpPr>
      <p:sp>
        <p:nvSpPr>
          <p:cNvPr id="582" name="Google Shape;582;p3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83" name="Google Shape;583;p3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84" name="Google Shape;584;p3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585" name="Google Shape;585;p3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027</a:t>
            </a:r>
            <a:endParaRPr b="0" i="0" sz="1300" u="none" cap="none">
              <a:solidFill>
                <a:schemeClr val="dk1"/>
              </a:solidFill>
              <a:latin typeface="Calibri"/>
              <a:ea typeface="Calibri"/>
              <a:cs typeface="Calibri"/>
              <a:sym typeface="Calibri"/>
            </a:endParaRPr>
          </a:p>
        </p:txBody>
      </p:sp>
      <p:pic>
        <p:nvPicPr>
          <p:cNvPr id="586" name="Google Shape;586;p3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587" name="Google Shape;587;p3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588" name="Google Shape;588;p3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589" name="Google Shape;589;p3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590" name="Google Shape;590;p3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591" name="Google Shape;591;p3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592" name="Google Shape;592;p3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Elastic Net et choix de régularisation</a:t>
            </a:r>
            <a:endParaRPr/>
          </a:p>
        </p:txBody>
      </p:sp>
      <p:sp>
        <p:nvSpPr>
          <p:cNvPr id="593" name="Google Shape;593;p31"/>
          <p:cNvSpPr/>
          <p:nvPr/>
        </p:nvSpPr>
        <p:spPr>
          <a:xfrm>
            <a:off x="809625" y="296730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mélange associe parcimonie et stabilité de la pénalisation.</a:t>
            </a:r>
            <a:endParaRPr/>
          </a:p>
        </p:txBody>
      </p:sp>
      <p:sp>
        <p:nvSpPr>
          <p:cNvPr id="594" name="Google Shape;594;p31"/>
          <p:cNvSpPr/>
          <p:nvPr/>
        </p:nvSpPr>
        <p:spPr>
          <a:xfrm>
            <a:off x="809625" y="3714200"/>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l'intensité et le mélange dans la validation.</a:t>
            </a:r>
            <a:endParaRPr/>
          </a:p>
        </p:txBody>
      </p:sp>
      <p:sp>
        <p:nvSpPr>
          <p:cNvPr id="595" name="Google Shape;595;p31"/>
          <p:cNvSpPr/>
          <p:nvPr/>
        </p:nvSpPr>
        <p:spPr>
          <a:xfrm>
            <a:off x="809625" y="4448200"/>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Dans LogisticRegression, un C plus petit renforce la régularisation.</a:t>
            </a:r>
            <a:endParaRPr/>
          </a:p>
        </p:txBody>
      </p:sp>
      <p:sp>
        <p:nvSpPr>
          <p:cNvPr id="596" name="Google Shape;596;p3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R05 · liens et détails dans les notes</a:t>
            </a:r>
            <a:endParaRPr/>
          </a:p>
        </p:txBody>
      </p:sp>
      <p:pic>
        <p:nvPicPr>
          <p:cNvPr id="597" name="Google Shape;597;p31"/>
          <p:cNvPicPr preferRelativeResize="0"/>
          <p:nvPr/>
        </p:nvPicPr>
        <p:blipFill>
          <a:blip r:embed="rId5">
            <a:alphaModFix/>
          </a:blip>
          <a:stretch>
            <a:fillRect/>
          </a:stretch>
        </p:blipFill>
        <p:spPr>
          <a:xfrm>
            <a:off x="3349361" y="1351800"/>
            <a:ext cx="5493275" cy="1291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3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04" name="Google Shape;604;p3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05" name="Google Shape;605;p3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06" name="Google Shape;606;p3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028</a:t>
            </a:r>
            <a:endParaRPr b="0" i="0" sz="1300" u="none" cap="none">
              <a:solidFill>
                <a:schemeClr val="dk1"/>
              </a:solidFill>
              <a:latin typeface="Calibri"/>
              <a:ea typeface="Calibri"/>
              <a:cs typeface="Calibri"/>
              <a:sym typeface="Calibri"/>
            </a:endParaRPr>
          </a:p>
        </p:txBody>
      </p:sp>
      <p:pic>
        <p:nvPicPr>
          <p:cNvPr id="607" name="Google Shape;607;p3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608" name="Google Shape;608;p3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609" name="Google Shape;609;p3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610" name="Google Shape;610;p3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611" name="Google Shape;611;p3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612" name="Google Shape;612;p3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613" name="Google Shape;613;p3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SVM : marge et noyaux</a:t>
            </a:r>
            <a:endParaRPr/>
          </a:p>
        </p:txBody>
      </p:sp>
      <p:sp>
        <p:nvSpPr>
          <p:cNvPr id="614" name="Google Shape;614;p3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marge sépare les classes en limitant certaines erreurs.</a:t>
            </a:r>
            <a:endParaRPr/>
          </a:p>
        </p:txBody>
      </p:sp>
      <p:sp>
        <p:nvSpPr>
          <p:cNvPr id="615" name="Google Shape;615;p3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 règle le compromis entre violations de marge et régularisation.</a:t>
            </a:r>
            <a:endParaRPr/>
          </a:p>
        </p:txBody>
      </p:sp>
      <p:sp>
        <p:nvSpPr>
          <p:cNvPr id="616" name="Google Shape;616;p3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noyau RBF introduit une portée locale contrôlée par gamma.</a:t>
            </a:r>
            <a:endParaRPr/>
          </a:p>
        </p:txBody>
      </p:sp>
      <p:sp>
        <p:nvSpPr>
          <p:cNvPr id="617" name="Google Shape;617;p3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Standardiser puis régler C et gamma sur une échelle logarithmique</a:t>
            </a:r>
            <a:endParaRPr/>
          </a:p>
        </p:txBody>
      </p:sp>
      <p:sp>
        <p:nvSpPr>
          <p:cNvPr id="618" name="Google Shape;618;p3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R06 · liens et détails dans les notes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3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25" name="Google Shape;625;p3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26" name="Google Shape;626;p3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27" name="Google Shape;627;p3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029</a:t>
            </a:r>
            <a:endParaRPr b="0" i="0" sz="1300" u="none" cap="none">
              <a:solidFill>
                <a:schemeClr val="dk1"/>
              </a:solidFill>
              <a:latin typeface="Calibri"/>
              <a:ea typeface="Calibri"/>
              <a:cs typeface="Calibri"/>
              <a:sym typeface="Calibri"/>
            </a:endParaRPr>
          </a:p>
        </p:txBody>
      </p:sp>
      <p:pic>
        <p:nvPicPr>
          <p:cNvPr id="628" name="Google Shape;628;p3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629" name="Google Shape;629;p3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630" name="Google Shape;630;p3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631" name="Google Shape;631;p3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632" name="Google Shape;632;p3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633" name="Google Shape;633;p3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634" name="Google Shape;634;p3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TP01 : établir la baseline</a:t>
            </a:r>
            <a:endParaRPr/>
          </a:p>
        </p:txBody>
      </p:sp>
      <p:sp>
        <p:nvSpPr>
          <p:cNvPr id="635" name="Google Shape;635;p3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Livrer une pipeline de prétraitement et une comparaison à DummyClassifier.</a:t>
            </a:r>
            <a:endParaRPr/>
          </a:p>
        </p:txBody>
      </p:sp>
      <p:sp>
        <p:nvSpPr>
          <p:cNvPr id="636" name="Google Shape;636;p3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quatre valeurs de C avec les mêmes plis et la même métrique.</a:t>
            </a:r>
            <a:endParaRPr/>
          </a:p>
        </p:txBody>
      </p:sp>
      <p:sp>
        <p:nvSpPr>
          <p:cNvPr id="637" name="Google Shape;637;p3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Rédiger les risques de fuite et les limites du découpage.</a:t>
            </a:r>
            <a:endParaRPr/>
          </a:p>
        </p:txBody>
      </p:sp>
      <p:sp>
        <p:nvSpPr>
          <p:cNvPr id="638" name="Google Shape;638;p3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120 minutes · notebooks/etudiants/01_evaluation.ipynb</a:t>
            </a:r>
            <a:endParaRPr/>
          </a:p>
        </p:txBody>
      </p:sp>
      <p:sp>
        <p:nvSpPr>
          <p:cNvPr id="639" name="Google Shape;639;p3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R02, R03 · liens et détails dans les notes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4" name="Shape 644"/>
        <p:cNvGrpSpPr/>
        <p:nvPr/>
      </p:nvGrpSpPr>
      <p:grpSpPr>
        <a:xfrm>
          <a:off x="0" y="0"/>
          <a:ext cx="0" cy="0"/>
          <a:chOff x="0" y="0"/>
          <a:chExt cx="0" cy="0"/>
        </a:xfrm>
      </p:grpSpPr>
      <p:sp>
        <p:nvSpPr>
          <p:cNvPr id="645" name="Google Shape;645;p3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46" name="Google Shape;646;p3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47" name="Google Shape;647;p3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48" name="Google Shape;648;p3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030</a:t>
            </a:r>
            <a:endParaRPr b="0" i="0" sz="1300" u="none" cap="none">
              <a:solidFill>
                <a:schemeClr val="dk1"/>
              </a:solidFill>
              <a:latin typeface="Calibri"/>
              <a:ea typeface="Calibri"/>
              <a:cs typeface="Calibri"/>
              <a:sym typeface="Calibri"/>
            </a:endParaRPr>
          </a:p>
        </p:txBody>
      </p:sp>
      <p:pic>
        <p:nvPicPr>
          <p:cNvPr id="649" name="Google Shape;649;p3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650" name="Google Shape;650;p3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651" name="Google Shape;651;p3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652" name="Google Shape;652;p3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653" name="Google Shape;653;p3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654" name="Google Shape;654;p3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655" name="Google Shape;655;p3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Quiz J1 : défendre son protocole</a:t>
            </a:r>
            <a:endParaRPr/>
          </a:p>
        </p:txBody>
      </p:sp>
      <p:sp>
        <p:nvSpPr>
          <p:cNvPr id="656" name="Google Shape;656;p3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Peut-on standardiser tout le fichier avant une CV ?</a:t>
            </a:r>
            <a:endParaRPr/>
          </a:p>
        </p:txBody>
      </p:sp>
      <p:sp>
        <p:nvSpPr>
          <p:cNvPr id="657" name="Google Shape;657;p3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 split choisir si un client possède dix lignes ?</a:t>
            </a:r>
            <a:endParaRPr/>
          </a:p>
        </p:txBody>
      </p:sp>
      <p:sp>
        <p:nvSpPr>
          <p:cNvPr id="658" name="Google Shape;658;p3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 signifie une AP supérieure avec un Brier moins bon ?</a:t>
            </a:r>
            <a:endParaRPr/>
          </a:p>
        </p:txBody>
      </p:sp>
      <p:sp>
        <p:nvSpPr>
          <p:cNvPr id="659" name="Google Shape;659;p3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Répondre seul, comparer en binôme, puis justifier</a:t>
            </a:r>
            <a:endParaRPr/>
          </a:p>
        </p:txBody>
      </p:sp>
      <p:sp>
        <p:nvSpPr>
          <p:cNvPr id="660" name="Google Shape;660;p3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R02, R03, R16 · liens et détails dans les notes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EE5"/>
        </a:solidFill>
      </p:bgPr>
    </p:bg>
    <p:spTree>
      <p:nvGrpSpPr>
        <p:cNvPr id="665" name="Shape 665"/>
        <p:cNvGrpSpPr/>
        <p:nvPr/>
      </p:nvGrpSpPr>
      <p:grpSpPr>
        <a:xfrm>
          <a:off x="0" y="0"/>
          <a:ext cx="0" cy="0"/>
          <a:chOff x="0" y="0"/>
          <a:chExt cx="0" cy="0"/>
        </a:xfrm>
      </p:grpSpPr>
      <p:sp>
        <p:nvSpPr>
          <p:cNvPr id="666" name="Google Shape;666;p3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67" name="Google Shape;667;p3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68" name="Google Shape;668;p3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69" name="Google Shape;669;p3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031</a:t>
            </a:r>
            <a:endParaRPr b="0" i="0" sz="1300" u="none" cap="none">
              <a:solidFill>
                <a:schemeClr val="dk1"/>
              </a:solidFill>
              <a:latin typeface="Calibri"/>
              <a:ea typeface="Calibri"/>
              <a:cs typeface="Calibri"/>
              <a:sym typeface="Calibri"/>
            </a:endParaRPr>
          </a:p>
        </p:txBody>
      </p:sp>
      <p:pic>
        <p:nvPicPr>
          <p:cNvPr id="670" name="Google Shape;670;p3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671" name="Google Shape;671;p3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672" name="Google Shape;672;p3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1</a:t>
            </a:r>
            <a:endParaRPr b="0" sz="1300" u="none" cap="none">
              <a:solidFill>
                <a:schemeClr val="dk1"/>
              </a:solidFill>
              <a:latin typeface="Calibri"/>
              <a:ea typeface="Calibri"/>
              <a:cs typeface="Calibri"/>
              <a:sym typeface="Calibri"/>
            </a:endParaRPr>
          </a:p>
        </p:txBody>
      </p:sp>
      <p:sp>
        <p:nvSpPr>
          <p:cNvPr id="673" name="Google Shape;673;p3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674" name="Google Shape;674;p3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675" name="Google Shape;675;p3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676" name="Google Shape;676;p3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Les acquis du jour 1</a:t>
            </a:r>
            <a:endParaRPr/>
          </a:p>
        </p:txBody>
      </p:sp>
      <p:sp>
        <p:nvSpPr>
          <p:cNvPr id="677" name="Google Shape;677;p3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cible et un instant de décision explicites.</a:t>
            </a:r>
            <a:endParaRPr/>
          </a:p>
        </p:txBody>
      </p:sp>
      <p:sp>
        <p:nvSpPr>
          <p:cNvPr id="678" name="Google Shape;678;p3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pipeline validée avec un découpage justifié.</a:t>
            </a:r>
            <a:endParaRPr/>
          </a:p>
        </p:txBody>
      </p:sp>
      <p:sp>
        <p:nvSpPr>
          <p:cNvPr id="679" name="Google Shape;679;p3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baseline, des métriques adaptées et un test final préservé.</a:t>
            </a:r>
            <a:endParaRPr/>
          </a:p>
        </p:txBody>
      </p:sp>
      <p:sp>
        <p:nvSpPr>
          <p:cNvPr id="680" name="Google Shape;680;p3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Demain : améliorer le modèle sans dégrader la qualité de la comparaison</a:t>
            </a:r>
            <a:endParaRPr/>
          </a:p>
        </p:txBody>
      </p:sp>
      <p:sp>
        <p:nvSpPr>
          <p:cNvPr id="681" name="Google Shape;681;p3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364"/>
        </a:solidFill>
      </p:bgPr>
    </p:bg>
    <p:spTree>
      <p:nvGrpSpPr>
        <p:cNvPr id="686" name="Shape 686"/>
        <p:cNvGrpSpPr/>
        <p:nvPr/>
      </p:nvGrpSpPr>
      <p:grpSpPr>
        <a:xfrm>
          <a:off x="0" y="0"/>
          <a:ext cx="0" cy="0"/>
          <a:chOff x="0" y="0"/>
          <a:chExt cx="0" cy="0"/>
        </a:xfrm>
      </p:grpSpPr>
      <p:sp>
        <p:nvSpPr>
          <p:cNvPr id="687" name="Google Shape;687;p36"/>
          <p:cNvSpPr/>
          <p:nvPr/>
        </p:nvSpPr>
        <p:spPr>
          <a:xfrm>
            <a:off x="952505" y="3947599"/>
            <a:ext cx="102870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688" name="Google Shape;688;p36"/>
          <p:cNvSpPr/>
          <p:nvPr/>
        </p:nvSpPr>
        <p:spPr>
          <a:xfrm>
            <a:off x="952805" y="2076602"/>
            <a:ext cx="1452982"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000" u="none" cap="none">
                <a:solidFill>
                  <a:srgbClr val="FFFFFF"/>
                </a:solidFill>
                <a:latin typeface="Roboto Mono"/>
                <a:ea typeface="Roboto Mono"/>
                <a:cs typeface="Roboto Mono"/>
                <a:sym typeface="Roboto Mono"/>
              </a:rPr>
              <a:t>02</a:t>
            </a:r>
            <a:endParaRPr b="0" i="0" sz="6700" u="none" cap="none">
              <a:solidFill>
                <a:schemeClr val="lt1"/>
              </a:solidFill>
              <a:latin typeface="Calibri"/>
              <a:ea typeface="Calibri"/>
              <a:cs typeface="Calibri"/>
              <a:sym typeface="Calibri"/>
            </a:endParaRPr>
          </a:p>
        </p:txBody>
      </p:sp>
      <p:sp>
        <p:nvSpPr>
          <p:cNvPr id="689" name="Google Shape;689;p36"/>
          <p:cNvSpPr/>
          <p:nvPr/>
        </p:nvSpPr>
        <p:spPr>
          <a:xfrm>
            <a:off x="1946758" y="2076602"/>
            <a:ext cx="976579"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700" u="none" cap="none">
                <a:solidFill>
                  <a:schemeClr val="lt1"/>
                </a:solidFill>
                <a:latin typeface="DM Sans"/>
                <a:ea typeface="DM Sans"/>
                <a:cs typeface="DM Sans"/>
                <a:sym typeface="DM Sans"/>
              </a:rPr>
              <a:t>/</a:t>
            </a:r>
            <a:endParaRPr b="0" i="0" sz="6700" u="none" cap="none">
              <a:solidFill>
                <a:schemeClr val="lt1"/>
              </a:solidFill>
              <a:latin typeface="Calibri"/>
              <a:ea typeface="Calibri"/>
              <a:cs typeface="Calibri"/>
              <a:sym typeface="Calibri"/>
            </a:endParaRPr>
          </a:p>
        </p:txBody>
      </p:sp>
      <p:sp>
        <p:nvSpPr>
          <p:cNvPr id="690" name="Google Shape;690;p36"/>
          <p:cNvSpPr/>
          <p:nvPr/>
        </p:nvSpPr>
        <p:spPr>
          <a:xfrm>
            <a:off x="2619375" y="2209800"/>
            <a:ext cx="8620125" cy="1638300"/>
          </a:xfrm>
          <a:prstGeom prst="rect">
            <a:avLst/>
          </a:prstGeom>
          <a:noFill/>
          <a:ln>
            <a:noFill/>
          </a:ln>
        </p:spPr>
        <p:txBody>
          <a:bodyPr anchorCtr="0" anchor="t" bIns="0" lIns="0" spcFirstLastPara="1" rIns="0" wrap="square" tIns="0">
            <a:noAutofit/>
          </a:bodyPr>
          <a:lstStyle/>
          <a:p>
            <a:pPr indent="0" lvl="0" marL="0" marR="0" rtl="0" algn="l">
              <a:lnSpc>
                <a:spcPct val="65000"/>
              </a:lnSpc>
              <a:spcBef>
                <a:spcPts val="0"/>
              </a:spcBef>
              <a:spcAft>
                <a:spcPts val="0"/>
              </a:spcAft>
              <a:buClr>
                <a:srgbClr val="000000"/>
              </a:buClr>
              <a:buSzPts val="7500"/>
              <a:buFont typeface="Archivo Black"/>
              <a:buNone/>
            </a:pPr>
            <a:r>
              <a:rPr lang="en-US" sz="4050">
                <a:solidFill>
                  <a:srgbClr val="FFFFFF"/>
                </a:solidFill>
                <a:latin typeface="Archivo Black"/>
                <a:ea typeface="Archivo Black"/>
                <a:cs typeface="Archivo Black"/>
                <a:sym typeface="Archivo Black"/>
              </a:rPr>
              <a:t>Ensembles et optimisation</a:t>
            </a:r>
            <a:endParaRPr sz="7500">
              <a:solidFill>
                <a:schemeClr val="lt1"/>
              </a:solidFill>
              <a:latin typeface="Archivo Black"/>
              <a:ea typeface="Archivo Black"/>
              <a:cs typeface="Archivo Black"/>
              <a:sym typeface="Archivo Black"/>
            </a:endParaRPr>
          </a:p>
        </p:txBody>
      </p:sp>
      <p:sp>
        <p:nvSpPr>
          <p:cNvPr id="691" name="Google Shape;691;p3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692" name="Google Shape;692;p3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032</a:t>
            </a:r>
            <a:endParaRPr b="0" i="0" sz="1300" u="none" cap="none">
              <a:solidFill>
                <a:schemeClr val="dk1"/>
              </a:solidFill>
              <a:latin typeface="Calibri"/>
              <a:ea typeface="Calibri"/>
              <a:cs typeface="Calibri"/>
              <a:sym typeface="Calibri"/>
            </a:endParaRPr>
          </a:p>
        </p:txBody>
      </p:sp>
      <p:pic>
        <p:nvPicPr>
          <p:cNvPr id="693" name="Google Shape;693;p36"/>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pic>
        <p:nvPicPr>
          <p:cNvPr id="694" name="Google Shape;694;p36"/>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695" name="Google Shape;695;p3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696" name="Google Shape;696;p3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697" name="Google Shape;697;p36"/>
          <p:cNvSpPr/>
          <p:nvPr/>
        </p:nvSpPr>
        <p:spPr>
          <a:xfrm>
            <a:off x="952500" y="4476750"/>
            <a:ext cx="1028700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DM Sans"/>
                <a:ea typeface="DM Sans"/>
                <a:cs typeface="DM Sans"/>
                <a:sym typeface="DM Sans"/>
              </a:rPr>
              <a:t>Mardi 22 septembre · Comparer performance, stabilité et coût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3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04" name="Google Shape;704;p3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05" name="Google Shape;705;p3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06" name="Google Shape;706;p3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033</a:t>
            </a:r>
            <a:endParaRPr b="0" i="0" sz="1300" u="none" cap="none">
              <a:solidFill>
                <a:schemeClr val="dk1"/>
              </a:solidFill>
              <a:latin typeface="Calibri"/>
              <a:ea typeface="Calibri"/>
              <a:cs typeface="Calibri"/>
              <a:sym typeface="Calibri"/>
            </a:endParaRPr>
          </a:p>
        </p:txBody>
      </p:sp>
      <p:pic>
        <p:nvPicPr>
          <p:cNvPr id="707" name="Google Shape;707;p3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708" name="Google Shape;708;p3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709" name="Google Shape;709;p3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710" name="Google Shape;710;p3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11" name="Google Shape;711;p3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12" name="Google Shape;712;p3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713" name="Google Shape;713;p3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 arbre partitionne l'espace</a:t>
            </a:r>
            <a:endParaRPr/>
          </a:p>
        </p:txBody>
      </p:sp>
      <p:sp>
        <p:nvSpPr>
          <p:cNvPr id="714" name="Google Shape;714;p3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question sur une variable divise les observations en deux groupes.</a:t>
            </a:r>
            <a:endParaRPr/>
          </a:p>
        </p:txBody>
      </p:sp>
      <p:sp>
        <p:nvSpPr>
          <p:cNvPr id="715" name="Google Shape;715;p3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Chaque feuille produit une valeur ou une distribution de classes.</a:t>
            </a:r>
            <a:endParaRPr/>
          </a:p>
        </p:txBody>
      </p:sp>
      <p:sp>
        <p:nvSpPr>
          <p:cNvPr id="716" name="Google Shape;716;p3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choix local d'une division ne garantit pas le meilleur arbre global.</a:t>
            </a:r>
            <a:endParaRPr/>
          </a:p>
        </p:txBody>
      </p:sp>
      <p:sp>
        <p:nvSpPr>
          <p:cNvPr id="717" name="Google Shape;717;p3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règle lisible peut appartenir à un arbre globalement instable</a:t>
            </a:r>
            <a:endParaRPr/>
          </a:p>
        </p:txBody>
      </p:sp>
      <p:sp>
        <p:nvSpPr>
          <p:cNvPr id="718" name="Google Shape;718;p3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R40, R39 · liens et détails dans les notes</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3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25" name="Google Shape;725;p3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26" name="Google Shape;726;p3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27" name="Google Shape;727;p3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034</a:t>
            </a:r>
            <a:endParaRPr b="0" i="0" sz="1300" u="none" cap="none">
              <a:solidFill>
                <a:schemeClr val="dk1"/>
              </a:solidFill>
              <a:latin typeface="Calibri"/>
              <a:ea typeface="Calibri"/>
              <a:cs typeface="Calibri"/>
              <a:sym typeface="Calibri"/>
            </a:endParaRPr>
          </a:p>
        </p:txBody>
      </p:sp>
      <p:pic>
        <p:nvPicPr>
          <p:cNvPr id="728" name="Google Shape;728;p3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729" name="Google Shape;729;p3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730" name="Google Shape;730;p3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731" name="Google Shape;731;p3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32" name="Google Shape;732;p3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33" name="Google Shape;733;p3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734" name="Google Shape;734;p3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Calculer un gain de Gini</a:t>
            </a:r>
            <a:endParaRPr/>
          </a:p>
        </p:txBody>
      </p:sp>
      <p:graphicFrame>
        <p:nvGraphicFramePr>
          <p:cNvPr id="735" name="Google Shape;735;p38"/>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Nœud</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Positifs / total</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Gini</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Parent</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4 / 10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0,48</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Gauche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1 / 5</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0,32</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Droite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3 / 5</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0,48</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Après division pondérée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0,5×0,32 + 0,5×0,48</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0,40</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Gain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0,48 − 0,40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0,08</a:t>
                      </a:r>
                      <a:endParaRPr/>
                    </a:p>
                  </a:txBody>
                  <a:tcPr marT="45725" marB="45725" marR="91450" marL="91450">
                    <a:solidFill>
                      <a:srgbClr val="F4F5F8"/>
                    </a:solidFill>
                  </a:tcPr>
                </a:tc>
              </a:tr>
            </a:tbl>
          </a:graphicData>
        </a:graphic>
      </p:graphicFrame>
      <p:sp>
        <p:nvSpPr>
          <p:cNvPr id="736" name="Google Shape;736;p38"/>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737" name="Google Shape;737;p3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R40 · liens et détails dans les notes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3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44" name="Google Shape;744;p3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45" name="Google Shape;745;p3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46" name="Google Shape;746;p3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035</a:t>
            </a:r>
            <a:endParaRPr b="0" i="0" sz="1300" u="none" cap="none">
              <a:solidFill>
                <a:schemeClr val="dk1"/>
              </a:solidFill>
              <a:latin typeface="Calibri"/>
              <a:ea typeface="Calibri"/>
              <a:cs typeface="Calibri"/>
              <a:sym typeface="Calibri"/>
            </a:endParaRPr>
          </a:p>
        </p:txBody>
      </p:sp>
      <p:pic>
        <p:nvPicPr>
          <p:cNvPr id="747" name="Google Shape;747;p3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748" name="Google Shape;748;p3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749" name="Google Shape;749;p3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750" name="Google Shape;750;p3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51" name="Google Shape;751;p3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52" name="Google Shape;752;p3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753" name="Google Shape;753;p3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Contrôler la complexité d'un arbre</a:t>
            </a:r>
            <a:endParaRPr/>
          </a:p>
        </p:txBody>
      </p:sp>
      <p:sp>
        <p:nvSpPr>
          <p:cNvPr id="754" name="Google Shape;754;p3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max_depth</a:t>
            </a:r>
            <a:r>
              <a:rPr b="0" lang="en-US" sz="2250">
                <a:solidFill>
                  <a:srgbClr val="12194C"/>
                </a:solidFill>
                <a:latin typeface="DM Sans"/>
                <a:ea typeface="DM Sans"/>
                <a:cs typeface="DM Sans"/>
                <a:sym typeface="DM Sans"/>
              </a:rPr>
              <a:t> limite la profondeur des interactions.</a:t>
            </a:r>
            <a:endParaRPr/>
          </a:p>
        </p:txBody>
      </p:sp>
      <p:sp>
        <p:nvSpPr>
          <p:cNvPr id="755" name="Google Shape;755;p3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min_samples_leaf</a:t>
            </a:r>
            <a:r>
              <a:rPr b="0" lang="en-US" sz="2250">
                <a:solidFill>
                  <a:srgbClr val="12194C"/>
                </a:solidFill>
                <a:latin typeface="DM Sans"/>
                <a:ea typeface="DM Sans"/>
                <a:cs typeface="DM Sans"/>
                <a:sym typeface="DM Sans"/>
              </a:rPr>
              <a:t> évite des feuilles soutenues par trop peu d'observations.</a:t>
            </a:r>
            <a:endParaRPr/>
          </a:p>
        </p:txBody>
      </p:sp>
      <p:sp>
        <p:nvSpPr>
          <p:cNvPr id="756" name="Google Shape;756;p3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ccp_alpha</a:t>
            </a:r>
            <a:r>
              <a:rPr b="0" lang="en-US" sz="2250">
                <a:solidFill>
                  <a:srgbClr val="12194C"/>
                </a:solidFill>
                <a:latin typeface="DM Sans"/>
                <a:ea typeface="DM Sans"/>
                <a:cs typeface="DM Sans"/>
                <a:sym typeface="DM Sans"/>
              </a:rPr>
              <a:t> pénalise la complexité lors de l'élagage.</a:t>
            </a:r>
            <a:endParaRPr/>
          </a:p>
        </p:txBody>
      </p:sp>
      <p:sp>
        <p:nvSpPr>
          <p:cNvPr id="757" name="Google Shape;757;p3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Les seuils se valident ; aucune taille minimale universelle de feuille</a:t>
            </a:r>
            <a:endParaRPr/>
          </a:p>
        </p:txBody>
      </p:sp>
      <p:sp>
        <p:nvSpPr>
          <p:cNvPr id="758" name="Google Shape;758;p3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R40, R39 · liens et détails dans les notes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3" name="Shape 763"/>
        <p:cNvGrpSpPr/>
        <p:nvPr/>
      </p:nvGrpSpPr>
      <p:grpSpPr>
        <a:xfrm>
          <a:off x="0" y="0"/>
          <a:ext cx="0" cy="0"/>
          <a:chOff x="0" y="0"/>
          <a:chExt cx="0" cy="0"/>
        </a:xfrm>
      </p:grpSpPr>
      <p:sp>
        <p:nvSpPr>
          <p:cNvPr id="764" name="Google Shape;764;p4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65" name="Google Shape;765;p4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66" name="Google Shape;766;p4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67" name="Google Shape;767;p4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036</a:t>
            </a:r>
            <a:endParaRPr b="0" i="0" sz="1300" u="none" cap="none">
              <a:solidFill>
                <a:schemeClr val="dk1"/>
              </a:solidFill>
              <a:latin typeface="Calibri"/>
              <a:ea typeface="Calibri"/>
              <a:cs typeface="Calibri"/>
              <a:sym typeface="Calibri"/>
            </a:endParaRPr>
          </a:p>
        </p:txBody>
      </p:sp>
      <p:pic>
        <p:nvPicPr>
          <p:cNvPr id="768" name="Google Shape;768;p4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769" name="Google Shape;769;p4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770" name="Google Shape;770;p4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771" name="Google Shape;771;p4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72" name="Google Shape;772;p4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73" name="Google Shape;773;p4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774" name="Google Shape;774;p4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Bagging : moyenner des modèles instables</a:t>
            </a:r>
            <a:endParaRPr/>
          </a:p>
        </p:txBody>
      </p:sp>
      <p:sp>
        <p:nvSpPr>
          <p:cNvPr id="775" name="Google Shape;775;p4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Tirer plusieurs échantillons avec remise à partir du train.</a:t>
            </a:r>
            <a:endParaRPr/>
          </a:p>
        </p:txBody>
      </p:sp>
      <p:sp>
        <p:nvSpPr>
          <p:cNvPr id="776" name="Google Shape;776;p4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Ajuster un estimateur sur chaque échantillon bootstrap.</a:t>
            </a:r>
            <a:endParaRPr/>
          </a:p>
        </p:txBody>
      </p:sp>
      <p:sp>
        <p:nvSpPr>
          <p:cNvPr id="777" name="Google Shape;777;p4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Agréger les prédictions pour réduire une partie de la variance.</a:t>
            </a:r>
            <a:endParaRPr/>
          </a:p>
        </p:txBody>
      </p:sp>
      <p:sp>
        <p:nvSpPr>
          <p:cNvPr id="778" name="Google Shape;778;p4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Le bénéfice dépend autant de la diversité que du nombre d'estimateurs</a:t>
            </a:r>
            <a:endParaRPr/>
          </a:p>
        </p:txBody>
      </p:sp>
      <p:sp>
        <p:nvSpPr>
          <p:cNvPr id="779" name="Google Shape;779;p4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R08 · liens et détails dans les notes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4" name="Shape 784"/>
        <p:cNvGrpSpPr/>
        <p:nvPr/>
      </p:nvGrpSpPr>
      <p:grpSpPr>
        <a:xfrm>
          <a:off x="0" y="0"/>
          <a:ext cx="0" cy="0"/>
          <a:chOff x="0" y="0"/>
          <a:chExt cx="0" cy="0"/>
        </a:xfrm>
      </p:grpSpPr>
      <p:sp>
        <p:nvSpPr>
          <p:cNvPr id="785" name="Google Shape;785;p4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86" name="Google Shape;786;p4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87" name="Google Shape;787;p4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788" name="Google Shape;788;p4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037</a:t>
            </a:r>
            <a:endParaRPr b="0" i="0" sz="1300" u="none" cap="none">
              <a:solidFill>
                <a:schemeClr val="dk1"/>
              </a:solidFill>
              <a:latin typeface="Calibri"/>
              <a:ea typeface="Calibri"/>
              <a:cs typeface="Calibri"/>
              <a:sym typeface="Calibri"/>
            </a:endParaRPr>
          </a:p>
        </p:txBody>
      </p:sp>
      <p:pic>
        <p:nvPicPr>
          <p:cNvPr id="789" name="Google Shape;789;p4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790" name="Google Shape;790;p4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791" name="Google Shape;791;p4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792" name="Google Shape;792;p4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793" name="Google Shape;793;p4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794" name="Google Shape;794;p4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795" name="Google Shape;795;p4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Pourquoi la corrélation limite le gain</a:t>
            </a:r>
            <a:endParaRPr/>
          </a:p>
        </p:txBody>
      </p:sp>
      <p:pic>
        <p:nvPicPr>
          <p:cNvPr id="796" name="Google Shape;796;p41"/>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797" name="Google Shape;797;p41"/>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12194C"/>
                </a:solidFill>
                <a:latin typeface="DM Sans"/>
                <a:ea typeface="DM Sans"/>
                <a:cs typeface="DM Sans"/>
                <a:sym typeface="DM Sans"/>
              </a:rPr>
              <a:t>Erreurs identiques</a:t>
            </a:r>
            <a:r>
              <a:rPr b="0" lang="en-US" sz="1875">
                <a:solidFill>
                  <a:srgbClr val="12194C"/>
                </a:solidFill>
                <a:latin typeface="DM Sans"/>
                <a:ea typeface="DM Sans"/>
                <a:cs typeface="DM Sans"/>
                <a:sym typeface="DM Sans"/>
              </a:rPr>
              <a:t> : ajouter des arbres apporte peu.</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1" lang="en-US" sz="1875">
                <a:solidFill>
                  <a:srgbClr val="12194C"/>
                </a:solidFill>
                <a:latin typeface="DM Sans"/>
                <a:ea typeface="DM Sans"/>
                <a:cs typeface="DM Sans"/>
                <a:sym typeface="DM Sans"/>
              </a:rPr>
              <a:t>Erreurs diversifiées</a:t>
            </a:r>
            <a:r>
              <a:rPr b="0" lang="en-US" sz="1875">
                <a:solidFill>
                  <a:srgbClr val="12194C"/>
                </a:solidFill>
                <a:latin typeface="DM Sans"/>
                <a:ea typeface="DM Sans"/>
                <a:cs typeface="DM Sans"/>
                <a:sym typeface="DM Sans"/>
              </a:rPr>
              <a:t> : la moyenne devient plus stable.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Une variance résiduelle reste lorsque ρ est positif.</a:t>
            </a:r>
            <a:endParaRPr/>
          </a:p>
        </p:txBody>
      </p:sp>
      <p:sp>
        <p:nvSpPr>
          <p:cNvPr id="798" name="Google Shape;798;p41"/>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Formule théorique avec variance égale et corrélation commune ρ.</a:t>
            </a:r>
            <a:endParaRPr/>
          </a:p>
        </p:txBody>
      </p:sp>
      <p:sp>
        <p:nvSpPr>
          <p:cNvPr id="799" name="Google Shape;799;p4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R08 · liens et détails dans les notes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4" name="Shape 804"/>
        <p:cNvGrpSpPr/>
        <p:nvPr/>
      </p:nvGrpSpPr>
      <p:grpSpPr>
        <a:xfrm>
          <a:off x="0" y="0"/>
          <a:ext cx="0" cy="0"/>
          <a:chOff x="0" y="0"/>
          <a:chExt cx="0" cy="0"/>
        </a:xfrm>
      </p:grpSpPr>
      <p:sp>
        <p:nvSpPr>
          <p:cNvPr id="805" name="Google Shape;805;p4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06" name="Google Shape;806;p4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07" name="Google Shape;807;p4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08" name="Google Shape;808;p4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038</a:t>
            </a:r>
            <a:endParaRPr b="0" i="0" sz="1300" u="none" cap="none">
              <a:solidFill>
                <a:schemeClr val="dk1"/>
              </a:solidFill>
              <a:latin typeface="Calibri"/>
              <a:ea typeface="Calibri"/>
              <a:cs typeface="Calibri"/>
              <a:sym typeface="Calibri"/>
            </a:endParaRPr>
          </a:p>
        </p:txBody>
      </p:sp>
      <p:pic>
        <p:nvPicPr>
          <p:cNvPr id="809" name="Google Shape;809;p4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10" name="Google Shape;810;p4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11" name="Google Shape;811;p4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812" name="Google Shape;812;p4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813" name="Google Shape;813;p4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814" name="Google Shape;814;p4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815" name="Google Shape;815;p4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Random Forest : diversifier les divisions</a:t>
            </a:r>
            <a:endParaRPr/>
          </a:p>
        </p:txBody>
      </p:sp>
      <p:sp>
        <p:nvSpPr>
          <p:cNvPr id="816" name="Google Shape;816;p4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bootstrap diversifie les lignes vues par chaque arbre.</a:t>
            </a:r>
            <a:endParaRPr/>
          </a:p>
        </p:txBody>
      </p:sp>
      <p:sp>
        <p:nvSpPr>
          <p:cNvPr id="817" name="Google Shape;817;p4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max_features diversifie les variables candidates à chaque division.</a:t>
            </a:r>
            <a:endParaRPr/>
          </a:p>
        </p:txBody>
      </p:sp>
      <p:sp>
        <p:nvSpPr>
          <p:cNvPr id="818" name="Google Shape;818;p4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n_estimators stabilise l'ensemble, au prix du calcul et du stockage.</a:t>
            </a:r>
            <a:endParaRPr/>
          </a:p>
        </p:txBody>
      </p:sp>
      <p:sp>
        <p:nvSpPr>
          <p:cNvPr id="819" name="Google Shape;819;p4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Comparer la force des arbres et la corrélation de leurs erreurs</a:t>
            </a:r>
            <a:endParaRPr/>
          </a:p>
        </p:txBody>
      </p:sp>
      <p:sp>
        <p:nvSpPr>
          <p:cNvPr id="820" name="Google Shape;820;p4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 liens et détails dans les notes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5" name="Shape 825"/>
        <p:cNvGrpSpPr/>
        <p:nvPr/>
      </p:nvGrpSpPr>
      <p:grpSpPr>
        <a:xfrm>
          <a:off x="0" y="0"/>
          <a:ext cx="0" cy="0"/>
          <a:chOff x="0" y="0"/>
          <a:chExt cx="0" cy="0"/>
        </a:xfrm>
      </p:grpSpPr>
      <p:sp>
        <p:nvSpPr>
          <p:cNvPr id="826" name="Google Shape;826;p4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27" name="Google Shape;827;p4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28" name="Google Shape;828;p4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29" name="Google Shape;829;p4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039</a:t>
            </a:r>
            <a:endParaRPr b="0" i="0" sz="1300" u="none" cap="none">
              <a:solidFill>
                <a:schemeClr val="dk1"/>
              </a:solidFill>
              <a:latin typeface="Calibri"/>
              <a:ea typeface="Calibri"/>
              <a:cs typeface="Calibri"/>
              <a:sym typeface="Calibri"/>
            </a:endParaRPr>
          </a:p>
        </p:txBody>
      </p:sp>
      <p:pic>
        <p:nvPicPr>
          <p:cNvPr id="830" name="Google Shape;830;p4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31" name="Google Shape;831;p4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32" name="Google Shape;832;p4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833" name="Google Shape;833;p4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834" name="Google Shape;834;p4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835" name="Google Shape;835;p4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836" name="Google Shape;836;p43"/>
          <p:cNvSpPr/>
          <p:nvPr/>
        </p:nvSpPr>
        <p:spPr>
          <a:xfrm>
            <a:off x="762000" y="857250"/>
            <a:ext cx="105729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Out-of-bag : utile avec ses limites</a:t>
            </a:r>
            <a:endParaRPr/>
          </a:p>
        </p:txBody>
      </p:sp>
      <p:sp>
        <p:nvSpPr>
          <p:cNvPr id="837" name="Google Shape;837;p4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 une observation, agréger les arbres qui ne l'ont pas utilisée.</a:t>
            </a:r>
            <a:endParaRPr/>
          </a:p>
        </p:txBody>
      </p:sp>
      <p:sp>
        <p:nvSpPr>
          <p:cNvPr id="838" name="Google Shape;838;p43"/>
          <p:cNvSpPr/>
          <p:nvPr/>
        </p:nvSpPr>
        <p:spPr>
          <a:xfrm>
            <a:off x="819150" y="2914650"/>
            <a:ext cx="10477500" cy="64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Obtenir une estimation interne sans découpage de validation supplémentaire.</a:t>
            </a:r>
            <a:endParaRPr/>
          </a:p>
        </p:txBody>
      </p:sp>
      <p:sp>
        <p:nvSpPr>
          <p:cNvPr id="839" name="Google Shape;839;p4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Vérifier que groupes, temps et prétraitements ne rendent pas l'estimation trompeuse.</a:t>
            </a:r>
            <a:endParaRPr/>
          </a:p>
        </p:txBody>
      </p:sp>
      <p:sp>
        <p:nvSpPr>
          <p:cNvPr id="840" name="Google Shape;840;p43"/>
          <p:cNvSpPr/>
          <p:nvPr/>
        </p:nvSpPr>
        <p:spPr>
          <a:xfrm>
            <a:off x="747725" y="5255975"/>
            <a:ext cx="106203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OOB ne remplace pas un test cohérent avec l'usage futur</a:t>
            </a:r>
            <a:endParaRPr/>
          </a:p>
        </p:txBody>
      </p:sp>
      <p:sp>
        <p:nvSpPr>
          <p:cNvPr id="841" name="Google Shape;841;p4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R03 · liens et détails dans les notes</a:t>
            </a:r>
            <a:endParaRPr/>
          </a:p>
        </p:txBody>
      </p:sp>
      <p:pic>
        <p:nvPicPr>
          <p:cNvPr id="842" name="Google Shape;842;p43"/>
          <p:cNvPicPr preferRelativeResize="0"/>
          <p:nvPr/>
        </p:nvPicPr>
        <p:blipFill>
          <a:blip r:embed="rId5">
            <a:alphaModFix/>
          </a:blip>
          <a:stretch>
            <a:fillRect/>
          </a:stretch>
        </p:blipFill>
        <p:spPr>
          <a:xfrm>
            <a:off x="7536430" y="4251637"/>
            <a:ext cx="3525398" cy="83820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4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49" name="Google Shape;849;p4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50" name="Google Shape;850;p4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51" name="Google Shape;851;p4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040</a:t>
            </a:r>
            <a:endParaRPr b="0" i="0" sz="1300" u="none" cap="none">
              <a:solidFill>
                <a:schemeClr val="dk1"/>
              </a:solidFill>
              <a:latin typeface="Calibri"/>
              <a:ea typeface="Calibri"/>
              <a:cs typeface="Calibri"/>
              <a:sym typeface="Calibri"/>
            </a:endParaRPr>
          </a:p>
        </p:txBody>
      </p:sp>
      <p:pic>
        <p:nvPicPr>
          <p:cNvPr id="852" name="Google Shape;852;p4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53" name="Google Shape;853;p4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54" name="Google Shape;854;p4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855" name="Google Shape;855;p4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856" name="Google Shape;856;p4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857" name="Google Shape;857;p4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858" name="Google Shape;858;p44"/>
          <p:cNvSpPr/>
          <p:nvPr/>
        </p:nvSpPr>
        <p:spPr>
          <a:xfrm>
            <a:off x="762000" y="857250"/>
            <a:ext cx="10572900" cy="59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Boosting : corriger progressivement le modèle</a:t>
            </a:r>
            <a:endParaRPr/>
          </a:p>
        </p:txBody>
      </p:sp>
      <p:sp>
        <p:nvSpPr>
          <p:cNvPr id="859" name="Google Shape;859;p44"/>
          <p:cNvSpPr/>
          <p:nvPr/>
        </p:nvSpPr>
        <p:spPr>
          <a:xfrm>
            <a:off x="809700" y="2742088"/>
            <a:ext cx="10477500" cy="51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Fm−1 représente la prédiction courante.</a:t>
            </a:r>
            <a:endParaRPr/>
          </a:p>
        </p:txBody>
      </p:sp>
      <p:sp>
        <p:nvSpPr>
          <p:cNvPr id="860" name="Google Shape;860;p44"/>
          <p:cNvSpPr/>
          <p:nvPr/>
        </p:nvSpPr>
        <p:spPr>
          <a:xfrm>
            <a:off x="819150" y="3543300"/>
            <a:ext cx="10477500" cy="649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hm apprend une direction de correction.</a:t>
            </a:r>
            <a:endParaRPr/>
          </a:p>
        </p:txBody>
      </p:sp>
      <p:sp>
        <p:nvSpPr>
          <p:cNvPr id="861" name="Google Shape;861;p44"/>
          <p:cNvSpPr/>
          <p:nvPr/>
        </p:nvSpPr>
        <p:spPr>
          <a:xfrm>
            <a:off x="819150" y="4476750"/>
            <a:ext cx="10477500" cy="59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η règle l'amplitude de chaque nouvelle correction.</a:t>
            </a:r>
            <a:endParaRPr/>
          </a:p>
        </p:txBody>
      </p:sp>
      <p:sp>
        <p:nvSpPr>
          <p:cNvPr id="862" name="Google Shape;862;p4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R11 · liens et détails dans les notes</a:t>
            </a:r>
            <a:endParaRPr/>
          </a:p>
        </p:txBody>
      </p:sp>
      <p:pic>
        <p:nvPicPr>
          <p:cNvPr id="863" name="Google Shape;863;p44"/>
          <p:cNvPicPr preferRelativeResize="0"/>
          <p:nvPr/>
        </p:nvPicPr>
        <p:blipFill>
          <a:blip r:embed="rId5">
            <a:alphaModFix/>
          </a:blip>
          <a:stretch>
            <a:fillRect/>
          </a:stretch>
        </p:blipFill>
        <p:spPr>
          <a:xfrm>
            <a:off x="4017896" y="1447948"/>
            <a:ext cx="5194929" cy="101012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8" name="Shape 868"/>
        <p:cNvGrpSpPr/>
        <p:nvPr/>
      </p:nvGrpSpPr>
      <p:grpSpPr>
        <a:xfrm>
          <a:off x="0" y="0"/>
          <a:ext cx="0" cy="0"/>
          <a:chOff x="0" y="0"/>
          <a:chExt cx="0" cy="0"/>
        </a:xfrm>
      </p:grpSpPr>
      <p:sp>
        <p:nvSpPr>
          <p:cNvPr id="869" name="Google Shape;869;p4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70" name="Google Shape;870;p4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71" name="Google Shape;871;p4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72" name="Google Shape;872;p4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041</a:t>
            </a:r>
            <a:endParaRPr b="0" i="0" sz="1300" u="none" cap="none">
              <a:solidFill>
                <a:schemeClr val="dk1"/>
              </a:solidFill>
              <a:latin typeface="Calibri"/>
              <a:ea typeface="Calibri"/>
              <a:cs typeface="Calibri"/>
              <a:sym typeface="Calibri"/>
            </a:endParaRPr>
          </a:p>
        </p:txBody>
      </p:sp>
      <p:pic>
        <p:nvPicPr>
          <p:cNvPr id="873" name="Google Shape;873;p4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74" name="Google Shape;874;p4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75" name="Google Shape;875;p4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876" name="Google Shape;876;p4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877" name="Google Shape;877;p4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878" name="Google Shape;878;p4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879" name="Google Shape;879;p4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itération de boosting à la main</a:t>
            </a:r>
            <a:endParaRPr/>
          </a:p>
        </p:txBody>
      </p:sp>
      <p:graphicFrame>
        <p:nvGraphicFramePr>
          <p:cNvPr id="880" name="Google Shape;880;p45"/>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2133600"/>
                <a:gridCol w="2133600"/>
                <a:gridCol w="2133600"/>
                <a:gridCol w="2133600"/>
                <a:gridCol w="2133600"/>
              </a:tblGrid>
              <a:tr h="762000">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Observation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y</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F₀</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Résidu</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F₁ (η=0,5)</a:t>
                      </a:r>
                      <a:endParaRPr/>
                    </a:p>
                  </a:txBody>
                  <a:tcPr marT="45725" marB="45725" marR="91450" marL="91450">
                    <a:solidFill>
                      <a:srgbClr val="303C8B"/>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2</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4</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−2</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3,25</a:t>
                      </a:r>
                      <a:endParaRPr/>
                    </a:p>
                  </a:txBody>
                  <a:tcPr marT="45725" marB="45725" marR="91450" marL="91450">
                    <a:solidFill>
                      <a:srgbClr val="F4F5F8"/>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2</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3</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4</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3,25</a:t>
                      </a:r>
                      <a:endParaRPr/>
                    </a:p>
                  </a:txBody>
                  <a:tcPr marT="45725" marB="45725" marR="91450" marL="91450">
                    <a:solidFill>
                      <a:srgbClr val="FFFFFF"/>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3</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7</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4</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3</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5,50</a:t>
                      </a:r>
                      <a:endParaRPr/>
                    </a:p>
                  </a:txBody>
                  <a:tcPr marT="45725" marB="45725" marR="91450" marL="91450">
                    <a:solidFill>
                      <a:srgbClr val="F4F5F8"/>
                    </a:solidFill>
                  </a:tcPr>
                </a:tc>
              </a:tr>
            </a:tbl>
          </a:graphicData>
        </a:graphic>
      </p:graphicFrame>
      <p:sp>
        <p:nvSpPr>
          <p:cNvPr id="881" name="Google Shape;881;p45"/>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La souche prédit −1,5 pour les deux premiers points et +3 pour le troisième</a:t>
            </a:r>
            <a:endParaRPr/>
          </a:p>
        </p:txBody>
      </p:sp>
      <p:sp>
        <p:nvSpPr>
          <p:cNvPr id="882" name="Google Shape;882;p4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R11 · liens et détails dans les notes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p4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89" name="Google Shape;889;p4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90" name="Google Shape;890;p4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891" name="Google Shape;891;p4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042</a:t>
            </a:r>
            <a:endParaRPr b="0" i="0" sz="1300" u="none" cap="none">
              <a:solidFill>
                <a:schemeClr val="dk1"/>
              </a:solidFill>
              <a:latin typeface="Calibri"/>
              <a:ea typeface="Calibri"/>
              <a:cs typeface="Calibri"/>
              <a:sym typeface="Calibri"/>
            </a:endParaRPr>
          </a:p>
        </p:txBody>
      </p:sp>
      <p:pic>
        <p:nvPicPr>
          <p:cNvPr id="892" name="Google Shape;892;p4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893" name="Google Shape;893;p4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894" name="Google Shape;894;p4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895" name="Google Shape;895;p4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896" name="Google Shape;896;p4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897" name="Google Shape;897;p4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898" name="Google Shape;898;p4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gradient généralise le résidu</a:t>
            </a:r>
            <a:endParaRPr/>
          </a:p>
        </p:txBody>
      </p:sp>
      <p:sp>
        <p:nvSpPr>
          <p:cNvPr id="899" name="Google Shape;899;p46"/>
          <p:cNvSpPr/>
          <p:nvPr/>
        </p:nvSpPr>
        <p:spPr>
          <a:xfrm>
            <a:off x="819150" y="2766000"/>
            <a:ext cx="10477500" cy="52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Ajuster un modèle faible sur cette direction de descente.</a:t>
            </a:r>
            <a:endParaRPr/>
          </a:p>
        </p:txBody>
      </p:sp>
      <p:sp>
        <p:nvSpPr>
          <p:cNvPr id="900" name="Google Shape;900;p46"/>
          <p:cNvSpPr/>
          <p:nvPr/>
        </p:nvSpPr>
        <p:spPr>
          <a:xfrm>
            <a:off x="819150" y="3543300"/>
            <a:ext cx="10477500" cy="52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 la log-loss, corriger une prédiction sur son échelle appropriée.</a:t>
            </a:r>
            <a:endParaRPr/>
          </a:p>
        </p:txBody>
      </p:sp>
      <p:sp>
        <p:nvSpPr>
          <p:cNvPr id="901" name="Google Shape;901;p46"/>
          <p:cNvSpPr/>
          <p:nvPr/>
        </p:nvSpPr>
        <p:spPr>
          <a:xfrm>
            <a:off x="819150" y="4476750"/>
            <a:ext cx="10477500" cy="52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Répéter en contrôlant la capacité et la taille des mises à jour.</a:t>
            </a:r>
            <a:endParaRPr/>
          </a:p>
        </p:txBody>
      </p:sp>
      <p:sp>
        <p:nvSpPr>
          <p:cNvPr id="902" name="Google Shape;902;p4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R11 · liens et détails dans les notes</a:t>
            </a:r>
            <a:endParaRPr/>
          </a:p>
        </p:txBody>
      </p:sp>
      <p:pic>
        <p:nvPicPr>
          <p:cNvPr id="903" name="Google Shape;903;p46"/>
          <p:cNvPicPr preferRelativeResize="0"/>
          <p:nvPr/>
        </p:nvPicPr>
        <p:blipFill>
          <a:blip r:embed="rId5">
            <a:alphaModFix/>
          </a:blip>
          <a:stretch>
            <a:fillRect/>
          </a:stretch>
        </p:blipFill>
        <p:spPr>
          <a:xfrm>
            <a:off x="4122350" y="1358400"/>
            <a:ext cx="4608600" cy="120002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 name="Shape 908"/>
        <p:cNvGrpSpPr/>
        <p:nvPr/>
      </p:nvGrpSpPr>
      <p:grpSpPr>
        <a:xfrm>
          <a:off x="0" y="0"/>
          <a:ext cx="0" cy="0"/>
          <a:chOff x="0" y="0"/>
          <a:chExt cx="0" cy="0"/>
        </a:xfrm>
      </p:grpSpPr>
      <p:sp>
        <p:nvSpPr>
          <p:cNvPr id="909" name="Google Shape;909;p4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10" name="Google Shape;910;p4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11" name="Google Shape;911;p4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12" name="Google Shape;912;p4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043</a:t>
            </a:r>
            <a:endParaRPr b="0" i="0" sz="1300" u="none" cap="none">
              <a:solidFill>
                <a:schemeClr val="dk1"/>
              </a:solidFill>
              <a:latin typeface="Calibri"/>
              <a:ea typeface="Calibri"/>
              <a:cs typeface="Calibri"/>
              <a:sym typeface="Calibri"/>
            </a:endParaRPr>
          </a:p>
        </p:txBody>
      </p:sp>
      <p:pic>
        <p:nvPicPr>
          <p:cNvPr id="913" name="Google Shape;913;p4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914" name="Google Shape;914;p4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915" name="Google Shape;915;p4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916" name="Google Shape;916;p4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17" name="Google Shape;917;p4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18" name="Google Shape;918;p4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19" name="Google Shape;919;p4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Quand arrêter le boosting ?</a:t>
            </a:r>
            <a:endParaRPr/>
          </a:p>
        </p:txBody>
      </p:sp>
      <p:pic>
        <p:nvPicPr>
          <p:cNvPr id="920" name="Google Shape;920;p47"/>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921" name="Google Shape;921;p47"/>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Mesurer la RMSE sur une validation indépendante.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Réduire la complexité ou arrêter si la validation cesse de progresser.</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Conserver un test indépendant de cette décision.</a:t>
            </a:r>
            <a:endParaRPr/>
          </a:p>
        </p:txBody>
      </p:sp>
      <p:sp>
        <p:nvSpPr>
          <p:cNvPr id="922" name="Google Shape;922;p47"/>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Expérience synthétique Friedman, n=600, graine 42 ; code dans scripts/build_assets.py.</a:t>
            </a:r>
            <a:endParaRPr/>
          </a:p>
        </p:txBody>
      </p:sp>
      <p:sp>
        <p:nvSpPr>
          <p:cNvPr id="923" name="Google Shape;923;p4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R09 · liens et détails dans les notes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8" name="Shape 928"/>
        <p:cNvGrpSpPr/>
        <p:nvPr/>
      </p:nvGrpSpPr>
      <p:grpSpPr>
        <a:xfrm>
          <a:off x="0" y="0"/>
          <a:ext cx="0" cy="0"/>
          <a:chOff x="0" y="0"/>
          <a:chExt cx="0" cy="0"/>
        </a:xfrm>
      </p:grpSpPr>
      <p:sp>
        <p:nvSpPr>
          <p:cNvPr id="929" name="Google Shape;929;p4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30" name="Google Shape;930;p48"/>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31" name="Google Shape;931;p4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32" name="Google Shape;932;p48"/>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044</a:t>
            </a:r>
            <a:endParaRPr b="0" i="0" sz="1300" u="none" cap="none">
              <a:solidFill>
                <a:schemeClr val="dk1"/>
              </a:solidFill>
              <a:latin typeface="Calibri"/>
              <a:ea typeface="Calibri"/>
              <a:cs typeface="Calibri"/>
              <a:sym typeface="Calibri"/>
            </a:endParaRPr>
          </a:p>
        </p:txBody>
      </p:sp>
      <p:pic>
        <p:nvPicPr>
          <p:cNvPr id="933" name="Google Shape;933;p4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934" name="Google Shape;934;p4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935" name="Google Shape;935;p4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936" name="Google Shape;936;p4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37" name="Google Shape;937;p4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38" name="Google Shape;938;p4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39" name="Google Shape;939;p48"/>
          <p:cNvSpPr/>
          <p:nvPr/>
        </p:nvSpPr>
        <p:spPr>
          <a:xfrm>
            <a:off x="762000" y="857250"/>
            <a:ext cx="10572900"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700">
                <a:solidFill>
                  <a:srgbClr val="12194C"/>
                </a:solidFill>
                <a:latin typeface="Archivo Black"/>
                <a:ea typeface="Archivo Black"/>
                <a:cs typeface="Archivo Black"/>
                <a:sym typeface="Archivo Black"/>
              </a:rPr>
              <a:t>Elagage (Pruning) de modèle</a:t>
            </a:r>
            <a:r>
              <a:rPr lang="en-US" sz="2700">
                <a:solidFill>
                  <a:srgbClr val="12194C"/>
                </a:solidFill>
                <a:latin typeface="Archivo Black"/>
                <a:ea typeface="Archivo Black"/>
                <a:cs typeface="Archivo Black"/>
                <a:sym typeface="Archivo Black"/>
              </a:rPr>
              <a:t> </a:t>
            </a:r>
            <a:endParaRPr/>
          </a:p>
        </p:txBody>
      </p:sp>
      <p:sp>
        <p:nvSpPr>
          <p:cNvPr id="940" name="Google Shape;940;p48"/>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R12 · liens et détails dans les notes</a:t>
            </a:r>
            <a:endParaRPr/>
          </a:p>
        </p:txBody>
      </p:sp>
      <p:graphicFrame>
        <p:nvGraphicFramePr>
          <p:cNvPr id="941" name="Google Shape;941;p48"/>
          <p:cNvGraphicFramePr/>
          <p:nvPr/>
        </p:nvGraphicFramePr>
        <p:xfrm>
          <a:off x="914388" y="1676400"/>
          <a:ext cx="3000000" cy="3000000"/>
        </p:xfrm>
        <a:graphic>
          <a:graphicData uri="http://schemas.openxmlformats.org/drawingml/2006/table">
            <a:tbl>
              <a:tblPr>
                <a:noFill/>
                <a:tableStyleId>{C6B46B82-55C0-43C8-8E66-D39B75777A89}</a:tableStyleId>
              </a:tblPr>
              <a:tblGrid>
                <a:gridCol w="1393725"/>
                <a:gridCol w="3953100"/>
                <a:gridCol w="5321475"/>
              </a:tblGrid>
              <a:tr h="307475">
                <a:tc>
                  <a:txBody>
                    <a:bodyPr/>
                    <a:lstStyle/>
                    <a:p>
                      <a:pPr indent="0" lvl="0" marL="0" rtl="0" algn="l">
                        <a:lnSpc>
                          <a:spcPct val="115000"/>
                        </a:lnSpc>
                        <a:spcBef>
                          <a:spcPts val="0"/>
                        </a:spcBef>
                        <a:spcAft>
                          <a:spcPts val="0"/>
                        </a:spcAft>
                        <a:buNone/>
                      </a:pPr>
                      <a:r>
                        <a:rPr b="1" lang="en-US" sz="1100"/>
                        <a:t>Forme</a:t>
                      </a:r>
                      <a:endParaRPr b="1" sz="1100"/>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t>Mécanisme</a:t>
                      </a:r>
                      <a:endParaRPr b="1" sz="1100"/>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t>Usage typique</a:t>
                      </a:r>
                      <a:endParaRPr b="1" sz="1100"/>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r>
              <a:tr h="569550">
                <a:tc>
                  <a:txBody>
                    <a:bodyPr/>
                    <a:lstStyle/>
                    <a:p>
                      <a:pPr indent="0" lvl="0" marL="0" rtl="0" algn="l">
                        <a:lnSpc>
                          <a:spcPct val="115000"/>
                        </a:lnSpc>
                        <a:spcBef>
                          <a:spcPts val="0"/>
                        </a:spcBef>
                        <a:spcAft>
                          <a:spcPts val="0"/>
                        </a:spcAft>
                        <a:buNone/>
                      </a:pPr>
                      <a:r>
                        <a:rPr b="1" lang="en-US">
                          <a:latin typeface="DM Sans"/>
                          <a:ea typeface="DM Sans"/>
                          <a:cs typeface="DM Sans"/>
                          <a:sym typeface="DM Sans"/>
                        </a:rPr>
                        <a:t>Pré-élagage</a:t>
                      </a:r>
                      <a:endParaRPr b="1">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Contraintes de construction : </a:t>
                      </a:r>
                      <a:r>
                        <a:rPr lang="en-US">
                          <a:solidFill>
                            <a:srgbClr val="188038"/>
                          </a:solidFill>
                          <a:latin typeface="DM Sans"/>
                          <a:ea typeface="DM Sans"/>
                          <a:cs typeface="DM Sans"/>
                          <a:sym typeface="DM Sans"/>
                        </a:rPr>
                        <a:t>max_depth</a:t>
                      </a:r>
                      <a:r>
                        <a:rPr lang="en-US">
                          <a:latin typeface="DM Sans"/>
                          <a:ea typeface="DM Sans"/>
                          <a:cs typeface="DM Sans"/>
                          <a:sym typeface="DM Sans"/>
                        </a:rPr>
                        <a:t>, </a:t>
                      </a:r>
                      <a:r>
                        <a:rPr lang="en-US">
                          <a:solidFill>
                            <a:srgbClr val="188038"/>
                          </a:solidFill>
                          <a:latin typeface="DM Sans"/>
                          <a:ea typeface="DM Sans"/>
                          <a:cs typeface="DM Sans"/>
                          <a:sym typeface="DM Sans"/>
                        </a:rPr>
                        <a:t>min_child_weight</a:t>
                      </a:r>
                      <a:r>
                        <a:rPr lang="en-US">
                          <a:latin typeface="DM Sans"/>
                          <a:ea typeface="DM Sans"/>
                          <a:cs typeface="DM Sans"/>
                          <a:sym typeface="DM Sans"/>
                        </a:rPr>
                        <a:t>, </a:t>
                      </a:r>
                      <a:r>
                        <a:rPr lang="en-US">
                          <a:solidFill>
                            <a:srgbClr val="188038"/>
                          </a:solidFill>
                          <a:latin typeface="DM Sans"/>
                          <a:ea typeface="DM Sans"/>
                          <a:cs typeface="DM Sans"/>
                          <a:sym typeface="DM Sans"/>
                        </a:rPr>
                        <a:t>gamma</a:t>
                      </a:r>
                      <a:r>
                        <a:rPr lang="en-US">
                          <a:latin typeface="DM Sans"/>
                          <a:ea typeface="DM Sans"/>
                          <a:cs typeface="DM Sans"/>
                          <a:sym typeface="DM Sans"/>
                        </a:rPr>
                        <a:t>, </a:t>
                      </a:r>
                      <a:r>
                        <a:rPr lang="en-US">
                          <a:solidFill>
                            <a:srgbClr val="188038"/>
                          </a:solidFill>
                          <a:latin typeface="DM Sans"/>
                          <a:ea typeface="DM Sans"/>
                          <a:cs typeface="DM Sans"/>
                          <a:sym typeface="DM Sans"/>
                        </a:rPr>
                        <a:t>min_samples_leaf</a:t>
                      </a:r>
                      <a:endParaRPr>
                        <a:solidFill>
                          <a:srgbClr val="188038"/>
                        </a:solidFill>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Standard en gradient boosting : arbres de profondeur 3–6.</a:t>
                      </a:r>
                      <a:endParaRPr>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569550">
                <a:tc>
                  <a:txBody>
                    <a:bodyPr/>
                    <a:lstStyle/>
                    <a:p>
                      <a:pPr indent="0" lvl="0" marL="0" rtl="0" algn="l">
                        <a:lnSpc>
                          <a:spcPct val="115000"/>
                        </a:lnSpc>
                        <a:spcBef>
                          <a:spcPts val="0"/>
                        </a:spcBef>
                        <a:spcAft>
                          <a:spcPts val="0"/>
                        </a:spcAft>
                        <a:buNone/>
                      </a:pPr>
                      <a:r>
                        <a:rPr b="1" lang="en-US">
                          <a:latin typeface="DM Sans"/>
                          <a:ea typeface="DM Sans"/>
                          <a:cs typeface="DM Sans"/>
                          <a:sym typeface="DM Sans"/>
                        </a:rPr>
                        <a:t>Post-élagage</a:t>
                      </a:r>
                      <a:endParaRPr b="1">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Suppression des branches après croissance (bottom-up, coût-complexité)</a:t>
                      </a:r>
                      <a:endParaRPr>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Rare en GB moderne, car les limites de profondeur suffisent ; central pour les CART seuls.</a:t>
                      </a:r>
                      <a:endParaRPr>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569550">
                <a:tc>
                  <a:txBody>
                    <a:bodyPr/>
                    <a:lstStyle/>
                    <a:p>
                      <a:pPr indent="0" lvl="0" marL="0" rtl="0" algn="l">
                        <a:lnSpc>
                          <a:spcPct val="115000"/>
                        </a:lnSpc>
                        <a:spcBef>
                          <a:spcPts val="0"/>
                        </a:spcBef>
                        <a:spcAft>
                          <a:spcPts val="0"/>
                        </a:spcAft>
                        <a:buNone/>
                      </a:pPr>
                      <a:r>
                        <a:rPr b="1" lang="en-US">
                          <a:latin typeface="DM Sans"/>
                          <a:ea typeface="DM Sans"/>
                          <a:cs typeface="DM Sans"/>
                          <a:sym typeface="DM Sans"/>
                        </a:rPr>
                        <a:t>Early stopping</a:t>
                      </a:r>
                      <a:endParaRPr b="1">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Arrêt de l'ajout d'arbres quand la perte de validation stagne</a:t>
                      </a:r>
                      <a:endParaRPr>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Devenu le </a:t>
                      </a:r>
                      <a:r>
                        <a:rPr b="1" lang="en-US">
                          <a:latin typeface="DM Sans"/>
                          <a:ea typeface="DM Sans"/>
                          <a:cs typeface="DM Sans"/>
                          <a:sym typeface="DM Sans"/>
                        </a:rPr>
                        <a:t>principal</a:t>
                      </a:r>
                      <a:r>
                        <a:rPr lang="en-US">
                          <a:latin typeface="DM Sans"/>
                          <a:ea typeface="DM Sans"/>
                          <a:cs typeface="DM Sans"/>
                          <a:sym typeface="DM Sans"/>
                        </a:rPr>
                        <a:t> contrôle de complexité de l'ensemble.</a:t>
                      </a:r>
                      <a:endParaRPr u="sng">
                        <a:solidFill>
                          <a:schemeClr val="hlink"/>
                        </a:solidFill>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476600">
                <a:tc>
                  <a:txBody>
                    <a:bodyPr/>
                    <a:lstStyle/>
                    <a:p>
                      <a:pPr indent="0" lvl="0" marL="0" rtl="0" algn="l">
                        <a:lnSpc>
                          <a:spcPct val="115000"/>
                        </a:lnSpc>
                        <a:spcBef>
                          <a:spcPts val="0"/>
                        </a:spcBef>
                        <a:spcAft>
                          <a:spcPts val="0"/>
                        </a:spcAft>
                        <a:buNone/>
                      </a:pPr>
                      <a:r>
                        <a:rPr b="1" lang="en-US">
                          <a:latin typeface="DM Sans"/>
                          <a:ea typeface="DM Sans"/>
                          <a:cs typeface="DM Sans"/>
                          <a:sym typeface="DM Sans"/>
                        </a:rPr>
                        <a:t>Élagage d'ensemble</a:t>
                      </a:r>
                      <a:endParaRPr b="1">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Suppression d'arbres entiers de l'ensemble final</a:t>
                      </a:r>
                      <a:endParaRPr>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latin typeface="DM Sans"/>
                          <a:ea typeface="DM Sans"/>
                          <a:cs typeface="DM Sans"/>
                          <a:sym typeface="DM Sans"/>
                        </a:rPr>
                        <a:t>Surtout étudié pour les Random Forests ; consiste à minimiser le nombre de membres en préservant la performance.</a:t>
                      </a:r>
                      <a:endParaRPr u="sng">
                        <a:solidFill>
                          <a:schemeClr val="hlink"/>
                        </a:solidFill>
                        <a:latin typeface="DM Sans"/>
                        <a:ea typeface="DM Sans"/>
                        <a:cs typeface="DM Sans"/>
                        <a:sym typeface="DM Sans"/>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4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48" name="Google Shape;948;p4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49" name="Google Shape;949;p4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50" name="Google Shape;950;p4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044</a:t>
            </a:r>
            <a:endParaRPr b="0" i="0" sz="1300" u="none" cap="none">
              <a:solidFill>
                <a:schemeClr val="dk1"/>
              </a:solidFill>
              <a:latin typeface="Calibri"/>
              <a:ea typeface="Calibri"/>
              <a:cs typeface="Calibri"/>
              <a:sym typeface="Calibri"/>
            </a:endParaRPr>
          </a:p>
        </p:txBody>
      </p:sp>
      <p:pic>
        <p:nvPicPr>
          <p:cNvPr id="951" name="Google Shape;951;p4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952" name="Google Shape;952;p4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953" name="Google Shape;953;p4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954" name="Google Shape;954;p4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55" name="Google Shape;955;p4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56" name="Google Shape;956;p4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57" name="Google Shape;957;p4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Boosting par histogrammes</a:t>
            </a:r>
            <a:endParaRPr/>
          </a:p>
        </p:txBody>
      </p:sp>
      <p:sp>
        <p:nvSpPr>
          <p:cNvPr id="958" name="Google Shape;958;p49"/>
          <p:cNvSpPr/>
          <p:nvPr/>
        </p:nvSpPr>
        <p:spPr>
          <a:xfrm>
            <a:off x="819150" y="1981200"/>
            <a:ext cx="10477500" cy="55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Regrouper les valeurs continues dans un nombre fini de bins.</a:t>
            </a:r>
            <a:endParaRPr/>
          </a:p>
        </p:txBody>
      </p:sp>
      <p:sp>
        <p:nvSpPr>
          <p:cNvPr id="959" name="Google Shape;959;p49"/>
          <p:cNvSpPr/>
          <p:nvPr/>
        </p:nvSpPr>
        <p:spPr>
          <a:xfrm>
            <a:off x="819150" y="2914650"/>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Évaluer les divisions sur ces bins pour réduire le coût.</a:t>
            </a:r>
            <a:endParaRPr/>
          </a:p>
        </p:txBody>
      </p:sp>
      <p:sp>
        <p:nvSpPr>
          <p:cNvPr id="960" name="Google Shape;960;p49"/>
          <p:cNvSpPr/>
          <p:nvPr/>
        </p:nvSpPr>
        <p:spPr>
          <a:xfrm>
            <a:off x="819150" y="384810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Régler feuilles, taux d'apprentissage, itérations et régularisation.</a:t>
            </a:r>
            <a:endParaRPr/>
          </a:p>
        </p:txBody>
      </p:sp>
      <p:sp>
        <p:nvSpPr>
          <p:cNvPr id="961" name="Google Shape;961;p4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gain de calcul permet davantage d'expériences, pas un protocole moins strict</a:t>
            </a:r>
            <a:endParaRPr/>
          </a:p>
        </p:txBody>
      </p:sp>
      <p:sp>
        <p:nvSpPr>
          <p:cNvPr id="962" name="Google Shape;962;p4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R12 · liens et détails dans les notes</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sp>
        <p:nvSpPr>
          <p:cNvPr id="968" name="Google Shape;968;p5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69" name="Google Shape;969;p5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70" name="Google Shape;970;p5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71" name="Google Shape;971;p5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045</a:t>
            </a:r>
            <a:endParaRPr b="0" i="0" sz="1300" u="none" cap="none">
              <a:solidFill>
                <a:schemeClr val="dk1"/>
              </a:solidFill>
              <a:latin typeface="Calibri"/>
              <a:ea typeface="Calibri"/>
              <a:cs typeface="Calibri"/>
              <a:sym typeface="Calibri"/>
            </a:endParaRPr>
          </a:p>
        </p:txBody>
      </p:sp>
      <p:pic>
        <p:nvPicPr>
          <p:cNvPr id="972" name="Google Shape;972;p5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973" name="Google Shape;973;p5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974" name="Google Shape;974;p5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975" name="Google Shape;975;p5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76" name="Google Shape;976;p5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77" name="Google Shape;977;p5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78" name="Google Shape;978;p5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Quatre implémentations à connaître</a:t>
            </a:r>
            <a:endParaRPr/>
          </a:p>
        </p:txBody>
      </p:sp>
      <p:graphicFrame>
        <p:nvGraphicFramePr>
          <p:cNvPr id="979" name="Google Shape;979;p50"/>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6096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Implémentation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Idée à retenir</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Vigilance</a:t>
                      </a:r>
                      <a:endParaRPr/>
                    </a:p>
                  </a:txBody>
                  <a:tcPr marT="45725" marB="45725" marR="91450" marL="91450">
                    <a:solidFill>
                      <a:srgbClr val="303C8B"/>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HistGradientBoosting</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Histogrammes intégrés à sklearn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Encoder/typer selon le pipeline</a:t>
                      </a:r>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XGBoost</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Objectif régularisé, second ordre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Paramètres et DMatrix</a:t>
                      </a:r>
                      <a:endParaRPr/>
                    </a:p>
                  </a:txBody>
                  <a:tcPr marT="45725" marB="45725" marR="91450" marL="91450">
                    <a:solidFill>
                      <a:srgbClr val="FFFFFF"/>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LightGBM</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Croissance par feuille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Limiter feuilles et profondeur</a:t>
                      </a:r>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CatBoost</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Catégorielles et ordered boosting</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Ne pas déléguer le split au modèle</a:t>
                      </a:r>
                      <a:endParaRPr/>
                    </a:p>
                  </a:txBody>
                  <a:tcPr marT="45725" marB="45725" marR="91450" marL="91450">
                    <a:solidFill>
                      <a:srgbClr val="FFFFFF"/>
                    </a:solidFill>
                  </a:tcPr>
                </a:tc>
              </a:tr>
            </a:tbl>
          </a:graphicData>
        </a:graphic>
      </p:graphicFrame>
      <p:sp>
        <p:nvSpPr>
          <p:cNvPr id="980" name="Google Shape;980;p50"/>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981" name="Google Shape;981;p5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R11, R12, R13 · liens et détails dans les notes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5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88" name="Google Shape;988;p5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89" name="Google Shape;989;p5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990" name="Google Shape;990;p5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046</a:t>
            </a:r>
            <a:endParaRPr b="0" i="0" sz="1300" u="none" cap="none">
              <a:solidFill>
                <a:schemeClr val="dk1"/>
              </a:solidFill>
              <a:latin typeface="Calibri"/>
              <a:ea typeface="Calibri"/>
              <a:cs typeface="Calibri"/>
              <a:sym typeface="Calibri"/>
            </a:endParaRPr>
          </a:p>
        </p:txBody>
      </p:sp>
      <p:pic>
        <p:nvPicPr>
          <p:cNvPr id="991" name="Google Shape;991;p5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992" name="Google Shape;992;p5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993" name="Google Shape;993;p5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994" name="Google Shape;994;p5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995" name="Google Shape;995;p5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996" name="Google Shape;996;p5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997" name="Google Shape;997;p5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Voting et stacking</a:t>
            </a:r>
            <a:endParaRPr/>
          </a:p>
        </p:txBody>
      </p:sp>
      <p:sp>
        <p:nvSpPr>
          <p:cNvPr id="998" name="Google Shape;998;p5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Voting : combiner plusieurs prédictions selon une règle fixée.</a:t>
            </a:r>
            <a:endParaRPr/>
          </a:p>
        </p:txBody>
      </p:sp>
      <p:sp>
        <p:nvSpPr>
          <p:cNvPr id="999" name="Google Shape;999;p5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Stacking : apprendre un méta-modèle sur les prédictions de modèles de base.</a:t>
            </a:r>
            <a:endParaRPr/>
          </a:p>
        </p:txBody>
      </p:sp>
      <p:sp>
        <p:nvSpPr>
          <p:cNvPr id="1000" name="Google Shape;1000;p5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 le stacking, fabriquer ces prédictions sans avoir entraîné sur leur cible.</a:t>
            </a:r>
            <a:endParaRPr/>
          </a:p>
        </p:txBody>
      </p:sp>
      <p:sp>
        <p:nvSpPr>
          <p:cNvPr id="1001" name="Google Shape;1001;p5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Prédictions hors pli pour le méta-modèle, test final pour l'ensemble</a:t>
            </a:r>
            <a:endParaRPr/>
          </a:p>
        </p:txBody>
      </p:sp>
      <p:sp>
        <p:nvSpPr>
          <p:cNvPr id="1002" name="Google Shape;1002;p5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 liens et détails dans les notes</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5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09" name="Google Shape;1009;p52"/>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10" name="Google Shape;1010;p5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11" name="Google Shape;1011;p52"/>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046</a:t>
            </a:r>
            <a:endParaRPr b="0" i="0" sz="1300" u="none" cap="none">
              <a:solidFill>
                <a:schemeClr val="dk1"/>
              </a:solidFill>
              <a:latin typeface="Calibri"/>
              <a:ea typeface="Calibri"/>
              <a:cs typeface="Calibri"/>
              <a:sym typeface="Calibri"/>
            </a:endParaRPr>
          </a:p>
        </p:txBody>
      </p:sp>
      <p:pic>
        <p:nvPicPr>
          <p:cNvPr id="1012" name="Google Shape;1012;p5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13" name="Google Shape;1013;p5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14" name="Google Shape;1014;p5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015" name="Google Shape;1015;p5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016" name="Google Shape;1016;p5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017" name="Google Shape;1017;p5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018" name="Google Shape;1018;p52"/>
          <p:cNvSpPr/>
          <p:nvPr/>
        </p:nvSpPr>
        <p:spPr>
          <a:xfrm>
            <a:off x="762000" y="857250"/>
            <a:ext cx="105729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700">
                <a:solidFill>
                  <a:srgbClr val="12194C"/>
                </a:solidFill>
                <a:latin typeface="Archivo Black"/>
                <a:ea typeface="Archivo Black"/>
                <a:cs typeface="Archivo Black"/>
                <a:sym typeface="Archivo Black"/>
              </a:rPr>
              <a:t>StackingRegressor en action</a:t>
            </a:r>
            <a:endParaRPr/>
          </a:p>
        </p:txBody>
      </p:sp>
      <p:sp>
        <p:nvSpPr>
          <p:cNvPr id="1019" name="Google Shape;1019;p52"/>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 liens et détails dans les notes</a:t>
            </a:r>
            <a:endParaRPr/>
          </a:p>
        </p:txBody>
      </p:sp>
      <p:pic>
        <p:nvPicPr>
          <p:cNvPr id="1020" name="Google Shape;1020;p52"/>
          <p:cNvPicPr preferRelativeResize="0"/>
          <p:nvPr/>
        </p:nvPicPr>
        <p:blipFill>
          <a:blip r:embed="rId5">
            <a:alphaModFix/>
          </a:blip>
          <a:stretch>
            <a:fillRect/>
          </a:stretch>
        </p:blipFill>
        <p:spPr>
          <a:xfrm>
            <a:off x="2173975" y="1589150"/>
            <a:ext cx="8060000" cy="39916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5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27" name="Google Shape;1027;p5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28" name="Google Shape;1028;p5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29" name="Google Shape;1029;p5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047</a:t>
            </a:r>
            <a:endParaRPr b="0" i="0" sz="1300" u="none" cap="none">
              <a:solidFill>
                <a:schemeClr val="dk1"/>
              </a:solidFill>
              <a:latin typeface="Calibri"/>
              <a:ea typeface="Calibri"/>
              <a:cs typeface="Calibri"/>
              <a:sym typeface="Calibri"/>
            </a:endParaRPr>
          </a:p>
        </p:txBody>
      </p:sp>
      <p:pic>
        <p:nvPicPr>
          <p:cNvPr id="1030" name="Google Shape;1030;p5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31" name="Google Shape;1031;p5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32" name="Google Shape;1032;p5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033" name="Google Shape;1033;p5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034" name="Google Shape;1034;p5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035" name="Google Shape;1035;p5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036" name="Google Shape;1036;p5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TP02 : comparer les ensembles</a:t>
            </a:r>
            <a:endParaRPr/>
          </a:p>
        </p:txBody>
      </p:sp>
      <p:sp>
        <p:nvSpPr>
          <p:cNvPr id="1037" name="Google Shape;1037;p5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Ridge, arbre, forêt et boosting sur les mêmes plis.</a:t>
            </a:r>
            <a:endParaRPr/>
          </a:p>
        </p:txBody>
      </p:sp>
      <p:sp>
        <p:nvSpPr>
          <p:cNvPr id="1038" name="Google Shape;1038;p5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Tracer l'erreur du boosting au fil des itérations.</a:t>
            </a:r>
            <a:endParaRPr/>
          </a:p>
        </p:txBody>
      </p:sp>
      <p:sp>
        <p:nvSpPr>
          <p:cNvPr id="1039" name="Google Shape;1039;p5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Justifier un compromis entre RMSE, coût et complexité.</a:t>
            </a:r>
            <a:endParaRPr/>
          </a:p>
        </p:txBody>
      </p:sp>
      <p:sp>
        <p:nvSpPr>
          <p:cNvPr id="1040" name="Google Shape;1040;p5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70 min de TP + 20 min de démo · variantes locale et Colab</a:t>
            </a:r>
            <a:endParaRPr/>
          </a:p>
        </p:txBody>
      </p:sp>
      <p:sp>
        <p:nvSpPr>
          <p:cNvPr id="1041" name="Google Shape;1041;p5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R07 · liens et détails dans les notes</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5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48" name="Google Shape;1048;p5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49" name="Google Shape;1049;p5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50" name="Google Shape;1050;p5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048</a:t>
            </a:r>
            <a:endParaRPr b="0" i="0" sz="1300" u="none" cap="none">
              <a:solidFill>
                <a:schemeClr val="dk1"/>
              </a:solidFill>
              <a:latin typeface="Calibri"/>
              <a:ea typeface="Calibri"/>
              <a:cs typeface="Calibri"/>
              <a:sym typeface="Calibri"/>
            </a:endParaRPr>
          </a:p>
        </p:txBody>
      </p:sp>
      <p:pic>
        <p:nvPicPr>
          <p:cNvPr id="1051" name="Google Shape;1051;p5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52" name="Google Shape;1052;p5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53" name="Google Shape;1053;p5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054" name="Google Shape;1054;p5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055" name="Google Shape;1055;p5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056" name="Google Shape;1056;p5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057" name="Google Shape;1057;p5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Colab : XGBoost sur 41 188 lignes</a:t>
            </a:r>
            <a:endParaRPr/>
          </a:p>
        </p:txBody>
      </p:sp>
      <p:sp>
        <p:nvSpPr>
          <p:cNvPr id="1058" name="Google Shape;1058;p5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Conserver l'ordre temporel : train, validation, puis test réservé.</a:t>
            </a:r>
            <a:endParaRPr/>
          </a:p>
        </p:txBody>
      </p:sp>
      <p:sp>
        <p:nvSpPr>
          <p:cNvPr id="1059" name="Google Shape;1059;p5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une logistique et un boosting avec arrêt anticipé.</a:t>
            </a:r>
            <a:endParaRPr/>
          </a:p>
        </p:txBody>
      </p:sp>
      <p:sp>
        <p:nvSpPr>
          <p:cNvPr id="1060" name="Google Shape;1060;p5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Mesurer qualité et temps, puis sauvegarder les preuves.</a:t>
            </a:r>
            <a:endParaRPr/>
          </a:p>
        </p:txBody>
      </p:sp>
      <p:sp>
        <p:nvSpPr>
          <p:cNvPr id="1061" name="Google Shape;1061;p5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Démonstration de 20 minutes · CPU ou GPU NVIDIA facultatif</a:t>
            </a:r>
            <a:endParaRPr/>
          </a:p>
        </p:txBody>
      </p:sp>
      <p:sp>
        <p:nvSpPr>
          <p:cNvPr id="1062" name="Google Shape;1062;p5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R32, R43, R46 · liens et détails dans les notes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sp>
        <p:nvSpPr>
          <p:cNvPr id="1068" name="Google Shape;1068;p5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69" name="Google Shape;1069;p5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70" name="Google Shape;1070;p5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71" name="Google Shape;1071;p5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049</a:t>
            </a:r>
            <a:endParaRPr b="0" i="0" sz="1300" u="none" cap="none">
              <a:solidFill>
                <a:schemeClr val="dk1"/>
              </a:solidFill>
              <a:latin typeface="Calibri"/>
              <a:ea typeface="Calibri"/>
              <a:cs typeface="Calibri"/>
              <a:sym typeface="Calibri"/>
            </a:endParaRPr>
          </a:p>
        </p:txBody>
      </p:sp>
      <p:pic>
        <p:nvPicPr>
          <p:cNvPr id="1072" name="Google Shape;1072;p5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73" name="Google Shape;1073;p5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74" name="Google Shape;1074;p5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075" name="Google Shape;1075;p5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076" name="Google Shape;1076;p5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077" name="Google Shape;1077;p5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078" name="Google Shape;1078;p5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Définir un espace d'hyperparamètres</a:t>
            </a:r>
            <a:endParaRPr/>
          </a:p>
        </p:txBody>
      </p:sp>
      <p:sp>
        <p:nvSpPr>
          <p:cNvPr id="1079" name="Google Shape;1079;p5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Séparer les paramètres appris des réglages choisis avant fit.</a:t>
            </a:r>
            <a:endParaRPr/>
          </a:p>
        </p:txBody>
      </p:sp>
      <p:sp>
        <p:nvSpPr>
          <p:cNvPr id="1080" name="Google Shape;1080;p5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Utiliser une échelle logarithmique pour C, λ ou le learning rate.</a:t>
            </a:r>
            <a:endParaRPr/>
          </a:p>
        </p:txBody>
      </p:sp>
      <p:sp>
        <p:nvSpPr>
          <p:cNvPr id="1081" name="Google Shape;1081;p5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Limiter les plages grâce aux contraintes de temps et de mémoire.</a:t>
            </a:r>
            <a:endParaRPr/>
          </a:p>
        </p:txBody>
      </p:sp>
      <p:sp>
        <p:nvSpPr>
          <p:cNvPr id="1082" name="Google Shape;1082;p5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Écrire le budget d'essais avant de lancer la recherche</a:t>
            </a:r>
            <a:endParaRPr/>
          </a:p>
        </p:txBody>
      </p:sp>
      <p:sp>
        <p:nvSpPr>
          <p:cNvPr id="1083" name="Google Shape;1083;p5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R09 · liens et détails dans les notes</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8" name="Shape 1088"/>
        <p:cNvGrpSpPr/>
        <p:nvPr/>
      </p:nvGrpSpPr>
      <p:grpSpPr>
        <a:xfrm>
          <a:off x="0" y="0"/>
          <a:ext cx="0" cy="0"/>
          <a:chOff x="0" y="0"/>
          <a:chExt cx="0" cy="0"/>
        </a:xfrm>
      </p:grpSpPr>
      <p:sp>
        <p:nvSpPr>
          <p:cNvPr id="1089" name="Google Shape;1089;p5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90" name="Google Shape;1090;p5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91" name="Google Shape;1091;p5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092" name="Google Shape;1092;p5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050</a:t>
            </a:r>
            <a:endParaRPr b="0" i="0" sz="1300" u="none" cap="none">
              <a:solidFill>
                <a:schemeClr val="dk1"/>
              </a:solidFill>
              <a:latin typeface="Calibri"/>
              <a:ea typeface="Calibri"/>
              <a:cs typeface="Calibri"/>
              <a:sym typeface="Calibri"/>
            </a:endParaRPr>
          </a:p>
        </p:txBody>
      </p:sp>
      <p:pic>
        <p:nvPicPr>
          <p:cNvPr id="1093" name="Google Shape;1093;p5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094" name="Google Shape;1094;p5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095" name="Google Shape;1095;p5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096" name="Google Shape;1096;p5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097" name="Google Shape;1097;p5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098" name="Google Shape;1098;p5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099" name="Google Shape;1099;p5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Grille, recherche aléatoire et TPE</a:t>
            </a:r>
            <a:endParaRPr/>
          </a:p>
        </p:txBody>
      </p:sp>
      <p:sp>
        <p:nvSpPr>
          <p:cNvPr id="1100" name="Google Shape;1100;p56"/>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grille couvre une liste cartésienne de choix.</a:t>
            </a:r>
            <a:endParaRPr/>
          </a:p>
        </p:txBody>
      </p:sp>
      <p:sp>
        <p:nvSpPr>
          <p:cNvPr id="1101" name="Google Shape;1101;p56"/>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recherche aléatoire explore une distribution de configurations.</a:t>
            </a:r>
            <a:endParaRPr/>
          </a:p>
        </p:txBody>
      </p:sp>
      <p:sp>
        <p:nvSpPr>
          <p:cNvPr id="1102" name="Google Shape;1102;p56"/>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TPE adapte les essais à l'historique de la recherche.</a:t>
            </a:r>
            <a:endParaRPr/>
          </a:p>
        </p:txBody>
      </p:sp>
      <p:sp>
        <p:nvSpPr>
          <p:cNvPr id="1103" name="Google Shape;1103;p56"/>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Le meilleur score interne est un résultat de sélection</a:t>
            </a:r>
            <a:endParaRPr/>
          </a:p>
        </p:txBody>
      </p:sp>
      <p:sp>
        <p:nvSpPr>
          <p:cNvPr id="1104" name="Google Shape;1104;p5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R09, R10 · liens et détails dans les notes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9" name="Shape 1109"/>
        <p:cNvGrpSpPr/>
        <p:nvPr/>
      </p:nvGrpSpPr>
      <p:grpSpPr>
        <a:xfrm>
          <a:off x="0" y="0"/>
          <a:ext cx="0" cy="0"/>
          <a:chOff x="0" y="0"/>
          <a:chExt cx="0" cy="0"/>
        </a:xfrm>
      </p:grpSpPr>
      <p:sp>
        <p:nvSpPr>
          <p:cNvPr id="1110" name="Google Shape;1110;p5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11" name="Google Shape;1111;p5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12" name="Google Shape;1112;p5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13" name="Google Shape;1113;p5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051</a:t>
            </a:r>
            <a:endParaRPr b="0" i="0" sz="1300" u="none" cap="none">
              <a:solidFill>
                <a:schemeClr val="dk1"/>
              </a:solidFill>
              <a:latin typeface="Calibri"/>
              <a:ea typeface="Calibri"/>
              <a:cs typeface="Calibri"/>
              <a:sym typeface="Calibri"/>
            </a:endParaRPr>
          </a:p>
        </p:txBody>
      </p:sp>
      <p:pic>
        <p:nvPicPr>
          <p:cNvPr id="1114" name="Google Shape;1114;p5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115" name="Google Shape;1115;p5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116" name="Google Shape;1116;p5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117" name="Google Shape;1117;p5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118" name="Google Shape;1118;p5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119" name="Google Shape;1119;p5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120" name="Google Shape;1120;p5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Validation croisée imbriquée</a:t>
            </a:r>
            <a:endParaRPr/>
          </a:p>
        </p:txBody>
      </p:sp>
      <p:sp>
        <p:nvSpPr>
          <p:cNvPr id="1121" name="Google Shape;1121;p5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Boucle interne : choisir les hyperparamètres sur le train externe.</a:t>
            </a:r>
            <a:endParaRPr/>
          </a:p>
        </p:txBody>
      </p:sp>
      <p:sp>
        <p:nvSpPr>
          <p:cNvPr id="1122" name="Google Shape;1122;p5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Boucle externe : évaluer le choix sur un pli qu'il n'a pas vu.</a:t>
            </a:r>
            <a:endParaRPr/>
          </a:p>
        </p:txBody>
      </p:sp>
      <p:sp>
        <p:nvSpPr>
          <p:cNvPr id="1123" name="Google Shape;1123;p5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Répéter pour estimer la performance de la procédure de sélection.</a:t>
            </a:r>
            <a:endParaRPr/>
          </a:p>
        </p:txBody>
      </p:sp>
      <p:sp>
        <p:nvSpPr>
          <p:cNvPr id="1124" name="Google Shape;1124;p5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u="sng">
                <a:solidFill>
                  <a:srgbClr val="303C8B"/>
                </a:solidFill>
                <a:latin typeface="DM Sans"/>
                <a:ea typeface="DM Sans"/>
                <a:cs typeface="DM Sans"/>
                <a:sym typeface="DM Sans"/>
              </a:rPr>
              <a:t>NB: </a:t>
            </a:r>
            <a:r>
              <a:rPr b="1" lang="en-US" sz="1875" u="sng">
                <a:solidFill>
                  <a:srgbClr val="303C8B"/>
                </a:solidFill>
                <a:latin typeface="DM Sans"/>
                <a:ea typeface="DM Sans"/>
                <a:cs typeface="DM Sans"/>
                <a:sym typeface="DM Sans"/>
              </a:rPr>
              <a:t>La boucle externe évalue une méthode de travail, pas un unique modèle final</a:t>
            </a:r>
            <a:endParaRPr u="sng"/>
          </a:p>
        </p:txBody>
      </p:sp>
      <p:sp>
        <p:nvSpPr>
          <p:cNvPr id="1125" name="Google Shape;1125;p5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R03, R09 · liens et détails dans les notes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5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32" name="Google Shape;1132;p5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33" name="Google Shape;1133;p5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34" name="Google Shape;1134;p5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052</a:t>
            </a:r>
            <a:endParaRPr b="0" i="0" sz="1300" u="none" cap="none">
              <a:solidFill>
                <a:schemeClr val="dk1"/>
              </a:solidFill>
              <a:latin typeface="Calibri"/>
              <a:ea typeface="Calibri"/>
              <a:cs typeface="Calibri"/>
              <a:sym typeface="Calibri"/>
            </a:endParaRPr>
          </a:p>
        </p:txBody>
      </p:sp>
      <p:pic>
        <p:nvPicPr>
          <p:cNvPr id="1135" name="Google Shape;1135;p5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136" name="Google Shape;1136;p5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137" name="Google Shape;1137;p5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138" name="Google Shape;1138;p5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139" name="Google Shape;1139;p5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140" name="Google Shape;1140;p5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141" name="Google Shape;1141;p5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L'optimisation a un coût mesurable</a:t>
            </a:r>
            <a:endParaRPr/>
          </a:p>
        </p:txBody>
      </p:sp>
      <p:sp>
        <p:nvSpPr>
          <p:cNvPr id="1142" name="Google Shape;1142;p58"/>
          <p:cNvSpPr/>
          <p:nvPr/>
        </p:nvSpPr>
        <p:spPr>
          <a:xfrm>
            <a:off x="762000" y="1752600"/>
            <a:ext cx="10572750" cy="6953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400">
                <a:solidFill>
                  <a:srgbClr val="303C8B"/>
                </a:solidFill>
                <a:latin typeface="DM Sans"/>
                <a:ea typeface="DM Sans"/>
                <a:cs typeface="DM Sans"/>
                <a:sym typeface="DM Sans"/>
              </a:rPr>
              <a:t>3 × (8 × 3 + 1) = 75 ajustements</a:t>
            </a:r>
            <a:endParaRPr/>
          </a:p>
        </p:txBody>
      </p:sp>
      <p:sp>
        <p:nvSpPr>
          <p:cNvPr id="1143" name="Google Shape;1143;p58"/>
          <p:cNvSpPr/>
          <p:nvPr/>
        </p:nvSpPr>
        <p:spPr>
          <a:xfrm>
            <a:off x="819150" y="26098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Trois plis externes, huit essais, trois plis internes.</a:t>
            </a:r>
            <a:endParaRPr/>
          </a:p>
        </p:txBody>
      </p:sp>
      <p:sp>
        <p:nvSpPr>
          <p:cNvPr id="1144" name="Google Shape;1144;p58"/>
          <p:cNvSpPr/>
          <p:nvPr/>
        </p:nvSpPr>
        <p:spPr>
          <a:xfrm>
            <a:off x="819150" y="35433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réajustement du gagnant dans chaque train externe.</a:t>
            </a:r>
            <a:endParaRPr/>
          </a:p>
        </p:txBody>
      </p:sp>
      <p:sp>
        <p:nvSpPr>
          <p:cNvPr id="1145" name="Google Shape;1145;p58"/>
          <p:cNvSpPr/>
          <p:nvPr/>
        </p:nvSpPr>
        <p:spPr>
          <a:xfrm>
            <a:off x="819150" y="44767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Fixer le parallélisme pour ne pas saturer les machines.</a:t>
            </a:r>
            <a:endParaRPr/>
          </a:p>
        </p:txBody>
      </p:sp>
      <p:sp>
        <p:nvSpPr>
          <p:cNvPr id="1146" name="Google Shape;1146;p5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R09 · liens et détails dans les notes</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1" name="Shape 1151"/>
        <p:cNvGrpSpPr/>
        <p:nvPr/>
      </p:nvGrpSpPr>
      <p:grpSpPr>
        <a:xfrm>
          <a:off x="0" y="0"/>
          <a:ext cx="0" cy="0"/>
          <a:chOff x="0" y="0"/>
          <a:chExt cx="0" cy="0"/>
        </a:xfrm>
      </p:grpSpPr>
      <p:sp>
        <p:nvSpPr>
          <p:cNvPr id="1152" name="Google Shape;1152;p5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53" name="Google Shape;1153;p5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54" name="Google Shape;1154;p5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55" name="Google Shape;1155;p5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053</a:t>
            </a:r>
            <a:endParaRPr b="0" i="0" sz="1300" u="none" cap="none">
              <a:solidFill>
                <a:schemeClr val="dk1"/>
              </a:solidFill>
              <a:latin typeface="Calibri"/>
              <a:ea typeface="Calibri"/>
              <a:cs typeface="Calibri"/>
              <a:sym typeface="Calibri"/>
            </a:endParaRPr>
          </a:p>
        </p:txBody>
      </p:sp>
      <p:pic>
        <p:nvPicPr>
          <p:cNvPr id="1156" name="Google Shape;1156;p5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157" name="Google Shape;1157;p5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158" name="Google Shape;1158;p5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159" name="Google Shape;1159;p5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160" name="Google Shape;1160;p5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161" name="Google Shape;1161;p5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162" name="Google Shape;1162;p5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Interpréter une petite différence</a:t>
            </a:r>
            <a:endParaRPr/>
          </a:p>
        </p:txBody>
      </p:sp>
      <p:sp>
        <p:nvSpPr>
          <p:cNvPr id="1163" name="Google Shape;1163;p5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les modèles sur les mêmes splits.</a:t>
            </a:r>
            <a:endParaRPr/>
          </a:p>
        </p:txBody>
      </p:sp>
      <p:sp>
        <p:nvSpPr>
          <p:cNvPr id="1164" name="Google Shape;1164;p5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Examiner la dispersion, les segments et le coût d'usage.</a:t>
            </a:r>
            <a:endParaRPr/>
          </a:p>
        </p:txBody>
      </p:sp>
      <p:sp>
        <p:nvSpPr>
          <p:cNvPr id="1165" name="Google Shape;1165;p5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différence de 0,003 AP n'est pas automatiquement utile ni robuste.</a:t>
            </a:r>
            <a:endParaRPr/>
          </a:p>
        </p:txBody>
      </p:sp>
      <p:sp>
        <p:nvSpPr>
          <p:cNvPr id="1166" name="Google Shape;1166;p5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Les scores de plis corrélés ne sont pas des répétitions indépendantes</a:t>
            </a:r>
            <a:endParaRPr/>
          </a:p>
        </p:txBody>
      </p:sp>
      <p:sp>
        <p:nvSpPr>
          <p:cNvPr id="1167" name="Google Shape;1167;p5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R03 · liens et détails dans les notes</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p6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74" name="Google Shape;1174;p6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75" name="Google Shape;1175;p6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76" name="Google Shape;1176;p6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054</a:t>
            </a:r>
            <a:endParaRPr b="0" i="0" sz="1300" u="none" cap="none">
              <a:solidFill>
                <a:schemeClr val="dk1"/>
              </a:solidFill>
              <a:latin typeface="Calibri"/>
              <a:ea typeface="Calibri"/>
              <a:cs typeface="Calibri"/>
              <a:sym typeface="Calibri"/>
            </a:endParaRPr>
          </a:p>
        </p:txBody>
      </p:sp>
      <p:pic>
        <p:nvPicPr>
          <p:cNvPr id="1177" name="Google Shape;1177;p6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178" name="Google Shape;1178;p6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179" name="Google Shape;1179;p6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180" name="Google Shape;1180;p6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181" name="Google Shape;1181;p6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182" name="Google Shape;1182;p6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183" name="Google Shape;1183;p6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TP03 : optimiser avec un budget fixé</a:t>
            </a:r>
            <a:endParaRPr/>
          </a:p>
        </p:txBody>
      </p:sp>
      <p:sp>
        <p:nvSpPr>
          <p:cNvPr id="1184" name="Google Shape;1184;p6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Huit essais aléatoires et huit essais TPE par pli externe.</a:t>
            </a:r>
            <a:endParaRPr/>
          </a:p>
        </p:txBody>
      </p:sp>
      <p:sp>
        <p:nvSpPr>
          <p:cNvPr id="1185" name="Google Shape;1185;p6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Même modèle, mêmes bornes et même métrique.</a:t>
            </a:r>
            <a:endParaRPr/>
          </a:p>
        </p:txBody>
      </p:sp>
      <p:sp>
        <p:nvSpPr>
          <p:cNvPr id="1186" name="Google Shape;1186;p6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Restituer les scores externes et les limites de la comparaison.</a:t>
            </a:r>
            <a:endParaRPr/>
          </a:p>
        </p:txBody>
      </p:sp>
      <p:sp>
        <p:nvSpPr>
          <p:cNvPr id="1187" name="Google Shape;1187;p6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90 minutes · notebooks/etudiants/03_optimisation.ipynb</a:t>
            </a:r>
            <a:endParaRPr/>
          </a:p>
        </p:txBody>
      </p:sp>
      <p:sp>
        <p:nvSpPr>
          <p:cNvPr id="1188" name="Google Shape;1188;p6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R09, R10 · liens et détails dans les notes</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6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95" name="Google Shape;1195;p6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96" name="Google Shape;1196;p6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197" name="Google Shape;1197;p6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055</a:t>
            </a:r>
            <a:endParaRPr b="0" i="0" sz="1300" u="none" cap="none">
              <a:solidFill>
                <a:schemeClr val="dk1"/>
              </a:solidFill>
              <a:latin typeface="Calibri"/>
              <a:ea typeface="Calibri"/>
              <a:cs typeface="Calibri"/>
              <a:sym typeface="Calibri"/>
            </a:endParaRPr>
          </a:p>
        </p:txBody>
      </p:sp>
      <p:pic>
        <p:nvPicPr>
          <p:cNvPr id="1198" name="Google Shape;1198;p6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199" name="Google Shape;1199;p6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200" name="Google Shape;1200;p6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201" name="Google Shape;1201;p6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202" name="Google Shape;1202;p6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203" name="Google Shape;1203;p6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204" name="Google Shape;1204;p6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Quiz J2 : mécanismes et protocole</a:t>
            </a:r>
            <a:endParaRPr/>
          </a:p>
        </p:txBody>
      </p:sp>
      <p:sp>
        <p:nvSpPr>
          <p:cNvPr id="1205" name="Google Shape;1205;p6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Pourquoi 1 000 arbres identiques n'améliorent-ils pas une moyenne ?</a:t>
            </a:r>
            <a:endParaRPr/>
          </a:p>
        </p:txBody>
      </p:sp>
      <p:sp>
        <p:nvSpPr>
          <p:cNvPr id="1206" name="Google Shape;1206;p6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 objet est appris à chaque étape du gradient boosting ?</a:t>
            </a:r>
            <a:endParaRPr/>
          </a:p>
        </p:txBody>
      </p:sp>
      <p:sp>
        <p:nvSpPr>
          <p:cNvPr id="1207" name="Google Shape;1207;p6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Pourquoi le score du meilleur essai surestime-t-il sa performance future ?</a:t>
            </a:r>
            <a:endParaRPr/>
          </a:p>
        </p:txBody>
      </p:sp>
      <p:sp>
        <p:nvSpPr>
          <p:cNvPr id="1208" name="Google Shape;1208;p6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Donner une justification avant de citer une bibliothèque</a:t>
            </a:r>
            <a:endParaRPr/>
          </a:p>
        </p:txBody>
      </p:sp>
      <p:sp>
        <p:nvSpPr>
          <p:cNvPr id="1209" name="Google Shape;1209;p6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R08, R11, R09 · liens et détails dans les notes</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EE5"/>
        </a:solidFill>
      </p:bgPr>
    </p:bg>
    <p:spTree>
      <p:nvGrpSpPr>
        <p:cNvPr id="1214" name="Shape 1214"/>
        <p:cNvGrpSpPr/>
        <p:nvPr/>
      </p:nvGrpSpPr>
      <p:grpSpPr>
        <a:xfrm>
          <a:off x="0" y="0"/>
          <a:ext cx="0" cy="0"/>
          <a:chOff x="0" y="0"/>
          <a:chExt cx="0" cy="0"/>
        </a:xfrm>
      </p:grpSpPr>
      <p:sp>
        <p:nvSpPr>
          <p:cNvPr id="1215" name="Google Shape;1215;p6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16" name="Google Shape;1216;p6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17" name="Google Shape;1217;p6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18" name="Google Shape;1218;p6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056</a:t>
            </a:r>
            <a:endParaRPr b="0" i="0" sz="1300" u="none" cap="none">
              <a:solidFill>
                <a:schemeClr val="dk1"/>
              </a:solidFill>
              <a:latin typeface="Calibri"/>
              <a:ea typeface="Calibri"/>
              <a:cs typeface="Calibri"/>
              <a:sym typeface="Calibri"/>
            </a:endParaRPr>
          </a:p>
        </p:txBody>
      </p:sp>
      <p:pic>
        <p:nvPicPr>
          <p:cNvPr id="1219" name="Google Shape;1219;p6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220" name="Google Shape;1220;p6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221" name="Google Shape;1221;p6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2</a:t>
            </a:r>
            <a:endParaRPr b="0" sz="1300" u="none" cap="none">
              <a:solidFill>
                <a:schemeClr val="dk1"/>
              </a:solidFill>
              <a:latin typeface="Calibri"/>
              <a:ea typeface="Calibri"/>
              <a:cs typeface="Calibri"/>
              <a:sym typeface="Calibri"/>
            </a:endParaRPr>
          </a:p>
        </p:txBody>
      </p:sp>
      <p:sp>
        <p:nvSpPr>
          <p:cNvPr id="1222" name="Google Shape;1222;p6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223" name="Google Shape;1223;p6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224" name="Google Shape;1224;p6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225" name="Google Shape;1225;p6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Les acquis du jour 2</a:t>
            </a:r>
            <a:endParaRPr/>
          </a:p>
        </p:txBody>
      </p:sp>
      <p:sp>
        <p:nvSpPr>
          <p:cNvPr id="1226" name="Google Shape;1226;p6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Diversifier pour stabiliser et corriger progressivement pour réduire l'erreur.</a:t>
            </a:r>
            <a:endParaRPr/>
          </a:p>
        </p:txBody>
      </p:sp>
      <p:sp>
        <p:nvSpPr>
          <p:cNvPr id="1227" name="Google Shape;1227;p6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Régulariser les ensembles et surveiller le coût.</a:t>
            </a:r>
            <a:endParaRPr/>
          </a:p>
        </p:txBody>
      </p:sp>
      <p:sp>
        <p:nvSpPr>
          <p:cNvPr id="1228" name="Google Shape;1228;p6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Évaluer la recherche elle-même avec une validation indépendante.</a:t>
            </a:r>
            <a:endParaRPr/>
          </a:p>
        </p:txBody>
      </p:sp>
      <p:sp>
        <p:nvSpPr>
          <p:cNvPr id="1229" name="Google Shape;1229;p6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Demain : transformer une probabilité en décision dans un problème déséquilibré</a:t>
            </a:r>
            <a:endParaRPr/>
          </a:p>
        </p:txBody>
      </p:sp>
      <p:sp>
        <p:nvSpPr>
          <p:cNvPr id="1230" name="Google Shape;1230;p6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364"/>
        </a:solidFill>
      </p:bgPr>
    </p:bg>
    <p:spTree>
      <p:nvGrpSpPr>
        <p:cNvPr id="1235" name="Shape 1235"/>
        <p:cNvGrpSpPr/>
        <p:nvPr/>
      </p:nvGrpSpPr>
      <p:grpSpPr>
        <a:xfrm>
          <a:off x="0" y="0"/>
          <a:ext cx="0" cy="0"/>
          <a:chOff x="0" y="0"/>
          <a:chExt cx="0" cy="0"/>
        </a:xfrm>
      </p:grpSpPr>
      <p:sp>
        <p:nvSpPr>
          <p:cNvPr id="1236" name="Google Shape;1236;p63"/>
          <p:cNvSpPr/>
          <p:nvPr/>
        </p:nvSpPr>
        <p:spPr>
          <a:xfrm>
            <a:off x="952505" y="3947599"/>
            <a:ext cx="102870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37" name="Google Shape;1237;p63"/>
          <p:cNvSpPr/>
          <p:nvPr/>
        </p:nvSpPr>
        <p:spPr>
          <a:xfrm>
            <a:off x="952805" y="2076602"/>
            <a:ext cx="1452982"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000" u="none" cap="none">
                <a:solidFill>
                  <a:srgbClr val="FFFFFF"/>
                </a:solidFill>
                <a:latin typeface="Roboto Mono"/>
                <a:ea typeface="Roboto Mono"/>
                <a:cs typeface="Roboto Mono"/>
                <a:sym typeface="Roboto Mono"/>
              </a:rPr>
              <a:t>03</a:t>
            </a:r>
            <a:endParaRPr b="0" i="0" sz="6700" u="none" cap="none">
              <a:solidFill>
                <a:schemeClr val="lt1"/>
              </a:solidFill>
              <a:latin typeface="Calibri"/>
              <a:ea typeface="Calibri"/>
              <a:cs typeface="Calibri"/>
              <a:sym typeface="Calibri"/>
            </a:endParaRPr>
          </a:p>
        </p:txBody>
      </p:sp>
      <p:sp>
        <p:nvSpPr>
          <p:cNvPr id="1238" name="Google Shape;1238;p63"/>
          <p:cNvSpPr/>
          <p:nvPr/>
        </p:nvSpPr>
        <p:spPr>
          <a:xfrm>
            <a:off x="1946758" y="2076602"/>
            <a:ext cx="976579"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700" u="none" cap="none">
                <a:solidFill>
                  <a:schemeClr val="lt1"/>
                </a:solidFill>
                <a:latin typeface="DM Sans"/>
                <a:ea typeface="DM Sans"/>
                <a:cs typeface="DM Sans"/>
                <a:sym typeface="DM Sans"/>
              </a:rPr>
              <a:t>/</a:t>
            </a:r>
            <a:endParaRPr b="0" i="0" sz="6700" u="none" cap="none">
              <a:solidFill>
                <a:schemeClr val="lt1"/>
              </a:solidFill>
              <a:latin typeface="Calibri"/>
              <a:ea typeface="Calibri"/>
              <a:cs typeface="Calibri"/>
              <a:sym typeface="Calibri"/>
            </a:endParaRPr>
          </a:p>
        </p:txBody>
      </p:sp>
      <p:sp>
        <p:nvSpPr>
          <p:cNvPr id="1239" name="Google Shape;1239;p63"/>
          <p:cNvSpPr/>
          <p:nvPr/>
        </p:nvSpPr>
        <p:spPr>
          <a:xfrm>
            <a:off x="2619375" y="2209800"/>
            <a:ext cx="8620125" cy="1638300"/>
          </a:xfrm>
          <a:prstGeom prst="rect">
            <a:avLst/>
          </a:prstGeom>
          <a:noFill/>
          <a:ln>
            <a:noFill/>
          </a:ln>
        </p:spPr>
        <p:txBody>
          <a:bodyPr anchorCtr="0" anchor="t" bIns="0" lIns="0" spcFirstLastPara="1" rIns="0" wrap="square" tIns="0">
            <a:noAutofit/>
          </a:bodyPr>
          <a:lstStyle/>
          <a:p>
            <a:pPr indent="0" lvl="0" marL="0" marR="0" rtl="0" algn="l">
              <a:lnSpc>
                <a:spcPct val="65000"/>
              </a:lnSpc>
              <a:spcBef>
                <a:spcPts val="0"/>
              </a:spcBef>
              <a:spcAft>
                <a:spcPts val="0"/>
              </a:spcAft>
              <a:buClr>
                <a:srgbClr val="000000"/>
              </a:buClr>
              <a:buSzPts val="7500"/>
              <a:buFont typeface="Archivo Black"/>
              <a:buNone/>
            </a:pPr>
            <a:r>
              <a:rPr lang="en-US" sz="4050">
                <a:solidFill>
                  <a:srgbClr val="FFFFFF"/>
                </a:solidFill>
                <a:latin typeface="Archivo Black"/>
                <a:ea typeface="Archivo Black"/>
                <a:cs typeface="Archivo Black"/>
                <a:sym typeface="Archivo Black"/>
              </a:rPr>
              <a:t>Déséquilibre et features</a:t>
            </a:r>
            <a:endParaRPr sz="7500">
              <a:solidFill>
                <a:schemeClr val="lt1"/>
              </a:solidFill>
              <a:latin typeface="Archivo Black"/>
              <a:ea typeface="Archivo Black"/>
              <a:cs typeface="Archivo Black"/>
              <a:sym typeface="Archivo Black"/>
            </a:endParaRPr>
          </a:p>
        </p:txBody>
      </p:sp>
      <p:sp>
        <p:nvSpPr>
          <p:cNvPr id="1240" name="Google Shape;1240;p6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241" name="Google Shape;1241;p6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057</a:t>
            </a:r>
            <a:endParaRPr b="0" i="0" sz="1300" u="none" cap="none">
              <a:solidFill>
                <a:schemeClr val="dk1"/>
              </a:solidFill>
              <a:latin typeface="Calibri"/>
              <a:ea typeface="Calibri"/>
              <a:cs typeface="Calibri"/>
              <a:sym typeface="Calibri"/>
            </a:endParaRPr>
          </a:p>
        </p:txBody>
      </p:sp>
      <p:pic>
        <p:nvPicPr>
          <p:cNvPr id="1242" name="Google Shape;1242;p63"/>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pic>
        <p:nvPicPr>
          <p:cNvPr id="1243" name="Google Shape;1243;p63"/>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1244" name="Google Shape;1244;p6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245" name="Google Shape;1245;p6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246" name="Google Shape;1246;p63"/>
          <p:cNvSpPr/>
          <p:nvPr/>
        </p:nvSpPr>
        <p:spPr>
          <a:xfrm>
            <a:off x="952500" y="4476750"/>
            <a:ext cx="1028700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DM Sans"/>
                <a:ea typeface="DM Sans"/>
                <a:cs typeface="DM Sans"/>
                <a:sym typeface="DM Sans"/>
              </a:rPr>
              <a:t>Mercredi 23 septembre · Relier données, probabilités et décisions</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1" name="Shape 1251"/>
        <p:cNvGrpSpPr/>
        <p:nvPr/>
      </p:nvGrpSpPr>
      <p:grpSpPr>
        <a:xfrm>
          <a:off x="0" y="0"/>
          <a:ext cx="0" cy="0"/>
          <a:chOff x="0" y="0"/>
          <a:chExt cx="0" cy="0"/>
        </a:xfrm>
      </p:grpSpPr>
      <p:sp>
        <p:nvSpPr>
          <p:cNvPr id="1252" name="Google Shape;1252;p6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53" name="Google Shape;1253;p6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54" name="Google Shape;1254;p6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55" name="Google Shape;1255;p6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058</a:t>
            </a:r>
            <a:endParaRPr b="0" i="0" sz="1300" u="none" cap="none">
              <a:solidFill>
                <a:schemeClr val="dk1"/>
              </a:solidFill>
              <a:latin typeface="Calibri"/>
              <a:ea typeface="Calibri"/>
              <a:cs typeface="Calibri"/>
              <a:sym typeface="Calibri"/>
            </a:endParaRPr>
          </a:p>
        </p:txBody>
      </p:sp>
      <p:pic>
        <p:nvPicPr>
          <p:cNvPr id="1256" name="Google Shape;1256;p6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257" name="Google Shape;1257;p6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258" name="Google Shape;1258;p6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259" name="Google Shape;1259;p6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260" name="Google Shape;1260;p6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261" name="Google Shape;1261;p6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262" name="Google Shape;1262;p6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Trois décisions différentes</a:t>
            </a:r>
            <a:endParaRPr/>
          </a:p>
        </p:txBody>
      </p:sp>
      <p:sp>
        <p:nvSpPr>
          <p:cNvPr id="1263" name="Google Shape;1263;p6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Apprendre un score qui classe les observations.</a:t>
            </a:r>
            <a:endParaRPr/>
          </a:p>
        </p:txBody>
      </p:sp>
      <p:sp>
        <p:nvSpPr>
          <p:cNvPr id="1264" name="Google Shape;1264;p6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Calibrer ce score pour estimer une probabilité.</a:t>
            </a:r>
            <a:endParaRPr/>
          </a:p>
        </p:txBody>
      </p:sp>
      <p:sp>
        <p:nvSpPr>
          <p:cNvPr id="1265" name="Google Shape;1265;p6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une règle d'action selon les coûts et la capacité.</a:t>
            </a:r>
            <a:endParaRPr/>
          </a:p>
        </p:txBody>
      </p:sp>
      <p:sp>
        <p:nvSpPr>
          <p:cNvPr id="1266" name="Google Shape;1266;p6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Améliorer l'une de ces étapes n'améliore pas automatiquement les autres</a:t>
            </a:r>
            <a:endParaRPr/>
          </a:p>
        </p:txBody>
      </p:sp>
      <p:sp>
        <p:nvSpPr>
          <p:cNvPr id="1267" name="Google Shape;1267;p6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R16, R17 · liens et détails dans les notes</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2" name="Shape 1272"/>
        <p:cNvGrpSpPr/>
        <p:nvPr/>
      </p:nvGrpSpPr>
      <p:grpSpPr>
        <a:xfrm>
          <a:off x="0" y="0"/>
          <a:ext cx="0" cy="0"/>
          <a:chOff x="0" y="0"/>
          <a:chExt cx="0" cy="0"/>
        </a:xfrm>
      </p:grpSpPr>
      <p:sp>
        <p:nvSpPr>
          <p:cNvPr id="1273" name="Google Shape;1273;p6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74" name="Google Shape;1274;p6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75" name="Google Shape;1275;p6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76" name="Google Shape;1276;p6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059</a:t>
            </a:r>
            <a:endParaRPr b="0" i="0" sz="1300" u="none" cap="none">
              <a:solidFill>
                <a:schemeClr val="dk1"/>
              </a:solidFill>
              <a:latin typeface="Calibri"/>
              <a:ea typeface="Calibri"/>
              <a:cs typeface="Calibri"/>
              <a:sym typeface="Calibri"/>
            </a:endParaRPr>
          </a:p>
        </p:txBody>
      </p:sp>
      <p:pic>
        <p:nvPicPr>
          <p:cNvPr id="1277" name="Google Shape;1277;p6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278" name="Google Shape;1278;p6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279" name="Google Shape;1279;p6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280" name="Google Shape;1280;p6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281" name="Google Shape;1281;p6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282" name="Google Shape;1282;p6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283" name="Google Shape;1283;p6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Donner un coût aux erreurs</a:t>
            </a:r>
            <a:endParaRPr/>
          </a:p>
        </p:txBody>
      </p:sp>
      <p:sp>
        <p:nvSpPr>
          <p:cNvPr id="1284" name="Google Shape;1284;p65"/>
          <p:cNvSpPr/>
          <p:nvPr/>
        </p:nvSpPr>
        <p:spPr>
          <a:xfrm>
            <a:off x="857250" y="2837448"/>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Définir les coûts avec les personnes qui prennent la décision.</a:t>
            </a:r>
            <a:endParaRPr/>
          </a:p>
        </p:txBody>
      </p:sp>
      <p:sp>
        <p:nvSpPr>
          <p:cNvPr id="1285" name="Google Shape;1285;p65"/>
          <p:cNvSpPr/>
          <p:nvPr/>
        </p:nvSpPr>
        <p:spPr>
          <a:xfrm>
            <a:off x="819150" y="3543300"/>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Tester leur sensibilité plutôt que figer une valeur arbitraire.</a:t>
            </a:r>
            <a:endParaRPr/>
          </a:p>
        </p:txBody>
      </p:sp>
      <p:sp>
        <p:nvSpPr>
          <p:cNvPr id="1286" name="Google Shape;1286;p65"/>
          <p:cNvSpPr/>
          <p:nvPr/>
        </p:nvSpPr>
        <p:spPr>
          <a:xfrm>
            <a:off x="762000" y="4236900"/>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Distinguer coût moyen, nombre d'alertes et contraintes de capacité.</a:t>
            </a:r>
            <a:endParaRPr/>
          </a:p>
        </p:txBody>
      </p:sp>
      <p:sp>
        <p:nvSpPr>
          <p:cNvPr id="1287" name="Google Shape;1287;p6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R17 · liens et détails dans les notes</a:t>
            </a:r>
            <a:endParaRPr/>
          </a:p>
        </p:txBody>
      </p:sp>
      <p:pic>
        <p:nvPicPr>
          <p:cNvPr id="1288" name="Google Shape;1288;p65"/>
          <p:cNvPicPr preferRelativeResize="0"/>
          <p:nvPr/>
        </p:nvPicPr>
        <p:blipFill>
          <a:blip r:embed="rId5">
            <a:alphaModFix/>
          </a:blip>
          <a:stretch>
            <a:fillRect/>
          </a:stretch>
        </p:blipFill>
        <p:spPr>
          <a:xfrm>
            <a:off x="3295839" y="1513685"/>
            <a:ext cx="6837861" cy="984238"/>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3" name="Shape 1293"/>
        <p:cNvGrpSpPr/>
        <p:nvPr/>
      </p:nvGrpSpPr>
      <p:grpSpPr>
        <a:xfrm>
          <a:off x="0" y="0"/>
          <a:ext cx="0" cy="0"/>
          <a:chOff x="0" y="0"/>
          <a:chExt cx="0" cy="0"/>
        </a:xfrm>
      </p:grpSpPr>
      <p:sp>
        <p:nvSpPr>
          <p:cNvPr id="1294" name="Google Shape;1294;p6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95" name="Google Shape;1295;p6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96" name="Google Shape;1296;p6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297" name="Google Shape;1297;p6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060</a:t>
            </a:r>
            <a:endParaRPr b="0" i="0" sz="1300" u="none" cap="none">
              <a:solidFill>
                <a:schemeClr val="dk1"/>
              </a:solidFill>
              <a:latin typeface="Calibri"/>
              <a:ea typeface="Calibri"/>
              <a:cs typeface="Calibri"/>
              <a:sym typeface="Calibri"/>
            </a:endParaRPr>
          </a:p>
        </p:txBody>
      </p:sp>
      <p:pic>
        <p:nvPicPr>
          <p:cNvPr id="1298" name="Google Shape;1298;p6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299" name="Google Shape;1299;p6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300" name="Google Shape;1300;p6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301" name="Google Shape;1301;p6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02" name="Google Shape;1302;p6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03" name="Google Shape;1303;p6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04" name="Google Shape;1304;p6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 seuil doit être choisi sur validation</a:t>
            </a:r>
            <a:endParaRPr/>
          </a:p>
        </p:txBody>
      </p:sp>
      <p:pic>
        <p:nvPicPr>
          <p:cNvPr id="1305" name="Google Shape;1305;p66"/>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1306" name="Google Shape;1306;p66"/>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Un seuil bas augmente souvent rappel et volume d'alertes.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 minimum de coût dépend des coûts choisis.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 test final reste fermé pendant ce réglage.</a:t>
            </a:r>
            <a:endParaRPr/>
          </a:p>
        </p:txBody>
      </p:sp>
      <p:sp>
        <p:nvSpPr>
          <p:cNvPr id="1307" name="Google Shape;1307;p66"/>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Coûts pédagogiques sur validation synthétique. Le test ne sert pas à choisir le seuil.</a:t>
            </a:r>
            <a:endParaRPr/>
          </a:p>
        </p:txBody>
      </p:sp>
      <p:sp>
        <p:nvSpPr>
          <p:cNvPr id="1308" name="Google Shape;1308;p6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R17 · liens et détails dans les notes</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6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15" name="Google Shape;1315;p6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16" name="Google Shape;1316;p6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17" name="Google Shape;1317;p6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061</a:t>
            </a:r>
            <a:endParaRPr b="0" i="0" sz="1300" u="none" cap="none">
              <a:solidFill>
                <a:schemeClr val="dk1"/>
              </a:solidFill>
              <a:latin typeface="Calibri"/>
              <a:ea typeface="Calibri"/>
              <a:cs typeface="Calibri"/>
              <a:sym typeface="Calibri"/>
            </a:endParaRPr>
          </a:p>
        </p:txBody>
      </p:sp>
      <p:pic>
        <p:nvPicPr>
          <p:cNvPr id="1318" name="Google Shape;1318;p6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319" name="Google Shape;1319;p6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320" name="Google Shape;1320;p6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321" name="Google Shape;1321;p6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22" name="Google Shape;1322;p6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23" name="Google Shape;1323;p6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24" name="Google Shape;1324;p67"/>
          <p:cNvSpPr/>
          <p:nvPr/>
        </p:nvSpPr>
        <p:spPr>
          <a:xfrm>
            <a:off x="762000" y="857250"/>
            <a:ext cx="10572900" cy="59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 seuil théorique sous hypothèses</a:t>
            </a:r>
            <a:endParaRPr/>
          </a:p>
        </p:txBody>
      </p:sp>
      <p:sp>
        <p:nvSpPr>
          <p:cNvPr id="1325" name="Google Shape;1325;p67"/>
          <p:cNvSpPr/>
          <p:nvPr/>
        </p:nvSpPr>
        <p:spPr>
          <a:xfrm>
            <a:off x="838425" y="2873263"/>
            <a:ext cx="10477500" cy="46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Hypothèse : probabilités calibrées pour la population d'usage.</a:t>
            </a:r>
            <a:endParaRPr/>
          </a:p>
        </p:txBody>
      </p:sp>
      <p:sp>
        <p:nvSpPr>
          <p:cNvPr id="1326" name="Google Shape;1326;p67"/>
          <p:cNvSpPr/>
          <p:nvPr/>
        </p:nvSpPr>
        <p:spPr>
          <a:xfrm>
            <a:off x="838425" y="3650463"/>
            <a:ext cx="10477500" cy="50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Hypothèse : deux coûts fixes et aucun coût pour les décisions correctes.</a:t>
            </a:r>
            <a:endParaRPr/>
          </a:p>
        </p:txBody>
      </p:sp>
      <p:sp>
        <p:nvSpPr>
          <p:cNvPr id="1327" name="Google Shape;1327;p67"/>
          <p:cNvSpPr/>
          <p:nvPr/>
        </p:nvSpPr>
        <p:spPr>
          <a:xfrm>
            <a:off x="762000" y="4466075"/>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Avec CFP=1 et CFN=5, le seuil théorique vaut 1/6.</a:t>
            </a:r>
            <a:endParaRPr/>
          </a:p>
        </p:txBody>
      </p:sp>
      <p:sp>
        <p:nvSpPr>
          <p:cNvPr id="1328" name="Google Shape;1328;p6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R17 · liens et détails dans les notes</a:t>
            </a:r>
            <a:endParaRPr/>
          </a:p>
        </p:txBody>
      </p:sp>
      <p:pic>
        <p:nvPicPr>
          <p:cNvPr id="1329" name="Google Shape;1329;p67"/>
          <p:cNvPicPr preferRelativeResize="0"/>
          <p:nvPr/>
        </p:nvPicPr>
        <p:blipFill>
          <a:blip r:embed="rId5">
            <a:alphaModFix/>
          </a:blip>
          <a:stretch>
            <a:fillRect/>
          </a:stretch>
        </p:blipFill>
        <p:spPr>
          <a:xfrm>
            <a:off x="3594420" y="1439700"/>
            <a:ext cx="5448904" cy="1218750"/>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4" name="Shape 1334"/>
        <p:cNvGrpSpPr/>
        <p:nvPr/>
      </p:nvGrpSpPr>
      <p:grpSpPr>
        <a:xfrm>
          <a:off x="0" y="0"/>
          <a:ext cx="0" cy="0"/>
          <a:chOff x="0" y="0"/>
          <a:chExt cx="0" cy="0"/>
        </a:xfrm>
      </p:grpSpPr>
      <p:sp>
        <p:nvSpPr>
          <p:cNvPr id="1335" name="Google Shape;1335;p6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36" name="Google Shape;1336;p6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37" name="Google Shape;1337;p6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38" name="Google Shape;1338;p6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062</a:t>
            </a:r>
            <a:endParaRPr b="0" i="0" sz="1300" u="none" cap="none">
              <a:solidFill>
                <a:schemeClr val="dk1"/>
              </a:solidFill>
              <a:latin typeface="Calibri"/>
              <a:ea typeface="Calibri"/>
              <a:cs typeface="Calibri"/>
              <a:sym typeface="Calibri"/>
            </a:endParaRPr>
          </a:p>
        </p:txBody>
      </p:sp>
      <p:pic>
        <p:nvPicPr>
          <p:cNvPr id="1339" name="Google Shape;1339;p6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340" name="Google Shape;1340;p6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341" name="Google Shape;1341;p6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342" name="Google Shape;1342;p6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43" name="Google Shape;1343;p6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44" name="Google Shape;1344;p6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45" name="Google Shape;1345;p68"/>
          <p:cNvSpPr/>
          <p:nvPr/>
        </p:nvSpPr>
        <p:spPr>
          <a:xfrm>
            <a:off x="762000" y="857250"/>
            <a:ext cx="10572900" cy="51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Fβ et rappel sous contrainte</a:t>
            </a:r>
            <a:endParaRPr/>
          </a:p>
        </p:txBody>
      </p:sp>
      <p:sp>
        <p:nvSpPr>
          <p:cNvPr id="1346" name="Google Shape;1346;p68"/>
          <p:cNvSpPr/>
          <p:nvPr/>
        </p:nvSpPr>
        <p:spPr>
          <a:xfrm>
            <a:off x="809700" y="2945238"/>
            <a:ext cx="10477500" cy="605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β &gt; 1 donne plus de poids au rappel dans la moyenne harmonique.</a:t>
            </a:r>
            <a:endParaRPr/>
          </a:p>
        </p:txBody>
      </p:sp>
      <p:sp>
        <p:nvSpPr>
          <p:cNvPr id="1347" name="Google Shape;1347;p68"/>
          <p:cNvSpPr/>
          <p:nvPr/>
        </p:nvSpPr>
        <p:spPr>
          <a:xfrm>
            <a:off x="819150" y="3663938"/>
            <a:ext cx="10477500" cy="605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objectif « rappel maximal avec précision ≥ 60 % » est une autre règle.</a:t>
            </a:r>
            <a:endParaRPr/>
          </a:p>
        </p:txBody>
      </p:sp>
      <p:sp>
        <p:nvSpPr>
          <p:cNvPr id="1348" name="Google Shape;1348;p68"/>
          <p:cNvSpPr/>
          <p:nvPr/>
        </p:nvSpPr>
        <p:spPr>
          <a:xfrm>
            <a:off x="857250" y="4467163"/>
            <a:ext cx="10477500" cy="51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Toujours rapporter les effectifs et la capacité nécessaire.</a:t>
            </a:r>
            <a:endParaRPr/>
          </a:p>
        </p:txBody>
      </p:sp>
      <p:sp>
        <p:nvSpPr>
          <p:cNvPr id="1349" name="Google Shape;1349;p6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R04 · liens et détails dans les notes</a:t>
            </a:r>
            <a:endParaRPr/>
          </a:p>
        </p:txBody>
      </p:sp>
      <p:pic>
        <p:nvPicPr>
          <p:cNvPr id="1350" name="Google Shape;1350;p68"/>
          <p:cNvPicPr preferRelativeResize="0"/>
          <p:nvPr/>
        </p:nvPicPr>
        <p:blipFill>
          <a:blip r:embed="rId5">
            <a:alphaModFix/>
          </a:blip>
          <a:stretch>
            <a:fillRect/>
          </a:stretch>
        </p:blipFill>
        <p:spPr>
          <a:xfrm>
            <a:off x="3810975" y="1423025"/>
            <a:ext cx="5296527" cy="1252138"/>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5" name="Shape 1355"/>
        <p:cNvGrpSpPr/>
        <p:nvPr/>
      </p:nvGrpSpPr>
      <p:grpSpPr>
        <a:xfrm>
          <a:off x="0" y="0"/>
          <a:ext cx="0" cy="0"/>
          <a:chOff x="0" y="0"/>
          <a:chExt cx="0" cy="0"/>
        </a:xfrm>
      </p:grpSpPr>
      <p:sp>
        <p:nvSpPr>
          <p:cNvPr id="1356" name="Google Shape;1356;p6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57" name="Google Shape;1357;p6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58" name="Google Shape;1358;p6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59" name="Google Shape;1359;p6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063</a:t>
            </a:r>
            <a:endParaRPr b="0" i="0" sz="1300" u="none" cap="none">
              <a:solidFill>
                <a:schemeClr val="dk1"/>
              </a:solidFill>
              <a:latin typeface="Calibri"/>
              <a:ea typeface="Calibri"/>
              <a:cs typeface="Calibri"/>
              <a:sym typeface="Calibri"/>
            </a:endParaRPr>
          </a:p>
        </p:txBody>
      </p:sp>
      <p:pic>
        <p:nvPicPr>
          <p:cNvPr id="1360" name="Google Shape;1360;p6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361" name="Google Shape;1361;p6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362" name="Google Shape;1362;p6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363" name="Google Shape;1363;p6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64" name="Google Shape;1364;p6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65" name="Google Shape;1365;p6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66" name="Google Shape;1366;p6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Cinq leviers contre le déséquilibre</a:t>
            </a:r>
            <a:endParaRPr/>
          </a:p>
        </p:txBody>
      </p:sp>
      <p:graphicFrame>
        <p:nvGraphicFramePr>
          <p:cNvPr id="1367" name="Google Shape;1367;p69"/>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Action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Ce qui change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Ce qui reste à évaluer</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Poids de classes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Perte d'entraînement</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Calibration et seuil</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Sous-échantillonnage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Données majoritaires vues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Information perdue</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Sur-échantillonnage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Fréquence des minoritaires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Surapprentissage</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SMOTE / SMOTENC</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Observations synthétiques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Géométrie, bruit, catégories</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Réglage du seuil</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Décision finale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Coût et capacité opérationnelle</a:t>
                      </a:r>
                      <a:endParaRPr/>
                    </a:p>
                  </a:txBody>
                  <a:tcPr marT="45725" marB="45725" marR="91450" marL="91450">
                    <a:solidFill>
                      <a:srgbClr val="F4F5F8"/>
                    </a:solidFill>
                  </a:tcPr>
                </a:tc>
              </a:tr>
            </a:tbl>
          </a:graphicData>
        </a:graphic>
      </p:graphicFrame>
      <p:sp>
        <p:nvSpPr>
          <p:cNvPr id="1368" name="Google Shape;1368;p69"/>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1369" name="Google Shape;1369;p6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R14, R17 · liens et détails dans les notes</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4" name="Shape 1374"/>
        <p:cNvGrpSpPr/>
        <p:nvPr/>
      </p:nvGrpSpPr>
      <p:grpSpPr>
        <a:xfrm>
          <a:off x="0" y="0"/>
          <a:ext cx="0" cy="0"/>
          <a:chOff x="0" y="0"/>
          <a:chExt cx="0" cy="0"/>
        </a:xfrm>
      </p:grpSpPr>
      <p:sp>
        <p:nvSpPr>
          <p:cNvPr id="1375" name="Google Shape;1375;p7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76" name="Google Shape;1376;p7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77" name="Google Shape;1377;p7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78" name="Google Shape;1378;p7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064</a:t>
            </a:r>
            <a:endParaRPr b="0" i="0" sz="1300" u="none" cap="none">
              <a:solidFill>
                <a:schemeClr val="dk1"/>
              </a:solidFill>
              <a:latin typeface="Calibri"/>
              <a:ea typeface="Calibri"/>
              <a:cs typeface="Calibri"/>
              <a:sym typeface="Calibri"/>
            </a:endParaRPr>
          </a:p>
        </p:txBody>
      </p:sp>
      <p:pic>
        <p:nvPicPr>
          <p:cNvPr id="1379" name="Google Shape;1379;p7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380" name="Google Shape;1380;p7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381" name="Google Shape;1381;p7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382" name="Google Shape;1382;p7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383" name="Google Shape;1383;p7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384" name="Google Shape;1384;p7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385" name="Google Shape;1385;p70"/>
          <p:cNvSpPr/>
          <p:nvPr/>
        </p:nvSpPr>
        <p:spPr>
          <a:xfrm>
            <a:off x="762000" y="857250"/>
            <a:ext cx="10572900" cy="59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Pondérer la fonction de perte</a:t>
            </a:r>
            <a:endParaRPr/>
          </a:p>
        </p:txBody>
      </p:sp>
      <p:sp>
        <p:nvSpPr>
          <p:cNvPr id="1386" name="Google Shape;1386;p70"/>
          <p:cNvSpPr/>
          <p:nvPr/>
        </p:nvSpPr>
        <p:spPr>
          <a:xfrm>
            <a:off x="809700" y="2770350"/>
            <a:ext cx="10477500" cy="51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observations coûteuses ou minoritaires contribuent davantage à l'objectif.</a:t>
            </a:r>
            <a:endParaRPr/>
          </a:p>
        </p:txBody>
      </p:sp>
      <p:sp>
        <p:nvSpPr>
          <p:cNvPr id="1387" name="Google Shape;1387;p70"/>
          <p:cNvSpPr/>
          <p:nvPr/>
        </p:nvSpPr>
        <p:spPr>
          <a:xfrm>
            <a:off x="809700" y="3476975"/>
            <a:ext cx="10477500" cy="51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class_weight</a:t>
            </a:r>
            <a:r>
              <a:rPr b="0" lang="en-US" sz="2250">
                <a:solidFill>
                  <a:srgbClr val="12194C"/>
                </a:solidFill>
                <a:latin typeface="DM Sans"/>
                <a:ea typeface="DM Sans"/>
                <a:cs typeface="DM Sans"/>
                <a:sym typeface="DM Sans"/>
              </a:rPr>
              <a:t> ne crée aucune observation supplémentaire.</a:t>
            </a:r>
            <a:endParaRPr/>
          </a:p>
        </p:txBody>
      </p:sp>
      <p:sp>
        <p:nvSpPr>
          <p:cNvPr id="1388" name="Google Shape;1388;p70"/>
          <p:cNvSpPr/>
          <p:nvPr/>
        </p:nvSpPr>
        <p:spPr>
          <a:xfrm>
            <a:off x="809700" y="4183600"/>
            <a:ext cx="10477500" cy="51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probabilité produite peut nécessiter une recalibration.</a:t>
            </a:r>
            <a:endParaRPr/>
          </a:p>
        </p:txBody>
      </p:sp>
      <p:sp>
        <p:nvSpPr>
          <p:cNvPr id="1389" name="Google Shape;1389;p7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R14, R16 · liens et détails dans les notes</a:t>
            </a:r>
            <a:endParaRPr/>
          </a:p>
        </p:txBody>
      </p:sp>
      <p:pic>
        <p:nvPicPr>
          <p:cNvPr id="1390" name="Google Shape;1390;p70"/>
          <p:cNvPicPr preferRelativeResize="0"/>
          <p:nvPr/>
        </p:nvPicPr>
        <p:blipFill>
          <a:blip r:embed="rId5">
            <a:alphaModFix/>
          </a:blip>
          <a:stretch>
            <a:fillRect/>
          </a:stretch>
        </p:blipFill>
        <p:spPr>
          <a:xfrm>
            <a:off x="4418000" y="1456950"/>
            <a:ext cx="3621175" cy="129190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5" name="Shape 1395"/>
        <p:cNvGrpSpPr/>
        <p:nvPr/>
      </p:nvGrpSpPr>
      <p:grpSpPr>
        <a:xfrm>
          <a:off x="0" y="0"/>
          <a:ext cx="0" cy="0"/>
          <a:chOff x="0" y="0"/>
          <a:chExt cx="0" cy="0"/>
        </a:xfrm>
      </p:grpSpPr>
      <p:sp>
        <p:nvSpPr>
          <p:cNvPr id="1396" name="Google Shape;1396;p7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97" name="Google Shape;1397;p7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98" name="Google Shape;1398;p7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399" name="Google Shape;1399;p7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065</a:t>
            </a:r>
            <a:endParaRPr b="0" i="0" sz="1300" u="none" cap="none">
              <a:solidFill>
                <a:schemeClr val="dk1"/>
              </a:solidFill>
              <a:latin typeface="Calibri"/>
              <a:ea typeface="Calibri"/>
              <a:cs typeface="Calibri"/>
              <a:sym typeface="Calibri"/>
            </a:endParaRPr>
          </a:p>
        </p:txBody>
      </p:sp>
      <p:pic>
        <p:nvPicPr>
          <p:cNvPr id="1400" name="Google Shape;1400;p7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01" name="Google Shape;1401;p7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02" name="Google Shape;1402;p7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403" name="Google Shape;1403;p7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404" name="Google Shape;1404;p7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405" name="Google Shape;1405;p7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406" name="Google Shape;1406;p7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SMOTE : interpoler dans la classe minoritaire</a:t>
            </a:r>
            <a:endParaRPr/>
          </a:p>
        </p:txBody>
      </p:sp>
      <p:sp>
        <p:nvSpPr>
          <p:cNvPr id="1407" name="Google Shape;1407;p71"/>
          <p:cNvSpPr/>
          <p:nvPr/>
        </p:nvSpPr>
        <p:spPr>
          <a:xfrm>
            <a:off x="819150" y="2769750"/>
            <a:ext cx="10477500" cy="56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un voisin minoritaire selon une distance.</a:t>
            </a:r>
            <a:endParaRPr/>
          </a:p>
        </p:txBody>
      </p:sp>
      <p:sp>
        <p:nvSpPr>
          <p:cNvPr id="1408" name="Google Shape;1408;p71"/>
          <p:cNvSpPr/>
          <p:nvPr/>
        </p:nvSpPr>
        <p:spPr>
          <a:xfrm>
            <a:off x="819150" y="354330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Créer un point sur le segment qui relie deux observations.</a:t>
            </a:r>
            <a:endParaRPr/>
          </a:p>
        </p:txBody>
      </p:sp>
      <p:sp>
        <p:nvSpPr>
          <p:cNvPr id="1409" name="Google Shape;1409;p71"/>
          <p:cNvSpPr/>
          <p:nvPr/>
        </p:nvSpPr>
        <p:spPr>
          <a:xfrm>
            <a:off x="819150" y="4148075"/>
            <a:ext cx="10477500" cy="56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Vérifier que cette interpolation reste plausible.</a:t>
            </a:r>
            <a:endParaRPr/>
          </a:p>
        </p:txBody>
      </p:sp>
      <p:sp>
        <p:nvSpPr>
          <p:cNvPr id="1410" name="Google Shape;1410;p7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R15 · liens et détails dans les notes</a:t>
            </a:r>
            <a:endParaRPr/>
          </a:p>
        </p:txBody>
      </p:sp>
      <p:pic>
        <p:nvPicPr>
          <p:cNvPr id="1411" name="Google Shape;1411;p71"/>
          <p:cNvPicPr preferRelativeResize="0"/>
          <p:nvPr/>
        </p:nvPicPr>
        <p:blipFill>
          <a:blip r:embed="rId5">
            <a:alphaModFix/>
          </a:blip>
          <a:stretch>
            <a:fillRect/>
          </a:stretch>
        </p:blipFill>
        <p:spPr>
          <a:xfrm>
            <a:off x="2422400" y="1398800"/>
            <a:ext cx="8519853" cy="105410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6" name="Shape 1416"/>
        <p:cNvGrpSpPr/>
        <p:nvPr/>
      </p:nvGrpSpPr>
      <p:grpSpPr>
        <a:xfrm>
          <a:off x="0" y="0"/>
          <a:ext cx="0" cy="0"/>
          <a:chOff x="0" y="0"/>
          <a:chExt cx="0" cy="0"/>
        </a:xfrm>
      </p:grpSpPr>
      <p:sp>
        <p:nvSpPr>
          <p:cNvPr id="1417" name="Google Shape;1417;p7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18" name="Google Shape;1418;p7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19" name="Google Shape;1419;p7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20" name="Google Shape;1420;p7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066</a:t>
            </a:r>
            <a:endParaRPr b="0" i="0" sz="1300" u="none" cap="none">
              <a:solidFill>
                <a:schemeClr val="dk1"/>
              </a:solidFill>
              <a:latin typeface="Calibri"/>
              <a:ea typeface="Calibri"/>
              <a:cs typeface="Calibri"/>
              <a:sym typeface="Calibri"/>
            </a:endParaRPr>
          </a:p>
        </p:txBody>
      </p:sp>
      <p:pic>
        <p:nvPicPr>
          <p:cNvPr id="1421" name="Google Shape;1421;p7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22" name="Google Shape;1422;p7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23" name="Google Shape;1423;p7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424" name="Google Shape;1424;p7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425" name="Google Shape;1425;p7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426" name="Google Shape;1426;p7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427" name="Google Shape;1427;p7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Où placer le rééchantillonnage ?</a:t>
            </a:r>
            <a:endParaRPr/>
          </a:p>
        </p:txBody>
      </p:sp>
      <p:sp>
        <p:nvSpPr>
          <p:cNvPr id="1428" name="Google Shape;1428;p7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Réserver le test avant tout sampling.</a:t>
            </a:r>
            <a:endParaRPr/>
          </a:p>
        </p:txBody>
      </p:sp>
      <p:sp>
        <p:nvSpPr>
          <p:cNvPr id="1429" name="Google Shape;1429;p7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Dans chaque pli : apprendre le prétraitement et sampler uniquement le train.</a:t>
            </a:r>
            <a:endParaRPr/>
          </a:p>
        </p:txBody>
      </p:sp>
      <p:sp>
        <p:nvSpPr>
          <p:cNvPr id="1430" name="Google Shape;1430;p7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Évaluer sur la distribution naturelle du pli de validation.</a:t>
            </a:r>
            <a:endParaRPr/>
          </a:p>
        </p:txBody>
      </p:sp>
      <p:sp>
        <p:nvSpPr>
          <p:cNvPr id="1431" name="Google Shape;1431;p7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Utiliser imblearn.Pipeline pour encapsuler cette procédure</a:t>
            </a:r>
            <a:endParaRPr/>
          </a:p>
        </p:txBody>
      </p:sp>
      <p:sp>
        <p:nvSpPr>
          <p:cNvPr id="1432" name="Google Shape;1432;p7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R14, R15 · liens et détails dans les notes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7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39" name="Google Shape;1439;p7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40" name="Google Shape;1440;p7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41" name="Google Shape;1441;p7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067</a:t>
            </a:r>
            <a:endParaRPr b="0" i="0" sz="1300" u="none" cap="none">
              <a:solidFill>
                <a:schemeClr val="dk1"/>
              </a:solidFill>
              <a:latin typeface="Calibri"/>
              <a:ea typeface="Calibri"/>
              <a:cs typeface="Calibri"/>
              <a:sym typeface="Calibri"/>
            </a:endParaRPr>
          </a:p>
        </p:txBody>
      </p:sp>
      <p:pic>
        <p:nvPicPr>
          <p:cNvPr id="1442" name="Google Shape;1442;p7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43" name="Google Shape;1443;p7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44" name="Google Shape;1444;p7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445" name="Google Shape;1445;p7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446" name="Google Shape;1446;p7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447" name="Google Shape;1447;p7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448" name="Google Shape;1448;p7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Lire une courbe de calibration</a:t>
            </a:r>
            <a:endParaRPr/>
          </a:p>
        </p:txBody>
      </p:sp>
      <p:pic>
        <p:nvPicPr>
          <p:cNvPr id="1449" name="Google Shape;1449;p73"/>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1450" name="Google Shape;1450;p73"/>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Une probabilité annoncée de 0,8 doit correspondre à environ 80 % de positifs.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La diagonale représente la calibration idéale.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Les bins rares rendent l'estimation incertaine.</a:t>
            </a:r>
            <a:endParaRPr/>
          </a:p>
        </p:txBody>
      </p:sp>
      <p:sp>
        <p:nvSpPr>
          <p:cNvPr id="1451" name="Google Shape;1451;p73"/>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Exemple schématique : une prédiction à 0,8 correspond ici à 0,64 observé.</a:t>
            </a:r>
            <a:endParaRPr/>
          </a:p>
        </p:txBody>
      </p:sp>
      <p:sp>
        <p:nvSpPr>
          <p:cNvPr id="1452" name="Google Shape;1452;p7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R16 · liens et détails dans les notes</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7" name="Shape 1457"/>
        <p:cNvGrpSpPr/>
        <p:nvPr/>
      </p:nvGrpSpPr>
      <p:grpSpPr>
        <a:xfrm>
          <a:off x="0" y="0"/>
          <a:ext cx="0" cy="0"/>
          <a:chOff x="0" y="0"/>
          <a:chExt cx="0" cy="0"/>
        </a:xfrm>
      </p:grpSpPr>
      <p:sp>
        <p:nvSpPr>
          <p:cNvPr id="1458" name="Google Shape;1458;p7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59" name="Google Shape;1459;p7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60" name="Google Shape;1460;p7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61" name="Google Shape;1461;p7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068</a:t>
            </a:r>
            <a:endParaRPr b="0" i="0" sz="1300" u="none" cap="none">
              <a:solidFill>
                <a:schemeClr val="dk1"/>
              </a:solidFill>
              <a:latin typeface="Calibri"/>
              <a:ea typeface="Calibri"/>
              <a:cs typeface="Calibri"/>
              <a:sym typeface="Calibri"/>
            </a:endParaRPr>
          </a:p>
        </p:txBody>
      </p:sp>
      <p:pic>
        <p:nvPicPr>
          <p:cNvPr id="1462" name="Google Shape;1462;p7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63" name="Google Shape;1463;p7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64" name="Google Shape;1464;p7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465" name="Google Shape;1465;p7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466" name="Google Shape;1466;p7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467" name="Google Shape;1467;p7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468" name="Google Shape;1468;p7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Apprendre une calibration sans fuite</a:t>
            </a:r>
            <a:endParaRPr/>
          </a:p>
        </p:txBody>
      </p:sp>
      <p:sp>
        <p:nvSpPr>
          <p:cNvPr id="1469" name="Google Shape;1469;p7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Sigmoïde</a:t>
            </a:r>
            <a:r>
              <a:rPr b="0" lang="en-US" sz="2250">
                <a:solidFill>
                  <a:srgbClr val="12194C"/>
                </a:solidFill>
                <a:latin typeface="DM Sans"/>
                <a:ea typeface="DM Sans"/>
                <a:cs typeface="DM Sans"/>
                <a:sym typeface="DM Sans"/>
              </a:rPr>
              <a:t> : transformation paramétrique relativement simple.</a:t>
            </a:r>
            <a:endParaRPr/>
          </a:p>
        </p:txBody>
      </p:sp>
      <p:sp>
        <p:nvSpPr>
          <p:cNvPr id="1470" name="Google Shape;1470;p7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1" lang="en-US" sz="2250">
                <a:solidFill>
                  <a:srgbClr val="12194C"/>
                </a:solidFill>
                <a:latin typeface="DM Sans"/>
                <a:ea typeface="DM Sans"/>
                <a:cs typeface="DM Sans"/>
                <a:sym typeface="DM Sans"/>
              </a:rPr>
              <a:t>Isotone</a:t>
            </a:r>
            <a:r>
              <a:rPr b="0" lang="en-US" sz="2250">
                <a:solidFill>
                  <a:srgbClr val="12194C"/>
                </a:solidFill>
                <a:latin typeface="DM Sans"/>
                <a:ea typeface="DM Sans"/>
                <a:cs typeface="DM Sans"/>
                <a:sym typeface="DM Sans"/>
              </a:rPr>
              <a:t> : transformation monotone plus flexible, exigeant assez de données.</a:t>
            </a:r>
            <a:endParaRPr/>
          </a:p>
        </p:txBody>
      </p:sp>
      <p:sp>
        <p:nvSpPr>
          <p:cNvPr id="1471" name="Google Shape;1471;p7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prédictions utilisées pour calibrer doivent venir de modèles qui n'ont pas vu ces labels.</a:t>
            </a:r>
            <a:endParaRPr/>
          </a:p>
        </p:txBody>
      </p:sp>
      <p:sp>
        <p:nvSpPr>
          <p:cNvPr id="1472" name="Google Shape;1472;p7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CalibratedClassifierCV puis validation du seuil</a:t>
            </a:r>
            <a:endParaRPr/>
          </a:p>
        </p:txBody>
      </p:sp>
      <p:sp>
        <p:nvSpPr>
          <p:cNvPr id="1473" name="Google Shape;1473;p7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R16 · liens et détails dans les notes</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8" name="Shape 1478"/>
        <p:cNvGrpSpPr/>
        <p:nvPr/>
      </p:nvGrpSpPr>
      <p:grpSpPr>
        <a:xfrm>
          <a:off x="0" y="0"/>
          <a:ext cx="0" cy="0"/>
          <a:chOff x="0" y="0"/>
          <a:chExt cx="0" cy="0"/>
        </a:xfrm>
      </p:grpSpPr>
      <p:sp>
        <p:nvSpPr>
          <p:cNvPr id="1479" name="Google Shape;1479;p7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80" name="Google Shape;1480;p75"/>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81" name="Google Shape;1481;p7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82" name="Google Shape;1482;p75"/>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068</a:t>
            </a:r>
            <a:endParaRPr b="0" i="0" sz="1300" u="none" cap="none">
              <a:solidFill>
                <a:schemeClr val="dk1"/>
              </a:solidFill>
              <a:latin typeface="Calibri"/>
              <a:ea typeface="Calibri"/>
              <a:cs typeface="Calibri"/>
              <a:sym typeface="Calibri"/>
            </a:endParaRPr>
          </a:p>
        </p:txBody>
      </p:sp>
      <p:pic>
        <p:nvPicPr>
          <p:cNvPr id="1483" name="Google Shape;1483;p7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484" name="Google Shape;1484;p7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485" name="Google Shape;1485;p7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486" name="Google Shape;1486;p7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487" name="Google Shape;1487;p7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488" name="Google Shape;1488;p7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489" name="Google Shape;1489;p75"/>
          <p:cNvSpPr/>
          <p:nvPr/>
        </p:nvSpPr>
        <p:spPr>
          <a:xfrm>
            <a:off x="762000" y="857250"/>
            <a:ext cx="105729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700">
                <a:solidFill>
                  <a:srgbClr val="12194C"/>
                </a:solidFill>
                <a:latin typeface="Archivo Black"/>
                <a:ea typeface="Archivo Black"/>
                <a:cs typeface="Archivo Black"/>
                <a:sym typeface="Archivo Black"/>
              </a:rPr>
              <a:t>Différences pratiques</a:t>
            </a:r>
            <a:endParaRPr/>
          </a:p>
        </p:txBody>
      </p:sp>
      <p:sp>
        <p:nvSpPr>
          <p:cNvPr id="1490" name="Google Shape;1490;p75"/>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R16 · liens et détails dans les notes</a:t>
            </a:r>
            <a:endParaRPr/>
          </a:p>
        </p:txBody>
      </p:sp>
      <p:graphicFrame>
        <p:nvGraphicFramePr>
          <p:cNvPr id="1491" name="Google Shape;1491;p75"/>
          <p:cNvGraphicFramePr/>
          <p:nvPr/>
        </p:nvGraphicFramePr>
        <p:xfrm>
          <a:off x="80963" y="1637775"/>
          <a:ext cx="3000000" cy="3000000"/>
        </p:xfrm>
        <a:graphic>
          <a:graphicData uri="http://schemas.openxmlformats.org/drawingml/2006/table">
            <a:tbl>
              <a:tblPr>
                <a:noFill/>
                <a:tableStyleId>{C6B46B82-55C0-43C8-8E66-D39B75777A89}</a:tableStyleId>
              </a:tblPr>
              <a:tblGrid>
                <a:gridCol w="2457450"/>
                <a:gridCol w="4076700"/>
                <a:gridCol w="5495925"/>
              </a:tblGrid>
              <a:tr h="381000">
                <a:tc>
                  <a:txBody>
                    <a:bodyPr/>
                    <a:lstStyle/>
                    <a:p>
                      <a:pPr indent="0" lvl="0" marL="0" rtl="0" algn="l">
                        <a:lnSpc>
                          <a:spcPct val="115000"/>
                        </a:lnSpc>
                        <a:spcBef>
                          <a:spcPts val="0"/>
                        </a:spcBef>
                        <a:spcAft>
                          <a:spcPts val="0"/>
                        </a:spcAft>
                        <a:buNone/>
                      </a:pPr>
                      <a:r>
                        <a:rPr b="1" lang="en-US" sz="1100"/>
                        <a:t>Aspect</a:t>
                      </a:r>
                      <a:endParaRPr b="1" sz="1100"/>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solidFill>
                            <a:srgbClr val="188038"/>
                          </a:solidFill>
                          <a:latin typeface="Roboto Mono"/>
                          <a:ea typeface="Roboto Mono"/>
                          <a:cs typeface="Roboto Mono"/>
                          <a:sym typeface="Roboto Mono"/>
                        </a:rPr>
                        <a:t>sigmoid</a:t>
                      </a:r>
                      <a:endParaRPr b="1" sz="1100">
                        <a:solidFill>
                          <a:srgbClr val="188038"/>
                        </a:solidFill>
                        <a:latin typeface="Roboto Mono"/>
                        <a:ea typeface="Roboto Mono"/>
                        <a:cs typeface="Roboto Mono"/>
                        <a:sym typeface="Roboto Mono"/>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solidFill>
                            <a:srgbClr val="188038"/>
                          </a:solidFill>
                          <a:latin typeface="Roboto Mono"/>
                          <a:ea typeface="Roboto Mono"/>
                          <a:cs typeface="Roboto Mono"/>
                          <a:sym typeface="Roboto Mono"/>
                        </a:rPr>
                        <a:t>isotonic</a:t>
                      </a:r>
                      <a:endParaRPr b="1" sz="1100">
                        <a:solidFill>
                          <a:srgbClr val="188038"/>
                        </a:solidFill>
                        <a:latin typeface="Roboto Mono"/>
                        <a:ea typeface="Roboto Mono"/>
                        <a:cs typeface="Roboto Mono"/>
                        <a:sym typeface="Roboto Mono"/>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solidFill>
                      <a:srgbClr val="F2F2F2"/>
                    </a:solidFill>
                  </a:tcPr>
                </a:tc>
              </a:tr>
              <a:tr h="381000">
                <a:tc>
                  <a:txBody>
                    <a:bodyPr/>
                    <a:lstStyle/>
                    <a:p>
                      <a:pPr indent="0" lvl="0" marL="0" rtl="0" algn="l">
                        <a:lnSpc>
                          <a:spcPct val="115000"/>
                        </a:lnSpc>
                        <a:spcBef>
                          <a:spcPts val="0"/>
                        </a:spcBef>
                        <a:spcAft>
                          <a:spcPts val="0"/>
                        </a:spcAft>
                        <a:buNone/>
                      </a:pPr>
                      <a:r>
                        <a:rPr lang="en-US"/>
                        <a:t>Forme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Courbe logistique lisse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Fonction en escalier non décroissante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Hypothèse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L’erreur de calibration suit une forme en S</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Seulement que la relation score-probabilité est monotone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Paramètres</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2, AAA et BBB</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Nombre de paliers déterminé par les données</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Flexibilité</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Faible à moyenne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Élevée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Risque d’overfitting</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Faible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Plus élevé</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Petit jeu de calibration</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Généralement préférable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Souvent risqué</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Grand jeu de calibration</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Correct</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Souvent meilleur si la distorsion est complexe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r h="381000">
                <a:tc>
                  <a:txBody>
                    <a:bodyPr/>
                    <a:lstStyle/>
                    <a:p>
                      <a:pPr indent="0" lvl="0" marL="0" rtl="0" algn="l">
                        <a:lnSpc>
                          <a:spcPct val="115000"/>
                        </a:lnSpc>
                        <a:spcBef>
                          <a:spcPts val="0"/>
                        </a:spcBef>
                        <a:spcAft>
                          <a:spcPts val="0"/>
                        </a:spcAft>
                        <a:buNone/>
                      </a:pPr>
                      <a:r>
                        <a:rPr lang="en-US"/>
                        <a:t>Conservation du ranking</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Oui, transformation strictement monotone</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Pas toujours : les paliers créent des égalités</a:t>
                      </a:r>
                      <a:endParaRPr/>
                    </a:p>
                  </a:txBody>
                  <a:tcPr marT="76200" marB="76200" marR="76200" marL="76200">
                    <a:lnL cap="flat" cmpd="sng" w="9525">
                      <a:solidFill>
                        <a:srgbClr val="DDDDDD"/>
                      </a:solidFill>
                      <a:prstDash val="solid"/>
                      <a:round/>
                      <a:headEnd len="sm" w="sm" type="none"/>
                      <a:tailEnd len="sm" w="sm" type="none"/>
                    </a:lnL>
                    <a:lnR cap="flat" cmpd="sng" w="9525">
                      <a:solidFill>
                        <a:srgbClr val="DDDDDD"/>
                      </a:solidFill>
                      <a:prstDash val="solid"/>
                      <a:round/>
                      <a:headEnd len="sm" w="sm" type="none"/>
                      <a:tailEnd len="sm" w="sm" type="none"/>
                    </a:lnR>
                    <a:lnT cap="flat" cmpd="sng" w="9525">
                      <a:solidFill>
                        <a:srgbClr val="DDDDDD"/>
                      </a:solidFill>
                      <a:prstDash val="solid"/>
                      <a:round/>
                      <a:headEnd len="sm" w="sm" type="none"/>
                      <a:tailEnd len="sm" w="sm" type="none"/>
                    </a:lnT>
                    <a:lnB cap="flat" cmpd="sng" w="9525">
                      <a:solidFill>
                        <a:srgbClr val="DDDDDD"/>
                      </a:solidFill>
                      <a:prstDash val="solid"/>
                      <a:round/>
                      <a:headEnd len="sm" w="sm" type="none"/>
                      <a:tailEnd len="sm" w="sm" type="none"/>
                    </a:lnB>
                  </a:tcPr>
                </a:tc>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6" name="Shape 1496"/>
        <p:cNvGrpSpPr/>
        <p:nvPr/>
      </p:nvGrpSpPr>
      <p:grpSpPr>
        <a:xfrm>
          <a:off x="0" y="0"/>
          <a:ext cx="0" cy="0"/>
          <a:chOff x="0" y="0"/>
          <a:chExt cx="0" cy="0"/>
        </a:xfrm>
      </p:grpSpPr>
      <p:sp>
        <p:nvSpPr>
          <p:cNvPr id="1497" name="Google Shape;1497;p7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98" name="Google Shape;1498;p7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499" name="Google Shape;1499;p7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00" name="Google Shape;1500;p7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069</a:t>
            </a:r>
            <a:endParaRPr b="0" i="0" sz="1300" u="none" cap="none">
              <a:solidFill>
                <a:schemeClr val="dk1"/>
              </a:solidFill>
              <a:latin typeface="Calibri"/>
              <a:ea typeface="Calibri"/>
              <a:cs typeface="Calibri"/>
              <a:sym typeface="Calibri"/>
            </a:endParaRPr>
          </a:p>
        </p:txBody>
      </p:sp>
      <p:pic>
        <p:nvPicPr>
          <p:cNvPr id="1501" name="Google Shape;1501;p7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502" name="Google Shape;1502;p7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503" name="Google Shape;1503;p7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504" name="Google Shape;1504;p7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05" name="Google Shape;1505;p7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506" name="Google Shape;1506;p7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507" name="Google Shape;1507;p7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Concevoir des variables utiles</a:t>
            </a:r>
            <a:endParaRPr/>
          </a:p>
        </p:txBody>
      </p:sp>
      <p:graphicFrame>
        <p:nvGraphicFramePr>
          <p:cNvPr id="1508" name="Google Shape;1508;p76"/>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Famille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Exemple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Contrôle</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Valeurs manquantes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Imputation + indicateur</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Appris sur train</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Catégorielles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One-hot / target encoding</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Inconnues et cross-fitting</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Numériques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log1p, ratios, interactions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Domaine et unités</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Temporelles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Retards, fenêtres passées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Aucune observation future</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Sélection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L1, filtres, permutation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Ablation dans les plis</a:t>
                      </a:r>
                      <a:endParaRPr/>
                    </a:p>
                  </a:txBody>
                  <a:tcPr marT="45725" marB="45725" marR="91450" marL="91450">
                    <a:solidFill>
                      <a:srgbClr val="F4F5F8"/>
                    </a:solidFill>
                  </a:tcPr>
                </a:tc>
              </a:tr>
            </a:tbl>
          </a:graphicData>
        </a:graphic>
      </p:graphicFrame>
      <p:sp>
        <p:nvSpPr>
          <p:cNvPr id="1509" name="Google Shape;1509;p76"/>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1510" name="Google Shape;1510;p7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R18, R41 · liens et détails dans les notes</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5" name="Shape 1515"/>
        <p:cNvGrpSpPr/>
        <p:nvPr/>
      </p:nvGrpSpPr>
      <p:grpSpPr>
        <a:xfrm>
          <a:off x="0" y="0"/>
          <a:ext cx="0" cy="0"/>
          <a:chOff x="0" y="0"/>
          <a:chExt cx="0" cy="0"/>
        </a:xfrm>
      </p:grpSpPr>
      <p:sp>
        <p:nvSpPr>
          <p:cNvPr id="1516" name="Google Shape;1516;p7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17" name="Google Shape;1517;p77"/>
          <p:cNvSpPr/>
          <p:nvPr/>
        </p:nvSpPr>
        <p:spPr>
          <a:xfrm>
            <a:off x="761695" y="5810098"/>
            <a:ext cx="106683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18" name="Google Shape;1518;p7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19" name="Google Shape;1519;p77"/>
          <p:cNvSpPr/>
          <p:nvPr/>
        </p:nvSpPr>
        <p:spPr>
          <a:xfrm>
            <a:off x="10382250" y="6229350"/>
            <a:ext cx="1381200"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069</a:t>
            </a:r>
            <a:endParaRPr b="0" i="0" sz="1300" u="none" cap="none">
              <a:solidFill>
                <a:schemeClr val="dk1"/>
              </a:solidFill>
              <a:latin typeface="Calibri"/>
              <a:ea typeface="Calibri"/>
              <a:cs typeface="Calibri"/>
              <a:sym typeface="Calibri"/>
            </a:endParaRPr>
          </a:p>
        </p:txBody>
      </p:sp>
      <p:pic>
        <p:nvPicPr>
          <p:cNvPr id="1520" name="Google Shape;1520;p7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521" name="Google Shape;1521;p7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522" name="Google Shape;1522;p7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523" name="Google Shape;1523;p7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24" name="Google Shape;1524;p77"/>
          <p:cNvSpPr/>
          <p:nvPr/>
        </p:nvSpPr>
        <p:spPr>
          <a:xfrm>
            <a:off x="762000" y="5143500"/>
            <a:ext cx="105729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1525" name="Google Shape;1525;p77"/>
          <p:cNvSpPr/>
          <p:nvPr/>
        </p:nvSpPr>
        <p:spPr>
          <a:xfrm>
            <a:off x="762000" y="5905500"/>
            <a:ext cx="10382400" cy="209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R18, R41 · liens et détails dans les notes</a:t>
            </a:r>
            <a:endParaRPr/>
          </a:p>
        </p:txBody>
      </p:sp>
      <p:graphicFrame>
        <p:nvGraphicFramePr>
          <p:cNvPr id="1526" name="Google Shape;1526;p77"/>
          <p:cNvGraphicFramePr/>
          <p:nvPr/>
        </p:nvGraphicFramePr>
        <p:xfrm>
          <a:off x="152400" y="152400"/>
          <a:ext cx="3000000" cy="3000000"/>
        </p:xfrm>
        <a:graphic>
          <a:graphicData uri="http://schemas.openxmlformats.org/drawingml/2006/table">
            <a:tbl>
              <a:tblPr>
                <a:noFill/>
                <a:tableStyleId>{C6B46B82-55C0-43C8-8E66-D39B75777A89}</a:tableStyleId>
              </a:tblPr>
              <a:tblGrid>
                <a:gridCol w="1524000"/>
                <a:gridCol w="4772025"/>
                <a:gridCol w="5734050"/>
              </a:tblGrid>
              <a:tr h="381000">
                <a:tc>
                  <a:txBody>
                    <a:bodyPr/>
                    <a:lstStyle/>
                    <a:p>
                      <a:pPr indent="0" lvl="0" marL="0" rtl="0" algn="l">
                        <a:lnSpc>
                          <a:spcPct val="115000"/>
                        </a:lnSpc>
                        <a:spcBef>
                          <a:spcPts val="0"/>
                        </a:spcBef>
                        <a:spcAft>
                          <a:spcPts val="0"/>
                        </a:spcAft>
                        <a:buNone/>
                      </a:pPr>
                      <a:r>
                        <a:rPr b="1" lang="en-US" sz="1100"/>
                        <a:t>Famille</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t>Ce que l’on fait</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solidFill>
                      <a:srgbClr val="F2F2F2"/>
                    </a:solidFill>
                  </a:tcPr>
                </a:tc>
                <a:tc>
                  <a:txBody>
                    <a:bodyPr/>
                    <a:lstStyle/>
                    <a:p>
                      <a:pPr indent="0" lvl="0" marL="0" rtl="0" algn="l">
                        <a:lnSpc>
                          <a:spcPct val="115000"/>
                        </a:lnSpc>
                        <a:spcBef>
                          <a:spcPts val="0"/>
                        </a:spcBef>
                        <a:spcAft>
                          <a:spcPts val="0"/>
                        </a:spcAft>
                        <a:buNone/>
                      </a:pPr>
                      <a:r>
                        <a:rPr b="1" lang="en-US" sz="1100"/>
                        <a:t>Contrôle indispensable</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solidFill>
                      <a:srgbClr val="F2F2F2"/>
                    </a:solidFill>
                  </a:tcPr>
                </a:tc>
              </a:tr>
              <a:tr h="1038225">
                <a:tc>
                  <a:txBody>
                    <a:bodyPr/>
                    <a:lstStyle/>
                    <a:p>
                      <a:pPr indent="0" lvl="0" marL="0" rtl="0" algn="l">
                        <a:lnSpc>
                          <a:spcPct val="115000"/>
                        </a:lnSpc>
                        <a:spcBef>
                          <a:spcPts val="0"/>
                        </a:spcBef>
                        <a:spcAft>
                          <a:spcPts val="0"/>
                        </a:spcAft>
                        <a:buNone/>
                      </a:pPr>
                      <a:r>
                        <a:rPr b="1" lang="en-US" sz="1100"/>
                        <a:t>Valeurs manquantes</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On remplace une valeur absente, par exemple par la médiane pour une variable numérique, puis on crée souvent un indicateur </a:t>
                      </a:r>
                      <a:r>
                        <a:rPr lang="en-US" sz="1100">
                          <a:solidFill>
                            <a:srgbClr val="188038"/>
                          </a:solidFill>
                          <a:latin typeface="Roboto Mono"/>
                          <a:ea typeface="Roboto Mono"/>
                          <a:cs typeface="Roboto Mono"/>
                          <a:sym typeface="Roboto Mono"/>
                        </a:rPr>
                        <a:t>est_manquant</a:t>
                      </a:r>
                      <a:r>
                        <a:rPr lang="en-US" sz="1100"/>
                        <a:t>. L’absence elle-même peut porter une information.</a:t>
                      </a:r>
                      <a:endParaRPr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La médiane, la moyenne ou la modalité utilisée pour imputer sont calculées sur le train du pli uniquement, jamais sur l’ensemble du dataset. L’imputation est une hypothèse, pas la reconstitution certaine de la valeur réelle.</a:t>
                      </a:r>
                      <a:r>
                        <a:rPr lang="en-US" sz="1100">
                          <a:uFill>
                            <a:noFill/>
                          </a:uFill>
                          <a:hlinkClick r:id="rId5"/>
                        </a:rPr>
                        <a:t> </a:t>
                      </a:r>
                      <a:r>
                        <a:rPr lang="en-US" sz="1100" u="sng">
                          <a:solidFill>
                            <a:schemeClr val="hlink"/>
                          </a:solidFill>
                          <a:hlinkClick r:id="rId6"/>
                        </a:rPr>
                        <a:t>google</a:t>
                      </a:r>
                      <a:endParaRPr sz="1100" u="sng">
                        <a:solidFill>
                          <a:schemeClr val="hlink"/>
                        </a:solidFill>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r>
              <a:tr h="1257300">
                <a:tc>
                  <a:txBody>
                    <a:bodyPr/>
                    <a:lstStyle/>
                    <a:p>
                      <a:pPr indent="0" lvl="0" marL="0" rtl="0" algn="l">
                        <a:lnSpc>
                          <a:spcPct val="115000"/>
                        </a:lnSpc>
                        <a:spcBef>
                          <a:spcPts val="0"/>
                        </a:spcBef>
                        <a:spcAft>
                          <a:spcPts val="0"/>
                        </a:spcAft>
                        <a:buNone/>
                      </a:pPr>
                      <a:r>
                        <a:rPr b="1" lang="en-US" sz="1100"/>
                        <a:t>Variables catégorielles</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Le </a:t>
                      </a:r>
                      <a:r>
                        <a:rPr b="1" lang="en-US" sz="1100"/>
                        <a:t>one-hot encoding</a:t>
                      </a:r>
                      <a:r>
                        <a:rPr lang="en-US" sz="1100"/>
                        <a:t> crée une colonne binaire par catégorie ; le </a:t>
                      </a:r>
                      <a:r>
                        <a:rPr b="1" lang="en-US" sz="1100"/>
                        <a:t>target encoding</a:t>
                      </a:r>
                      <a:r>
                        <a:rPr lang="en-US" sz="1100"/>
                        <a:t> remplace une catégorie par une statistique liée à la cible, par exemple son taux moyen de souscription.</a:t>
                      </a:r>
                      <a:endParaRPr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Le pipeline doit accepter les catégories jamais vues en production. Pour le target encoding, il faut du </a:t>
                      </a:r>
                      <a:r>
                        <a:rPr b="1" lang="en-US" sz="1100"/>
                        <a:t>cross-fitting</a:t>
                      </a:r>
                      <a:r>
                        <a:rPr lang="en-US" sz="1100"/>
                        <a:t> : chaque ligne de train est encodée à partir de statistiques calculées sur d’autres sous-plis, jamais avec sa propre cible.</a:t>
                      </a:r>
                      <a:r>
                        <a:rPr lang="en-US" sz="1100">
                          <a:uFill>
                            <a:noFill/>
                          </a:uFill>
                          <a:hlinkClick r:id="rId7"/>
                        </a:rPr>
                        <a:t> </a:t>
                      </a:r>
                      <a:r>
                        <a:rPr lang="en-US" sz="1100" u="sng">
                          <a:solidFill>
                            <a:schemeClr val="hlink"/>
                          </a:solidFill>
                          <a:hlinkClick r:id="rId8"/>
                        </a:rPr>
                        <a:t>google</a:t>
                      </a:r>
                      <a:endParaRPr sz="1100" u="sng">
                        <a:solidFill>
                          <a:schemeClr val="hlink"/>
                        </a:solidFill>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r>
              <a:tr h="1038225">
                <a:tc>
                  <a:txBody>
                    <a:bodyPr/>
                    <a:lstStyle/>
                    <a:p>
                      <a:pPr indent="0" lvl="0" marL="0" rtl="0" algn="l">
                        <a:lnSpc>
                          <a:spcPct val="115000"/>
                        </a:lnSpc>
                        <a:spcBef>
                          <a:spcPts val="0"/>
                        </a:spcBef>
                        <a:spcAft>
                          <a:spcPts val="0"/>
                        </a:spcAft>
                        <a:buNone/>
                      </a:pPr>
                      <a:r>
                        <a:rPr b="1" lang="en-US" sz="1100"/>
                        <a:t>Variables numériques</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rgbClr val="188038"/>
                          </a:solidFill>
                          <a:latin typeface="Roboto Mono"/>
                          <a:ea typeface="Roboto Mono"/>
                          <a:cs typeface="Roboto Mono"/>
                          <a:sym typeface="Roboto Mono"/>
                        </a:rPr>
                        <a:t>log1p(x)</a:t>
                      </a:r>
                      <a:r>
                        <a:rPr lang="en-US" sz="1100"/>
                        <a:t> compresse les distributions très asymétriques tout en acceptant zéro ; les ratios et interactions injectent une hypothèse métier.</a:t>
                      </a:r>
                      <a:endParaRPr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Vérifier les unités, la cohérence du dénominateur et les valeurs extrêmes. Un ratio « revenu / nombre de personnes » n’a de sens que si le dénominateur est non nul et que les périodes sont compatibles.</a:t>
                      </a:r>
                      <a:r>
                        <a:rPr lang="en-US" sz="1100">
                          <a:uFill>
                            <a:noFill/>
                          </a:uFill>
                          <a:hlinkClick r:id="rId9"/>
                        </a:rPr>
                        <a:t> </a:t>
                      </a:r>
                      <a:r>
                        <a:rPr lang="en-US" sz="1100" u="sng">
                          <a:solidFill>
                            <a:schemeClr val="hlink"/>
                          </a:solidFill>
                          <a:hlinkClick r:id="rId10"/>
                        </a:rPr>
                        <a:t>google</a:t>
                      </a:r>
                      <a:endParaRPr sz="1100" u="sng">
                        <a:solidFill>
                          <a:schemeClr val="hlink"/>
                        </a:solidFill>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r>
              <a:tr h="1038225">
                <a:tc>
                  <a:txBody>
                    <a:bodyPr/>
                    <a:lstStyle/>
                    <a:p>
                      <a:pPr indent="0" lvl="0" marL="0" rtl="0" algn="l">
                        <a:lnSpc>
                          <a:spcPct val="115000"/>
                        </a:lnSpc>
                        <a:spcBef>
                          <a:spcPts val="0"/>
                        </a:spcBef>
                        <a:spcAft>
                          <a:spcPts val="0"/>
                        </a:spcAft>
                        <a:buNone/>
                      </a:pPr>
                      <a:r>
                        <a:rPr b="1" lang="en-US" sz="1100"/>
                        <a:t>Variables temporelles</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On construit des retards (</a:t>
                      </a:r>
                      <a:r>
                        <a:rPr i="1" lang="en-US" sz="1100"/>
                        <a:t>lags</a:t>
                      </a:r>
                      <a:r>
                        <a:rPr lang="en-US" sz="1100"/>
                        <a:t>) ou des agrégations sur une fenêtre passée : nombre d’achats sur les 30 derniers jours, moyenne des incidents des 7 derniers jours.</a:t>
                      </a:r>
                      <a:endParaRPr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À la date de décision, la variable ne doit contenir aucune information future. Une fenêtre doit être bornée explicitement dans le passé.</a:t>
                      </a:r>
                      <a:r>
                        <a:rPr lang="en-US" sz="1100">
                          <a:uFill>
                            <a:noFill/>
                          </a:uFill>
                          <a:hlinkClick r:id="rId11"/>
                        </a:rPr>
                        <a:t> </a:t>
                      </a:r>
                      <a:r>
                        <a:rPr lang="en-US" sz="1100" u="sng">
                          <a:solidFill>
                            <a:schemeClr val="hlink"/>
                          </a:solidFill>
                          <a:hlinkClick r:id="rId12"/>
                        </a:rPr>
                        <a:t>google</a:t>
                      </a:r>
                      <a:endParaRPr sz="1100" u="sng">
                        <a:solidFill>
                          <a:schemeClr val="hlink"/>
                        </a:solidFill>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r>
              <a:tr h="1038225">
                <a:tc>
                  <a:txBody>
                    <a:bodyPr/>
                    <a:lstStyle/>
                    <a:p>
                      <a:pPr indent="0" lvl="0" marL="0" rtl="0" algn="l">
                        <a:lnSpc>
                          <a:spcPct val="115000"/>
                        </a:lnSpc>
                        <a:spcBef>
                          <a:spcPts val="0"/>
                        </a:spcBef>
                        <a:spcAft>
                          <a:spcPts val="0"/>
                        </a:spcAft>
                        <a:buNone/>
                      </a:pPr>
                      <a:r>
                        <a:rPr b="1" lang="en-US" sz="1100"/>
                        <a:t>Sélection de variables</a:t>
                      </a:r>
                      <a:endParaRPr b="1" sz="1100"/>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L1 peut annuler des coefficients ; les filtres gardent des variables selon une statistique ; la permutation mesure la dégradation du score lorsqu’on détruit une variable.</a:t>
                      </a:r>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t>Toute sélection guidée par la cible fait partie de l’entraînement : elle doit être exécutée dans les plis de CV. On confirme une famille de variables par </a:t>
                      </a:r>
                      <a:r>
                        <a:rPr b="1" lang="en-US" sz="1100"/>
                        <a:t>ablation</a:t>
                      </a:r>
                      <a:r>
                        <a:rPr lang="en-US" sz="1100"/>
                        <a:t>.</a:t>
                      </a:r>
                      <a:r>
                        <a:rPr lang="en-US" sz="1100">
                          <a:uFill>
                            <a:noFill/>
                          </a:uFill>
                          <a:hlinkClick r:id="rId13"/>
                        </a:rPr>
                        <a:t> </a:t>
                      </a:r>
                      <a:r>
                        <a:rPr lang="en-US" sz="1100" u="sng">
                          <a:solidFill>
                            <a:schemeClr val="hlink"/>
                          </a:solidFill>
                          <a:hlinkClick r:id="rId14"/>
                        </a:rPr>
                        <a:t>google</a:t>
                      </a:r>
                      <a:endParaRPr sz="1100" u="sng">
                        <a:solidFill>
                          <a:schemeClr val="hlink"/>
                        </a:solidFill>
                      </a:endParaRPr>
                    </a:p>
                  </a:txBody>
                  <a:tcPr marT="76200" marB="76200" marR="76200" marL="76200">
                    <a:lnL cap="flat" cmpd="sng" w="5950">
                      <a:solidFill>
                        <a:srgbClr val="DDDDDD"/>
                      </a:solidFill>
                      <a:prstDash val="solid"/>
                      <a:round/>
                      <a:headEnd len="sm" w="sm" type="none"/>
                      <a:tailEnd len="sm" w="sm" type="none"/>
                    </a:lnL>
                    <a:lnR cap="flat" cmpd="sng" w="5950">
                      <a:solidFill>
                        <a:srgbClr val="DDDDDD"/>
                      </a:solidFill>
                      <a:prstDash val="solid"/>
                      <a:round/>
                      <a:headEnd len="sm" w="sm" type="none"/>
                      <a:tailEnd len="sm" w="sm" type="none"/>
                    </a:lnR>
                    <a:lnT cap="flat" cmpd="sng" w="5950">
                      <a:solidFill>
                        <a:srgbClr val="DDDDDD"/>
                      </a:solidFill>
                      <a:prstDash val="solid"/>
                      <a:round/>
                      <a:headEnd len="sm" w="sm" type="none"/>
                      <a:tailEnd len="sm" w="sm" type="none"/>
                    </a:lnT>
                    <a:lnB cap="flat" cmpd="sng" w="5950">
                      <a:solidFill>
                        <a:srgbClr val="DDDDDD"/>
                      </a:solidFill>
                      <a:prstDash val="solid"/>
                      <a:round/>
                      <a:headEnd len="sm" w="sm" type="none"/>
                      <a:tailEnd len="sm" w="sm" type="none"/>
                    </a:lnB>
                  </a:tcPr>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1" name="Shape 1531"/>
        <p:cNvGrpSpPr/>
        <p:nvPr/>
      </p:nvGrpSpPr>
      <p:grpSpPr>
        <a:xfrm>
          <a:off x="0" y="0"/>
          <a:ext cx="0" cy="0"/>
          <a:chOff x="0" y="0"/>
          <a:chExt cx="0" cy="0"/>
        </a:xfrm>
      </p:grpSpPr>
      <p:sp>
        <p:nvSpPr>
          <p:cNvPr id="1532" name="Google Shape;1532;p7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33" name="Google Shape;1533;p7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34" name="Google Shape;1534;p7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35" name="Google Shape;1535;p7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070</a:t>
            </a:r>
            <a:endParaRPr b="0" i="0" sz="1300" u="none" cap="none">
              <a:solidFill>
                <a:schemeClr val="dk1"/>
              </a:solidFill>
              <a:latin typeface="Calibri"/>
              <a:ea typeface="Calibri"/>
              <a:cs typeface="Calibri"/>
              <a:sym typeface="Calibri"/>
            </a:endParaRPr>
          </a:p>
        </p:txBody>
      </p:sp>
      <p:pic>
        <p:nvPicPr>
          <p:cNvPr id="1536" name="Google Shape;1536;p7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537" name="Google Shape;1537;p7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538" name="Google Shape;1538;p7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539" name="Google Shape;1539;p7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40" name="Google Shape;1540;p7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541" name="Google Shape;1541;p7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542" name="Google Shape;1542;p7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Valeurs manquantes et catégories inconnues</a:t>
            </a:r>
            <a:endParaRPr/>
          </a:p>
        </p:txBody>
      </p:sp>
      <p:sp>
        <p:nvSpPr>
          <p:cNvPr id="1543" name="Google Shape;1543;p78"/>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L'absence d'une valeur peut elle-même contenir un signal.</a:t>
            </a:r>
            <a:endParaRPr/>
          </a:p>
        </p:txBody>
      </p:sp>
      <p:sp>
        <p:nvSpPr>
          <p:cNvPr id="1544" name="Google Shape;1544;p78"/>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Distinguer « inconnu », « non applicable » et une vraie valeur nulle.</a:t>
            </a:r>
            <a:endParaRPr/>
          </a:p>
        </p:txBody>
      </p:sp>
      <p:sp>
        <p:nvSpPr>
          <p:cNvPr id="1545" name="Google Shape;1545;p78"/>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Prévoir les catégories inédites au moment de prédire.</a:t>
            </a:r>
            <a:endParaRPr/>
          </a:p>
        </p:txBody>
      </p:sp>
      <p:sp>
        <p:nvSpPr>
          <p:cNvPr id="1546" name="Google Shape;1546;p78"/>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L'imputation est une hypothèse, pas une restauration de la vérité</a:t>
            </a:r>
            <a:endParaRPr/>
          </a:p>
        </p:txBody>
      </p:sp>
      <p:sp>
        <p:nvSpPr>
          <p:cNvPr id="1547" name="Google Shape;1547;p7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R18, R32 · liens et détails dans les notes</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2" name="Shape 1552"/>
        <p:cNvGrpSpPr/>
        <p:nvPr/>
      </p:nvGrpSpPr>
      <p:grpSpPr>
        <a:xfrm>
          <a:off x="0" y="0"/>
          <a:ext cx="0" cy="0"/>
          <a:chOff x="0" y="0"/>
          <a:chExt cx="0" cy="0"/>
        </a:xfrm>
      </p:grpSpPr>
      <p:sp>
        <p:nvSpPr>
          <p:cNvPr id="1553" name="Google Shape;1553;p7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54" name="Google Shape;1554;p7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55" name="Google Shape;1555;p7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56" name="Google Shape;1556;p7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071</a:t>
            </a:r>
            <a:endParaRPr b="0" i="0" sz="1300" u="none" cap="none">
              <a:solidFill>
                <a:schemeClr val="dk1"/>
              </a:solidFill>
              <a:latin typeface="Calibri"/>
              <a:ea typeface="Calibri"/>
              <a:cs typeface="Calibri"/>
              <a:sym typeface="Calibri"/>
            </a:endParaRPr>
          </a:p>
        </p:txBody>
      </p:sp>
      <p:pic>
        <p:nvPicPr>
          <p:cNvPr id="1557" name="Google Shape;1557;p7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558" name="Google Shape;1558;p7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559" name="Google Shape;1559;p7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560" name="Google Shape;1560;p7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61" name="Google Shape;1561;p7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562" name="Google Shape;1562;p7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563" name="Google Shape;1563;p7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Target encoding et cross-fitting</a:t>
            </a:r>
            <a:endParaRPr/>
          </a:p>
        </p:txBody>
      </p:sp>
      <p:sp>
        <p:nvSpPr>
          <p:cNvPr id="1564" name="Google Shape;1564;p79"/>
          <p:cNvSpPr/>
          <p:nvPr/>
        </p:nvSpPr>
        <p:spPr>
          <a:xfrm>
            <a:off x="819150" y="26098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Résumer une catégorie avec une statistique de la cible et un lissage.</a:t>
            </a:r>
            <a:endParaRPr/>
          </a:p>
        </p:txBody>
      </p:sp>
      <p:sp>
        <p:nvSpPr>
          <p:cNvPr id="1565" name="Google Shape;1565;p79"/>
          <p:cNvSpPr/>
          <p:nvPr/>
        </p:nvSpPr>
        <p:spPr>
          <a:xfrm>
            <a:off x="819150" y="35433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Ne jamais calculer cette statistique à partir de sa propre cible sans contrôle.</a:t>
            </a:r>
            <a:endParaRPr/>
          </a:p>
        </p:txBody>
      </p:sp>
      <p:sp>
        <p:nvSpPr>
          <p:cNvPr id="1566" name="Google Shape;1566;p79"/>
          <p:cNvSpPr/>
          <p:nvPr/>
        </p:nvSpPr>
        <p:spPr>
          <a:xfrm>
            <a:off x="819150" y="44767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Produire l'encodage d'entraînement par sous-plis adaptés au problème.</a:t>
            </a:r>
            <a:endParaRPr/>
          </a:p>
        </p:txBody>
      </p:sp>
      <p:sp>
        <p:nvSpPr>
          <p:cNvPr id="1567" name="Google Shape;1567;p7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R19 · liens et détails dans les notes</a:t>
            </a:r>
            <a:endParaRPr/>
          </a:p>
        </p:txBody>
      </p:sp>
      <p:pic>
        <p:nvPicPr>
          <p:cNvPr id="1568" name="Google Shape;1568;p79"/>
          <p:cNvPicPr preferRelativeResize="0"/>
          <p:nvPr/>
        </p:nvPicPr>
        <p:blipFill>
          <a:blip r:embed="rId5">
            <a:alphaModFix/>
          </a:blip>
          <a:stretch>
            <a:fillRect/>
          </a:stretch>
        </p:blipFill>
        <p:spPr>
          <a:xfrm>
            <a:off x="2995233" y="1378322"/>
            <a:ext cx="6201240" cy="1136275"/>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3" name="Shape 1573"/>
        <p:cNvGrpSpPr/>
        <p:nvPr/>
      </p:nvGrpSpPr>
      <p:grpSpPr>
        <a:xfrm>
          <a:off x="0" y="0"/>
          <a:ext cx="0" cy="0"/>
          <a:chOff x="0" y="0"/>
          <a:chExt cx="0" cy="0"/>
        </a:xfrm>
      </p:grpSpPr>
      <p:sp>
        <p:nvSpPr>
          <p:cNvPr id="1574" name="Google Shape;1574;p8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75" name="Google Shape;1575;p8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76" name="Google Shape;1576;p8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77" name="Google Shape;1577;p8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072</a:t>
            </a:r>
            <a:endParaRPr b="0" i="0" sz="1300" u="none" cap="none">
              <a:solidFill>
                <a:schemeClr val="dk1"/>
              </a:solidFill>
              <a:latin typeface="Calibri"/>
              <a:ea typeface="Calibri"/>
              <a:cs typeface="Calibri"/>
              <a:sym typeface="Calibri"/>
            </a:endParaRPr>
          </a:p>
        </p:txBody>
      </p:sp>
      <p:pic>
        <p:nvPicPr>
          <p:cNvPr id="1578" name="Google Shape;1578;p8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579" name="Google Shape;1579;p8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580" name="Google Shape;1580;p8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581" name="Google Shape;1581;p8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582" name="Google Shape;1582;p8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583" name="Google Shape;1583;p8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584" name="Google Shape;1584;p8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Ratios, interactions et variables temporelles</a:t>
            </a:r>
            <a:endParaRPr/>
          </a:p>
        </p:txBody>
      </p:sp>
      <p:sp>
        <p:nvSpPr>
          <p:cNvPr id="1585" name="Google Shape;1585;p8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Ratio : protéger le dénominateur et documenter les unités.</a:t>
            </a:r>
            <a:endParaRPr/>
          </a:p>
        </p:txBody>
      </p:sp>
      <p:sp>
        <p:nvSpPr>
          <p:cNvPr id="1586" name="Google Shape;1586;p8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Interaction : exprimer une hypothèse entre deux facteurs.</a:t>
            </a:r>
            <a:endParaRPr/>
          </a:p>
        </p:txBody>
      </p:sp>
      <p:sp>
        <p:nvSpPr>
          <p:cNvPr id="1587" name="Google Shape;1587;p8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Fenêtre : ne retenir que les événements antérieurs à la décision.</a:t>
            </a:r>
            <a:endParaRPr/>
          </a:p>
        </p:txBody>
      </p:sp>
      <p:sp>
        <p:nvSpPr>
          <p:cNvPr id="1588" name="Google Shape;1588;p8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agrégation correcte dans le passé peut devenir une fuite si elle inclut le futur</a:t>
            </a:r>
            <a:endParaRPr/>
          </a:p>
        </p:txBody>
      </p:sp>
      <p:sp>
        <p:nvSpPr>
          <p:cNvPr id="1589" name="Google Shape;1589;p8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R18, R32 · liens et détails dans les notes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4" name="Shape 1594"/>
        <p:cNvGrpSpPr/>
        <p:nvPr/>
      </p:nvGrpSpPr>
      <p:grpSpPr>
        <a:xfrm>
          <a:off x="0" y="0"/>
          <a:ext cx="0" cy="0"/>
          <a:chOff x="0" y="0"/>
          <a:chExt cx="0" cy="0"/>
        </a:xfrm>
      </p:grpSpPr>
      <p:sp>
        <p:nvSpPr>
          <p:cNvPr id="1595" name="Google Shape;1595;p8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96" name="Google Shape;1596;p8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97" name="Google Shape;1597;p8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598" name="Google Shape;1598;p8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073</a:t>
            </a:r>
            <a:endParaRPr b="0" i="0" sz="1300" u="none" cap="none">
              <a:solidFill>
                <a:schemeClr val="dk1"/>
              </a:solidFill>
              <a:latin typeface="Calibri"/>
              <a:ea typeface="Calibri"/>
              <a:cs typeface="Calibri"/>
              <a:sym typeface="Calibri"/>
            </a:endParaRPr>
          </a:p>
        </p:txBody>
      </p:sp>
      <p:pic>
        <p:nvPicPr>
          <p:cNvPr id="1599" name="Google Shape;1599;p8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00" name="Google Shape;1600;p8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01" name="Google Shape;1601;p8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602" name="Google Shape;1602;p8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603" name="Google Shape;1603;p8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604" name="Google Shape;1604;p8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605" name="Google Shape;1605;p8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Sélection de variables et ablation</a:t>
            </a:r>
            <a:endParaRPr/>
          </a:p>
        </p:txBody>
      </p:sp>
      <p:sp>
        <p:nvSpPr>
          <p:cNvPr id="1606" name="Google Shape;1606;p8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Filtre : sélectionner selon une statistique avant le modèle, dans les plis.</a:t>
            </a:r>
            <a:endParaRPr/>
          </a:p>
        </p:txBody>
      </p:sp>
      <p:sp>
        <p:nvSpPr>
          <p:cNvPr id="1607" name="Google Shape;1607;p8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Méthode embarquée : utiliser une pénalité ou le mécanisme du modèle.</a:t>
            </a:r>
            <a:endParaRPr/>
          </a:p>
        </p:txBody>
      </p:sp>
      <p:sp>
        <p:nvSpPr>
          <p:cNvPr id="1608" name="Google Shape;1608;p8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Ablation : retirer un groupe de variables puis réévaluer la procédure.</a:t>
            </a:r>
            <a:endParaRPr/>
          </a:p>
        </p:txBody>
      </p:sp>
      <p:sp>
        <p:nvSpPr>
          <p:cNvPr id="1609" name="Google Shape;1609;p8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La sélection supervisée fait partie de l'entraînement</a:t>
            </a:r>
            <a:endParaRPr/>
          </a:p>
        </p:txBody>
      </p:sp>
      <p:sp>
        <p:nvSpPr>
          <p:cNvPr id="1610" name="Google Shape;1610;p8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R41, R25 · liens et détails dans les notes</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5" name="Shape 1615"/>
        <p:cNvGrpSpPr/>
        <p:nvPr/>
      </p:nvGrpSpPr>
      <p:grpSpPr>
        <a:xfrm>
          <a:off x="0" y="0"/>
          <a:ext cx="0" cy="0"/>
          <a:chOff x="0" y="0"/>
          <a:chExt cx="0" cy="0"/>
        </a:xfrm>
      </p:grpSpPr>
      <p:sp>
        <p:nvSpPr>
          <p:cNvPr id="1616" name="Google Shape;1616;p8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17" name="Google Shape;1617;p8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18" name="Google Shape;1618;p8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19" name="Google Shape;1619;p8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074</a:t>
            </a:r>
            <a:endParaRPr b="0" i="0" sz="1300" u="none" cap="none">
              <a:solidFill>
                <a:schemeClr val="dk1"/>
              </a:solidFill>
              <a:latin typeface="Calibri"/>
              <a:ea typeface="Calibri"/>
              <a:cs typeface="Calibri"/>
              <a:sym typeface="Calibri"/>
            </a:endParaRPr>
          </a:p>
        </p:txBody>
      </p:sp>
      <p:pic>
        <p:nvPicPr>
          <p:cNvPr id="1620" name="Google Shape;1620;p8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21" name="Google Shape;1621;p8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22" name="Google Shape;1622;p8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623" name="Google Shape;1623;p8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624" name="Google Shape;1624;p8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625" name="Google Shape;1625;p8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626" name="Google Shape;1626;p8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Corrélation : deux précisions utiles</a:t>
            </a:r>
            <a:endParaRPr/>
          </a:p>
        </p:txBody>
      </p:sp>
      <p:sp>
        <p:nvSpPr>
          <p:cNvPr id="1627" name="Google Shape;1627;p8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Pearson mesure une association linéaire, pas une causalité.</a:t>
            </a:r>
            <a:endParaRPr/>
          </a:p>
        </p:txBody>
      </p:sp>
      <p:sp>
        <p:nvSpPr>
          <p:cNvPr id="1628" name="Google Shape;1628;p8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changement positif d'unité ne change pas Pearson.</a:t>
            </a:r>
            <a:endParaRPr/>
          </a:p>
        </p:txBody>
      </p:sp>
      <p:sp>
        <p:nvSpPr>
          <p:cNvPr id="1629" name="Google Shape;1629;p8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Standardiser reste utile pour les distances, les pénalités et certaines optimisations.</a:t>
            </a:r>
            <a:endParaRPr/>
          </a:p>
        </p:txBody>
      </p:sp>
      <p:sp>
        <p:nvSpPr>
          <p:cNvPr id="1630" name="Google Shape;1630;p8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Ne pas confondre covariance, corrélation et distance</a:t>
            </a:r>
            <a:endParaRPr/>
          </a:p>
        </p:txBody>
      </p:sp>
      <p:sp>
        <p:nvSpPr>
          <p:cNvPr id="1631" name="Google Shape;1631;p8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R39, R18 · liens et détails dans les notes</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6" name="Shape 1636"/>
        <p:cNvGrpSpPr/>
        <p:nvPr/>
      </p:nvGrpSpPr>
      <p:grpSpPr>
        <a:xfrm>
          <a:off x="0" y="0"/>
          <a:ext cx="0" cy="0"/>
          <a:chOff x="0" y="0"/>
          <a:chExt cx="0" cy="0"/>
        </a:xfrm>
      </p:grpSpPr>
      <p:sp>
        <p:nvSpPr>
          <p:cNvPr id="1637" name="Google Shape;1637;p8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38" name="Google Shape;1638;p8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39" name="Google Shape;1639;p8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40" name="Google Shape;1640;p8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075</a:t>
            </a:r>
            <a:endParaRPr b="0" i="0" sz="1300" u="none" cap="none">
              <a:solidFill>
                <a:schemeClr val="dk1"/>
              </a:solidFill>
              <a:latin typeface="Calibri"/>
              <a:ea typeface="Calibri"/>
              <a:cs typeface="Calibri"/>
              <a:sym typeface="Calibri"/>
            </a:endParaRPr>
          </a:p>
        </p:txBody>
      </p:sp>
      <p:pic>
        <p:nvPicPr>
          <p:cNvPr id="1641" name="Google Shape;1641;p8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42" name="Google Shape;1642;p8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43" name="Google Shape;1643;p8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644" name="Google Shape;1644;p8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645" name="Google Shape;1645;p8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646" name="Google Shape;1646;p8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647" name="Google Shape;1647;p8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TP04 : une décision validée</a:t>
            </a:r>
            <a:endParaRPr/>
          </a:p>
        </p:txBody>
      </p:sp>
      <p:sp>
        <p:nvSpPr>
          <p:cNvPr id="1648" name="Google Shape;1648;p8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modèle simple, poids de classes et SMOTE sur train.</a:t>
            </a:r>
            <a:endParaRPr/>
          </a:p>
        </p:txBody>
      </p:sp>
      <p:sp>
        <p:nvSpPr>
          <p:cNvPr id="1649" name="Google Shape;1649;p8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Calibrer, puis choisir le seuil sur validation avec les coûts fixés.</a:t>
            </a:r>
            <a:endParaRPr/>
          </a:p>
        </p:txBody>
      </p:sp>
      <p:sp>
        <p:nvSpPr>
          <p:cNvPr id="1650" name="Google Shape;1650;p8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Ouvrir le test une fois et commenter les résultats, même décevants.</a:t>
            </a:r>
            <a:endParaRPr/>
          </a:p>
        </p:txBody>
      </p:sp>
      <p:sp>
        <p:nvSpPr>
          <p:cNvPr id="1651" name="Google Shape;1651;p8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120 minutes · notebooks/etudiants/04_desequilibre.ipynb</a:t>
            </a:r>
            <a:endParaRPr/>
          </a:p>
        </p:txBody>
      </p:sp>
      <p:sp>
        <p:nvSpPr>
          <p:cNvPr id="1652" name="Google Shape;1652;p8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R14, R16, R17 · liens et détails dans les notes</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7" name="Shape 1657"/>
        <p:cNvGrpSpPr/>
        <p:nvPr/>
      </p:nvGrpSpPr>
      <p:grpSpPr>
        <a:xfrm>
          <a:off x="0" y="0"/>
          <a:ext cx="0" cy="0"/>
          <a:chOff x="0" y="0"/>
          <a:chExt cx="0" cy="0"/>
        </a:xfrm>
      </p:grpSpPr>
      <p:sp>
        <p:nvSpPr>
          <p:cNvPr id="1658" name="Google Shape;1658;p8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59" name="Google Shape;1659;p8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60" name="Google Shape;1660;p8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61" name="Google Shape;1661;p8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076</a:t>
            </a:r>
            <a:endParaRPr b="0" i="0" sz="1300" u="none" cap="none">
              <a:solidFill>
                <a:schemeClr val="dk1"/>
              </a:solidFill>
              <a:latin typeface="Calibri"/>
              <a:ea typeface="Calibri"/>
              <a:cs typeface="Calibri"/>
              <a:sym typeface="Calibri"/>
            </a:endParaRPr>
          </a:p>
        </p:txBody>
      </p:sp>
      <p:pic>
        <p:nvPicPr>
          <p:cNvPr id="1662" name="Google Shape;1662;p8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63" name="Google Shape;1663;p8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64" name="Google Shape;1664;p8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665" name="Google Shape;1665;p8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666" name="Google Shape;1666;p8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667" name="Google Shape;1667;p8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668" name="Google Shape;1668;p8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Atelier : auditer et enrichir les features</a:t>
            </a:r>
            <a:endParaRPr/>
          </a:p>
        </p:txBody>
      </p:sp>
      <p:sp>
        <p:nvSpPr>
          <p:cNvPr id="1669" name="Google Shape;1669;p8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Examiner le dictionnaire UCI et l'instant de disponibilité de cinq variables.</a:t>
            </a:r>
            <a:endParaRPr/>
          </a:p>
        </p:txBody>
      </p:sp>
      <p:sp>
        <p:nvSpPr>
          <p:cNvPr id="1670" name="Google Shape;1670;p8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Proposer deux transformations, dont une pour la sentinelle pdays=999.</a:t>
            </a:r>
            <a:endParaRPr/>
          </a:p>
        </p:txBody>
      </p:sp>
      <p:sp>
        <p:nvSpPr>
          <p:cNvPr id="1671" name="Google Shape;1671;p8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Définir une ablation et le split permettant d'en mesurer l'intérêt.</a:t>
            </a:r>
            <a:endParaRPr/>
          </a:p>
        </p:txBody>
      </p:sp>
      <p:sp>
        <p:nvSpPr>
          <p:cNvPr id="1672" name="Google Shape;1672;p8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60 minutes · docs/ATELIER_FEATURES.md</a:t>
            </a:r>
            <a:endParaRPr/>
          </a:p>
        </p:txBody>
      </p:sp>
      <p:sp>
        <p:nvSpPr>
          <p:cNvPr id="1673" name="Google Shape;1673;p8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R19, R32 · liens et détails dans les notes</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8" name="Shape 1678"/>
        <p:cNvGrpSpPr/>
        <p:nvPr/>
      </p:nvGrpSpPr>
      <p:grpSpPr>
        <a:xfrm>
          <a:off x="0" y="0"/>
          <a:ext cx="0" cy="0"/>
          <a:chOff x="0" y="0"/>
          <a:chExt cx="0" cy="0"/>
        </a:xfrm>
      </p:grpSpPr>
      <p:sp>
        <p:nvSpPr>
          <p:cNvPr id="1679" name="Google Shape;1679;p8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80" name="Google Shape;1680;p8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81" name="Google Shape;1681;p8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682" name="Google Shape;1682;p8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077</a:t>
            </a:r>
            <a:endParaRPr b="0" i="0" sz="1300" u="none" cap="none">
              <a:solidFill>
                <a:schemeClr val="dk1"/>
              </a:solidFill>
              <a:latin typeface="Calibri"/>
              <a:ea typeface="Calibri"/>
              <a:cs typeface="Calibri"/>
              <a:sym typeface="Calibri"/>
            </a:endParaRPr>
          </a:p>
        </p:txBody>
      </p:sp>
      <p:pic>
        <p:nvPicPr>
          <p:cNvPr id="1683" name="Google Shape;1683;p8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684" name="Google Shape;1684;p8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685" name="Google Shape;1685;p8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686" name="Google Shape;1686;p8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687" name="Google Shape;1687;p8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688" name="Google Shape;1688;p8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689" name="Google Shape;1689;p8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Quiz J3 : expliquer les compromis</a:t>
            </a:r>
            <a:endParaRPr/>
          </a:p>
        </p:txBody>
      </p:sp>
      <p:sp>
        <p:nvSpPr>
          <p:cNvPr id="1690" name="Google Shape;1690;p8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probabilité bien calibrée impose-t-elle un seuil de 0,5 ?</a:t>
            </a:r>
            <a:endParaRPr/>
          </a:p>
        </p:txBody>
      </p:sp>
      <p:sp>
        <p:nvSpPr>
          <p:cNvPr id="1691" name="Google Shape;1691;p8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Pourquoi ne pas équilibrer le test ?</a:t>
            </a:r>
            <a:endParaRPr/>
          </a:p>
        </p:txBody>
      </p:sp>
      <p:sp>
        <p:nvSpPr>
          <p:cNvPr id="1692" name="Google Shape;1692;p8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Pourquoi une variable catégorielle presque unique est-elle risquée ?</a:t>
            </a:r>
            <a:endParaRPr/>
          </a:p>
        </p:txBody>
      </p:sp>
      <p:sp>
        <p:nvSpPr>
          <p:cNvPr id="1693" name="Google Shape;1693;p8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réponse correcte doit préciser la population et le protocole</a:t>
            </a:r>
            <a:endParaRPr/>
          </a:p>
        </p:txBody>
      </p:sp>
      <p:sp>
        <p:nvSpPr>
          <p:cNvPr id="1694" name="Google Shape;1694;p8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R14, R17, R19 · liens et détails dans les notes</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EE5"/>
        </a:solidFill>
      </p:bgPr>
    </p:bg>
    <p:spTree>
      <p:nvGrpSpPr>
        <p:cNvPr id="1699" name="Shape 1699"/>
        <p:cNvGrpSpPr/>
        <p:nvPr/>
      </p:nvGrpSpPr>
      <p:grpSpPr>
        <a:xfrm>
          <a:off x="0" y="0"/>
          <a:ext cx="0" cy="0"/>
          <a:chOff x="0" y="0"/>
          <a:chExt cx="0" cy="0"/>
        </a:xfrm>
      </p:grpSpPr>
      <p:sp>
        <p:nvSpPr>
          <p:cNvPr id="1700" name="Google Shape;1700;p8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01" name="Google Shape;1701;p8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02" name="Google Shape;1702;p8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03" name="Google Shape;1703;p8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078</a:t>
            </a:r>
            <a:endParaRPr b="0" i="0" sz="1300" u="none" cap="none">
              <a:solidFill>
                <a:schemeClr val="dk1"/>
              </a:solidFill>
              <a:latin typeface="Calibri"/>
              <a:ea typeface="Calibri"/>
              <a:cs typeface="Calibri"/>
              <a:sym typeface="Calibri"/>
            </a:endParaRPr>
          </a:p>
        </p:txBody>
      </p:sp>
      <p:pic>
        <p:nvPicPr>
          <p:cNvPr id="1704" name="Google Shape;1704;p8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705" name="Google Shape;1705;p8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706" name="Google Shape;1706;p8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3</a:t>
            </a:r>
            <a:endParaRPr b="0" sz="1300" u="none" cap="none">
              <a:solidFill>
                <a:schemeClr val="dk1"/>
              </a:solidFill>
              <a:latin typeface="Calibri"/>
              <a:ea typeface="Calibri"/>
              <a:cs typeface="Calibri"/>
              <a:sym typeface="Calibri"/>
            </a:endParaRPr>
          </a:p>
        </p:txBody>
      </p:sp>
      <p:sp>
        <p:nvSpPr>
          <p:cNvPr id="1707" name="Google Shape;1707;p8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08" name="Google Shape;1708;p8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09" name="Google Shape;1709;p8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10" name="Google Shape;1710;p8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Les acquis du jour 3</a:t>
            </a:r>
            <a:endParaRPr/>
          </a:p>
        </p:txBody>
      </p:sp>
      <p:sp>
        <p:nvSpPr>
          <p:cNvPr id="1711" name="Google Shape;1711;p86"/>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Des features disponibles à l'instant de décision et définies précisément.</a:t>
            </a:r>
            <a:endParaRPr/>
          </a:p>
        </p:txBody>
      </p:sp>
      <p:sp>
        <p:nvSpPr>
          <p:cNvPr id="1712" name="Google Shape;1712;p86"/>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stratégie de classes rares comparée sans fuite.</a:t>
            </a:r>
            <a:endParaRPr/>
          </a:p>
        </p:txBody>
      </p:sp>
      <p:sp>
        <p:nvSpPr>
          <p:cNvPr id="1713" name="Google Shape;1713;p86"/>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calibration et un seuil évalués dans le bon ordre.</a:t>
            </a:r>
            <a:endParaRPr/>
          </a:p>
        </p:txBody>
      </p:sp>
      <p:sp>
        <p:nvSpPr>
          <p:cNvPr id="1714" name="Google Shape;1714;p86"/>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Demain : découvrir une structure quand la cible n'est pas donnée</a:t>
            </a:r>
            <a:endParaRPr/>
          </a:p>
        </p:txBody>
      </p:sp>
      <p:sp>
        <p:nvSpPr>
          <p:cNvPr id="1715" name="Google Shape;1715;p8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364"/>
        </a:solidFill>
      </p:bgPr>
    </p:bg>
    <p:spTree>
      <p:nvGrpSpPr>
        <p:cNvPr id="1720" name="Shape 1720"/>
        <p:cNvGrpSpPr/>
        <p:nvPr/>
      </p:nvGrpSpPr>
      <p:grpSpPr>
        <a:xfrm>
          <a:off x="0" y="0"/>
          <a:ext cx="0" cy="0"/>
          <a:chOff x="0" y="0"/>
          <a:chExt cx="0" cy="0"/>
        </a:xfrm>
      </p:grpSpPr>
      <p:sp>
        <p:nvSpPr>
          <p:cNvPr id="1721" name="Google Shape;1721;p87"/>
          <p:cNvSpPr/>
          <p:nvPr/>
        </p:nvSpPr>
        <p:spPr>
          <a:xfrm>
            <a:off x="952505" y="3947599"/>
            <a:ext cx="102870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22" name="Google Shape;1722;p87"/>
          <p:cNvSpPr/>
          <p:nvPr/>
        </p:nvSpPr>
        <p:spPr>
          <a:xfrm>
            <a:off x="952805" y="2076602"/>
            <a:ext cx="1452982"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000" u="none" cap="none">
                <a:solidFill>
                  <a:srgbClr val="FFFFFF"/>
                </a:solidFill>
                <a:latin typeface="Roboto Mono"/>
                <a:ea typeface="Roboto Mono"/>
                <a:cs typeface="Roboto Mono"/>
                <a:sym typeface="Roboto Mono"/>
              </a:rPr>
              <a:t>04</a:t>
            </a:r>
            <a:endParaRPr b="0" i="0" sz="6700" u="none" cap="none">
              <a:solidFill>
                <a:schemeClr val="lt1"/>
              </a:solidFill>
              <a:latin typeface="Calibri"/>
              <a:ea typeface="Calibri"/>
              <a:cs typeface="Calibri"/>
              <a:sym typeface="Calibri"/>
            </a:endParaRPr>
          </a:p>
        </p:txBody>
      </p:sp>
      <p:sp>
        <p:nvSpPr>
          <p:cNvPr id="1723" name="Google Shape;1723;p87"/>
          <p:cNvSpPr/>
          <p:nvPr/>
        </p:nvSpPr>
        <p:spPr>
          <a:xfrm>
            <a:off x="1946758" y="2076602"/>
            <a:ext cx="976579"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700" u="none" cap="none">
                <a:solidFill>
                  <a:schemeClr val="lt1"/>
                </a:solidFill>
                <a:latin typeface="DM Sans"/>
                <a:ea typeface="DM Sans"/>
                <a:cs typeface="DM Sans"/>
                <a:sym typeface="DM Sans"/>
              </a:rPr>
              <a:t>/</a:t>
            </a:r>
            <a:endParaRPr b="0" i="0" sz="6700" u="none" cap="none">
              <a:solidFill>
                <a:schemeClr val="lt1"/>
              </a:solidFill>
              <a:latin typeface="Calibri"/>
              <a:ea typeface="Calibri"/>
              <a:cs typeface="Calibri"/>
              <a:sym typeface="Calibri"/>
            </a:endParaRPr>
          </a:p>
        </p:txBody>
      </p:sp>
      <p:sp>
        <p:nvSpPr>
          <p:cNvPr id="1724" name="Google Shape;1724;p87"/>
          <p:cNvSpPr/>
          <p:nvPr/>
        </p:nvSpPr>
        <p:spPr>
          <a:xfrm>
            <a:off x="2619375" y="2209800"/>
            <a:ext cx="8620125" cy="1638300"/>
          </a:xfrm>
          <a:prstGeom prst="rect">
            <a:avLst/>
          </a:prstGeom>
          <a:noFill/>
          <a:ln>
            <a:noFill/>
          </a:ln>
        </p:spPr>
        <p:txBody>
          <a:bodyPr anchorCtr="0" anchor="t" bIns="0" lIns="0" spcFirstLastPara="1" rIns="0" wrap="square" tIns="0">
            <a:noAutofit/>
          </a:bodyPr>
          <a:lstStyle/>
          <a:p>
            <a:pPr indent="0" lvl="0" marL="0" marR="0" rtl="0" algn="l">
              <a:lnSpc>
                <a:spcPct val="65000"/>
              </a:lnSpc>
              <a:spcBef>
                <a:spcPts val="0"/>
              </a:spcBef>
              <a:spcAft>
                <a:spcPts val="0"/>
              </a:spcAft>
              <a:buClr>
                <a:srgbClr val="000000"/>
              </a:buClr>
              <a:buSzPts val="7500"/>
              <a:buFont typeface="Archivo Black"/>
              <a:buNone/>
            </a:pPr>
            <a:r>
              <a:rPr lang="en-US" sz="4050">
                <a:solidFill>
                  <a:srgbClr val="FFFFFF"/>
                </a:solidFill>
                <a:latin typeface="Archivo Black"/>
                <a:ea typeface="Archivo Black"/>
                <a:cs typeface="Archivo Black"/>
                <a:sym typeface="Archivo Black"/>
              </a:rPr>
              <a:t>Clustering et anomalies</a:t>
            </a:r>
            <a:endParaRPr sz="7500">
              <a:solidFill>
                <a:schemeClr val="lt1"/>
              </a:solidFill>
              <a:latin typeface="Archivo Black"/>
              <a:ea typeface="Archivo Black"/>
              <a:cs typeface="Archivo Black"/>
              <a:sym typeface="Archivo Black"/>
            </a:endParaRPr>
          </a:p>
        </p:txBody>
      </p:sp>
      <p:sp>
        <p:nvSpPr>
          <p:cNvPr id="1725" name="Google Shape;1725;p8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26" name="Google Shape;1726;p8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079</a:t>
            </a:r>
            <a:endParaRPr b="0" i="0" sz="1300" u="none" cap="none">
              <a:solidFill>
                <a:schemeClr val="dk1"/>
              </a:solidFill>
              <a:latin typeface="Calibri"/>
              <a:ea typeface="Calibri"/>
              <a:cs typeface="Calibri"/>
              <a:sym typeface="Calibri"/>
            </a:endParaRPr>
          </a:p>
        </p:txBody>
      </p:sp>
      <p:pic>
        <p:nvPicPr>
          <p:cNvPr id="1727" name="Google Shape;1727;p87"/>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pic>
        <p:nvPicPr>
          <p:cNvPr id="1728" name="Google Shape;1728;p87"/>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1729" name="Google Shape;1729;p8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30" name="Google Shape;1730;p8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31" name="Google Shape;1731;p87"/>
          <p:cNvSpPr/>
          <p:nvPr/>
        </p:nvSpPr>
        <p:spPr>
          <a:xfrm>
            <a:off x="952500" y="4476750"/>
            <a:ext cx="1028700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DM Sans"/>
                <a:ea typeface="DM Sans"/>
                <a:cs typeface="DM Sans"/>
                <a:sym typeface="DM Sans"/>
              </a:rPr>
              <a:t>Jeudi 24 septembre · Explorer une structure sans inventer une vérité</a:t>
            </a:r>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6" name="Shape 1736"/>
        <p:cNvGrpSpPr/>
        <p:nvPr/>
      </p:nvGrpSpPr>
      <p:grpSpPr>
        <a:xfrm>
          <a:off x="0" y="0"/>
          <a:ext cx="0" cy="0"/>
          <a:chOff x="0" y="0"/>
          <a:chExt cx="0" cy="0"/>
        </a:xfrm>
      </p:grpSpPr>
      <p:sp>
        <p:nvSpPr>
          <p:cNvPr id="1737" name="Google Shape;1737;p8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38" name="Google Shape;1738;p8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39" name="Google Shape;1739;p8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40" name="Google Shape;1740;p8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080</a:t>
            </a:r>
            <a:endParaRPr b="0" i="0" sz="1300" u="none" cap="none">
              <a:solidFill>
                <a:schemeClr val="dk1"/>
              </a:solidFill>
              <a:latin typeface="Calibri"/>
              <a:ea typeface="Calibri"/>
              <a:cs typeface="Calibri"/>
              <a:sym typeface="Calibri"/>
            </a:endParaRPr>
          </a:p>
        </p:txBody>
      </p:sp>
      <p:pic>
        <p:nvPicPr>
          <p:cNvPr id="1741" name="Google Shape;1741;p8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742" name="Google Shape;1742;p8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743" name="Google Shape;1743;p8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744" name="Google Shape;1744;p8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45" name="Google Shape;1745;p8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46" name="Google Shape;1746;p8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47" name="Google Shape;1747;p8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 cluster dépend de la représentation</a:t>
            </a:r>
            <a:endParaRPr/>
          </a:p>
        </p:txBody>
      </p:sp>
      <p:sp>
        <p:nvSpPr>
          <p:cNvPr id="1748" name="Google Shape;1748;p88"/>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les variables définit ce qui peut rendre deux observations proches.</a:t>
            </a:r>
            <a:endParaRPr/>
          </a:p>
        </p:txBody>
      </p:sp>
      <p:sp>
        <p:nvSpPr>
          <p:cNvPr id="1749" name="Google Shape;1749;p88"/>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une distance définit la notion de ressemblance.</a:t>
            </a:r>
            <a:endParaRPr/>
          </a:p>
        </p:txBody>
      </p:sp>
      <p:sp>
        <p:nvSpPr>
          <p:cNvPr id="1750" name="Google Shape;1750;p88"/>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Choisir un algorithme ajoute des hypothèses sur la forme des groupes.</a:t>
            </a:r>
            <a:endParaRPr/>
          </a:p>
        </p:txBody>
      </p:sp>
      <p:sp>
        <p:nvSpPr>
          <p:cNvPr id="1751" name="Google Shape;1751;p88"/>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identifiant de cluster est un résultat d'algorithme, pas une classe naturelle</a:t>
            </a:r>
            <a:endParaRPr/>
          </a:p>
        </p:txBody>
      </p:sp>
      <p:sp>
        <p:nvSpPr>
          <p:cNvPr id="1752" name="Google Shape;1752;p8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7" name="Shape 1757"/>
        <p:cNvGrpSpPr/>
        <p:nvPr/>
      </p:nvGrpSpPr>
      <p:grpSpPr>
        <a:xfrm>
          <a:off x="0" y="0"/>
          <a:ext cx="0" cy="0"/>
          <a:chOff x="0" y="0"/>
          <a:chExt cx="0" cy="0"/>
        </a:xfrm>
      </p:grpSpPr>
      <p:sp>
        <p:nvSpPr>
          <p:cNvPr id="1758" name="Google Shape;1758;p8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59" name="Google Shape;1759;p8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60" name="Google Shape;1760;p8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61" name="Google Shape;1761;p8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081</a:t>
            </a:r>
            <a:endParaRPr b="0" i="0" sz="1300" u="none" cap="none">
              <a:solidFill>
                <a:schemeClr val="dk1"/>
              </a:solidFill>
              <a:latin typeface="Calibri"/>
              <a:ea typeface="Calibri"/>
              <a:cs typeface="Calibri"/>
              <a:sym typeface="Calibri"/>
            </a:endParaRPr>
          </a:p>
        </p:txBody>
      </p:sp>
      <p:pic>
        <p:nvPicPr>
          <p:cNvPr id="1762" name="Google Shape;1762;p8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763" name="Google Shape;1763;p8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764" name="Google Shape;1764;p8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765" name="Google Shape;1765;p8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66" name="Google Shape;1766;p8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67" name="Google Shape;1767;p8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68" name="Google Shape;1768;p8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Distances et échelles</a:t>
            </a:r>
            <a:endParaRPr/>
          </a:p>
        </p:txBody>
      </p:sp>
      <p:sp>
        <p:nvSpPr>
          <p:cNvPr id="1769" name="Google Shape;1769;p8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Euclidienne : compare les écarts numériques coordonnée par coordonnée.</a:t>
            </a:r>
            <a:endParaRPr/>
          </a:p>
        </p:txBody>
      </p:sp>
      <p:sp>
        <p:nvSpPr>
          <p:cNvPr id="1770" name="Google Shape;1770;p8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Cosinus : compare l'orientation de vecteurs, utile dans certains espaces textuels.</a:t>
            </a:r>
            <a:endParaRPr/>
          </a:p>
        </p:txBody>
      </p:sp>
      <p:sp>
        <p:nvSpPr>
          <p:cNvPr id="1771" name="Google Shape;1771;p8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Des variables de grande amplitude peuvent dominer une distance brute.</a:t>
            </a:r>
            <a:endParaRPr/>
          </a:p>
        </p:txBody>
      </p:sp>
      <p:sp>
        <p:nvSpPr>
          <p:cNvPr id="1772" name="Google Shape;1772;p8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Standardiser selon le sens métier, pas par automatisme</a:t>
            </a:r>
            <a:endParaRPr/>
          </a:p>
        </p:txBody>
      </p:sp>
      <p:sp>
        <p:nvSpPr>
          <p:cNvPr id="1773" name="Google Shape;1773;p8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R18, R20 · liens et détails dans les notes</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8" name="Shape 1778"/>
        <p:cNvGrpSpPr/>
        <p:nvPr/>
      </p:nvGrpSpPr>
      <p:grpSpPr>
        <a:xfrm>
          <a:off x="0" y="0"/>
          <a:ext cx="0" cy="0"/>
          <a:chOff x="0" y="0"/>
          <a:chExt cx="0" cy="0"/>
        </a:xfrm>
      </p:grpSpPr>
      <p:sp>
        <p:nvSpPr>
          <p:cNvPr id="1779" name="Google Shape;1779;p9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80" name="Google Shape;1780;p9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81" name="Google Shape;1781;p9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782" name="Google Shape;1782;p9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082</a:t>
            </a:r>
            <a:endParaRPr b="0" i="0" sz="1300" u="none" cap="none">
              <a:solidFill>
                <a:schemeClr val="dk1"/>
              </a:solidFill>
              <a:latin typeface="Calibri"/>
              <a:ea typeface="Calibri"/>
              <a:cs typeface="Calibri"/>
              <a:sym typeface="Calibri"/>
            </a:endParaRPr>
          </a:p>
        </p:txBody>
      </p:sp>
      <p:pic>
        <p:nvPicPr>
          <p:cNvPr id="1783" name="Google Shape;1783;p9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784" name="Google Shape;1784;p9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785" name="Google Shape;1785;p9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786" name="Google Shape;1786;p9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787" name="Google Shape;1787;p9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788" name="Google Shape;1788;p9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789" name="Google Shape;1789;p9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PCA : projeter en conservant de la variance</a:t>
            </a:r>
            <a:endParaRPr/>
          </a:p>
        </p:txBody>
      </p:sp>
      <p:sp>
        <p:nvSpPr>
          <p:cNvPr id="1790" name="Google Shape;1790;p90"/>
          <p:cNvSpPr/>
          <p:nvPr/>
        </p:nvSpPr>
        <p:spPr>
          <a:xfrm>
            <a:off x="819150" y="26098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axes principaux sont orthogonaux.</a:t>
            </a:r>
            <a:endParaRPr/>
          </a:p>
        </p:txBody>
      </p:sp>
      <p:sp>
        <p:nvSpPr>
          <p:cNvPr id="1791" name="Google Shape;1791;p90"/>
          <p:cNvSpPr/>
          <p:nvPr/>
        </p:nvSpPr>
        <p:spPr>
          <a:xfrm>
            <a:off x="819150" y="35433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premières composantes maximisent la variance projetée.</a:t>
            </a:r>
            <a:endParaRPr/>
          </a:p>
        </p:txBody>
      </p:sp>
      <p:sp>
        <p:nvSpPr>
          <p:cNvPr id="1792" name="Google Shape;1792;p90"/>
          <p:cNvSpPr/>
          <p:nvPr/>
        </p:nvSpPr>
        <p:spPr>
          <a:xfrm>
            <a:off x="819150" y="44767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Réduire la dimension perd de l'information.</a:t>
            </a:r>
            <a:endParaRPr/>
          </a:p>
        </p:txBody>
      </p:sp>
      <p:sp>
        <p:nvSpPr>
          <p:cNvPr id="1793" name="Google Shape;1793;p9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R22 · liens et détails dans les notes</a:t>
            </a:r>
            <a:endParaRPr/>
          </a:p>
        </p:txBody>
      </p:sp>
      <p:pic>
        <p:nvPicPr>
          <p:cNvPr id="1794" name="Google Shape;1794;p90"/>
          <p:cNvPicPr preferRelativeResize="0"/>
          <p:nvPr/>
        </p:nvPicPr>
        <p:blipFill>
          <a:blip r:embed="rId5">
            <a:alphaModFix/>
          </a:blip>
          <a:stretch>
            <a:fillRect/>
          </a:stretch>
        </p:blipFill>
        <p:spPr>
          <a:xfrm>
            <a:off x="2734450" y="1519263"/>
            <a:ext cx="7138274" cy="973075"/>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9" name="Shape 1799"/>
        <p:cNvGrpSpPr/>
        <p:nvPr/>
      </p:nvGrpSpPr>
      <p:grpSpPr>
        <a:xfrm>
          <a:off x="0" y="0"/>
          <a:ext cx="0" cy="0"/>
          <a:chOff x="0" y="0"/>
          <a:chExt cx="0" cy="0"/>
        </a:xfrm>
      </p:grpSpPr>
      <p:sp>
        <p:nvSpPr>
          <p:cNvPr id="1800" name="Google Shape;1800;p9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01" name="Google Shape;1801;p9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02" name="Google Shape;1802;p9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03" name="Google Shape;1803;p9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083</a:t>
            </a:r>
            <a:endParaRPr b="0" i="0" sz="1300" u="none" cap="none">
              <a:solidFill>
                <a:schemeClr val="dk1"/>
              </a:solidFill>
              <a:latin typeface="Calibri"/>
              <a:ea typeface="Calibri"/>
              <a:cs typeface="Calibri"/>
              <a:sym typeface="Calibri"/>
            </a:endParaRPr>
          </a:p>
        </p:txBody>
      </p:sp>
      <p:pic>
        <p:nvPicPr>
          <p:cNvPr id="1804" name="Google Shape;1804;p9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05" name="Google Shape;1805;p9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806" name="Google Shape;1806;p9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807" name="Google Shape;1807;p9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808" name="Google Shape;1808;p9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809" name="Google Shape;1809;p9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810" name="Google Shape;1810;p9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Lire la variance expliquée</a:t>
            </a:r>
            <a:endParaRPr/>
          </a:p>
        </p:txBody>
      </p:sp>
      <p:pic>
        <p:nvPicPr>
          <p:cNvPr id="1811" name="Google Shape;1811;p91"/>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1812" name="Google Shape;1812;p91"/>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Deux axes expliquent ici 75 %.</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Trois axes expliquent 88 %.</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Quatre axes sont nécessaires pour dépasser 90 %.</a:t>
            </a:r>
            <a:endParaRPr/>
          </a:p>
        </p:txBody>
      </p:sp>
      <p:sp>
        <p:nvSpPr>
          <p:cNvPr id="1813" name="Google Shape;1813;p91"/>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Spectre construit pour l'exercice : les 3 premiers axes expliquent 88%, les 4 premiers 96%.</a:t>
            </a:r>
            <a:endParaRPr/>
          </a:p>
        </p:txBody>
      </p:sp>
      <p:sp>
        <p:nvSpPr>
          <p:cNvPr id="1814" name="Google Shape;1814;p9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R22 · liens et détails dans les notes</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9" name="Shape 1819"/>
        <p:cNvGrpSpPr/>
        <p:nvPr/>
      </p:nvGrpSpPr>
      <p:grpSpPr>
        <a:xfrm>
          <a:off x="0" y="0"/>
          <a:ext cx="0" cy="0"/>
          <a:chOff x="0" y="0"/>
          <a:chExt cx="0" cy="0"/>
        </a:xfrm>
      </p:grpSpPr>
      <p:sp>
        <p:nvSpPr>
          <p:cNvPr id="1820" name="Google Shape;1820;p9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21" name="Google Shape;1821;p9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22" name="Google Shape;1822;p9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23" name="Google Shape;1823;p9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084</a:t>
            </a:r>
            <a:endParaRPr b="0" i="0" sz="1300" u="none" cap="none">
              <a:solidFill>
                <a:schemeClr val="dk1"/>
              </a:solidFill>
              <a:latin typeface="Calibri"/>
              <a:ea typeface="Calibri"/>
              <a:cs typeface="Calibri"/>
              <a:sym typeface="Calibri"/>
            </a:endParaRPr>
          </a:p>
        </p:txBody>
      </p:sp>
      <p:pic>
        <p:nvPicPr>
          <p:cNvPr id="1824" name="Google Shape;1824;p9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25" name="Google Shape;1825;p9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826" name="Google Shape;1826;p9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827" name="Google Shape;1827;p9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828" name="Google Shape;1828;p9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829" name="Google Shape;1829;p9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830" name="Google Shape;1830;p9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K-means : minimiser l'inertie</a:t>
            </a:r>
            <a:endParaRPr/>
          </a:p>
        </p:txBody>
      </p:sp>
      <p:sp>
        <p:nvSpPr>
          <p:cNvPr id="1831" name="Google Shape;1831;p92"/>
          <p:cNvSpPr/>
          <p:nvPr/>
        </p:nvSpPr>
        <p:spPr>
          <a:xfrm>
            <a:off x="819150" y="26098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Affecter chaque point au centre le plus proche.</a:t>
            </a:r>
            <a:endParaRPr/>
          </a:p>
        </p:txBody>
      </p:sp>
      <p:sp>
        <p:nvSpPr>
          <p:cNvPr id="1832" name="Google Shape;1832;p92"/>
          <p:cNvSpPr/>
          <p:nvPr/>
        </p:nvSpPr>
        <p:spPr>
          <a:xfrm>
            <a:off x="819150" y="35433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Recalculer chaque centre comme la moyenne de son groupe.</a:t>
            </a:r>
            <a:endParaRPr/>
          </a:p>
        </p:txBody>
      </p:sp>
      <p:sp>
        <p:nvSpPr>
          <p:cNvPr id="1833" name="Google Shape;1833;p92"/>
          <p:cNvSpPr/>
          <p:nvPr/>
        </p:nvSpPr>
        <p:spPr>
          <a:xfrm>
            <a:off x="819150" y="44767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Répéter jusqu'à convergence vers une solution locale.</a:t>
            </a:r>
            <a:endParaRPr/>
          </a:p>
        </p:txBody>
      </p:sp>
      <p:sp>
        <p:nvSpPr>
          <p:cNvPr id="1834" name="Google Shape;1834;p9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pic>
        <p:nvPicPr>
          <p:cNvPr id="1835" name="Google Shape;1835;p92"/>
          <p:cNvPicPr preferRelativeResize="0"/>
          <p:nvPr/>
        </p:nvPicPr>
        <p:blipFill>
          <a:blip r:embed="rId5">
            <a:alphaModFix/>
          </a:blip>
          <a:stretch>
            <a:fillRect/>
          </a:stretch>
        </p:blipFill>
        <p:spPr>
          <a:xfrm>
            <a:off x="3478075" y="1428713"/>
            <a:ext cx="5363063" cy="1154175"/>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0" name="Shape 1840"/>
        <p:cNvGrpSpPr/>
        <p:nvPr/>
      </p:nvGrpSpPr>
      <p:grpSpPr>
        <a:xfrm>
          <a:off x="0" y="0"/>
          <a:ext cx="0" cy="0"/>
          <a:chOff x="0" y="0"/>
          <a:chExt cx="0" cy="0"/>
        </a:xfrm>
      </p:grpSpPr>
      <p:sp>
        <p:nvSpPr>
          <p:cNvPr id="1841" name="Google Shape;1841;p9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42" name="Google Shape;1842;p9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43" name="Google Shape;1843;p9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44" name="Google Shape;1844;p9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085</a:t>
            </a:r>
            <a:endParaRPr b="0" i="0" sz="1300" u="none" cap="none">
              <a:solidFill>
                <a:schemeClr val="dk1"/>
              </a:solidFill>
              <a:latin typeface="Calibri"/>
              <a:ea typeface="Calibri"/>
              <a:cs typeface="Calibri"/>
              <a:sym typeface="Calibri"/>
            </a:endParaRPr>
          </a:p>
        </p:txBody>
      </p:sp>
      <p:pic>
        <p:nvPicPr>
          <p:cNvPr id="1845" name="Google Shape;1845;p9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46" name="Google Shape;1846;p9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847" name="Google Shape;1847;p9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848" name="Google Shape;1848;p9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849" name="Google Shape;1849;p9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850" name="Google Shape;1850;p9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851" name="Google Shape;1851;p9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itération de K-means</a:t>
            </a:r>
            <a:endParaRPr/>
          </a:p>
        </p:txBody>
      </p:sp>
      <p:graphicFrame>
        <p:nvGraphicFramePr>
          <p:cNvPr id="1852" name="Google Shape;1852;p93"/>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2667000"/>
                <a:gridCol w="2667000"/>
                <a:gridCol w="2667000"/>
                <a:gridCol w="2667000"/>
              </a:tblGrid>
              <a:tr h="609600">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Points en 1D</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Centre initial</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Affectation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DM Sans"/>
                          <a:ea typeface="DM Sans"/>
                          <a:cs typeface="DM Sans"/>
                          <a:sym typeface="DM Sans"/>
                        </a:rPr>
                        <a:t>Nouveau centre</a:t>
                      </a:r>
                      <a:endParaRPr/>
                    </a:p>
                  </a:txBody>
                  <a:tcPr marT="45725" marB="45725" marR="91450" marL="91450">
                    <a:solidFill>
                      <a:srgbClr val="303C8B"/>
                    </a:solidFill>
                  </a:tcPr>
                </a:tc>
              </a:tr>
              <a:tr h="6096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1, 2</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Groupe A</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1,5</a:t>
                      </a:r>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8, 9</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10</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Groupe B</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8,5</a:t>
                      </a:r>
                      <a:endParaRPr/>
                    </a:p>
                  </a:txBody>
                  <a:tcPr marT="45725" marB="45725" marR="91450" marL="91450">
                    <a:solidFill>
                      <a:srgbClr val="FFFFFF"/>
                    </a:solidFill>
                  </a:tcPr>
                </a:tc>
              </a:tr>
              <a:tr h="6096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Inertie avant mise à jour</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Somme des carrés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a:solidFill>
                          <a:srgbClr val="000000"/>
                        </a:solidFill>
                        <a:latin typeface="Arial"/>
                        <a:ea typeface="Arial"/>
                        <a:cs typeface="Arial"/>
                        <a:sym typeface="Arial"/>
                      </a:endParaRPr>
                    </a:p>
                  </a:txBody>
                  <a:tcPr marT="45725" marB="45725" marR="91450" marL="91450">
                    <a:solidFill>
                      <a:srgbClr val="F4F5F8"/>
                    </a:solidFill>
                  </a:tcPr>
                </a:tc>
              </a:tr>
              <a:tr h="6096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Inertie après mise à jour</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1</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12194C"/>
                          </a:solidFill>
                          <a:latin typeface="DM Sans"/>
                          <a:ea typeface="DM Sans"/>
                          <a:cs typeface="DM Sans"/>
                          <a:sym typeface="DM Sans"/>
                        </a:rPr>
                        <a:t>Somme des carrés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a:solidFill>
                          <a:srgbClr val="000000"/>
                        </a:solidFill>
                        <a:latin typeface="Arial"/>
                        <a:ea typeface="Arial"/>
                        <a:cs typeface="Arial"/>
                        <a:sym typeface="Arial"/>
                      </a:endParaRPr>
                    </a:p>
                  </a:txBody>
                  <a:tcPr marT="45725" marB="45725" marR="91450" marL="91450">
                    <a:solidFill>
                      <a:srgbClr val="FFFFFF"/>
                    </a:solidFill>
                  </a:tcPr>
                </a:tc>
              </a:tr>
            </a:tbl>
          </a:graphicData>
        </a:graphic>
      </p:graphicFrame>
      <p:sp>
        <p:nvSpPr>
          <p:cNvPr id="1853" name="Google Shape;1853;p93"/>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Points 1, 2, 8, 9 : les deux moyennes sont 1,5 et 8,5</a:t>
            </a:r>
            <a:endParaRPr/>
          </a:p>
        </p:txBody>
      </p:sp>
      <p:sp>
        <p:nvSpPr>
          <p:cNvPr id="1854" name="Google Shape;1854;p9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9" name="Shape 1859"/>
        <p:cNvGrpSpPr/>
        <p:nvPr/>
      </p:nvGrpSpPr>
      <p:grpSpPr>
        <a:xfrm>
          <a:off x="0" y="0"/>
          <a:ext cx="0" cy="0"/>
          <a:chOff x="0" y="0"/>
          <a:chExt cx="0" cy="0"/>
        </a:xfrm>
      </p:grpSpPr>
      <p:sp>
        <p:nvSpPr>
          <p:cNvPr id="1860" name="Google Shape;1860;p9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61" name="Google Shape;1861;p9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62" name="Google Shape;1862;p9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63" name="Google Shape;1863;p9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086</a:t>
            </a:r>
            <a:endParaRPr b="0" i="0" sz="1300" u="none" cap="none">
              <a:solidFill>
                <a:schemeClr val="dk1"/>
              </a:solidFill>
              <a:latin typeface="Calibri"/>
              <a:ea typeface="Calibri"/>
              <a:cs typeface="Calibri"/>
              <a:sym typeface="Calibri"/>
            </a:endParaRPr>
          </a:p>
        </p:txBody>
      </p:sp>
      <p:pic>
        <p:nvPicPr>
          <p:cNvPr id="1864" name="Google Shape;1864;p9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65" name="Google Shape;1865;p9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866" name="Google Shape;1866;p9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867" name="Google Shape;1867;p9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868" name="Google Shape;1868;p9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869" name="Google Shape;1869;p9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870" name="Google Shape;1870;p9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géométrie que K-means représente mal</a:t>
            </a:r>
            <a:endParaRPr/>
          </a:p>
        </p:txBody>
      </p:sp>
      <p:pic>
        <p:nvPicPr>
          <p:cNvPr id="1871" name="Google Shape;1871;p94"/>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1872" name="Google Shape;1872;p94"/>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Les deux lunes sont des groupes courbes.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K-means favorise des régions proches de centres.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Une partition peut être stable et mal correspondre à la structure voulue.</a:t>
            </a:r>
            <a:endParaRPr/>
          </a:p>
        </p:txBody>
      </p:sp>
      <p:sp>
        <p:nvSpPr>
          <p:cNvPr id="1873" name="Google Shape;1873;p94"/>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Mêmes 180 lunes synthétiques, graine 42. Les couleurs représentent les clusters estimés.</a:t>
            </a:r>
            <a:endParaRPr/>
          </a:p>
        </p:txBody>
      </p:sp>
      <p:sp>
        <p:nvSpPr>
          <p:cNvPr id="1874" name="Google Shape;1874;p9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9" name="Shape 1879"/>
        <p:cNvGrpSpPr/>
        <p:nvPr/>
      </p:nvGrpSpPr>
      <p:grpSpPr>
        <a:xfrm>
          <a:off x="0" y="0"/>
          <a:ext cx="0" cy="0"/>
          <a:chOff x="0" y="0"/>
          <a:chExt cx="0" cy="0"/>
        </a:xfrm>
      </p:grpSpPr>
      <p:sp>
        <p:nvSpPr>
          <p:cNvPr id="1880" name="Google Shape;1880;p9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81" name="Google Shape;1881;p9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82" name="Google Shape;1882;p9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883" name="Google Shape;1883;p9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087</a:t>
            </a:r>
            <a:endParaRPr b="0" i="0" sz="1300" u="none" cap="none">
              <a:solidFill>
                <a:schemeClr val="dk1"/>
              </a:solidFill>
              <a:latin typeface="Calibri"/>
              <a:ea typeface="Calibri"/>
              <a:cs typeface="Calibri"/>
              <a:sym typeface="Calibri"/>
            </a:endParaRPr>
          </a:p>
        </p:txBody>
      </p:sp>
      <p:pic>
        <p:nvPicPr>
          <p:cNvPr id="1884" name="Google Shape;1884;p9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885" name="Google Shape;1885;p9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886" name="Google Shape;1886;p9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887" name="Google Shape;1887;p9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888" name="Google Shape;1888;p9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889" name="Google Shape;1889;p9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890" name="Google Shape;1890;p9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L'inertie ne choisit pas K à votre place</a:t>
            </a:r>
            <a:endParaRPr/>
          </a:p>
        </p:txBody>
      </p:sp>
      <p:pic>
        <p:nvPicPr>
          <p:cNvPr id="1891" name="Google Shape;1891;p95"/>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1892" name="Google Shape;1892;p95"/>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Ajouter des centres peut toujours réduire l'inertie optimale.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 coude n'est pas toujours visible ni unique.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Croiser le diagnostic avec stabilité et utilité métier.</a:t>
            </a:r>
            <a:endParaRPr/>
          </a:p>
        </p:txBody>
      </p:sp>
      <p:sp>
        <p:nvSpPr>
          <p:cNvPr id="1893" name="Google Shape;1893;p95"/>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L'inertie optimale décroît avec K ; cette courbe ne prouve pas le vrai nombre de groupes.</a:t>
            </a:r>
            <a:endParaRPr/>
          </a:p>
        </p:txBody>
      </p:sp>
      <p:sp>
        <p:nvSpPr>
          <p:cNvPr id="1894" name="Google Shape;1894;p9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9" name="Shape 1899"/>
        <p:cNvGrpSpPr/>
        <p:nvPr/>
      </p:nvGrpSpPr>
      <p:grpSpPr>
        <a:xfrm>
          <a:off x="0" y="0"/>
          <a:ext cx="0" cy="0"/>
          <a:chOff x="0" y="0"/>
          <a:chExt cx="0" cy="0"/>
        </a:xfrm>
      </p:grpSpPr>
      <p:sp>
        <p:nvSpPr>
          <p:cNvPr id="1900" name="Google Shape;1900;p9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01" name="Google Shape;1901;p9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02" name="Google Shape;1902;p9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03" name="Google Shape;1903;p9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088</a:t>
            </a:r>
            <a:endParaRPr b="0" i="0" sz="1300" u="none" cap="none">
              <a:solidFill>
                <a:schemeClr val="dk1"/>
              </a:solidFill>
              <a:latin typeface="Calibri"/>
              <a:ea typeface="Calibri"/>
              <a:cs typeface="Calibri"/>
              <a:sym typeface="Calibri"/>
            </a:endParaRPr>
          </a:p>
        </p:txBody>
      </p:sp>
      <p:pic>
        <p:nvPicPr>
          <p:cNvPr id="1904" name="Google Shape;1904;p9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905" name="Google Shape;1905;p9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06" name="Google Shape;1906;p9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907" name="Google Shape;1907;p9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08" name="Google Shape;1908;p9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09" name="Google Shape;1909;p9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10" name="Google Shape;1910;p96"/>
          <p:cNvSpPr/>
          <p:nvPr/>
        </p:nvSpPr>
        <p:spPr>
          <a:xfrm>
            <a:off x="762000" y="857250"/>
            <a:ext cx="105729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Silhouette : séparation et compacité</a:t>
            </a:r>
            <a:endParaRPr/>
          </a:p>
        </p:txBody>
      </p:sp>
      <p:sp>
        <p:nvSpPr>
          <p:cNvPr id="1911" name="Google Shape;1911;p96"/>
          <p:cNvSpPr/>
          <p:nvPr/>
        </p:nvSpPr>
        <p:spPr>
          <a:xfrm>
            <a:off x="809700" y="2722375"/>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a(i) : distance moyenne aux membres de son groupe.</a:t>
            </a:r>
            <a:endParaRPr/>
          </a:p>
        </p:txBody>
      </p:sp>
      <p:sp>
        <p:nvSpPr>
          <p:cNvPr id="1912" name="Google Shape;1912;p96"/>
          <p:cNvSpPr/>
          <p:nvPr/>
        </p:nvSpPr>
        <p:spPr>
          <a:xfrm>
            <a:off x="809700" y="365405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b(i) : plus petite distance moyenne vers un autre groupe.</a:t>
            </a:r>
            <a:endParaRPr/>
          </a:p>
        </p:txBody>
      </p:sp>
      <p:sp>
        <p:nvSpPr>
          <p:cNvPr id="1913" name="Google Shape;1913;p96"/>
          <p:cNvSpPr/>
          <p:nvPr/>
        </p:nvSpPr>
        <p:spPr>
          <a:xfrm>
            <a:off x="809700" y="458750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silhouette négative signale une affectation localement discutable.</a:t>
            </a:r>
            <a:endParaRPr/>
          </a:p>
        </p:txBody>
      </p:sp>
      <p:sp>
        <p:nvSpPr>
          <p:cNvPr id="1914" name="Google Shape;1914;p9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pic>
        <p:nvPicPr>
          <p:cNvPr id="1915" name="Google Shape;1915;p96"/>
          <p:cNvPicPr preferRelativeResize="0"/>
          <p:nvPr/>
        </p:nvPicPr>
        <p:blipFill>
          <a:blip r:embed="rId5">
            <a:alphaModFix/>
          </a:blip>
          <a:stretch>
            <a:fillRect/>
          </a:stretch>
        </p:blipFill>
        <p:spPr>
          <a:xfrm>
            <a:off x="4143825" y="1333650"/>
            <a:ext cx="3618606" cy="1213913"/>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0" name="Shape 1920"/>
        <p:cNvGrpSpPr/>
        <p:nvPr/>
      </p:nvGrpSpPr>
      <p:grpSpPr>
        <a:xfrm>
          <a:off x="0" y="0"/>
          <a:ext cx="0" cy="0"/>
          <a:chOff x="0" y="0"/>
          <a:chExt cx="0" cy="0"/>
        </a:xfrm>
      </p:grpSpPr>
      <p:sp>
        <p:nvSpPr>
          <p:cNvPr id="1921" name="Google Shape;1921;p9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22" name="Google Shape;1922;p9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23" name="Google Shape;1923;p9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24" name="Google Shape;1924;p9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089</a:t>
            </a:r>
            <a:endParaRPr b="0" i="0" sz="1300" u="none" cap="none">
              <a:solidFill>
                <a:schemeClr val="dk1"/>
              </a:solidFill>
              <a:latin typeface="Calibri"/>
              <a:ea typeface="Calibri"/>
              <a:cs typeface="Calibri"/>
              <a:sym typeface="Calibri"/>
            </a:endParaRPr>
          </a:p>
        </p:txBody>
      </p:sp>
      <p:pic>
        <p:nvPicPr>
          <p:cNvPr id="1925" name="Google Shape;1925;p9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926" name="Google Shape;1926;p9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27" name="Google Shape;1927;p9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928" name="Google Shape;1928;p9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29" name="Google Shape;1929;p9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30" name="Google Shape;1930;p9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31" name="Google Shape;1931;p9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GMM : une appartenance probabiliste</a:t>
            </a:r>
            <a:endParaRPr/>
          </a:p>
        </p:txBody>
      </p:sp>
      <p:sp>
        <p:nvSpPr>
          <p:cNvPr id="1932" name="Google Shape;1932;p97"/>
          <p:cNvSpPr/>
          <p:nvPr/>
        </p:nvSpPr>
        <p:spPr>
          <a:xfrm>
            <a:off x="819150" y="2698455"/>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composante porte un poids, une moyenne et une covariance.</a:t>
            </a:r>
            <a:endParaRPr/>
          </a:p>
        </p:txBody>
      </p:sp>
      <p:sp>
        <p:nvSpPr>
          <p:cNvPr id="1933" name="Google Shape;1933;p97"/>
          <p:cNvSpPr/>
          <p:nvPr/>
        </p:nvSpPr>
        <p:spPr>
          <a:xfrm>
            <a:off x="819150" y="3631905"/>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covariances autorisent des formes elliptiques.</a:t>
            </a:r>
            <a:endParaRPr/>
          </a:p>
        </p:txBody>
      </p:sp>
      <p:sp>
        <p:nvSpPr>
          <p:cNvPr id="1934" name="Google Shape;1934;p97"/>
          <p:cNvSpPr/>
          <p:nvPr/>
        </p:nvSpPr>
        <p:spPr>
          <a:xfrm>
            <a:off x="819150" y="447675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observation peut avoir des responsabilités réparties entre composantes.</a:t>
            </a:r>
            <a:endParaRPr/>
          </a:p>
        </p:txBody>
      </p:sp>
      <p:sp>
        <p:nvSpPr>
          <p:cNvPr id="1935" name="Google Shape;1935;p9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R21 · liens et détails dans les notes</a:t>
            </a:r>
            <a:endParaRPr/>
          </a:p>
        </p:txBody>
      </p:sp>
      <p:pic>
        <p:nvPicPr>
          <p:cNvPr id="1936" name="Google Shape;1936;p97"/>
          <p:cNvPicPr preferRelativeResize="0"/>
          <p:nvPr/>
        </p:nvPicPr>
        <p:blipFill>
          <a:blip r:embed="rId5">
            <a:alphaModFix/>
          </a:blip>
          <a:stretch>
            <a:fillRect/>
          </a:stretch>
        </p:blipFill>
        <p:spPr>
          <a:xfrm>
            <a:off x="3735100" y="1480523"/>
            <a:ext cx="5221623" cy="105055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1" name="Shape 1941"/>
        <p:cNvGrpSpPr/>
        <p:nvPr/>
      </p:nvGrpSpPr>
      <p:grpSpPr>
        <a:xfrm>
          <a:off x="0" y="0"/>
          <a:ext cx="0" cy="0"/>
          <a:chOff x="0" y="0"/>
          <a:chExt cx="0" cy="0"/>
        </a:xfrm>
      </p:grpSpPr>
      <p:sp>
        <p:nvSpPr>
          <p:cNvPr id="1942" name="Google Shape;1942;p9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43" name="Google Shape;1943;p9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44" name="Google Shape;1944;p9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45" name="Google Shape;1945;p9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090</a:t>
            </a:r>
            <a:endParaRPr b="0" i="0" sz="1300" u="none" cap="none">
              <a:solidFill>
                <a:schemeClr val="dk1"/>
              </a:solidFill>
              <a:latin typeface="Calibri"/>
              <a:ea typeface="Calibri"/>
              <a:cs typeface="Calibri"/>
              <a:sym typeface="Calibri"/>
            </a:endParaRPr>
          </a:p>
        </p:txBody>
      </p:sp>
      <p:pic>
        <p:nvPicPr>
          <p:cNvPr id="1946" name="Google Shape;1946;p9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947" name="Google Shape;1947;p9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48" name="Google Shape;1948;p9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949" name="Google Shape;1949;p9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50" name="Google Shape;1950;p9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51" name="Google Shape;1951;p9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52" name="Google Shape;1952;p9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EM : alterner deux problèmes plus simples</a:t>
            </a:r>
            <a:endParaRPr/>
          </a:p>
        </p:txBody>
      </p:sp>
      <p:sp>
        <p:nvSpPr>
          <p:cNvPr id="1953" name="Google Shape;1953;p98"/>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Étape E : estimer les responsabilités avec les paramètres courants.</a:t>
            </a:r>
            <a:endParaRPr/>
          </a:p>
        </p:txBody>
      </p:sp>
      <p:sp>
        <p:nvSpPr>
          <p:cNvPr id="1954" name="Google Shape;1954;p98"/>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Étape M : réestimer poids, moyennes et covariances avec ces responsabilités.</a:t>
            </a:r>
            <a:endParaRPr/>
          </a:p>
        </p:txBody>
      </p:sp>
      <p:sp>
        <p:nvSpPr>
          <p:cNvPr id="1955" name="Google Shape;1955;p98"/>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Répéter, puis comparer initialisations et complexités.</a:t>
            </a:r>
            <a:endParaRPr/>
          </a:p>
        </p:txBody>
      </p:sp>
      <p:sp>
        <p:nvSpPr>
          <p:cNvPr id="1956" name="Google Shape;1956;p98"/>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EM peut converger vers un optimum local</a:t>
            </a:r>
            <a:endParaRPr/>
          </a:p>
        </p:txBody>
      </p:sp>
      <p:sp>
        <p:nvSpPr>
          <p:cNvPr id="1957" name="Google Shape;1957;p9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R21 · liens et détails dans les notes</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2" name="Shape 1962"/>
        <p:cNvGrpSpPr/>
        <p:nvPr/>
      </p:nvGrpSpPr>
      <p:grpSpPr>
        <a:xfrm>
          <a:off x="0" y="0"/>
          <a:ext cx="0" cy="0"/>
          <a:chOff x="0" y="0"/>
          <a:chExt cx="0" cy="0"/>
        </a:xfrm>
      </p:grpSpPr>
      <p:sp>
        <p:nvSpPr>
          <p:cNvPr id="1963" name="Google Shape;1963;p9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64" name="Google Shape;1964;p9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65" name="Google Shape;1965;p9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66" name="Google Shape;1966;p9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091</a:t>
            </a:r>
            <a:endParaRPr b="0" i="0" sz="1300" u="none" cap="none">
              <a:solidFill>
                <a:schemeClr val="dk1"/>
              </a:solidFill>
              <a:latin typeface="Calibri"/>
              <a:ea typeface="Calibri"/>
              <a:cs typeface="Calibri"/>
              <a:sym typeface="Calibri"/>
            </a:endParaRPr>
          </a:p>
        </p:txBody>
      </p:sp>
      <p:pic>
        <p:nvPicPr>
          <p:cNvPr id="1967" name="Google Shape;1967;p9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968" name="Google Shape;1968;p9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69" name="Google Shape;1969;p9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970" name="Google Shape;1970;p9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71" name="Google Shape;1971;p9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72" name="Google Shape;1972;p9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73" name="Google Shape;1973;p9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Classification hiérarchique agglomérative</a:t>
            </a:r>
            <a:endParaRPr/>
          </a:p>
        </p:txBody>
      </p:sp>
      <p:sp>
        <p:nvSpPr>
          <p:cNvPr id="1974" name="Google Shape;1974;p9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Partir de petits groupes puis fusionner progressivement.</a:t>
            </a:r>
            <a:endParaRPr/>
          </a:p>
        </p:txBody>
      </p:sp>
      <p:sp>
        <p:nvSpPr>
          <p:cNvPr id="1975" name="Google Shape;1975;p9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 linkage définit le coût ou la distance entre groupes.</a:t>
            </a:r>
            <a:endParaRPr/>
          </a:p>
        </p:txBody>
      </p:sp>
      <p:sp>
        <p:nvSpPr>
          <p:cNvPr id="1976" name="Google Shape;1976;p9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coupe du dendrogramme fixe la granularité retenue.</a:t>
            </a:r>
            <a:endParaRPr/>
          </a:p>
        </p:txBody>
      </p:sp>
      <p:sp>
        <p:nvSpPr>
          <p:cNvPr id="1977" name="Google Shape;1977;p9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Ward s'appuie sur la variance et une géométrie euclidienne</a:t>
            </a:r>
            <a:endParaRPr/>
          </a:p>
        </p:txBody>
      </p:sp>
      <p:sp>
        <p:nvSpPr>
          <p:cNvPr id="1978" name="Google Shape;1978;p9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3" name="Shape 1983"/>
        <p:cNvGrpSpPr/>
        <p:nvPr/>
      </p:nvGrpSpPr>
      <p:grpSpPr>
        <a:xfrm>
          <a:off x="0" y="0"/>
          <a:ext cx="0" cy="0"/>
          <a:chOff x="0" y="0"/>
          <a:chExt cx="0" cy="0"/>
        </a:xfrm>
      </p:grpSpPr>
      <p:sp>
        <p:nvSpPr>
          <p:cNvPr id="1984" name="Google Shape;1984;p10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85" name="Google Shape;1985;p10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86" name="Google Shape;1986;p10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1987" name="Google Shape;1987;p10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092</a:t>
            </a:r>
            <a:endParaRPr b="0" i="0" sz="1300" u="none" cap="none">
              <a:solidFill>
                <a:schemeClr val="dk1"/>
              </a:solidFill>
              <a:latin typeface="Calibri"/>
              <a:ea typeface="Calibri"/>
              <a:cs typeface="Calibri"/>
              <a:sym typeface="Calibri"/>
            </a:endParaRPr>
          </a:p>
        </p:txBody>
      </p:sp>
      <p:pic>
        <p:nvPicPr>
          <p:cNvPr id="1988" name="Google Shape;1988;p10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1989" name="Google Shape;1989;p10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1990" name="Google Shape;1990;p10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1991" name="Google Shape;1991;p10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1992" name="Google Shape;1992;p10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1993" name="Google Shape;1993;p10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1994" name="Google Shape;1994;p10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DBSCAN : relier les régions denses</a:t>
            </a:r>
            <a:endParaRPr/>
          </a:p>
        </p:txBody>
      </p:sp>
      <p:sp>
        <p:nvSpPr>
          <p:cNvPr id="1995" name="Google Shape;1995;p10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eps définit le rayon du voisinage.</a:t>
            </a:r>
            <a:endParaRPr/>
          </a:p>
        </p:txBody>
      </p:sp>
      <p:sp>
        <p:nvSpPr>
          <p:cNvPr id="1996" name="Google Shape;1996;p10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min_samples définit le soutien local requis pour un point cœur.</a:t>
            </a:r>
            <a:endParaRPr/>
          </a:p>
        </p:txBody>
      </p:sp>
      <p:sp>
        <p:nvSpPr>
          <p:cNvPr id="1997" name="Google Shape;1997;p10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points non rattachés à une région dense peuvent être marqués bruit.</a:t>
            </a:r>
            <a:endParaRPr/>
          </a:p>
        </p:txBody>
      </p:sp>
      <p:sp>
        <p:nvSpPr>
          <p:cNvPr id="1998" name="Google Shape;1998;p10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Densité et distance dépendent de l'échelle des variables</a:t>
            </a:r>
            <a:endParaRPr/>
          </a:p>
        </p:txBody>
      </p:sp>
      <p:sp>
        <p:nvSpPr>
          <p:cNvPr id="1999" name="Google Shape;1999;p10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4" name="Shape 2004"/>
        <p:cNvGrpSpPr/>
        <p:nvPr/>
      </p:nvGrpSpPr>
      <p:grpSpPr>
        <a:xfrm>
          <a:off x="0" y="0"/>
          <a:ext cx="0" cy="0"/>
          <a:chOff x="0" y="0"/>
          <a:chExt cx="0" cy="0"/>
        </a:xfrm>
      </p:grpSpPr>
      <p:sp>
        <p:nvSpPr>
          <p:cNvPr id="2005" name="Google Shape;2005;p10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06" name="Google Shape;2006;p10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07" name="Google Shape;2007;p10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08" name="Google Shape;2008;p10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093</a:t>
            </a:r>
            <a:endParaRPr b="0" i="0" sz="1300" u="none" cap="none">
              <a:solidFill>
                <a:schemeClr val="dk1"/>
              </a:solidFill>
              <a:latin typeface="Calibri"/>
              <a:ea typeface="Calibri"/>
              <a:cs typeface="Calibri"/>
              <a:sym typeface="Calibri"/>
            </a:endParaRPr>
          </a:p>
        </p:txBody>
      </p:sp>
      <p:pic>
        <p:nvPicPr>
          <p:cNvPr id="2009" name="Google Shape;2009;p10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010" name="Google Shape;2010;p10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011" name="Google Shape;2011;p10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012" name="Google Shape;2012;p10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013" name="Google Shape;2013;p10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014" name="Google Shape;2014;p10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015" name="Google Shape;2015;p10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Les mêmes lunes avec DBSCAN</a:t>
            </a:r>
            <a:endParaRPr/>
          </a:p>
        </p:txBody>
      </p:sp>
      <p:pic>
        <p:nvPicPr>
          <p:cNvPr id="2016" name="Google Shape;2016;p101"/>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2017" name="Google Shape;2017;p101"/>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La connexité locale suit ici les formes courbes.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Les points isolés peuvent rester sans groupe.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Changer eps peut fusionner ou fragmenter la partition.</a:t>
            </a:r>
            <a:endParaRPr/>
          </a:p>
        </p:txBody>
      </p:sp>
      <p:sp>
        <p:nvSpPr>
          <p:cNvPr id="2018" name="Google Shape;2018;p101"/>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Mêmes 180 lunes synthétiques, graine 42. Les couleurs représentent les clusters estimés.</a:t>
            </a:r>
            <a:endParaRPr/>
          </a:p>
        </p:txBody>
      </p:sp>
      <p:sp>
        <p:nvSpPr>
          <p:cNvPr id="2019" name="Google Shape;2019;p10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4" name="Shape 2024"/>
        <p:cNvGrpSpPr/>
        <p:nvPr/>
      </p:nvGrpSpPr>
      <p:grpSpPr>
        <a:xfrm>
          <a:off x="0" y="0"/>
          <a:ext cx="0" cy="0"/>
          <a:chOff x="0" y="0"/>
          <a:chExt cx="0" cy="0"/>
        </a:xfrm>
      </p:grpSpPr>
      <p:sp>
        <p:nvSpPr>
          <p:cNvPr id="2025" name="Google Shape;2025;p10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26" name="Google Shape;2026;p10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27" name="Google Shape;2027;p10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28" name="Google Shape;2028;p10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094</a:t>
            </a:r>
            <a:endParaRPr b="0" i="0" sz="1300" u="none" cap="none">
              <a:solidFill>
                <a:schemeClr val="dk1"/>
              </a:solidFill>
              <a:latin typeface="Calibri"/>
              <a:ea typeface="Calibri"/>
              <a:cs typeface="Calibri"/>
              <a:sym typeface="Calibri"/>
            </a:endParaRPr>
          </a:p>
        </p:txBody>
      </p:sp>
      <p:pic>
        <p:nvPicPr>
          <p:cNvPr id="2029" name="Google Shape;2029;p10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030" name="Google Shape;2030;p10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031" name="Google Shape;2031;p10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032" name="Google Shape;2032;p10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033" name="Google Shape;2033;p10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034" name="Google Shape;2034;p10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035" name="Google Shape;2035;p10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HDBSCAN : examiner plusieurs échelles</a:t>
            </a:r>
            <a:endParaRPr/>
          </a:p>
        </p:txBody>
      </p:sp>
      <p:sp>
        <p:nvSpPr>
          <p:cNvPr id="2036" name="Google Shape;2036;p10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Construire une hiérarchie fondée sur la densité.</a:t>
            </a:r>
            <a:endParaRPr/>
          </a:p>
        </p:txBody>
      </p:sp>
      <p:sp>
        <p:nvSpPr>
          <p:cNvPr id="2037" name="Google Shape;2037;p10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Extraire des groupes selon leur persistance dans cette hiérarchie.</a:t>
            </a:r>
            <a:endParaRPr/>
          </a:p>
        </p:txBody>
      </p:sp>
      <p:sp>
        <p:nvSpPr>
          <p:cNvPr id="2038" name="Google Shape;2038;p10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Régler min_cluster_size et examiner le taux de bruit.</a:t>
            </a:r>
            <a:endParaRPr/>
          </a:p>
        </p:txBody>
      </p:sp>
      <p:sp>
        <p:nvSpPr>
          <p:cNvPr id="2039" name="Google Shape;2039;p10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Vérifier la convention de min_samples selon l'implémentation</a:t>
            </a:r>
            <a:endParaRPr/>
          </a:p>
        </p:txBody>
      </p:sp>
      <p:sp>
        <p:nvSpPr>
          <p:cNvPr id="2040" name="Google Shape;2040;p10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R23 · liens et détails dans les notes</a:t>
            </a:r>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5" name="Shape 2045"/>
        <p:cNvGrpSpPr/>
        <p:nvPr/>
      </p:nvGrpSpPr>
      <p:grpSpPr>
        <a:xfrm>
          <a:off x="0" y="0"/>
          <a:ext cx="0" cy="0"/>
          <a:chOff x="0" y="0"/>
          <a:chExt cx="0" cy="0"/>
        </a:xfrm>
      </p:grpSpPr>
      <p:sp>
        <p:nvSpPr>
          <p:cNvPr id="2046" name="Google Shape;2046;p10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47" name="Google Shape;2047;p10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48" name="Google Shape;2048;p10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49" name="Google Shape;2049;p10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095</a:t>
            </a:r>
            <a:endParaRPr b="0" i="0" sz="1300" u="none" cap="none">
              <a:solidFill>
                <a:schemeClr val="dk1"/>
              </a:solidFill>
              <a:latin typeface="Calibri"/>
              <a:ea typeface="Calibri"/>
              <a:cs typeface="Calibri"/>
              <a:sym typeface="Calibri"/>
            </a:endParaRPr>
          </a:p>
        </p:txBody>
      </p:sp>
      <p:pic>
        <p:nvPicPr>
          <p:cNvPr id="2050" name="Google Shape;2050;p10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051" name="Google Shape;2051;p10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052" name="Google Shape;2052;p10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053" name="Google Shape;2053;p10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054" name="Google Shape;2054;p10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055" name="Google Shape;2055;p10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056" name="Google Shape;2056;p10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Comparer les familles de clustering</a:t>
            </a:r>
            <a:endParaRPr/>
          </a:p>
        </p:txBody>
      </p:sp>
      <p:graphicFrame>
        <p:nvGraphicFramePr>
          <p:cNvPr id="2057" name="Google Shape;2057;p103"/>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Méthode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Forme / hypothèse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Paramètre principal</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K-means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Groupes compacts euclidiens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K</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GMM</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Mélange de gaussiennes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K + covariance</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a:t>
                      </a:r>
                      <a:r>
                        <a:rPr lang="en-US" sz="1725">
                          <a:solidFill>
                            <a:srgbClr val="12194C"/>
                          </a:solidFill>
                          <a:latin typeface="DM Sans"/>
                          <a:ea typeface="DM Sans"/>
                          <a:cs typeface="DM Sans"/>
                          <a:sym typeface="DM Sans"/>
                        </a:rPr>
                        <a:t>lassification Hierarchique Agglomérative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Fusion selon variance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Coupe / nombre de groupes</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DBSCAN</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Connexité par densité</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eps + min_samples</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HDBSCAN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Densités à plusieurs échelles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min_cluster_size</a:t>
                      </a:r>
                      <a:endParaRPr/>
                    </a:p>
                  </a:txBody>
                  <a:tcPr marT="45725" marB="45725" marR="91450" marL="91450">
                    <a:solidFill>
                      <a:srgbClr val="F4F5F8"/>
                    </a:solidFill>
                  </a:tcPr>
                </a:tc>
              </a:tr>
            </a:tbl>
          </a:graphicData>
        </a:graphic>
      </p:graphicFrame>
      <p:sp>
        <p:nvSpPr>
          <p:cNvPr id="2058" name="Google Shape;2058;p103"/>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2059" name="Google Shape;2059;p10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R21, R23 · liens et détails dans les notes</a:t>
            </a:r>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4" name="Shape 2064"/>
        <p:cNvGrpSpPr/>
        <p:nvPr/>
      </p:nvGrpSpPr>
      <p:grpSpPr>
        <a:xfrm>
          <a:off x="0" y="0"/>
          <a:ext cx="0" cy="0"/>
          <a:chOff x="0" y="0"/>
          <a:chExt cx="0" cy="0"/>
        </a:xfrm>
      </p:grpSpPr>
      <p:sp>
        <p:nvSpPr>
          <p:cNvPr id="2065" name="Google Shape;2065;p10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66" name="Google Shape;2066;p10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67" name="Google Shape;2067;p10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68" name="Google Shape;2068;p10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096</a:t>
            </a:r>
            <a:endParaRPr b="0" i="0" sz="1300" u="none" cap="none">
              <a:solidFill>
                <a:schemeClr val="dk1"/>
              </a:solidFill>
              <a:latin typeface="Calibri"/>
              <a:ea typeface="Calibri"/>
              <a:cs typeface="Calibri"/>
              <a:sym typeface="Calibri"/>
            </a:endParaRPr>
          </a:p>
        </p:txBody>
      </p:sp>
      <p:pic>
        <p:nvPicPr>
          <p:cNvPr id="2069" name="Google Shape;2069;p10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070" name="Google Shape;2070;p10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071" name="Google Shape;2071;p10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072" name="Google Shape;2072;p10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073" name="Google Shape;2073;p10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074" name="Google Shape;2074;p10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075" name="Google Shape;2075;p10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Évaluer sans labels</a:t>
            </a:r>
            <a:endParaRPr/>
          </a:p>
        </p:txBody>
      </p:sp>
      <p:sp>
        <p:nvSpPr>
          <p:cNvPr id="2076" name="Google Shape;2076;p104"/>
          <p:cNvSpPr/>
          <p:nvPr/>
        </p:nvSpPr>
        <p:spPr>
          <a:xfrm>
            <a:off x="857100" y="1919295"/>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Tester la sensibilité aux graines, aux sous-échantillons et aux paramètres.</a:t>
            </a:r>
            <a:endParaRPr/>
          </a:p>
        </p:txBody>
      </p:sp>
      <p:sp>
        <p:nvSpPr>
          <p:cNvPr id="2077" name="Google Shape;2077;p10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Décrire tailles, profils, bruit et cas atypiques de chaque groupe.</a:t>
            </a:r>
            <a:endParaRPr/>
          </a:p>
        </p:txBody>
      </p:sp>
      <p:sp>
        <p:nvSpPr>
          <p:cNvPr id="2078" name="Google Shape;2078;p10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Faire valider une utilité concrète avec les personnes concernées.</a:t>
            </a:r>
            <a:endParaRPr/>
          </a:p>
        </p:txBody>
      </p:sp>
      <p:sp>
        <p:nvSpPr>
          <p:cNvPr id="2079" name="Google Shape;2079;p10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Stabilité, séparation et utilité répondent à des questions différentes</a:t>
            </a:r>
            <a:endParaRPr/>
          </a:p>
        </p:txBody>
      </p:sp>
      <p:sp>
        <p:nvSpPr>
          <p:cNvPr id="2080" name="Google Shape;2080;p10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 liens et détails dans les notes</a:t>
            </a:r>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5" name="Shape 2085"/>
        <p:cNvGrpSpPr/>
        <p:nvPr/>
      </p:nvGrpSpPr>
      <p:grpSpPr>
        <a:xfrm>
          <a:off x="0" y="0"/>
          <a:ext cx="0" cy="0"/>
          <a:chOff x="0" y="0"/>
          <a:chExt cx="0" cy="0"/>
        </a:xfrm>
      </p:grpSpPr>
      <p:sp>
        <p:nvSpPr>
          <p:cNvPr id="2086" name="Google Shape;2086;p10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87" name="Google Shape;2087;p10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88" name="Google Shape;2088;p10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089" name="Google Shape;2089;p10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097</a:t>
            </a:r>
            <a:endParaRPr b="0" i="0" sz="1300" u="none" cap="none">
              <a:solidFill>
                <a:schemeClr val="dk1"/>
              </a:solidFill>
              <a:latin typeface="Calibri"/>
              <a:ea typeface="Calibri"/>
              <a:cs typeface="Calibri"/>
              <a:sym typeface="Calibri"/>
            </a:endParaRPr>
          </a:p>
        </p:txBody>
      </p:sp>
      <p:pic>
        <p:nvPicPr>
          <p:cNvPr id="2090" name="Google Shape;2090;p10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091" name="Google Shape;2091;p10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092" name="Google Shape;2092;p10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093" name="Google Shape;2093;p10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094" name="Google Shape;2094;p10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095" name="Google Shape;2095;p10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096" name="Google Shape;2096;p10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Projections : explorer avec prudence</a:t>
            </a:r>
            <a:endParaRPr/>
          </a:p>
        </p:txBody>
      </p:sp>
      <p:sp>
        <p:nvSpPr>
          <p:cNvPr id="2097" name="Google Shape;2097;p10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PCA représente principalement de la variance linéaire.</a:t>
            </a:r>
            <a:endParaRPr/>
          </a:p>
        </p:txBody>
      </p:sp>
      <p:sp>
        <p:nvSpPr>
          <p:cNvPr id="2098" name="Google Shape;2098;p10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t-SNE privilégie certaines relations de voisinage local.</a:t>
            </a:r>
            <a:endParaRPr/>
          </a:p>
        </p:txBody>
      </p:sp>
      <p:sp>
        <p:nvSpPr>
          <p:cNvPr id="2099" name="Google Shape;2099;p10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paramètres peuvent modifier l'apparence des « îlots ».</a:t>
            </a:r>
            <a:endParaRPr/>
          </a:p>
        </p:txBody>
      </p:sp>
      <p:sp>
        <p:nvSpPr>
          <p:cNvPr id="2100" name="Google Shape;2100;p10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joli nuage 2D ne démontre pas le nombre de clusters</a:t>
            </a:r>
            <a:endParaRPr/>
          </a:p>
        </p:txBody>
      </p:sp>
      <p:sp>
        <p:nvSpPr>
          <p:cNvPr id="2101" name="Google Shape;2101;p10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R22, R42 · liens et détails dans les notes</a:t>
            </a:r>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6" name="Shape 2106"/>
        <p:cNvGrpSpPr/>
        <p:nvPr/>
      </p:nvGrpSpPr>
      <p:grpSpPr>
        <a:xfrm>
          <a:off x="0" y="0"/>
          <a:ext cx="0" cy="0"/>
          <a:chOff x="0" y="0"/>
          <a:chExt cx="0" cy="0"/>
        </a:xfrm>
      </p:grpSpPr>
      <p:sp>
        <p:nvSpPr>
          <p:cNvPr id="2107" name="Google Shape;2107;p10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08" name="Google Shape;2108;p10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09" name="Google Shape;2109;p10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10" name="Google Shape;2110;p10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098</a:t>
            </a:r>
            <a:endParaRPr b="0" i="0" sz="1300" u="none" cap="none">
              <a:solidFill>
                <a:schemeClr val="dk1"/>
              </a:solidFill>
              <a:latin typeface="Calibri"/>
              <a:ea typeface="Calibri"/>
              <a:cs typeface="Calibri"/>
              <a:sym typeface="Calibri"/>
            </a:endParaRPr>
          </a:p>
        </p:txBody>
      </p:sp>
      <p:pic>
        <p:nvPicPr>
          <p:cNvPr id="2111" name="Google Shape;2111;p10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112" name="Google Shape;2112;p10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113" name="Google Shape;2113;p10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114" name="Google Shape;2114;p10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15" name="Google Shape;2115;p10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16" name="Google Shape;2116;p10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117" name="Google Shape;2117;p10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Anomalie, nouveauté et classe rare</a:t>
            </a:r>
            <a:endParaRPr/>
          </a:p>
        </p:txBody>
      </p:sp>
      <p:sp>
        <p:nvSpPr>
          <p:cNvPr id="2118" name="Google Shape;2118;p106"/>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anomalie est atypique selon une représentation et un modèle de référence.</a:t>
            </a:r>
            <a:endParaRPr/>
          </a:p>
        </p:txBody>
      </p:sp>
      <p:sp>
        <p:nvSpPr>
          <p:cNvPr id="2119" name="Google Shape;2119;p106"/>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classe rare peut être parfaitement normale.</a:t>
            </a:r>
            <a:endParaRPr/>
          </a:p>
        </p:txBody>
      </p:sp>
      <p:sp>
        <p:nvSpPr>
          <p:cNvPr id="2120" name="Google Shape;2120;p106"/>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détection de nouveauté suppose un apprentissage représentatif du fonctionnement normal.</a:t>
            </a:r>
            <a:endParaRPr/>
          </a:p>
        </p:txBody>
      </p:sp>
      <p:sp>
        <p:nvSpPr>
          <p:cNvPr id="2121" name="Google Shape;2121;p106"/>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score d'anomalie doit être relié à une procédure de vérification</a:t>
            </a:r>
            <a:endParaRPr/>
          </a:p>
        </p:txBody>
      </p:sp>
      <p:sp>
        <p:nvSpPr>
          <p:cNvPr id="2122" name="Google Shape;2122;p10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R24 · liens et détails dans les notes</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7" name="Shape 2127"/>
        <p:cNvGrpSpPr/>
        <p:nvPr/>
      </p:nvGrpSpPr>
      <p:grpSpPr>
        <a:xfrm>
          <a:off x="0" y="0"/>
          <a:ext cx="0" cy="0"/>
          <a:chOff x="0" y="0"/>
          <a:chExt cx="0" cy="0"/>
        </a:xfrm>
      </p:grpSpPr>
      <p:sp>
        <p:nvSpPr>
          <p:cNvPr id="2128" name="Google Shape;2128;p10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29" name="Google Shape;2129;p10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30" name="Google Shape;2130;p10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31" name="Google Shape;2131;p10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099</a:t>
            </a:r>
            <a:endParaRPr b="0" i="0" sz="1300" u="none" cap="none">
              <a:solidFill>
                <a:schemeClr val="dk1"/>
              </a:solidFill>
              <a:latin typeface="Calibri"/>
              <a:ea typeface="Calibri"/>
              <a:cs typeface="Calibri"/>
              <a:sym typeface="Calibri"/>
            </a:endParaRPr>
          </a:p>
        </p:txBody>
      </p:sp>
      <p:pic>
        <p:nvPicPr>
          <p:cNvPr id="2132" name="Google Shape;2132;p10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133" name="Google Shape;2133;p10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134" name="Google Shape;2134;p10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135" name="Google Shape;2135;p10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36" name="Google Shape;2136;p10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37" name="Google Shape;2137;p10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138" name="Google Shape;2138;p10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TP05 : expliquer une partition</a:t>
            </a:r>
            <a:endParaRPr/>
          </a:p>
        </p:txBody>
      </p:sp>
      <p:sp>
        <p:nvSpPr>
          <p:cNvPr id="2139" name="Google Shape;2139;p10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quatre méthodes sur les mêmes données et les mêmes échelles.</a:t>
            </a:r>
            <a:endParaRPr/>
          </a:p>
        </p:txBody>
      </p:sp>
      <p:sp>
        <p:nvSpPr>
          <p:cNvPr id="2140" name="Google Shape;2140;p10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Rapporter silhouette, bruit, stabilité et ARI sur les données synthétiques.</a:t>
            </a:r>
            <a:endParaRPr/>
          </a:p>
        </p:txBody>
      </p:sp>
      <p:sp>
        <p:nvSpPr>
          <p:cNvPr id="2141" name="Google Shape;2141;p10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Présenter un exemple de partition trompeuse et sa cause.</a:t>
            </a:r>
            <a:endParaRPr/>
          </a:p>
        </p:txBody>
      </p:sp>
      <p:sp>
        <p:nvSpPr>
          <p:cNvPr id="2142" name="Google Shape;2142;p10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150 minutes · notebooks/etudiants/05_clustering.ipynb</a:t>
            </a:r>
            <a:endParaRPr/>
          </a:p>
        </p:txBody>
      </p:sp>
      <p:sp>
        <p:nvSpPr>
          <p:cNvPr id="2143" name="Google Shape;2143;p10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R21 · liens et détails dans les notes</a:t>
            </a:r>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8" name="Shape 2148"/>
        <p:cNvGrpSpPr/>
        <p:nvPr/>
      </p:nvGrpSpPr>
      <p:grpSpPr>
        <a:xfrm>
          <a:off x="0" y="0"/>
          <a:ext cx="0" cy="0"/>
          <a:chOff x="0" y="0"/>
          <a:chExt cx="0" cy="0"/>
        </a:xfrm>
      </p:grpSpPr>
      <p:sp>
        <p:nvSpPr>
          <p:cNvPr id="2149" name="Google Shape;2149;p10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50" name="Google Shape;2150;p10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51" name="Google Shape;2151;p10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52" name="Google Shape;2152;p10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100</a:t>
            </a:r>
            <a:endParaRPr b="0" i="0" sz="1300" u="none" cap="none">
              <a:solidFill>
                <a:schemeClr val="dk1"/>
              </a:solidFill>
              <a:latin typeface="Calibri"/>
              <a:ea typeface="Calibri"/>
              <a:cs typeface="Calibri"/>
              <a:sym typeface="Calibri"/>
            </a:endParaRPr>
          </a:p>
        </p:txBody>
      </p:sp>
      <p:pic>
        <p:nvPicPr>
          <p:cNvPr id="2153" name="Google Shape;2153;p10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154" name="Google Shape;2154;p10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155" name="Google Shape;2155;p10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156" name="Google Shape;2156;p10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57" name="Google Shape;2157;p10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58" name="Google Shape;2158;p10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159" name="Google Shape;2159;p10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Quiz J4 : reconnaître les hypothèses</a:t>
            </a:r>
            <a:endParaRPr/>
          </a:p>
        </p:txBody>
      </p:sp>
      <p:sp>
        <p:nvSpPr>
          <p:cNvPr id="2160" name="Google Shape;2160;p108"/>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baisse d'inertie prouve-t-elle que le nouveau K est meilleur ?</a:t>
            </a:r>
            <a:endParaRPr/>
          </a:p>
        </p:txBody>
      </p:sp>
      <p:sp>
        <p:nvSpPr>
          <p:cNvPr id="2161" name="Google Shape;2161;p108"/>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bonne silhouette suffit-elle si 70 % des points sont classés bruit ?</a:t>
            </a:r>
            <a:endParaRPr/>
          </a:p>
        </p:txBody>
      </p:sp>
      <p:sp>
        <p:nvSpPr>
          <p:cNvPr id="2162" name="Google Shape;2162;p108"/>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composante PCA est-elle forcément prédictive de la cible ?</a:t>
            </a:r>
            <a:endParaRPr/>
          </a:p>
        </p:txBody>
      </p:sp>
      <p:sp>
        <p:nvSpPr>
          <p:cNvPr id="2163" name="Google Shape;2163;p10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R20, R22 · liens et détails dans les notes</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EE5"/>
        </a:solidFill>
      </p:bgPr>
    </p:bg>
    <p:spTree>
      <p:nvGrpSpPr>
        <p:cNvPr id="2168" name="Shape 2168"/>
        <p:cNvGrpSpPr/>
        <p:nvPr/>
      </p:nvGrpSpPr>
      <p:grpSpPr>
        <a:xfrm>
          <a:off x="0" y="0"/>
          <a:ext cx="0" cy="0"/>
          <a:chOff x="0" y="0"/>
          <a:chExt cx="0" cy="0"/>
        </a:xfrm>
      </p:grpSpPr>
      <p:sp>
        <p:nvSpPr>
          <p:cNvPr id="2169" name="Google Shape;2169;p10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70" name="Google Shape;2170;p10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71" name="Google Shape;2171;p10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72" name="Google Shape;2172;p10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101</a:t>
            </a:r>
            <a:endParaRPr b="0" i="0" sz="1300" u="none" cap="none">
              <a:solidFill>
                <a:schemeClr val="dk1"/>
              </a:solidFill>
              <a:latin typeface="Calibri"/>
              <a:ea typeface="Calibri"/>
              <a:cs typeface="Calibri"/>
              <a:sym typeface="Calibri"/>
            </a:endParaRPr>
          </a:p>
        </p:txBody>
      </p:sp>
      <p:pic>
        <p:nvPicPr>
          <p:cNvPr id="2173" name="Google Shape;2173;p10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174" name="Google Shape;2174;p10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175" name="Google Shape;2175;p10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4</a:t>
            </a:r>
            <a:endParaRPr b="0" sz="1300" u="none" cap="none">
              <a:solidFill>
                <a:schemeClr val="dk1"/>
              </a:solidFill>
              <a:latin typeface="Calibri"/>
              <a:ea typeface="Calibri"/>
              <a:cs typeface="Calibri"/>
              <a:sym typeface="Calibri"/>
            </a:endParaRPr>
          </a:p>
        </p:txBody>
      </p:sp>
      <p:sp>
        <p:nvSpPr>
          <p:cNvPr id="2176" name="Google Shape;2176;p10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77" name="Google Shape;2177;p10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78" name="Google Shape;2178;p10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179" name="Google Shape;2179;p10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Les acquis du jour 4</a:t>
            </a:r>
            <a:endParaRPr/>
          </a:p>
        </p:txBody>
      </p:sp>
      <p:sp>
        <p:nvSpPr>
          <p:cNvPr id="2180" name="Google Shape;2180;p10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représentation et une distance explicites.</a:t>
            </a:r>
            <a:endParaRPr/>
          </a:p>
        </p:txBody>
      </p:sp>
      <p:sp>
        <p:nvSpPr>
          <p:cNvPr id="2181" name="Google Shape;2181;p10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Des méthodes comparées selon leurs hypothèses géométriques.</a:t>
            </a:r>
            <a:endParaRPr/>
          </a:p>
        </p:txBody>
      </p:sp>
      <p:sp>
        <p:nvSpPr>
          <p:cNvPr id="2182" name="Google Shape;2182;p10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partition évaluée par plusieurs diagnostics et un usage concret.</a:t>
            </a:r>
            <a:endParaRPr/>
          </a:p>
        </p:txBody>
      </p:sp>
      <p:sp>
        <p:nvSpPr>
          <p:cNvPr id="2183" name="Google Shape;2183;p10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Demain : expliquer, documenter et défendre le modèle final</a:t>
            </a:r>
            <a:endParaRPr/>
          </a:p>
        </p:txBody>
      </p:sp>
      <p:sp>
        <p:nvSpPr>
          <p:cNvPr id="2184" name="Google Shape;2184;p10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A364"/>
        </a:solidFill>
      </p:bgPr>
    </p:bg>
    <p:spTree>
      <p:nvGrpSpPr>
        <p:cNvPr id="2189" name="Shape 2189"/>
        <p:cNvGrpSpPr/>
        <p:nvPr/>
      </p:nvGrpSpPr>
      <p:grpSpPr>
        <a:xfrm>
          <a:off x="0" y="0"/>
          <a:ext cx="0" cy="0"/>
          <a:chOff x="0" y="0"/>
          <a:chExt cx="0" cy="0"/>
        </a:xfrm>
      </p:grpSpPr>
      <p:sp>
        <p:nvSpPr>
          <p:cNvPr id="2190" name="Google Shape;2190;p110"/>
          <p:cNvSpPr/>
          <p:nvPr/>
        </p:nvSpPr>
        <p:spPr>
          <a:xfrm>
            <a:off x="952505" y="3947599"/>
            <a:ext cx="10287000" cy="192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191" name="Google Shape;2191;p110"/>
          <p:cNvSpPr/>
          <p:nvPr/>
        </p:nvSpPr>
        <p:spPr>
          <a:xfrm>
            <a:off x="952805" y="2076602"/>
            <a:ext cx="1452982"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000" u="none" cap="none">
                <a:solidFill>
                  <a:srgbClr val="FFFFFF"/>
                </a:solidFill>
                <a:latin typeface="Roboto Mono"/>
                <a:ea typeface="Roboto Mono"/>
                <a:cs typeface="Roboto Mono"/>
                <a:sym typeface="Roboto Mono"/>
              </a:rPr>
              <a:t>05</a:t>
            </a:r>
            <a:endParaRPr b="0" i="0" sz="6700" u="none" cap="none">
              <a:solidFill>
                <a:schemeClr val="lt1"/>
              </a:solidFill>
              <a:latin typeface="Calibri"/>
              <a:ea typeface="Calibri"/>
              <a:cs typeface="Calibri"/>
              <a:sym typeface="Calibri"/>
            </a:endParaRPr>
          </a:p>
        </p:txBody>
      </p:sp>
      <p:sp>
        <p:nvSpPr>
          <p:cNvPr id="2192" name="Google Shape;2192;p110"/>
          <p:cNvSpPr/>
          <p:nvPr/>
        </p:nvSpPr>
        <p:spPr>
          <a:xfrm>
            <a:off x="1946758" y="2076602"/>
            <a:ext cx="976579" cy="11146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6700"/>
              <a:buFont typeface="DM Sans"/>
              <a:buNone/>
            </a:pPr>
            <a:r>
              <a:rPr b="0" i="0" lang="en-US" sz="6700" u="none" cap="none">
                <a:solidFill>
                  <a:schemeClr val="lt1"/>
                </a:solidFill>
                <a:latin typeface="DM Sans"/>
                <a:ea typeface="DM Sans"/>
                <a:cs typeface="DM Sans"/>
                <a:sym typeface="DM Sans"/>
              </a:rPr>
              <a:t>/</a:t>
            </a:r>
            <a:endParaRPr b="0" i="0" sz="6700" u="none" cap="none">
              <a:solidFill>
                <a:schemeClr val="lt1"/>
              </a:solidFill>
              <a:latin typeface="Calibri"/>
              <a:ea typeface="Calibri"/>
              <a:cs typeface="Calibri"/>
              <a:sym typeface="Calibri"/>
            </a:endParaRPr>
          </a:p>
        </p:txBody>
      </p:sp>
      <p:sp>
        <p:nvSpPr>
          <p:cNvPr id="2193" name="Google Shape;2193;p110"/>
          <p:cNvSpPr/>
          <p:nvPr/>
        </p:nvSpPr>
        <p:spPr>
          <a:xfrm>
            <a:off x="2619375" y="2209800"/>
            <a:ext cx="8620125" cy="1638300"/>
          </a:xfrm>
          <a:prstGeom prst="rect">
            <a:avLst/>
          </a:prstGeom>
          <a:noFill/>
          <a:ln>
            <a:noFill/>
          </a:ln>
        </p:spPr>
        <p:txBody>
          <a:bodyPr anchorCtr="0" anchor="t" bIns="0" lIns="0" spcFirstLastPara="1" rIns="0" wrap="square" tIns="0">
            <a:noAutofit/>
          </a:bodyPr>
          <a:lstStyle/>
          <a:p>
            <a:pPr indent="0" lvl="0" marL="0" marR="0" rtl="0" algn="l">
              <a:lnSpc>
                <a:spcPct val="65000"/>
              </a:lnSpc>
              <a:spcBef>
                <a:spcPts val="0"/>
              </a:spcBef>
              <a:spcAft>
                <a:spcPts val="0"/>
              </a:spcAft>
              <a:buClr>
                <a:srgbClr val="000000"/>
              </a:buClr>
              <a:buSzPts val="7500"/>
              <a:buFont typeface="Archivo Black"/>
              <a:buNone/>
            </a:pPr>
            <a:r>
              <a:rPr lang="en-US" sz="4050">
                <a:solidFill>
                  <a:srgbClr val="FFFFFF"/>
                </a:solidFill>
                <a:latin typeface="Archivo Black"/>
                <a:ea typeface="Archivo Black"/>
                <a:cs typeface="Archivo Black"/>
                <a:sym typeface="Archivo Black"/>
              </a:rPr>
              <a:t>Interpréter et restituer</a:t>
            </a:r>
            <a:endParaRPr sz="7500">
              <a:solidFill>
                <a:schemeClr val="lt1"/>
              </a:solidFill>
              <a:latin typeface="Archivo Black"/>
              <a:ea typeface="Archivo Black"/>
              <a:cs typeface="Archivo Black"/>
              <a:sym typeface="Archivo Black"/>
            </a:endParaRPr>
          </a:p>
        </p:txBody>
      </p:sp>
      <p:sp>
        <p:nvSpPr>
          <p:cNvPr id="2194" name="Google Shape;2194;p11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195" name="Google Shape;2195;p11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102</a:t>
            </a:r>
            <a:endParaRPr b="0" i="0" sz="1300" u="none" cap="none">
              <a:solidFill>
                <a:schemeClr val="dk1"/>
              </a:solidFill>
              <a:latin typeface="Calibri"/>
              <a:ea typeface="Calibri"/>
              <a:cs typeface="Calibri"/>
              <a:sym typeface="Calibri"/>
            </a:endParaRPr>
          </a:p>
        </p:txBody>
      </p:sp>
      <p:pic>
        <p:nvPicPr>
          <p:cNvPr id="2196" name="Google Shape;2196;p110"/>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pic>
        <p:nvPicPr>
          <p:cNvPr id="2197" name="Google Shape;2197;p110"/>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2198" name="Google Shape;2198;p11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199" name="Google Shape;2199;p11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00" name="Google Shape;2200;p110"/>
          <p:cNvSpPr/>
          <p:nvPr/>
        </p:nvSpPr>
        <p:spPr>
          <a:xfrm>
            <a:off x="952500" y="4476750"/>
            <a:ext cx="1028700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00">
                <a:solidFill>
                  <a:srgbClr val="FFFFFF"/>
                </a:solidFill>
                <a:latin typeface="DM Sans"/>
                <a:ea typeface="DM Sans"/>
                <a:cs typeface="DM Sans"/>
                <a:sym typeface="DM Sans"/>
              </a:rPr>
              <a:t>Vendredi 25 septembre · Défendre une décision avec ses limites</a:t>
            </a:r>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5" name="Shape 2205"/>
        <p:cNvGrpSpPr/>
        <p:nvPr/>
      </p:nvGrpSpPr>
      <p:grpSpPr>
        <a:xfrm>
          <a:off x="0" y="0"/>
          <a:ext cx="0" cy="0"/>
          <a:chOff x="0" y="0"/>
          <a:chExt cx="0" cy="0"/>
        </a:xfrm>
      </p:grpSpPr>
      <p:sp>
        <p:nvSpPr>
          <p:cNvPr id="2206" name="Google Shape;2206;p11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07" name="Google Shape;2207;p11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08" name="Google Shape;2208;p11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09" name="Google Shape;2209;p11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103</a:t>
            </a:r>
            <a:endParaRPr b="0" i="0" sz="1300" u="none" cap="none">
              <a:solidFill>
                <a:schemeClr val="dk1"/>
              </a:solidFill>
              <a:latin typeface="Calibri"/>
              <a:ea typeface="Calibri"/>
              <a:cs typeface="Calibri"/>
              <a:sym typeface="Calibri"/>
            </a:endParaRPr>
          </a:p>
        </p:txBody>
      </p:sp>
      <p:pic>
        <p:nvPicPr>
          <p:cNvPr id="2210" name="Google Shape;2210;p11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211" name="Google Shape;2211;p11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212" name="Google Shape;2212;p11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213" name="Google Shape;2213;p11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214" name="Google Shape;2214;p11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215" name="Google Shape;2215;p11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16" name="Google Shape;2216;p11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Trois niveaux d'explication</a:t>
            </a:r>
            <a:endParaRPr/>
          </a:p>
        </p:txBody>
      </p:sp>
      <p:sp>
        <p:nvSpPr>
          <p:cNvPr id="2217" name="Google Shape;2217;p11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Global : quelles variables le modèle utilise-t-il sur une population ?</a:t>
            </a:r>
            <a:endParaRPr/>
          </a:p>
        </p:txBody>
      </p:sp>
      <p:sp>
        <p:nvSpPr>
          <p:cNvPr id="2218" name="Google Shape;2218;p11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Local : pourquoi produit-il cette prédiction pour cet exemple ?</a:t>
            </a:r>
            <a:endParaRPr/>
          </a:p>
        </p:txBody>
      </p:sp>
      <p:sp>
        <p:nvSpPr>
          <p:cNvPr id="2219" name="Google Shape;2219;p11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Action : quelle intervention changerait réellement le résultat ?</a:t>
            </a:r>
            <a:endParaRPr/>
          </a:p>
        </p:txBody>
      </p:sp>
      <p:sp>
        <p:nvSpPr>
          <p:cNvPr id="2220" name="Google Shape;2220;p11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explication prédictive ne répond pas automatiquement à une question causale</a:t>
            </a:r>
            <a:endParaRPr/>
          </a:p>
        </p:txBody>
      </p:sp>
      <p:sp>
        <p:nvSpPr>
          <p:cNvPr id="2221" name="Google Shape;2221;p11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R25, R27 · liens et détails dans les notes</a:t>
            </a:r>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6" name="Shape 2226"/>
        <p:cNvGrpSpPr/>
        <p:nvPr/>
      </p:nvGrpSpPr>
      <p:grpSpPr>
        <a:xfrm>
          <a:off x="0" y="0"/>
          <a:ext cx="0" cy="0"/>
          <a:chOff x="0" y="0"/>
          <a:chExt cx="0" cy="0"/>
        </a:xfrm>
      </p:grpSpPr>
      <p:sp>
        <p:nvSpPr>
          <p:cNvPr id="2227" name="Google Shape;2227;p11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28" name="Google Shape;2228;p11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29" name="Google Shape;2229;p11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30" name="Google Shape;2230;p11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104</a:t>
            </a:r>
            <a:endParaRPr b="0" i="0" sz="1300" u="none" cap="none">
              <a:solidFill>
                <a:schemeClr val="dk1"/>
              </a:solidFill>
              <a:latin typeface="Calibri"/>
              <a:ea typeface="Calibri"/>
              <a:cs typeface="Calibri"/>
              <a:sym typeface="Calibri"/>
            </a:endParaRPr>
          </a:p>
        </p:txBody>
      </p:sp>
      <p:pic>
        <p:nvPicPr>
          <p:cNvPr id="2231" name="Google Shape;2231;p11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232" name="Google Shape;2232;p11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233" name="Google Shape;2233;p11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234" name="Google Shape;2234;p11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235" name="Google Shape;2235;p11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236" name="Google Shape;2236;p11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37" name="Google Shape;2237;p11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Importance par permutation</a:t>
            </a:r>
            <a:endParaRPr/>
          </a:p>
        </p:txBody>
      </p:sp>
      <p:pic>
        <p:nvPicPr>
          <p:cNvPr id="2238" name="Google Shape;2238;p112"/>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2239" name="Google Shape;2239;p112"/>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Mélanger une variable puis mesurer la dégradation du score.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Répéter pour observer la variabilité.</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Interpréter sur un jeu de diagnostic réservé.</a:t>
            </a:r>
            <a:endParaRPr/>
          </a:p>
        </p:txBody>
      </p:sp>
      <p:sp>
        <p:nvSpPr>
          <p:cNvPr id="2240" name="Google Shape;2240;p112"/>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Friedman synthétique : x0 à x4 sont informatives par construction. Importance sur validation, 5 permutations.</a:t>
            </a:r>
            <a:endParaRPr/>
          </a:p>
        </p:txBody>
      </p:sp>
      <p:sp>
        <p:nvSpPr>
          <p:cNvPr id="2241" name="Google Shape;2241;p11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R25 · liens et détails dans les notes</a:t>
            </a:r>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6" name="Shape 2246"/>
        <p:cNvGrpSpPr/>
        <p:nvPr/>
      </p:nvGrpSpPr>
      <p:grpSpPr>
        <a:xfrm>
          <a:off x="0" y="0"/>
          <a:ext cx="0" cy="0"/>
          <a:chOff x="0" y="0"/>
          <a:chExt cx="0" cy="0"/>
        </a:xfrm>
      </p:grpSpPr>
      <p:sp>
        <p:nvSpPr>
          <p:cNvPr id="2247" name="Google Shape;2247;p11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48" name="Google Shape;2248;p11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49" name="Google Shape;2249;p11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50" name="Google Shape;2250;p11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105</a:t>
            </a:r>
            <a:endParaRPr b="0" i="0" sz="1300" u="none" cap="none">
              <a:solidFill>
                <a:schemeClr val="dk1"/>
              </a:solidFill>
              <a:latin typeface="Calibri"/>
              <a:ea typeface="Calibri"/>
              <a:cs typeface="Calibri"/>
              <a:sym typeface="Calibri"/>
            </a:endParaRPr>
          </a:p>
        </p:txBody>
      </p:sp>
      <p:pic>
        <p:nvPicPr>
          <p:cNvPr id="2251" name="Google Shape;2251;p11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252" name="Google Shape;2252;p11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253" name="Google Shape;2253;p11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254" name="Google Shape;2254;p11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255" name="Google Shape;2255;p11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256" name="Google Shape;2256;p11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57" name="Google Shape;2257;p11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Variables corrélées : une explication ambiguë</a:t>
            </a:r>
            <a:endParaRPr/>
          </a:p>
        </p:txBody>
      </p:sp>
      <p:sp>
        <p:nvSpPr>
          <p:cNvPr id="2258" name="Google Shape;2258;p11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Deux variables substituables peuvent se partager une information.</a:t>
            </a:r>
            <a:endParaRPr/>
          </a:p>
        </p:txBody>
      </p:sp>
      <p:sp>
        <p:nvSpPr>
          <p:cNvPr id="2259" name="Google Shape;2259;p11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permutation isolée peut sous-estimer leur rôle conjoint.</a:t>
            </a:r>
            <a:endParaRPr/>
          </a:p>
        </p:txBody>
      </p:sp>
      <p:sp>
        <p:nvSpPr>
          <p:cNvPr id="2260" name="Google Shape;2260;p11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Permuter un groupe cohérent ou comparer une ablation groupée.</a:t>
            </a:r>
            <a:endParaRPr/>
          </a:p>
        </p:txBody>
      </p:sp>
      <p:sp>
        <p:nvSpPr>
          <p:cNvPr id="2261" name="Google Shape;2261;p11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faible importance individuelle ne signifie pas « variable inutile »</a:t>
            </a:r>
            <a:endParaRPr/>
          </a:p>
        </p:txBody>
      </p:sp>
      <p:sp>
        <p:nvSpPr>
          <p:cNvPr id="2262" name="Google Shape;2262;p11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R25, R27 · liens et détails dans les notes</a:t>
            </a:r>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7" name="Shape 2267"/>
        <p:cNvGrpSpPr/>
        <p:nvPr/>
      </p:nvGrpSpPr>
      <p:grpSpPr>
        <a:xfrm>
          <a:off x="0" y="0"/>
          <a:ext cx="0" cy="0"/>
          <a:chOff x="0" y="0"/>
          <a:chExt cx="0" cy="0"/>
        </a:xfrm>
      </p:grpSpPr>
      <p:sp>
        <p:nvSpPr>
          <p:cNvPr id="2268" name="Google Shape;2268;p11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69" name="Google Shape;2269;p11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70" name="Google Shape;2270;p11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71" name="Google Shape;2271;p11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106</a:t>
            </a:r>
            <a:endParaRPr b="0" i="0" sz="1300" u="none" cap="none">
              <a:solidFill>
                <a:schemeClr val="dk1"/>
              </a:solidFill>
              <a:latin typeface="Calibri"/>
              <a:ea typeface="Calibri"/>
              <a:cs typeface="Calibri"/>
              <a:sym typeface="Calibri"/>
            </a:endParaRPr>
          </a:p>
        </p:txBody>
      </p:sp>
      <p:pic>
        <p:nvPicPr>
          <p:cNvPr id="2272" name="Google Shape;2272;p11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273" name="Google Shape;2273;p11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274" name="Google Shape;2274;p11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275" name="Google Shape;2275;p11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276" name="Google Shape;2276;p11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277" name="Google Shape;2277;p11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78" name="Google Shape;2278;p11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PDP et ICE</a:t>
            </a:r>
            <a:endParaRPr/>
          </a:p>
        </p:txBody>
      </p:sp>
      <p:sp>
        <p:nvSpPr>
          <p:cNvPr id="2279" name="Google Shape;2279;p11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PDP : moyenne des prédictions lorsque l'on fait varier une feature.</a:t>
            </a:r>
            <a:endParaRPr/>
          </a:p>
        </p:txBody>
      </p:sp>
      <p:sp>
        <p:nvSpPr>
          <p:cNvPr id="2280" name="Google Shape;2280;p11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ICE : une courbe par observation pour montrer l'hétérogénéité.</a:t>
            </a:r>
            <a:endParaRPr/>
          </a:p>
        </p:txBody>
      </p:sp>
      <p:sp>
        <p:nvSpPr>
          <p:cNvPr id="2281" name="Google Shape;2281;p11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Les combinaisons fabriquées peuvent être irréalistes avec des variables corrélées.</a:t>
            </a:r>
            <a:endParaRPr/>
          </a:p>
        </p:txBody>
      </p:sp>
      <p:sp>
        <p:nvSpPr>
          <p:cNvPr id="2282" name="Google Shape;2282;p11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Lire l'échelle de sortie et l'espace dans lequel les observations sont plausibles</a:t>
            </a:r>
            <a:endParaRPr/>
          </a:p>
        </p:txBody>
      </p:sp>
      <p:sp>
        <p:nvSpPr>
          <p:cNvPr id="2283" name="Google Shape;2283;p11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R26 · liens et détails dans les notes</a:t>
            </a:r>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8" name="Shape 2288"/>
        <p:cNvGrpSpPr/>
        <p:nvPr/>
      </p:nvGrpSpPr>
      <p:grpSpPr>
        <a:xfrm>
          <a:off x="0" y="0"/>
          <a:ext cx="0" cy="0"/>
          <a:chOff x="0" y="0"/>
          <a:chExt cx="0" cy="0"/>
        </a:xfrm>
      </p:grpSpPr>
      <p:sp>
        <p:nvSpPr>
          <p:cNvPr id="2289" name="Google Shape;2289;p11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90" name="Google Shape;2290;p11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91" name="Google Shape;2291;p11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292" name="Google Shape;2292;p11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107</a:t>
            </a:r>
            <a:endParaRPr b="0" i="0" sz="1300" u="none" cap="none">
              <a:solidFill>
                <a:schemeClr val="dk1"/>
              </a:solidFill>
              <a:latin typeface="Calibri"/>
              <a:ea typeface="Calibri"/>
              <a:cs typeface="Calibri"/>
              <a:sym typeface="Calibri"/>
            </a:endParaRPr>
          </a:p>
        </p:txBody>
      </p:sp>
      <p:pic>
        <p:nvPicPr>
          <p:cNvPr id="2293" name="Google Shape;2293;p11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294" name="Google Shape;2294;p11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295" name="Google Shape;2295;p11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296" name="Google Shape;2296;p11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297" name="Google Shape;2297;p11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298" name="Google Shape;2298;p11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299" name="Google Shape;2299;p11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SHAP : répartir une différence de prédiction</a:t>
            </a:r>
            <a:endParaRPr/>
          </a:p>
        </p:txBody>
      </p:sp>
      <p:sp>
        <p:nvSpPr>
          <p:cNvPr id="2300" name="Google Shape;2300;p115"/>
          <p:cNvSpPr/>
          <p:nvPr/>
        </p:nvSpPr>
        <p:spPr>
          <a:xfrm>
            <a:off x="819150" y="26098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φ₀ est une valeur de référence définie par l'explication.</a:t>
            </a:r>
            <a:endParaRPr/>
          </a:p>
        </p:txBody>
      </p:sp>
      <p:sp>
        <p:nvSpPr>
          <p:cNvPr id="2301" name="Google Shape;2301;p115"/>
          <p:cNvSpPr/>
          <p:nvPr/>
        </p:nvSpPr>
        <p:spPr>
          <a:xfrm>
            <a:off x="819150" y="35433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φj répartit une contribution selon une règle de coopération.</a:t>
            </a:r>
            <a:endParaRPr/>
          </a:p>
        </p:txBody>
      </p:sp>
      <p:sp>
        <p:nvSpPr>
          <p:cNvPr id="2302" name="Google Shape;2302;p115"/>
          <p:cNvSpPr/>
          <p:nvPr/>
        </p:nvSpPr>
        <p:spPr>
          <a:xfrm>
            <a:off x="819150" y="44767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La référence et les dépendances entre variables changent l'interprétation.</a:t>
            </a:r>
            <a:endParaRPr/>
          </a:p>
        </p:txBody>
      </p:sp>
      <p:sp>
        <p:nvSpPr>
          <p:cNvPr id="2303" name="Google Shape;2303;p11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R27, R28 · liens et détails dans les notes</a:t>
            </a:r>
            <a:endParaRPr/>
          </a:p>
        </p:txBody>
      </p:sp>
      <p:pic>
        <p:nvPicPr>
          <p:cNvPr id="2304" name="Google Shape;2304;p115"/>
          <p:cNvPicPr preferRelativeResize="0"/>
          <p:nvPr/>
        </p:nvPicPr>
        <p:blipFill>
          <a:blip r:embed="rId5">
            <a:alphaModFix/>
          </a:blip>
          <a:stretch>
            <a:fillRect/>
          </a:stretch>
        </p:blipFill>
        <p:spPr>
          <a:xfrm>
            <a:off x="4244615" y="1430421"/>
            <a:ext cx="3417011" cy="904875"/>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9" name="Shape 2309"/>
        <p:cNvGrpSpPr/>
        <p:nvPr/>
      </p:nvGrpSpPr>
      <p:grpSpPr>
        <a:xfrm>
          <a:off x="0" y="0"/>
          <a:ext cx="0" cy="0"/>
          <a:chOff x="0" y="0"/>
          <a:chExt cx="0" cy="0"/>
        </a:xfrm>
      </p:grpSpPr>
      <p:sp>
        <p:nvSpPr>
          <p:cNvPr id="2310" name="Google Shape;2310;p11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11" name="Google Shape;2311;p11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12" name="Google Shape;2312;p11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13" name="Google Shape;2313;p11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108</a:t>
            </a:r>
            <a:endParaRPr b="0" i="0" sz="1300" u="none" cap="none">
              <a:solidFill>
                <a:schemeClr val="dk1"/>
              </a:solidFill>
              <a:latin typeface="Calibri"/>
              <a:ea typeface="Calibri"/>
              <a:cs typeface="Calibri"/>
              <a:sym typeface="Calibri"/>
            </a:endParaRPr>
          </a:p>
        </p:txBody>
      </p:sp>
      <p:pic>
        <p:nvPicPr>
          <p:cNvPr id="2314" name="Google Shape;2314;p11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315" name="Google Shape;2315;p11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316" name="Google Shape;2316;p11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317" name="Google Shape;2317;p11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18" name="Google Shape;2318;p11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319" name="Google Shape;2319;p11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320" name="Google Shape;2320;p11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 calcul de Shapley à deux variables</a:t>
            </a:r>
            <a:endParaRPr/>
          </a:p>
        </p:txBody>
      </p:sp>
      <p:graphicFrame>
        <p:nvGraphicFramePr>
          <p:cNvPr id="2321" name="Google Shape;2321;p116"/>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Coalition S</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v(S)</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Calcul</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Aucune variable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10</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Valeur de référence</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14</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Contribution de A seule : 4</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{B}</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12</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Contribution de B seule : 2</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{A,B}</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20</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Interaction incluse</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Attributions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φA = 6 ; φB = 4</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10 + 6 + 4 = 20</a:t>
                      </a:r>
                      <a:endParaRPr/>
                    </a:p>
                  </a:txBody>
                  <a:tcPr marT="45725" marB="45725" marR="91450" marL="91450">
                    <a:solidFill>
                      <a:srgbClr val="F4F5F8"/>
                    </a:solidFill>
                  </a:tcPr>
                </a:tc>
              </a:tr>
            </a:tbl>
          </a:graphicData>
        </a:graphic>
      </p:graphicFrame>
      <p:sp>
        <p:nvSpPr>
          <p:cNvPr id="2322" name="Google Shape;2322;p116"/>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φA = ½ [(14−10) + (20−12)] = 6 ; φB = 4</a:t>
            </a:r>
            <a:endParaRPr/>
          </a:p>
        </p:txBody>
      </p:sp>
      <p:sp>
        <p:nvSpPr>
          <p:cNvPr id="2323" name="Google Shape;2323;p11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R27 · liens et détails dans les notes</a:t>
            </a:r>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8" name="Shape 2328"/>
        <p:cNvGrpSpPr/>
        <p:nvPr/>
      </p:nvGrpSpPr>
      <p:grpSpPr>
        <a:xfrm>
          <a:off x="0" y="0"/>
          <a:ext cx="0" cy="0"/>
          <a:chOff x="0" y="0"/>
          <a:chExt cx="0" cy="0"/>
        </a:xfrm>
      </p:grpSpPr>
      <p:sp>
        <p:nvSpPr>
          <p:cNvPr id="2329" name="Google Shape;2329;p11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30" name="Google Shape;2330;p11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31" name="Google Shape;2331;p11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32" name="Google Shape;2332;p11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109</a:t>
            </a:r>
            <a:endParaRPr b="0" i="0" sz="1300" u="none" cap="none">
              <a:solidFill>
                <a:schemeClr val="dk1"/>
              </a:solidFill>
              <a:latin typeface="Calibri"/>
              <a:ea typeface="Calibri"/>
              <a:cs typeface="Calibri"/>
              <a:sym typeface="Calibri"/>
            </a:endParaRPr>
          </a:p>
        </p:txBody>
      </p:sp>
      <p:pic>
        <p:nvPicPr>
          <p:cNvPr id="2333" name="Google Shape;2333;p11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334" name="Google Shape;2334;p11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335" name="Google Shape;2335;p11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336" name="Google Shape;2336;p11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37" name="Google Shape;2337;p11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338" name="Google Shape;2338;p11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339" name="Google Shape;2339;p11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prédiction ponctuelle laisse une incertitude</a:t>
            </a:r>
            <a:endParaRPr/>
          </a:p>
        </p:txBody>
      </p:sp>
      <p:sp>
        <p:nvSpPr>
          <p:cNvPr id="2340" name="Google Shape;2340;p11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ŷ donne un centre, sans dire à quel point l'erreur peut être grande.</a:t>
            </a:r>
            <a:endParaRPr/>
          </a:p>
        </p:txBody>
      </p:sp>
      <p:sp>
        <p:nvSpPr>
          <p:cNvPr id="2341" name="Google Shape;2341;p11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intervalle vise une fréquence de couverture définie.</a:t>
            </a:r>
            <a:endParaRPr/>
          </a:p>
        </p:txBody>
      </p:sp>
      <p:sp>
        <p:nvSpPr>
          <p:cNvPr id="2342" name="Google Shape;2342;p11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Sa largeur doit être interprétée avec cette couverture.</a:t>
            </a:r>
            <a:endParaRPr/>
          </a:p>
        </p:txBody>
      </p:sp>
      <p:sp>
        <p:nvSpPr>
          <p:cNvPr id="2343" name="Google Shape;2343;p11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intervalle large peut être honnête mais peu utile pour décider</a:t>
            </a:r>
            <a:endParaRPr/>
          </a:p>
        </p:txBody>
      </p:sp>
      <p:sp>
        <p:nvSpPr>
          <p:cNvPr id="2344" name="Google Shape;2344;p11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R29 · liens et détails dans les notes</a:t>
            </a:r>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9" name="Shape 2349"/>
        <p:cNvGrpSpPr/>
        <p:nvPr/>
      </p:nvGrpSpPr>
      <p:grpSpPr>
        <a:xfrm>
          <a:off x="0" y="0"/>
          <a:ext cx="0" cy="0"/>
          <a:chOff x="0" y="0"/>
          <a:chExt cx="0" cy="0"/>
        </a:xfrm>
      </p:grpSpPr>
      <p:sp>
        <p:nvSpPr>
          <p:cNvPr id="2350" name="Google Shape;2350;p11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51" name="Google Shape;2351;p11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52" name="Google Shape;2352;p11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53" name="Google Shape;2353;p11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110</a:t>
            </a:r>
            <a:endParaRPr b="0" i="0" sz="1300" u="none" cap="none">
              <a:solidFill>
                <a:schemeClr val="dk1"/>
              </a:solidFill>
              <a:latin typeface="Calibri"/>
              <a:ea typeface="Calibri"/>
              <a:cs typeface="Calibri"/>
              <a:sym typeface="Calibri"/>
            </a:endParaRPr>
          </a:p>
        </p:txBody>
      </p:sp>
      <p:pic>
        <p:nvPicPr>
          <p:cNvPr id="2354" name="Google Shape;2354;p11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355" name="Google Shape;2355;p11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356" name="Google Shape;2356;p11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357" name="Google Shape;2357;p11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58" name="Google Shape;2358;p11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359" name="Google Shape;2359;p11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360" name="Google Shape;2360;p11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Split-conformal : trois ensembles séparés</a:t>
            </a:r>
            <a:endParaRPr/>
          </a:p>
        </p:txBody>
      </p:sp>
      <p:sp>
        <p:nvSpPr>
          <p:cNvPr id="2361" name="Google Shape;2361;p118"/>
          <p:cNvSpPr/>
          <p:nvPr/>
        </p:nvSpPr>
        <p:spPr>
          <a:xfrm>
            <a:off x="819150" y="2881238"/>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Entraîner f sans utiliser les données de calibration conforme.</a:t>
            </a:r>
            <a:endParaRPr/>
          </a:p>
        </p:txBody>
      </p:sp>
      <p:sp>
        <p:nvSpPr>
          <p:cNvPr id="2362" name="Google Shape;2362;p118"/>
          <p:cNvSpPr/>
          <p:nvPr/>
        </p:nvSpPr>
        <p:spPr>
          <a:xfrm>
            <a:off x="819150" y="374266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Calculer les résidus absolus sur calibration et choisir le rang corrigé.</a:t>
            </a:r>
            <a:endParaRPr/>
          </a:p>
        </p:txBody>
      </p:sp>
      <p:sp>
        <p:nvSpPr>
          <p:cNvPr id="2363" name="Google Shape;2363;p118"/>
          <p:cNvSpPr/>
          <p:nvPr/>
        </p:nvSpPr>
        <p:spPr>
          <a:xfrm>
            <a:off x="819150" y="4476750"/>
            <a:ext cx="104775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Produire [f(x)−q, f(x)+q] pour une nouvelle observation.</a:t>
            </a:r>
            <a:endParaRPr/>
          </a:p>
        </p:txBody>
      </p:sp>
      <p:sp>
        <p:nvSpPr>
          <p:cNvPr id="2364" name="Google Shape;2364;p11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R29 · liens et détails dans les notes</a:t>
            </a:r>
            <a:endParaRPr/>
          </a:p>
        </p:txBody>
      </p:sp>
      <p:pic>
        <p:nvPicPr>
          <p:cNvPr id="2365" name="Google Shape;2365;p118"/>
          <p:cNvPicPr preferRelativeResize="0"/>
          <p:nvPr/>
        </p:nvPicPr>
        <p:blipFill>
          <a:blip r:embed="rId5">
            <a:alphaModFix/>
          </a:blip>
          <a:stretch>
            <a:fillRect/>
          </a:stretch>
        </p:blipFill>
        <p:spPr>
          <a:xfrm>
            <a:off x="580625" y="1478350"/>
            <a:ext cx="11508118" cy="125425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0" name="Shape 2370"/>
        <p:cNvGrpSpPr/>
        <p:nvPr/>
      </p:nvGrpSpPr>
      <p:grpSpPr>
        <a:xfrm>
          <a:off x="0" y="0"/>
          <a:ext cx="0" cy="0"/>
          <a:chOff x="0" y="0"/>
          <a:chExt cx="0" cy="0"/>
        </a:xfrm>
      </p:grpSpPr>
      <p:sp>
        <p:nvSpPr>
          <p:cNvPr id="2371" name="Google Shape;2371;p11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72" name="Google Shape;2372;p11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73" name="Google Shape;2373;p11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74" name="Google Shape;2374;p11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111</a:t>
            </a:r>
            <a:endParaRPr b="0" i="0" sz="1300" u="none" cap="none">
              <a:solidFill>
                <a:schemeClr val="dk1"/>
              </a:solidFill>
              <a:latin typeface="Calibri"/>
              <a:ea typeface="Calibri"/>
              <a:cs typeface="Calibri"/>
              <a:sym typeface="Calibri"/>
            </a:endParaRPr>
          </a:p>
        </p:txBody>
      </p:sp>
      <p:pic>
        <p:nvPicPr>
          <p:cNvPr id="2375" name="Google Shape;2375;p11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376" name="Google Shape;2376;p11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377" name="Google Shape;2377;p11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378" name="Google Shape;2378;p11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79" name="Google Shape;2379;p11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380" name="Google Shape;2380;p11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381" name="Google Shape;2381;p11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Lire les intervalles conformes</a:t>
            </a:r>
            <a:endParaRPr/>
          </a:p>
        </p:txBody>
      </p:sp>
      <p:pic>
        <p:nvPicPr>
          <p:cNvPr id="2382" name="Google Shape;2382;p119"/>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2383" name="Google Shape;2383;p119"/>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Certaines observations peuvent sortir de leur intervalle.</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Une couverture de 90 % est une propriété marginale sous hypothèses.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 test fini peut afficher une couverture différente de 90 %.</a:t>
            </a:r>
            <a:endParaRPr/>
          </a:p>
        </p:txBody>
      </p:sp>
      <p:sp>
        <p:nvSpPr>
          <p:cNvPr id="2384" name="Google Shape;2384;p119"/>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Split-conformal 90% : 600 train, 200 calibration, 200 test ; extrait des 40 plus petites prédictions. Couverture marginale, pas individuelle.</a:t>
            </a:r>
            <a:endParaRPr/>
          </a:p>
        </p:txBody>
      </p:sp>
      <p:sp>
        <p:nvSpPr>
          <p:cNvPr id="2385" name="Google Shape;2385;p11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R29 · liens et détails dans les notes</a:t>
            </a:r>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0" name="Shape 2390"/>
        <p:cNvGrpSpPr/>
        <p:nvPr/>
      </p:nvGrpSpPr>
      <p:grpSpPr>
        <a:xfrm>
          <a:off x="0" y="0"/>
          <a:ext cx="0" cy="0"/>
          <a:chOff x="0" y="0"/>
          <a:chExt cx="0" cy="0"/>
        </a:xfrm>
      </p:grpSpPr>
      <p:sp>
        <p:nvSpPr>
          <p:cNvPr id="2391" name="Google Shape;2391;p12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92" name="Google Shape;2392;p12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93" name="Google Shape;2393;p12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394" name="Google Shape;2394;p12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112</a:t>
            </a:r>
            <a:endParaRPr b="0" i="0" sz="1300" u="none" cap="none">
              <a:solidFill>
                <a:schemeClr val="dk1"/>
              </a:solidFill>
              <a:latin typeface="Calibri"/>
              <a:ea typeface="Calibri"/>
              <a:cs typeface="Calibri"/>
              <a:sym typeface="Calibri"/>
            </a:endParaRPr>
          </a:p>
        </p:txBody>
      </p:sp>
      <p:pic>
        <p:nvPicPr>
          <p:cNvPr id="2395" name="Google Shape;2395;p12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396" name="Google Shape;2396;p12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397" name="Google Shape;2397;p12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398" name="Google Shape;2398;p12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399" name="Google Shape;2399;p12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400" name="Google Shape;2400;p12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401" name="Google Shape;2401;p12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Évaluer des segments</a:t>
            </a:r>
            <a:endParaRPr/>
          </a:p>
        </p:txBody>
      </p:sp>
      <p:sp>
        <p:nvSpPr>
          <p:cNvPr id="2402" name="Google Shape;2402;p120"/>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Rapporter performance et effectifs pour des groupes pertinents.</a:t>
            </a:r>
            <a:endParaRPr/>
          </a:p>
        </p:txBody>
      </p:sp>
      <p:sp>
        <p:nvSpPr>
          <p:cNvPr id="2403" name="Google Shape;2403;p120"/>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Examiner rappel, calibration et types d'erreurs.</a:t>
            </a:r>
            <a:endParaRPr/>
          </a:p>
        </p:txBody>
      </p:sp>
      <p:sp>
        <p:nvSpPr>
          <p:cNvPr id="2404" name="Google Shape;2404;p120"/>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Signaler les petits échantillons et les populations absentes.</a:t>
            </a:r>
            <a:endParaRPr/>
          </a:p>
        </p:txBody>
      </p:sp>
      <p:sp>
        <p:nvSpPr>
          <p:cNvPr id="2405" name="Google Shape;2405;p120"/>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moyenne satisfaisante peut masquer un échec local</a:t>
            </a:r>
            <a:endParaRPr/>
          </a:p>
        </p:txBody>
      </p:sp>
      <p:sp>
        <p:nvSpPr>
          <p:cNvPr id="2406" name="Google Shape;2406;p12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R30, R16 · liens et détails dans les notes</a:t>
            </a:r>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1" name="Shape 2411"/>
        <p:cNvGrpSpPr/>
        <p:nvPr/>
      </p:nvGrpSpPr>
      <p:grpSpPr>
        <a:xfrm>
          <a:off x="0" y="0"/>
          <a:ext cx="0" cy="0"/>
          <a:chOff x="0" y="0"/>
          <a:chExt cx="0" cy="0"/>
        </a:xfrm>
      </p:grpSpPr>
      <p:sp>
        <p:nvSpPr>
          <p:cNvPr id="2412" name="Google Shape;2412;p12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13" name="Google Shape;2413;p12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14" name="Google Shape;2414;p12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15" name="Google Shape;2415;p12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113</a:t>
            </a:r>
            <a:endParaRPr b="0" i="0" sz="1300" u="none" cap="none">
              <a:solidFill>
                <a:schemeClr val="dk1"/>
              </a:solidFill>
              <a:latin typeface="Calibri"/>
              <a:ea typeface="Calibri"/>
              <a:cs typeface="Calibri"/>
              <a:sym typeface="Calibri"/>
            </a:endParaRPr>
          </a:p>
        </p:txBody>
      </p:sp>
      <p:pic>
        <p:nvPicPr>
          <p:cNvPr id="2416" name="Google Shape;2416;p12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17" name="Google Shape;2417;p12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18" name="Google Shape;2418;p12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419" name="Google Shape;2419;p12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420" name="Google Shape;2420;p12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421" name="Google Shape;2421;p12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422" name="Google Shape;2422;p121"/>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Préparer un modèle à être utilisé</a:t>
            </a:r>
            <a:endParaRPr/>
          </a:p>
        </p:txBody>
      </p:sp>
      <p:sp>
        <p:nvSpPr>
          <p:cNvPr id="2423" name="Google Shape;2423;p12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Sérialiser toute la pipeline avec son schéma d'entrée.</a:t>
            </a:r>
            <a:endParaRPr/>
          </a:p>
        </p:txBody>
      </p:sp>
      <p:sp>
        <p:nvSpPr>
          <p:cNvPr id="2424" name="Google Shape;2424;p12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Enregistrer versions, données, paramètres, seuil et protocole.</a:t>
            </a:r>
            <a:endParaRPr/>
          </a:p>
        </p:txBody>
      </p:sp>
      <p:sp>
        <p:nvSpPr>
          <p:cNvPr id="2425" name="Google Shape;2425;p12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Prévoir surveillance, responsable et procédure de retour arrière.</a:t>
            </a:r>
            <a:endParaRPr/>
          </a:p>
        </p:txBody>
      </p:sp>
      <p:sp>
        <p:nvSpPr>
          <p:cNvPr id="2426" name="Google Shape;2426;p12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 bon  notebook n'est pas encore un service exploité</a:t>
            </a:r>
            <a:endParaRPr/>
          </a:p>
        </p:txBody>
      </p:sp>
      <p:sp>
        <p:nvSpPr>
          <p:cNvPr id="2427" name="Google Shape;2427;p12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R31, R30 · liens et détails dans les notes</a:t>
            </a:r>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2" name="Shape 2432"/>
        <p:cNvGrpSpPr/>
        <p:nvPr/>
      </p:nvGrpSpPr>
      <p:grpSpPr>
        <a:xfrm>
          <a:off x="0" y="0"/>
          <a:ext cx="0" cy="0"/>
          <a:chOff x="0" y="0"/>
          <a:chExt cx="0" cy="0"/>
        </a:xfrm>
      </p:grpSpPr>
      <p:sp>
        <p:nvSpPr>
          <p:cNvPr id="2433" name="Google Shape;2433;p12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34" name="Google Shape;2434;p12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35" name="Google Shape;2435;p12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36" name="Google Shape;2436;p12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114</a:t>
            </a:r>
            <a:endParaRPr b="0" i="0" sz="1300" u="none" cap="none">
              <a:solidFill>
                <a:schemeClr val="dk1"/>
              </a:solidFill>
              <a:latin typeface="Calibri"/>
              <a:ea typeface="Calibri"/>
              <a:cs typeface="Calibri"/>
              <a:sym typeface="Calibri"/>
            </a:endParaRPr>
          </a:p>
        </p:txBody>
      </p:sp>
      <p:pic>
        <p:nvPicPr>
          <p:cNvPr id="2437" name="Google Shape;2437;p12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38" name="Google Shape;2438;p12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39" name="Google Shape;2439;p12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440" name="Google Shape;2440;p12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441" name="Google Shape;2441;p12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442" name="Google Shape;2442;p12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443" name="Google Shape;2443;p12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Trois dérives à distinguer</a:t>
            </a:r>
            <a:endParaRPr/>
          </a:p>
        </p:txBody>
      </p:sp>
      <p:graphicFrame>
        <p:nvGraphicFramePr>
          <p:cNvPr id="2444" name="Google Shape;2444;p122"/>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508000">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Signal</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Observation</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1" lang="en-US" sz="1725" u="none" cap="none">
                          <a:solidFill>
                            <a:srgbClr val="FFFFFF"/>
                          </a:solidFill>
                          <a:latin typeface="DM Sans"/>
                          <a:ea typeface="DM Sans"/>
                          <a:cs typeface="DM Sans"/>
                          <a:sym typeface="DM Sans"/>
                        </a:rPr>
                        <a:t>Action à instruire</a:t>
                      </a:r>
                      <a:endParaRPr/>
                    </a:p>
                  </a:txBody>
                  <a:tcPr marT="45725" marB="45725" marR="91450" marL="91450">
                    <a:solidFill>
                      <a:srgbClr val="303C8B"/>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Qualité des entrées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Manquants, catégories nouvelles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Vérifier collecte / schéma</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Dérive de X</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Distribution différente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Analyser origine et segments</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Performance avec labels</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AP, rappel, coût, calibration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Comparer à la référence</a:t>
                      </a:r>
                      <a:endParaRPr/>
                    </a:p>
                  </a:txBody>
                  <a:tcPr marT="45725" marB="45725" marR="91450" marL="91450">
                    <a:solidFill>
                      <a:srgbClr val="F4F5F8"/>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Dérive de P(y|X)</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Relation prédictive changée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Réévaluer / réentraîner</a:t>
                      </a:r>
                      <a:endParaRPr/>
                    </a:p>
                  </a:txBody>
                  <a:tcPr marT="45725" marB="45725" marR="91450" marL="91450">
                    <a:solidFill>
                      <a:srgbClr val="FFFFFF"/>
                    </a:solidFill>
                  </a:tcPr>
                </a:tc>
              </a:tr>
              <a:tr h="508000">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Incident</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Dépassement d'un seuil convenu</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725"/>
                        <a:buFont typeface="Arial"/>
                        <a:buNone/>
                      </a:pPr>
                      <a:r>
                        <a:rPr b="0" lang="en-US" sz="1725" u="none" cap="none">
                          <a:solidFill>
                            <a:srgbClr val="12194C"/>
                          </a:solidFill>
                          <a:latin typeface="DM Sans"/>
                          <a:ea typeface="DM Sans"/>
                          <a:cs typeface="DM Sans"/>
                          <a:sym typeface="DM Sans"/>
                        </a:rPr>
                        <a:t>Alerter et envisager retour arrière</a:t>
                      </a:r>
                      <a:endParaRPr/>
                    </a:p>
                  </a:txBody>
                  <a:tcPr marT="45725" marB="45725" marR="91450" marL="91450">
                    <a:solidFill>
                      <a:srgbClr val="F4F5F8"/>
                    </a:solidFill>
                  </a:tcPr>
                </a:tc>
              </a:tr>
            </a:tbl>
          </a:graphicData>
        </a:graphic>
      </p:graphicFrame>
      <p:sp>
        <p:nvSpPr>
          <p:cNvPr id="2445" name="Google Shape;2445;p122"/>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2446" name="Google Shape;2446;p12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R30 · liens et détails dans les notes</a:t>
            </a:r>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1" name="Shape 2451"/>
        <p:cNvGrpSpPr/>
        <p:nvPr/>
      </p:nvGrpSpPr>
      <p:grpSpPr>
        <a:xfrm>
          <a:off x="0" y="0"/>
          <a:ext cx="0" cy="0"/>
          <a:chOff x="0" y="0"/>
          <a:chExt cx="0" cy="0"/>
        </a:xfrm>
      </p:grpSpPr>
      <p:sp>
        <p:nvSpPr>
          <p:cNvPr id="2452" name="Google Shape;2452;p12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53" name="Google Shape;2453;p12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54" name="Google Shape;2454;p12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55" name="Google Shape;2455;p12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115</a:t>
            </a:r>
            <a:endParaRPr b="0" i="0" sz="1300" u="none" cap="none">
              <a:solidFill>
                <a:schemeClr val="dk1"/>
              </a:solidFill>
              <a:latin typeface="Calibri"/>
              <a:ea typeface="Calibri"/>
              <a:cs typeface="Calibri"/>
              <a:sym typeface="Calibri"/>
            </a:endParaRPr>
          </a:p>
        </p:txBody>
      </p:sp>
      <p:pic>
        <p:nvPicPr>
          <p:cNvPr id="2456" name="Google Shape;2456;p12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57" name="Google Shape;2457;p12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58" name="Google Shape;2458;p12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459" name="Google Shape;2459;p12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460" name="Google Shape;2460;p12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461" name="Google Shape;2461;p12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462" name="Google Shape;2462;p12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distribution différente n'est qu'un signal</a:t>
            </a:r>
            <a:endParaRPr/>
          </a:p>
        </p:txBody>
      </p:sp>
      <p:pic>
        <p:nvPicPr>
          <p:cNvPr id="2463" name="Google Shape;2463;p123"/>
          <p:cNvPicPr preferRelativeResize="0"/>
          <p:nvPr/>
        </p:nvPicPr>
        <p:blipFill rotWithShape="1">
          <a:blip r:embed="rId5">
            <a:alphaModFix/>
          </a:blip>
          <a:srcRect b="0" l="0" r="0" t="0"/>
          <a:stretch/>
        </p:blipFill>
        <p:spPr>
          <a:xfrm>
            <a:off x="723900" y="1857375"/>
            <a:ext cx="7096125" cy="3524250"/>
          </a:xfrm>
          <a:prstGeom prst="rect">
            <a:avLst/>
          </a:prstGeom>
          <a:noFill/>
          <a:ln>
            <a:noFill/>
          </a:ln>
        </p:spPr>
      </p:pic>
      <p:sp>
        <p:nvSpPr>
          <p:cNvPr id="2464" name="Google Shape;2464;p123"/>
          <p:cNvSpPr/>
          <p:nvPr/>
        </p:nvSpPr>
        <p:spPr>
          <a:xfrm>
            <a:off x="8143875" y="2000250"/>
            <a:ext cx="3314700" cy="3286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12194C"/>
                </a:solidFill>
                <a:latin typeface="DM Sans"/>
                <a:ea typeface="DM Sans"/>
                <a:cs typeface="DM Sans"/>
                <a:sym typeface="DM Sans"/>
              </a:rPr>
              <a:t>Les nouvelles entrées se déplacent vers les grandes valeurs.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Cela peut changer la fréquence des décisions.</a:t>
            </a:r>
            <a:endParaRPr/>
          </a:p>
          <a:p>
            <a:pPr indent="0" lvl="0" marL="0" marR="0" rtl="0" algn="l">
              <a:spcBef>
                <a:spcPts val="0"/>
              </a:spcBef>
              <a:spcAft>
                <a:spcPts val="0"/>
              </a:spcAft>
              <a:buNone/>
            </a:pPr>
            <a:r>
              <a:t/>
            </a:r>
            <a:endParaRPr b="0" sz="1875">
              <a:solidFill>
                <a:srgbClr val="12194C"/>
              </a:solidFill>
              <a:latin typeface="DM Sans"/>
              <a:ea typeface="DM Sans"/>
              <a:cs typeface="DM Sans"/>
              <a:sym typeface="DM Sans"/>
            </a:endParaRPr>
          </a:p>
          <a:p>
            <a:pPr indent="0" lvl="0" marL="0" marR="0" rtl="0" algn="l">
              <a:spcBef>
                <a:spcPts val="0"/>
              </a:spcBef>
              <a:spcAft>
                <a:spcPts val="0"/>
              </a:spcAft>
              <a:buNone/>
            </a:pPr>
            <a:r>
              <a:rPr b="0" lang="en-US" sz="1875">
                <a:solidFill>
                  <a:srgbClr val="12194C"/>
                </a:solidFill>
                <a:latin typeface="DM Sans"/>
                <a:ea typeface="DM Sans"/>
                <a:cs typeface="DM Sans"/>
                <a:sym typeface="DM Sans"/>
              </a:rPr>
              <a:t>Les labels restent nécessaires pour mesurer certaines pertes de qualité.</a:t>
            </a:r>
            <a:endParaRPr/>
          </a:p>
        </p:txBody>
      </p:sp>
      <p:sp>
        <p:nvSpPr>
          <p:cNvPr id="2465" name="Google Shape;2465;p123"/>
          <p:cNvSpPr/>
          <p:nvPr/>
        </p:nvSpPr>
        <p:spPr>
          <a:xfrm>
            <a:off x="762000" y="5438775"/>
            <a:ext cx="10620375" cy="3905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555B70"/>
                </a:solidFill>
                <a:latin typeface="DM Sans"/>
                <a:ea typeface="DM Sans"/>
                <a:cs typeface="DM Sans"/>
                <a:sym typeface="DM Sans"/>
              </a:rPr>
              <a:t>Distributions construites : un changement de P(X) ne prouve pas une baisse de performance.</a:t>
            </a:r>
            <a:endParaRPr/>
          </a:p>
        </p:txBody>
      </p:sp>
      <p:sp>
        <p:nvSpPr>
          <p:cNvPr id="2466" name="Google Shape;2466;p12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R30 · liens et détails dans les notes</a:t>
            </a:r>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1" name="Shape 2471"/>
        <p:cNvGrpSpPr/>
        <p:nvPr/>
      </p:nvGrpSpPr>
      <p:grpSpPr>
        <a:xfrm>
          <a:off x="0" y="0"/>
          <a:ext cx="0" cy="0"/>
          <a:chOff x="0" y="0"/>
          <a:chExt cx="0" cy="0"/>
        </a:xfrm>
      </p:grpSpPr>
      <p:sp>
        <p:nvSpPr>
          <p:cNvPr id="2472" name="Google Shape;2472;p12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73" name="Google Shape;2473;p12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74" name="Google Shape;2474;p12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75" name="Google Shape;2475;p12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116</a:t>
            </a:r>
            <a:endParaRPr b="0" i="0" sz="1300" u="none" cap="none">
              <a:solidFill>
                <a:schemeClr val="dk1"/>
              </a:solidFill>
              <a:latin typeface="Calibri"/>
              <a:ea typeface="Calibri"/>
              <a:cs typeface="Calibri"/>
              <a:sym typeface="Calibri"/>
            </a:endParaRPr>
          </a:p>
        </p:txBody>
      </p:sp>
      <p:pic>
        <p:nvPicPr>
          <p:cNvPr id="2476" name="Google Shape;2476;p12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77" name="Google Shape;2477;p12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78" name="Google Shape;2478;p12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479" name="Google Shape;2479;p12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480" name="Google Shape;2480;p12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481" name="Google Shape;2481;p12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482" name="Google Shape;2482;p12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La model card rend les limites visibles</a:t>
            </a:r>
            <a:endParaRPr/>
          </a:p>
        </p:txBody>
      </p:sp>
      <p:sp>
        <p:nvSpPr>
          <p:cNvPr id="2483" name="Google Shape;2483;p12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Usage prévu, utilisateurs et cas exclus.</a:t>
            </a:r>
            <a:endParaRPr/>
          </a:p>
        </p:txBody>
      </p:sp>
      <p:sp>
        <p:nvSpPr>
          <p:cNvPr id="2484" name="Google Shape;2484;p12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Données, protocole, métriques globales et par segment.</a:t>
            </a:r>
            <a:endParaRPr/>
          </a:p>
        </p:txBody>
      </p:sp>
      <p:sp>
        <p:nvSpPr>
          <p:cNvPr id="2485" name="Google Shape;2485;p12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Hypothèses, limites, responsable et conditions de réévaluation.</a:t>
            </a:r>
            <a:endParaRPr/>
          </a:p>
        </p:txBody>
      </p:sp>
      <p:sp>
        <p:nvSpPr>
          <p:cNvPr id="2486" name="Google Shape;2486;p124"/>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Écrire ce que le modèle ne permet pas de conclure</a:t>
            </a:r>
            <a:endParaRPr/>
          </a:p>
        </p:txBody>
      </p:sp>
      <p:sp>
        <p:nvSpPr>
          <p:cNvPr id="2487" name="Google Shape;2487;p12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R30, R32 · liens et détails dans les notes</a:t>
            </a:r>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2" name="Shape 2492"/>
        <p:cNvGrpSpPr/>
        <p:nvPr/>
      </p:nvGrpSpPr>
      <p:grpSpPr>
        <a:xfrm>
          <a:off x="0" y="0"/>
          <a:ext cx="0" cy="0"/>
          <a:chOff x="0" y="0"/>
          <a:chExt cx="0" cy="0"/>
        </a:xfrm>
      </p:grpSpPr>
      <p:sp>
        <p:nvSpPr>
          <p:cNvPr id="2493" name="Google Shape;2493;p12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94" name="Google Shape;2494;p12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95" name="Google Shape;2495;p12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496" name="Google Shape;2496;p12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117</a:t>
            </a:r>
            <a:endParaRPr b="0" i="0" sz="1300" u="none" cap="none">
              <a:solidFill>
                <a:schemeClr val="dk1"/>
              </a:solidFill>
              <a:latin typeface="Calibri"/>
              <a:ea typeface="Calibri"/>
              <a:cs typeface="Calibri"/>
              <a:sym typeface="Calibri"/>
            </a:endParaRPr>
          </a:p>
        </p:txBody>
      </p:sp>
      <p:pic>
        <p:nvPicPr>
          <p:cNvPr id="2497" name="Google Shape;2497;p12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498" name="Google Shape;2498;p12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499" name="Google Shape;2499;p12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500" name="Google Shape;2500;p12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01" name="Google Shape;2501;p12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02" name="Google Shape;2502;p12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03" name="Google Shape;2503;p12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TP06 : expliquer et quantifier</a:t>
            </a:r>
            <a:endParaRPr/>
          </a:p>
        </p:txBody>
      </p:sp>
      <p:sp>
        <p:nvSpPr>
          <p:cNvPr id="2504" name="Google Shape;2504;p12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Mesurer une importance par permutation et discuter les corrélations.</a:t>
            </a:r>
            <a:endParaRPr/>
          </a:p>
        </p:txBody>
      </p:sp>
      <p:sp>
        <p:nvSpPr>
          <p:cNvPr id="2505" name="Google Shape;2505;p12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PDP et ICE sur une relation synthétique connue.</a:t>
            </a:r>
            <a:endParaRPr/>
          </a:p>
        </p:txBody>
      </p:sp>
      <p:sp>
        <p:nvSpPr>
          <p:cNvPr id="2506" name="Google Shape;2506;p12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Construire un intervalle conforme et vérifier sa couverture observée.</a:t>
            </a:r>
            <a:endParaRPr/>
          </a:p>
        </p:txBody>
      </p:sp>
      <p:sp>
        <p:nvSpPr>
          <p:cNvPr id="2507" name="Google Shape;2507;p12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90 minutes · notebooks/etudiants/06_interpretation.ipynb</a:t>
            </a:r>
            <a:endParaRPr/>
          </a:p>
        </p:txBody>
      </p:sp>
      <p:sp>
        <p:nvSpPr>
          <p:cNvPr id="2508" name="Google Shape;2508;p12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R25, R26, R29 · liens et détails dans les notes</a:t>
            </a:r>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3" name="Shape 2513"/>
        <p:cNvGrpSpPr/>
        <p:nvPr/>
      </p:nvGrpSpPr>
      <p:grpSpPr>
        <a:xfrm>
          <a:off x="0" y="0"/>
          <a:ext cx="0" cy="0"/>
          <a:chOff x="0" y="0"/>
          <a:chExt cx="0" cy="0"/>
        </a:xfrm>
      </p:grpSpPr>
      <p:sp>
        <p:nvSpPr>
          <p:cNvPr id="2514" name="Google Shape;2514;p126"/>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15" name="Google Shape;2515;p126"/>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16" name="Google Shape;2516;p126"/>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17" name="Google Shape;2517;p12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118</a:t>
            </a:r>
            <a:endParaRPr b="0" i="0" sz="1300" u="none" cap="none">
              <a:solidFill>
                <a:schemeClr val="dk1"/>
              </a:solidFill>
              <a:latin typeface="Calibri"/>
              <a:ea typeface="Calibri"/>
              <a:cs typeface="Calibri"/>
              <a:sym typeface="Calibri"/>
            </a:endParaRPr>
          </a:p>
        </p:txBody>
      </p:sp>
      <p:pic>
        <p:nvPicPr>
          <p:cNvPr id="2518" name="Google Shape;2518;p126"/>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519" name="Google Shape;2519;p126"/>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520" name="Google Shape;2520;p126"/>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521" name="Google Shape;2521;p12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22" name="Google Shape;2522;p126"/>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23" name="Google Shape;2523;p126"/>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24" name="Google Shape;2524;p126"/>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Veille au 19 septembre 2026</a:t>
            </a:r>
            <a:endParaRPr/>
          </a:p>
        </p:txBody>
      </p:sp>
      <p:sp>
        <p:nvSpPr>
          <p:cNvPr id="2525" name="Google Shape;2525;p126"/>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scikit-learn 1.9.1 : environnement utilisé pour les TP.</a:t>
            </a:r>
            <a:endParaRPr/>
          </a:p>
        </p:txBody>
      </p:sp>
      <p:sp>
        <p:nvSpPr>
          <p:cNvPr id="2526" name="Google Shape;2526;p126"/>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TabArena : comparer les méthodes avec leurs budgets et protocoles.</a:t>
            </a:r>
            <a:endParaRPr/>
          </a:p>
        </p:txBody>
      </p:sp>
      <p:sp>
        <p:nvSpPr>
          <p:cNvPr id="2527" name="Google Shape;2527;p126"/>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Modèles tabulaires de fondation : un axe de recherche à évaluer.</a:t>
            </a:r>
            <a:endParaRPr/>
          </a:p>
        </p:txBody>
      </p:sp>
      <p:sp>
        <p:nvSpPr>
          <p:cNvPr id="2528" name="Google Shape;2528;p126"/>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La nouveauté ne dispense pas d'une baseline ni d'un test adapté</a:t>
            </a:r>
            <a:endParaRPr/>
          </a:p>
        </p:txBody>
      </p:sp>
      <p:sp>
        <p:nvSpPr>
          <p:cNvPr id="2529" name="Google Shape;2529;p126"/>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R34, R36, R44, R45, R47, R48, R49 · liens et détails dans les notes</a:t>
            </a:r>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4" name="Shape 2534"/>
        <p:cNvGrpSpPr/>
        <p:nvPr/>
      </p:nvGrpSpPr>
      <p:grpSpPr>
        <a:xfrm>
          <a:off x="0" y="0"/>
          <a:ext cx="0" cy="0"/>
          <a:chOff x="0" y="0"/>
          <a:chExt cx="0" cy="0"/>
        </a:xfrm>
      </p:grpSpPr>
      <p:sp>
        <p:nvSpPr>
          <p:cNvPr id="2535" name="Google Shape;2535;p127"/>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36" name="Google Shape;2536;p127"/>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37" name="Google Shape;2537;p127"/>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38" name="Google Shape;2538;p127"/>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119</a:t>
            </a:r>
            <a:endParaRPr b="0" i="0" sz="1300" u="none" cap="none">
              <a:solidFill>
                <a:schemeClr val="dk1"/>
              </a:solidFill>
              <a:latin typeface="Calibri"/>
              <a:ea typeface="Calibri"/>
              <a:cs typeface="Calibri"/>
              <a:sym typeface="Calibri"/>
            </a:endParaRPr>
          </a:p>
        </p:txBody>
      </p:sp>
      <p:pic>
        <p:nvPicPr>
          <p:cNvPr id="2539" name="Google Shape;2539;p127"/>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540" name="Google Shape;2540;p127"/>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541" name="Google Shape;2541;p127"/>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542" name="Google Shape;2542;p127"/>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43" name="Google Shape;2543;p127"/>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44" name="Google Shape;2544;p127"/>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45" name="Google Shape;2545;p127"/>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TabPFN : publication et annonce récente</a:t>
            </a:r>
            <a:endParaRPr/>
          </a:p>
        </p:txBody>
      </p:sp>
      <p:sp>
        <p:nvSpPr>
          <p:cNvPr id="2546" name="Google Shape;2546;p127"/>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2025 : article Nature sur TabPFN v2 et les petits jeux tabulaires.</a:t>
            </a:r>
            <a:endParaRPr/>
          </a:p>
        </p:txBody>
      </p:sp>
      <p:sp>
        <p:nvSpPr>
          <p:cNvPr id="2547" name="Google Shape;2547;p127"/>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15 septembre 2026 : rapport technique TabPFN-3.5 publié par Prior Labs.</a:t>
            </a:r>
            <a:endParaRPr/>
          </a:p>
        </p:txBody>
      </p:sp>
      <p:sp>
        <p:nvSpPr>
          <p:cNvPr id="2548" name="Google Shape;2548;p127"/>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qualité, coût, conditions d'accès et proximité avec nos données.</a:t>
            </a:r>
            <a:endParaRPr/>
          </a:p>
        </p:txBody>
      </p:sp>
      <p:sp>
        <p:nvSpPr>
          <p:cNvPr id="2549" name="Google Shape;2549;p127"/>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annonce de l'éditeur et une validation indépendante n'ont pas le même statut</a:t>
            </a:r>
            <a:endParaRPr/>
          </a:p>
        </p:txBody>
      </p:sp>
      <p:sp>
        <p:nvSpPr>
          <p:cNvPr id="2550" name="Google Shape;2550;p127"/>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R35, R37 · liens et détails dans les notes</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5" name="Shape 2555"/>
        <p:cNvGrpSpPr/>
        <p:nvPr/>
      </p:nvGrpSpPr>
      <p:grpSpPr>
        <a:xfrm>
          <a:off x="0" y="0"/>
          <a:ext cx="0" cy="0"/>
          <a:chOff x="0" y="0"/>
          <a:chExt cx="0" cy="0"/>
        </a:xfrm>
      </p:grpSpPr>
      <p:sp>
        <p:nvSpPr>
          <p:cNvPr id="2556" name="Google Shape;2556;p128"/>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57" name="Google Shape;2557;p128"/>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58" name="Google Shape;2558;p128"/>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59" name="Google Shape;2559;p128"/>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120</a:t>
            </a:r>
            <a:endParaRPr b="0" i="0" sz="1300" u="none" cap="none">
              <a:solidFill>
                <a:schemeClr val="dk1"/>
              </a:solidFill>
              <a:latin typeface="Calibri"/>
              <a:ea typeface="Calibri"/>
              <a:cs typeface="Calibri"/>
              <a:sym typeface="Calibri"/>
            </a:endParaRPr>
          </a:p>
        </p:txBody>
      </p:sp>
      <p:pic>
        <p:nvPicPr>
          <p:cNvPr id="2560" name="Google Shape;2560;p128"/>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561" name="Google Shape;2561;p128"/>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562" name="Google Shape;2562;p128"/>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563" name="Google Shape;2563;p128"/>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64" name="Google Shape;2564;p128"/>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65" name="Google Shape;2565;p128"/>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66" name="Google Shape;2566;p128"/>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Lire un benchmark de façon critique</a:t>
            </a:r>
            <a:endParaRPr/>
          </a:p>
        </p:txBody>
      </p:sp>
      <p:sp>
        <p:nvSpPr>
          <p:cNvPr id="2567" name="Google Shape;2567;p128"/>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Quels jeux, tailles, types de variables et risques de contamination ?</a:t>
            </a:r>
            <a:endParaRPr/>
          </a:p>
        </p:txBody>
      </p:sp>
      <p:sp>
        <p:nvSpPr>
          <p:cNvPr id="2568" name="Google Shape;2568;p128"/>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Quels budgets, hardware, tuning et ensembles par méthode ?</a:t>
            </a:r>
            <a:endParaRPr/>
          </a:p>
        </p:txBody>
      </p:sp>
      <p:sp>
        <p:nvSpPr>
          <p:cNvPr id="2569" name="Google Shape;2569;p128"/>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Quelles distributions de résultats et quels cas d'échec ?</a:t>
            </a:r>
            <a:endParaRPr/>
          </a:p>
        </p:txBody>
      </p:sp>
      <p:sp>
        <p:nvSpPr>
          <p:cNvPr id="2570" name="Google Shape;2570;p128"/>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Une moyenne ou un rang ne remplace pas une expérience sur notre problème</a:t>
            </a:r>
            <a:endParaRPr/>
          </a:p>
        </p:txBody>
      </p:sp>
      <p:sp>
        <p:nvSpPr>
          <p:cNvPr id="2571" name="Google Shape;2571;p128"/>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R36, R37 · liens et détails dans les notes</a:t>
            </a:r>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6" name="Shape 2576"/>
        <p:cNvGrpSpPr/>
        <p:nvPr/>
      </p:nvGrpSpPr>
      <p:grpSpPr>
        <a:xfrm>
          <a:off x="0" y="0"/>
          <a:ext cx="0" cy="0"/>
          <a:chOff x="0" y="0"/>
          <a:chExt cx="0" cy="0"/>
        </a:xfrm>
      </p:grpSpPr>
      <p:sp>
        <p:nvSpPr>
          <p:cNvPr id="2577" name="Google Shape;2577;p129"/>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78" name="Google Shape;2578;p129"/>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79" name="Google Shape;2579;p129"/>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80" name="Google Shape;2580;p129"/>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121</a:t>
            </a:r>
            <a:endParaRPr b="0" i="0" sz="1300" u="none" cap="none">
              <a:solidFill>
                <a:schemeClr val="dk1"/>
              </a:solidFill>
              <a:latin typeface="Calibri"/>
              <a:ea typeface="Calibri"/>
              <a:cs typeface="Calibri"/>
              <a:sym typeface="Calibri"/>
            </a:endParaRPr>
          </a:p>
        </p:txBody>
      </p:sp>
      <p:pic>
        <p:nvPicPr>
          <p:cNvPr id="2581" name="Google Shape;2581;p129"/>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582" name="Google Shape;2582;p129"/>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583" name="Google Shape;2583;p129"/>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584" name="Google Shape;2584;p129"/>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585" name="Google Shape;2585;p129"/>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586" name="Google Shape;2586;p129"/>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587" name="Google Shape;2587;p129"/>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Projet final : prioriser une campagne</a:t>
            </a:r>
            <a:endParaRPr/>
          </a:p>
        </p:txBody>
      </p:sp>
      <p:sp>
        <p:nvSpPr>
          <p:cNvPr id="2588" name="Google Shape;2588;p129"/>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Reprendre les données UCI, la décision et les contraintes de disponibilité.</a:t>
            </a:r>
            <a:endParaRPr/>
          </a:p>
        </p:txBody>
      </p:sp>
      <p:sp>
        <p:nvSpPr>
          <p:cNvPr id="2589" name="Google Shape;2589;p129"/>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Comparer une baseline et deux familles avec un budget explicite.</a:t>
            </a:r>
            <a:endParaRPr/>
          </a:p>
        </p:txBody>
      </p:sp>
      <p:sp>
        <p:nvSpPr>
          <p:cNvPr id="2590" name="Google Shape;2590;p129"/>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Figer modèle et seuil, évaluer le test puis défendre la recommandation.</a:t>
            </a:r>
            <a:endParaRPr/>
          </a:p>
        </p:txBody>
      </p:sp>
      <p:sp>
        <p:nvSpPr>
          <p:cNvPr id="2591" name="Google Shape;2591;p129"/>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180 minutes · binôme · notebook, manifeste, model card et restitution</a:t>
            </a:r>
            <a:endParaRPr/>
          </a:p>
        </p:txBody>
      </p:sp>
      <p:sp>
        <p:nvSpPr>
          <p:cNvPr id="2592" name="Google Shape;2592;p129"/>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R32, R30 · liens et détails dans les notes</a:t>
            </a:r>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7" name="Shape 2597"/>
        <p:cNvGrpSpPr/>
        <p:nvPr/>
      </p:nvGrpSpPr>
      <p:grpSpPr>
        <a:xfrm>
          <a:off x="0" y="0"/>
          <a:ext cx="0" cy="0"/>
          <a:chOff x="0" y="0"/>
          <a:chExt cx="0" cy="0"/>
        </a:xfrm>
      </p:grpSpPr>
      <p:sp>
        <p:nvSpPr>
          <p:cNvPr id="2598" name="Google Shape;2598;p130"/>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599" name="Google Shape;2599;p130"/>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00" name="Google Shape;2600;p130"/>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01" name="Google Shape;2601;p130"/>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122</a:t>
            </a:r>
            <a:endParaRPr b="0" i="0" sz="1300" u="none" cap="none">
              <a:solidFill>
                <a:schemeClr val="dk1"/>
              </a:solidFill>
              <a:latin typeface="Calibri"/>
              <a:ea typeface="Calibri"/>
              <a:cs typeface="Calibri"/>
              <a:sym typeface="Calibri"/>
            </a:endParaRPr>
          </a:p>
        </p:txBody>
      </p:sp>
      <p:pic>
        <p:nvPicPr>
          <p:cNvPr id="2602" name="Google Shape;2602;p130"/>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03" name="Google Shape;2603;p130"/>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04" name="Google Shape;2604;p130"/>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605" name="Google Shape;2605;p130"/>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606" name="Google Shape;2606;p130"/>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607" name="Google Shape;2607;p130"/>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608" name="Google Shape;2608;p130"/>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Une évaluation sur des preuves</a:t>
            </a:r>
            <a:endParaRPr/>
          </a:p>
        </p:txBody>
      </p:sp>
      <p:graphicFrame>
        <p:nvGraphicFramePr>
          <p:cNvPr id="2609" name="Google Shape;2609;p130"/>
          <p:cNvGraphicFramePr/>
          <p:nvPr/>
        </p:nvGraphicFramePr>
        <p:xfrm>
          <a:off x="762000" y="1828800"/>
          <a:ext cx="3000000" cy="3000000"/>
        </p:xfrm>
        <a:graphic>
          <a:graphicData uri="http://schemas.openxmlformats.org/drawingml/2006/table">
            <a:tbl>
              <a:tblPr>
                <a:noFill/>
                <a:tableStyleId>{C6B46B82-55C0-43C8-8E66-D39B75777A89}</a:tableStyleId>
              </a:tblPr>
              <a:tblGrid>
                <a:gridCol w="3556000"/>
                <a:gridCol w="3556000"/>
                <a:gridCol w="3556000"/>
              </a:tblGrid>
              <a:tr h="435425">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Critère</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Points / 20</a:t>
                      </a:r>
                      <a:endParaRPr/>
                    </a:p>
                  </a:txBody>
                  <a:tcPr marT="45725" marB="45725" marR="91450" marL="91450">
                    <a:solidFill>
                      <a:srgbClr val="303C8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DM Sans"/>
                          <a:ea typeface="DM Sans"/>
                          <a:cs typeface="DM Sans"/>
                          <a:sym typeface="DM Sans"/>
                        </a:rPr>
                        <a:t>Preuve</a:t>
                      </a:r>
                      <a:endParaRPr/>
                    </a:p>
                  </a:txBody>
                  <a:tcPr marT="45725" marB="45725" marR="91450" marL="91450">
                    <a:solidFill>
                      <a:srgbClr val="303C8B"/>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Protocole sans fuite</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5</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Splits, prétraitement, test figé</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Comparaisons et optimisation</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4</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Baseline, budget, dispersion</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Classes rares et décision</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3</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AP, calibration, seuil</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Interprétation et limites</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3</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Explication critique et model card</a:t>
                      </a:r>
                      <a:endParaRPr/>
                    </a:p>
                  </a:txBody>
                  <a:tcPr marT="45725" marB="45725" marR="91450" marL="91450">
                    <a:solidFill>
                      <a:srgbClr val="FFFFFF"/>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Reproductibilité</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3</a:t>
                      </a:r>
                      <a:endParaRPr/>
                    </a:p>
                  </a:txBody>
                  <a:tcPr marT="45725" marB="45725" marR="91450" marL="91450">
                    <a:solidFill>
                      <a:srgbClr val="F4F5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Exécution, versions, manifeste</a:t>
                      </a:r>
                      <a:endParaRPr/>
                    </a:p>
                  </a:txBody>
                  <a:tcPr marT="45725" marB="45725" marR="91450" marL="91450">
                    <a:solidFill>
                      <a:srgbClr val="F4F5F8"/>
                    </a:solidFill>
                  </a:tcPr>
                </a:tc>
              </a:tr>
              <a:tr h="435425">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Restitution</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2</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12194C"/>
                          </a:solidFill>
                          <a:latin typeface="DM Sans"/>
                          <a:ea typeface="DM Sans"/>
                          <a:cs typeface="DM Sans"/>
                          <a:sym typeface="DM Sans"/>
                        </a:rPr>
                        <a:t>Conclusion argumentée</a:t>
                      </a:r>
                      <a:endParaRPr/>
                    </a:p>
                  </a:txBody>
                  <a:tcPr marT="45725" marB="45725" marR="91450" marL="91450">
                    <a:solidFill>
                      <a:srgbClr val="FFFFFF"/>
                    </a:solidFill>
                  </a:tcPr>
                </a:tc>
              </a:tr>
            </a:tbl>
          </a:graphicData>
        </a:graphic>
      </p:graphicFrame>
      <p:sp>
        <p:nvSpPr>
          <p:cNvPr id="2610" name="Google Shape;2610;p130"/>
          <p:cNvSpPr/>
          <p:nvPr/>
        </p:nvSpPr>
        <p:spPr>
          <a:xfrm>
            <a:off x="762000" y="5143500"/>
            <a:ext cx="10572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00"/>
          </a:p>
        </p:txBody>
      </p:sp>
      <p:sp>
        <p:nvSpPr>
          <p:cNvPr id="2611" name="Google Shape;2611;p130"/>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6" name="Shape 2616"/>
        <p:cNvGrpSpPr/>
        <p:nvPr/>
      </p:nvGrpSpPr>
      <p:grpSpPr>
        <a:xfrm>
          <a:off x="0" y="0"/>
          <a:ext cx="0" cy="0"/>
          <a:chOff x="0" y="0"/>
          <a:chExt cx="0" cy="0"/>
        </a:xfrm>
      </p:grpSpPr>
      <p:sp>
        <p:nvSpPr>
          <p:cNvPr id="2617" name="Google Shape;2617;p131"/>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18" name="Google Shape;2618;p131"/>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19" name="Google Shape;2619;p131"/>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20" name="Google Shape;2620;p131"/>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123</a:t>
            </a:r>
            <a:endParaRPr b="0" i="0" sz="1300" u="none" cap="none">
              <a:solidFill>
                <a:schemeClr val="dk1"/>
              </a:solidFill>
              <a:latin typeface="Calibri"/>
              <a:ea typeface="Calibri"/>
              <a:cs typeface="Calibri"/>
              <a:sym typeface="Calibri"/>
            </a:endParaRPr>
          </a:p>
        </p:txBody>
      </p:sp>
      <p:pic>
        <p:nvPicPr>
          <p:cNvPr id="2621" name="Google Shape;2621;p131"/>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22" name="Google Shape;2622;p131"/>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23" name="Google Shape;2623;p131"/>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624" name="Google Shape;2624;p131"/>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625" name="Google Shape;2625;p131"/>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626" name="Google Shape;2626;p131"/>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627" name="Google Shape;2627;p131"/>
          <p:cNvSpPr/>
          <p:nvPr/>
        </p:nvSpPr>
        <p:spPr>
          <a:xfrm>
            <a:off x="762000" y="857250"/>
            <a:ext cx="10572900"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Soutenance : cinq minutes pour décider</a:t>
            </a:r>
            <a:endParaRPr/>
          </a:p>
        </p:txBody>
      </p:sp>
      <p:sp>
        <p:nvSpPr>
          <p:cNvPr id="2628" name="Google Shape;2628;p131"/>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décision et quelle population avez-vous définies ?</a:t>
            </a:r>
            <a:endParaRPr/>
          </a:p>
        </p:txBody>
      </p:sp>
      <p:sp>
        <p:nvSpPr>
          <p:cNvPr id="2629" name="Google Shape;2629;p131"/>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preuve justifie votre choix de modèle et de seuil ?</a:t>
            </a:r>
            <a:endParaRPr/>
          </a:p>
        </p:txBody>
      </p:sp>
      <p:sp>
        <p:nvSpPr>
          <p:cNvPr id="2630" name="Google Shape;2630;p131"/>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Quelle limite vous empêche encore de recommander un usage réel ?</a:t>
            </a:r>
            <a:endParaRPr/>
          </a:p>
        </p:txBody>
      </p:sp>
      <p:sp>
        <p:nvSpPr>
          <p:cNvPr id="2631" name="Google Shape;2631;p131"/>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Répondre avec un résultat, son protocole et une limite concrète</a:t>
            </a:r>
            <a:endParaRPr/>
          </a:p>
        </p:txBody>
      </p:sp>
      <p:sp>
        <p:nvSpPr>
          <p:cNvPr id="2632" name="Google Shape;2632;p131"/>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7" name="Shape 2637"/>
        <p:cNvGrpSpPr/>
        <p:nvPr/>
      </p:nvGrpSpPr>
      <p:grpSpPr>
        <a:xfrm>
          <a:off x="0" y="0"/>
          <a:ext cx="0" cy="0"/>
          <a:chOff x="0" y="0"/>
          <a:chExt cx="0" cy="0"/>
        </a:xfrm>
      </p:grpSpPr>
      <p:sp>
        <p:nvSpPr>
          <p:cNvPr id="2638" name="Google Shape;2638;p132"/>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39" name="Google Shape;2639;p132"/>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40" name="Google Shape;2640;p132"/>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41" name="Google Shape;2641;p132"/>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124</a:t>
            </a:r>
            <a:endParaRPr b="0" i="0" sz="1300" u="none" cap="none">
              <a:solidFill>
                <a:schemeClr val="dk1"/>
              </a:solidFill>
              <a:latin typeface="Calibri"/>
              <a:ea typeface="Calibri"/>
              <a:cs typeface="Calibri"/>
              <a:sym typeface="Calibri"/>
            </a:endParaRPr>
          </a:p>
        </p:txBody>
      </p:sp>
      <p:pic>
        <p:nvPicPr>
          <p:cNvPr id="2642" name="Google Shape;2642;p132"/>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43" name="Google Shape;2643;p132"/>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44" name="Google Shape;2644;p132"/>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645" name="Google Shape;2645;p132"/>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646" name="Google Shape;2646;p132"/>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647" name="Google Shape;2647;p132"/>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648" name="Google Shape;2648;p132"/>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Quiz final : raisonner sur un cas nouveau</a:t>
            </a:r>
            <a:endParaRPr/>
          </a:p>
        </p:txBody>
      </p:sp>
      <p:sp>
        <p:nvSpPr>
          <p:cNvPr id="2649" name="Google Shape;2649;p132"/>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score augmente après ajout d'une variable connue après l'événement.</a:t>
            </a:r>
            <a:endParaRPr/>
          </a:p>
        </p:txBody>
      </p:sp>
      <p:sp>
        <p:nvSpPr>
          <p:cNvPr id="2650" name="Google Shape;2650;p132"/>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méthode de clustering exclut la majorité des points comme bruit.</a:t>
            </a:r>
            <a:endParaRPr/>
          </a:p>
        </p:txBody>
      </p:sp>
      <p:sp>
        <p:nvSpPr>
          <p:cNvPr id="2651" name="Google Shape;2651;p132"/>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intervalle conforme perd sa couverture après un changement de population.</a:t>
            </a:r>
            <a:endParaRPr/>
          </a:p>
        </p:txBody>
      </p:sp>
      <p:sp>
        <p:nvSpPr>
          <p:cNvPr id="2652" name="Google Shape;2652;p132"/>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Identifier l'hypothèse rompue, proposer une vérification et une correction</a:t>
            </a:r>
            <a:endParaRPr/>
          </a:p>
        </p:txBody>
      </p:sp>
      <p:sp>
        <p:nvSpPr>
          <p:cNvPr id="2653" name="Google Shape;2653;p132"/>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8" name="Shape 2658"/>
        <p:cNvGrpSpPr/>
        <p:nvPr/>
      </p:nvGrpSpPr>
      <p:grpSpPr>
        <a:xfrm>
          <a:off x="0" y="0"/>
          <a:ext cx="0" cy="0"/>
          <a:chOff x="0" y="0"/>
          <a:chExt cx="0" cy="0"/>
        </a:xfrm>
      </p:grpSpPr>
      <p:sp>
        <p:nvSpPr>
          <p:cNvPr id="2659" name="Google Shape;2659;p133"/>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60" name="Google Shape;2660;p133"/>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61" name="Google Shape;2661;p133"/>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62" name="Google Shape;2662;p133"/>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125</a:t>
            </a:r>
            <a:endParaRPr b="0" i="0" sz="1300" u="none" cap="none">
              <a:solidFill>
                <a:schemeClr val="dk1"/>
              </a:solidFill>
              <a:latin typeface="Calibri"/>
              <a:ea typeface="Calibri"/>
              <a:cs typeface="Calibri"/>
              <a:sym typeface="Calibri"/>
            </a:endParaRPr>
          </a:p>
        </p:txBody>
      </p:sp>
      <p:pic>
        <p:nvPicPr>
          <p:cNvPr id="2663" name="Google Shape;2663;p133"/>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64" name="Google Shape;2664;p133"/>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65" name="Google Shape;2665;p133"/>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666" name="Google Shape;2666;p133"/>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667" name="Google Shape;2667;p133"/>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668" name="Google Shape;2668;p133"/>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669" name="Google Shape;2669;p133"/>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Ressources : apprendre et pratiquer</a:t>
            </a:r>
            <a:endParaRPr/>
          </a:p>
        </p:txBody>
      </p:sp>
      <p:sp>
        <p:nvSpPr>
          <p:cNvPr id="2670" name="Google Shape;2670;p133"/>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R01 : livre gratuit ISLP, chapitres sur validation, ensembles et non supervisé.</a:t>
            </a:r>
            <a:endParaRPr/>
          </a:p>
        </p:txBody>
      </p:sp>
      <p:sp>
        <p:nvSpPr>
          <p:cNvPr id="2671" name="Google Shape;2671;p133"/>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R33 : MOOC Inria avec exercices, notebooks et vidéos.</a:t>
            </a:r>
            <a:endParaRPr/>
          </a:p>
        </p:txBody>
      </p:sp>
      <p:sp>
        <p:nvSpPr>
          <p:cNvPr id="2672" name="Google Shape;2672;p133"/>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R02–R26 : documentation officielle, exemples et fonctions utilisées.</a:t>
            </a:r>
            <a:endParaRPr/>
          </a:p>
        </p:txBody>
      </p:sp>
      <p:sp>
        <p:nvSpPr>
          <p:cNvPr id="2673" name="Google Shape;2673;p133"/>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Liens complets dans les notes et resources/RESSOURCES.md</a:t>
            </a:r>
            <a:endParaRPr/>
          </a:p>
        </p:txBody>
      </p:sp>
      <p:sp>
        <p:nvSpPr>
          <p:cNvPr id="2674" name="Google Shape;2674;p133"/>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R01, R33, R02 · liens et détails dans les notes</a:t>
            </a:r>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9" name="Shape 2679"/>
        <p:cNvGrpSpPr/>
        <p:nvPr/>
      </p:nvGrpSpPr>
      <p:grpSpPr>
        <a:xfrm>
          <a:off x="0" y="0"/>
          <a:ext cx="0" cy="0"/>
          <a:chOff x="0" y="0"/>
          <a:chExt cx="0" cy="0"/>
        </a:xfrm>
      </p:grpSpPr>
      <p:sp>
        <p:nvSpPr>
          <p:cNvPr id="2680" name="Google Shape;2680;p134"/>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81" name="Google Shape;2681;p134"/>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82" name="Google Shape;2682;p134"/>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683" name="Google Shape;2683;p134"/>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126</a:t>
            </a:r>
            <a:endParaRPr b="0" i="0" sz="1300" u="none" cap="none">
              <a:solidFill>
                <a:schemeClr val="dk1"/>
              </a:solidFill>
              <a:latin typeface="Calibri"/>
              <a:ea typeface="Calibri"/>
              <a:cs typeface="Calibri"/>
              <a:sym typeface="Calibri"/>
            </a:endParaRPr>
          </a:p>
        </p:txBody>
      </p:sp>
      <p:pic>
        <p:nvPicPr>
          <p:cNvPr id="2684" name="Google Shape;2684;p134"/>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685" name="Google Shape;2685;p134"/>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686" name="Google Shape;2686;p134"/>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687" name="Google Shape;2687;p134"/>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688" name="Google Shape;2688;p134"/>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689" name="Google Shape;2689;p134"/>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690" name="Google Shape;2690;p134"/>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Ressources : articles et veille</a:t>
            </a:r>
            <a:endParaRPr/>
          </a:p>
        </p:txBody>
      </p:sp>
      <p:sp>
        <p:nvSpPr>
          <p:cNvPr id="2691" name="Google Shape;2691;p134"/>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R15 : SMOTE ; R27 : SHAP ; R29 : prédiction conforme.</a:t>
            </a:r>
            <a:endParaRPr/>
          </a:p>
        </p:txBody>
      </p:sp>
      <p:sp>
        <p:nvSpPr>
          <p:cNvPr id="2692" name="Google Shape;2692;p134"/>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R30 : model cards et documentation des limites.</a:t>
            </a:r>
            <a:endParaRPr/>
          </a:p>
        </p:txBody>
      </p:sp>
      <p:sp>
        <p:nvSpPr>
          <p:cNvPr id="2693" name="Google Shape;2693;p134"/>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R35–R37 : modèles tabulaires et lecture critique des benchmarks récents.</a:t>
            </a:r>
            <a:endParaRPr/>
          </a:p>
        </p:txBody>
      </p:sp>
      <p:sp>
        <p:nvSpPr>
          <p:cNvPr id="2694" name="Google Shape;2694;p134"/>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Sources : R15, R27, R29, R30, R35, R36, R37 · liens et détails dans les notes</a:t>
            </a:r>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EEE5"/>
        </a:solidFill>
      </p:bgPr>
    </p:bg>
    <p:spTree>
      <p:nvGrpSpPr>
        <p:cNvPr id="2699" name="Shape 2699"/>
        <p:cNvGrpSpPr/>
        <p:nvPr/>
      </p:nvGrpSpPr>
      <p:grpSpPr>
        <a:xfrm>
          <a:off x="0" y="0"/>
          <a:ext cx="0" cy="0"/>
          <a:chOff x="0" y="0"/>
          <a:chExt cx="0" cy="0"/>
        </a:xfrm>
      </p:grpSpPr>
      <p:sp>
        <p:nvSpPr>
          <p:cNvPr id="2700" name="Google Shape;2700;p135"/>
          <p:cNvSpPr/>
          <p:nvPr/>
        </p:nvSpPr>
        <p:spPr>
          <a:xfrm flipH="1" rot="10800000">
            <a:off x="761700" y="449104"/>
            <a:ext cx="10795800" cy="19200"/>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701" name="Google Shape;2701;p135"/>
          <p:cNvSpPr/>
          <p:nvPr/>
        </p:nvSpPr>
        <p:spPr>
          <a:xfrm>
            <a:off x="761695" y="5810098"/>
            <a:ext cx="10668305" cy="19202"/>
          </a:xfrm>
          <a:prstGeom prst="rect">
            <a:avLst/>
          </a:prstGeom>
          <a:solidFill>
            <a:srgbClr val="000000"/>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702" name="Google Shape;2702;p135"/>
          <p:cNvSpPr/>
          <p:nvPr/>
        </p:nvSpPr>
        <p:spPr>
          <a:xfrm>
            <a:off x="914400" y="6116884"/>
            <a:ext cx="476400" cy="476400"/>
          </a:xfrm>
          <a:prstGeom prst="roundRect">
            <a:avLst>
              <a:gd fmla="val 30710" name="adj"/>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703" name="Google Shape;2703;p135"/>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12194C"/>
                </a:solidFill>
                <a:latin typeface="Roboto Mono"/>
                <a:ea typeface="Roboto Mono"/>
                <a:cs typeface="Roboto Mono"/>
                <a:sym typeface="Roboto Mono"/>
              </a:rPr>
              <a:t>2026 / 127</a:t>
            </a:r>
            <a:endParaRPr b="0" i="0" sz="1300" u="none" cap="none">
              <a:solidFill>
                <a:schemeClr val="dk1"/>
              </a:solidFill>
              <a:latin typeface="Calibri"/>
              <a:ea typeface="Calibri"/>
              <a:cs typeface="Calibri"/>
              <a:sym typeface="Calibri"/>
            </a:endParaRPr>
          </a:p>
        </p:txBody>
      </p:sp>
      <p:pic>
        <p:nvPicPr>
          <p:cNvPr id="2704" name="Google Shape;2704;p135"/>
          <p:cNvPicPr preferRelativeResize="0"/>
          <p:nvPr/>
        </p:nvPicPr>
        <p:blipFill rotWithShape="1">
          <a:blip r:embed="rId3">
            <a:alphaModFix/>
          </a:blip>
          <a:srcRect b="0" l="0" r="0" t="0"/>
          <a:stretch/>
        </p:blipFill>
        <p:spPr>
          <a:xfrm>
            <a:off x="988560" y="6171138"/>
            <a:ext cx="333379" cy="345450"/>
          </a:xfrm>
          <a:prstGeom prst="rect">
            <a:avLst/>
          </a:prstGeom>
          <a:noFill/>
          <a:ln>
            <a:noFill/>
          </a:ln>
        </p:spPr>
      </p:pic>
      <p:pic>
        <p:nvPicPr>
          <p:cNvPr id="2705" name="Google Shape;2705;p135"/>
          <p:cNvPicPr preferRelativeResize="0"/>
          <p:nvPr/>
        </p:nvPicPr>
        <p:blipFill rotWithShape="1">
          <a:blip r:embed="rId4">
            <a:alphaModFix/>
          </a:blip>
          <a:srcRect b="0" l="0" r="0" t="0"/>
          <a:stretch/>
        </p:blipFill>
        <p:spPr>
          <a:xfrm>
            <a:off x="8659888" y="6240002"/>
            <a:ext cx="1519799" cy="197995"/>
          </a:xfrm>
          <a:prstGeom prst="rect">
            <a:avLst/>
          </a:prstGeom>
          <a:noFill/>
          <a:ln>
            <a:noFill/>
          </a:ln>
        </p:spPr>
      </p:pic>
      <p:sp>
        <p:nvSpPr>
          <p:cNvPr id="2706" name="Google Shape;2706;p135"/>
          <p:cNvSpPr/>
          <p:nvPr/>
        </p:nvSpPr>
        <p:spPr>
          <a:xfrm>
            <a:off x="9477375" y="457200"/>
            <a:ext cx="209550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DM Sans"/>
              <a:buNone/>
            </a:pPr>
            <a:r>
              <a:rPr lang="en-US" sz="1050">
                <a:solidFill>
                  <a:srgbClr val="12194C"/>
                </a:solidFill>
                <a:latin typeface="Roboto Mono"/>
                <a:ea typeface="Roboto Mono"/>
                <a:cs typeface="Roboto Mono"/>
                <a:sym typeface="Roboto Mono"/>
              </a:rPr>
              <a:t>JOUR 5</a:t>
            </a:r>
            <a:endParaRPr b="0" sz="1300" u="none" cap="none">
              <a:solidFill>
                <a:schemeClr val="dk1"/>
              </a:solidFill>
              <a:latin typeface="Calibri"/>
              <a:ea typeface="Calibri"/>
              <a:cs typeface="Calibri"/>
              <a:sym typeface="Calibri"/>
            </a:endParaRPr>
          </a:p>
        </p:txBody>
      </p:sp>
      <p:sp>
        <p:nvSpPr>
          <p:cNvPr id="2707" name="Google Shape;2707;p135"/>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12194C"/>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sp>
        <p:nvSpPr>
          <p:cNvPr id="2708" name="Google Shape;2708;p135"/>
          <p:cNvSpPr/>
          <p:nvPr/>
        </p:nvSpPr>
        <p:spPr>
          <a:xfrm rot="10800000">
            <a:off x="-250375" y="3173800"/>
            <a:ext cx="831000" cy="463500"/>
          </a:xfrm>
          <a:prstGeom prst="chevron">
            <a:avLst>
              <a:gd fmla="val 30178" name="adj"/>
            </a:avLst>
          </a:prstGeom>
          <a:solidFill>
            <a:srgbClr val="BF2E0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spcBef>
                <a:spcPts val="0"/>
              </a:spcBef>
              <a:spcAft>
                <a:spcPts val="0"/>
              </a:spcAft>
              <a:buSzPts val="1800"/>
              <a:buFont typeface="Arial"/>
              <a:buNone/>
            </a:pPr>
            <a:r>
              <a:t/>
            </a:r>
            <a:endParaRPr sz="1800"/>
          </a:p>
        </p:txBody>
      </p:sp>
      <p:sp>
        <p:nvSpPr>
          <p:cNvPr id="2709" name="Google Shape;2709;p135"/>
          <p:cNvSpPr/>
          <p:nvPr/>
        </p:nvSpPr>
        <p:spPr>
          <a:xfrm>
            <a:off x="46974" y="3215276"/>
            <a:ext cx="454500" cy="34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74151"/>
              </a:buClr>
              <a:buSzPts val="1800"/>
              <a:buFont typeface="DM Sans"/>
              <a:buNone/>
            </a:pPr>
            <a:r>
              <a:rPr b="1" lang="en-US" sz="800">
                <a:solidFill>
                  <a:schemeClr val="lt1"/>
                </a:solidFill>
                <a:latin typeface="Archivo Black"/>
                <a:ea typeface="Archivo Black"/>
                <a:cs typeface="Archivo Black"/>
                <a:sym typeface="Archivo Black"/>
              </a:rPr>
              <a:t>SPE</a:t>
            </a:r>
            <a:endParaRPr b="1" sz="800">
              <a:solidFill>
                <a:schemeClr val="lt1"/>
              </a:solidFill>
              <a:latin typeface="Archivo Black"/>
              <a:ea typeface="Archivo Black"/>
              <a:cs typeface="Archivo Black"/>
              <a:sym typeface="Archivo Black"/>
            </a:endParaRPr>
          </a:p>
          <a:p>
            <a:pPr indent="0" lvl="0" marL="0" marR="0" rtl="0" algn="l">
              <a:spcBef>
                <a:spcPts val="0"/>
              </a:spcBef>
              <a:spcAft>
                <a:spcPts val="0"/>
              </a:spcAft>
              <a:buClr>
                <a:srgbClr val="374151"/>
              </a:buClr>
              <a:buSzPts val="1800"/>
              <a:buFont typeface="DM Sans"/>
              <a:buNone/>
            </a:pPr>
            <a:r>
              <a:rPr b="1" lang="en-US" sz="700">
                <a:solidFill>
                  <a:schemeClr val="lt1"/>
                </a:solidFill>
                <a:latin typeface="Archivo Black"/>
                <a:ea typeface="Archivo Black"/>
                <a:cs typeface="Archivo Black"/>
                <a:sym typeface="Archivo Black"/>
              </a:rPr>
              <a:t>DATA/IA</a:t>
            </a:r>
            <a:endParaRPr i="0" sz="700" u="none" cap="none">
              <a:solidFill>
                <a:schemeClr val="lt1"/>
              </a:solidFill>
              <a:latin typeface="Archivo Black"/>
              <a:ea typeface="Archivo Black"/>
              <a:cs typeface="Archivo Black"/>
              <a:sym typeface="Archivo Black"/>
            </a:endParaRPr>
          </a:p>
        </p:txBody>
      </p:sp>
      <p:sp>
        <p:nvSpPr>
          <p:cNvPr id="2710" name="Google Shape;2710;p135"/>
          <p:cNvSpPr/>
          <p:nvPr/>
        </p:nvSpPr>
        <p:spPr>
          <a:xfrm>
            <a:off x="762000" y="857250"/>
            <a:ext cx="10572750" cy="90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700">
                <a:solidFill>
                  <a:srgbClr val="12194C"/>
                </a:solidFill>
                <a:latin typeface="Archivo Black"/>
                <a:ea typeface="Archivo Black"/>
                <a:cs typeface="Archivo Black"/>
                <a:sym typeface="Archivo Black"/>
              </a:rPr>
              <a:t>Ce que vous savez maintenant défendre</a:t>
            </a:r>
            <a:endParaRPr/>
          </a:p>
        </p:txBody>
      </p:sp>
      <p:sp>
        <p:nvSpPr>
          <p:cNvPr id="2711" name="Google Shape;2711;p135"/>
          <p:cNvSpPr/>
          <p:nvPr/>
        </p:nvSpPr>
        <p:spPr>
          <a:xfrm>
            <a:off x="819150" y="19812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protocole, des features et une métrique cohérents avec la décision.</a:t>
            </a:r>
            <a:endParaRPr/>
          </a:p>
        </p:txBody>
      </p:sp>
      <p:sp>
        <p:nvSpPr>
          <p:cNvPr id="2712" name="Google Shape;2712;p135"/>
          <p:cNvSpPr/>
          <p:nvPr/>
        </p:nvSpPr>
        <p:spPr>
          <a:xfrm>
            <a:off x="819150" y="291465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 modèle comparé, régularisé et optimisé sans utiliser le test pour choisir.</a:t>
            </a:r>
            <a:endParaRPr/>
          </a:p>
        </p:txBody>
      </p:sp>
      <p:sp>
        <p:nvSpPr>
          <p:cNvPr id="2713" name="Google Shape;2713;p135"/>
          <p:cNvSpPr/>
          <p:nvPr/>
        </p:nvSpPr>
        <p:spPr>
          <a:xfrm>
            <a:off x="819150" y="3848100"/>
            <a:ext cx="10477500" cy="8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12194C"/>
                </a:solidFill>
                <a:latin typeface="DM Sans"/>
                <a:ea typeface="DM Sans"/>
                <a:cs typeface="DM Sans"/>
                <a:sym typeface="DM Sans"/>
              </a:rPr>
              <a:t>Une recommandation avec incertitude, explications et conditions de réévaluation.</a:t>
            </a:r>
            <a:endParaRPr/>
          </a:p>
        </p:txBody>
      </p:sp>
      <p:sp>
        <p:nvSpPr>
          <p:cNvPr id="2714" name="Google Shape;2714;p135"/>
          <p:cNvSpPr/>
          <p:nvPr/>
        </p:nvSpPr>
        <p:spPr>
          <a:xfrm>
            <a:off x="762000" y="5219700"/>
            <a:ext cx="10620375"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303C8B"/>
                </a:solidFill>
                <a:latin typeface="DM Sans"/>
                <a:ea typeface="DM Sans"/>
                <a:cs typeface="DM Sans"/>
                <a:sym typeface="DM Sans"/>
              </a:rPr>
              <a:t>Le livrable est une décision justifiée, accompagnée de preuves reproductibles</a:t>
            </a:r>
            <a:endParaRPr/>
          </a:p>
        </p:txBody>
      </p:sp>
      <p:sp>
        <p:nvSpPr>
          <p:cNvPr id="2715" name="Google Shape;2715;p135"/>
          <p:cNvSpPr/>
          <p:nvPr/>
        </p:nvSpPr>
        <p:spPr>
          <a:xfrm>
            <a:off x="762000" y="5905500"/>
            <a:ext cx="10382250" cy="209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75">
                <a:solidFill>
                  <a:srgbClr val="555B70"/>
                </a:solidFill>
                <a:latin typeface="Roboto Mono"/>
                <a:ea typeface="Roboto Mono"/>
                <a:cs typeface="Roboto Mono"/>
                <a:sym typeface="Roboto Mono"/>
              </a:rPr>
              <a:t>Exemple ou activité originale du cours</a:t>
            </a:r>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F2E00"/>
        </a:solidFill>
      </p:bgPr>
    </p:bg>
    <p:spTree>
      <p:nvGrpSpPr>
        <p:cNvPr id="2720" name="Shape 2720"/>
        <p:cNvGrpSpPr/>
        <p:nvPr/>
      </p:nvGrpSpPr>
      <p:grpSpPr>
        <a:xfrm>
          <a:off x="0" y="0"/>
          <a:ext cx="0" cy="0"/>
          <a:chOff x="0" y="0"/>
          <a:chExt cx="0" cy="0"/>
        </a:xfrm>
      </p:grpSpPr>
      <p:sp>
        <p:nvSpPr>
          <p:cNvPr id="2721" name="Google Shape;2721;p136"/>
          <p:cNvSpPr/>
          <p:nvPr/>
        </p:nvSpPr>
        <p:spPr>
          <a:xfrm>
            <a:off x="952500" y="2381250"/>
            <a:ext cx="10572750" cy="1190625"/>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0"/>
              <a:buFont typeface="Archivo Black"/>
              <a:buNone/>
            </a:pPr>
            <a:r>
              <a:rPr b="0" i="0" lang="en-US" sz="5400" u="none" cap="none">
                <a:solidFill>
                  <a:srgbClr val="FFFFFF"/>
                </a:solidFill>
                <a:latin typeface="Archivo Black"/>
                <a:ea typeface="Archivo Black"/>
                <a:cs typeface="Archivo Black"/>
                <a:sym typeface="Archivo Black"/>
              </a:rPr>
              <a:t>À VOUS DE JOUER</a:t>
            </a:r>
            <a:endParaRPr b="0" i="0" sz="12000" u="none" cap="none">
              <a:solidFill>
                <a:schemeClr val="dk1"/>
              </a:solidFill>
              <a:latin typeface="Calibri"/>
              <a:ea typeface="Calibri"/>
              <a:cs typeface="Calibri"/>
              <a:sym typeface="Calibri"/>
            </a:endParaRPr>
          </a:p>
        </p:txBody>
      </p:sp>
      <p:sp>
        <p:nvSpPr>
          <p:cNvPr id="2722" name="Google Shape;2722;p136"/>
          <p:cNvSpPr/>
          <p:nvPr/>
        </p:nvSpPr>
        <p:spPr>
          <a:xfrm>
            <a:off x="952805" y="5219395"/>
            <a:ext cx="10287000" cy="19202"/>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SzPts val="1800"/>
              <a:buFont typeface="Arial"/>
              <a:buNone/>
            </a:pPr>
            <a:r>
              <a:t/>
            </a:r>
            <a:endParaRPr sz="1800"/>
          </a:p>
        </p:txBody>
      </p:sp>
      <p:sp>
        <p:nvSpPr>
          <p:cNvPr id="2723" name="Google Shape;2723;p136"/>
          <p:cNvSpPr/>
          <p:nvPr/>
        </p:nvSpPr>
        <p:spPr>
          <a:xfrm>
            <a:off x="10382250" y="6229350"/>
            <a:ext cx="1381125" cy="266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0" i="0" lang="en-US" sz="1050" u="none" cap="none">
                <a:solidFill>
                  <a:srgbClr val="FFFFFF"/>
                </a:solidFill>
                <a:latin typeface="Roboto Mono"/>
                <a:ea typeface="Roboto Mono"/>
                <a:cs typeface="Roboto Mono"/>
                <a:sym typeface="Roboto Mono"/>
              </a:rPr>
              <a:t>2026 / 128</a:t>
            </a:r>
            <a:endParaRPr b="0" i="0" sz="1300" u="none" cap="none">
              <a:solidFill>
                <a:schemeClr val="dk1"/>
              </a:solidFill>
              <a:latin typeface="Calibri"/>
              <a:ea typeface="Calibri"/>
              <a:cs typeface="Calibri"/>
              <a:sym typeface="Calibri"/>
            </a:endParaRPr>
          </a:p>
        </p:txBody>
      </p:sp>
      <p:pic>
        <p:nvPicPr>
          <p:cNvPr id="2724" name="Google Shape;2724;p136"/>
          <p:cNvPicPr preferRelativeResize="0"/>
          <p:nvPr/>
        </p:nvPicPr>
        <p:blipFill rotWithShape="1">
          <a:blip r:embed="rId3">
            <a:alphaModFix/>
          </a:blip>
          <a:srcRect b="0" l="0" r="0" t="0"/>
          <a:stretch/>
        </p:blipFill>
        <p:spPr>
          <a:xfrm>
            <a:off x="8659888" y="6240002"/>
            <a:ext cx="1519799" cy="197995"/>
          </a:xfrm>
          <a:prstGeom prst="rect">
            <a:avLst/>
          </a:prstGeom>
          <a:noFill/>
          <a:ln>
            <a:noFill/>
          </a:ln>
        </p:spPr>
      </p:pic>
      <p:sp>
        <p:nvSpPr>
          <p:cNvPr id="2725" name="Google Shape;2725;p136"/>
          <p:cNvSpPr/>
          <p:nvPr/>
        </p:nvSpPr>
        <p:spPr>
          <a:xfrm>
            <a:off x="1459125" y="6235750"/>
            <a:ext cx="6858000" cy="198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DM Sans"/>
              <a:buNone/>
            </a:pPr>
            <a:r>
              <a:rPr b="1" lang="en-US" sz="1200">
                <a:solidFill>
                  <a:srgbClr val="FFFFFF"/>
                </a:solidFill>
                <a:latin typeface="DM Sans"/>
                <a:ea typeface="DM Sans"/>
                <a:cs typeface="DM Sans"/>
                <a:sym typeface="DM Sans"/>
              </a:rPr>
              <a:t>Machine Learning Avancé · M2 Data / IA</a:t>
            </a:r>
            <a:endParaRPr b="0" sz="1300" u="none" cap="none">
              <a:solidFill>
                <a:schemeClr val="dk1"/>
              </a:solidFill>
              <a:latin typeface="Calibri"/>
              <a:ea typeface="Calibri"/>
              <a:cs typeface="Calibri"/>
              <a:sym typeface="Calibri"/>
            </a:endParaRPr>
          </a:p>
        </p:txBody>
      </p:sp>
      <p:pic>
        <p:nvPicPr>
          <p:cNvPr id="2726" name="Google Shape;2726;p136"/>
          <p:cNvPicPr preferRelativeResize="0"/>
          <p:nvPr/>
        </p:nvPicPr>
        <p:blipFill rotWithShape="1">
          <a:blip r:embed="rId4">
            <a:alphaModFix/>
          </a:blip>
          <a:srcRect b="0" l="0" r="0" t="0"/>
          <a:stretch/>
        </p:blipFill>
        <p:spPr>
          <a:xfrm>
            <a:off x="862073" y="6064542"/>
            <a:ext cx="549625" cy="549625"/>
          </a:xfrm>
          <a:prstGeom prst="rect">
            <a:avLst/>
          </a:prstGeom>
          <a:noFill/>
          <a:ln>
            <a:noFill/>
          </a:ln>
        </p:spPr>
      </p:pic>
      <p:sp>
        <p:nvSpPr>
          <p:cNvPr id="2727" name="Google Shape;2727;p136"/>
          <p:cNvSpPr/>
          <p:nvPr/>
        </p:nvSpPr>
        <p:spPr>
          <a:xfrm>
            <a:off x="952500" y="3981450"/>
            <a:ext cx="10287000" cy="5143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250">
                <a:solidFill>
                  <a:srgbClr val="FFFFFF"/>
                </a:solidFill>
                <a:latin typeface="DM Sans"/>
                <a:ea typeface="DM Sans"/>
                <a:cs typeface="DM Sans"/>
                <a:sym typeface="DM Sans"/>
              </a:rPr>
              <a:t>Chrys Fé-Marty NIONGOLO</a:t>
            </a:r>
            <a:endParaRPr/>
          </a:p>
        </p:txBody>
      </p:sp>
      <p:sp>
        <p:nvSpPr>
          <p:cNvPr id="2728" name="Google Shape;2728;p136"/>
          <p:cNvSpPr/>
          <p:nvPr/>
        </p:nvSpPr>
        <p:spPr>
          <a:xfrm>
            <a:off x="952500" y="4667250"/>
            <a:ext cx="95250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75" u="sng">
                <a:solidFill>
                  <a:schemeClr val="hlink"/>
                </a:solidFill>
                <a:latin typeface="DM Sans"/>
                <a:ea typeface="DM Sans"/>
                <a:cs typeface="DM Sans"/>
                <a:sym typeface="DM Sans"/>
                <a:hlinkClick r:id="rId5"/>
              </a:rPr>
              <a:t>Ressources et notebooks sur GitHub</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FFFFF"/>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